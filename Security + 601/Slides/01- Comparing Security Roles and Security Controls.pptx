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52174B-7729-4FF3-81C3-A50C281DCE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B3D070-C6CB-450A-AD15-72257F4C5A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69A0ED-2A79-47B3-870D-03D38E4EC5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0B2AD5-3BA2-438C-881B-40133C97F5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772E97-FF74-4B33-94AA-49B4A61AD1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299ED5-5068-44C1-B46F-EA385E34EA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910666-55A0-4600-891D-2CB84D2F52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E284F8-EDE5-4C53-8819-DD211785DF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7069E5-E021-4F09-914A-7E53A35334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978031-A4AE-426D-8444-723C7A1085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6F7D49-DD5A-4600-B0E1-7B0C425014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77F6A0-337B-4A21-9DF7-62040411BE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1EAC0D-0A52-49A3-9F53-982C894615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2F5A27-9FD7-4C56-B91A-0BC0364381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20D894-4096-40B6-91E0-7E97F82A3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98E7BE-4CD3-45D4-B959-43462E41AC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1A3FB1-E216-49FE-9674-62397A47BE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F7E780-F898-428F-A1C6-47CE791C37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FB11F33-B6ED-4021-824E-0A0153206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F510BEE-7099-48A3-8D84-3D7B643F24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AE07A4-51EA-4F47-8DE1-BC82D2C583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5B1CC5-4DCE-4633-B451-5D34E105AE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9F7116-4C40-41B9-991C-315CE1AC81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960203-C42A-4CA8-8A5C-90EAA8ED5A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F244590-0DCC-4D85-A19E-75892813D7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6853690-DD88-4556-90A3-2E9FB2DE35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526E966-CE44-4AD3-AF10-FA743C65A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EBE1A8C-DE82-4D3D-833C-D8FBE6E8D3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852F4E-79A1-4FF2-917D-22C9DA679A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7D2126-C3B5-4C91-BDD9-980208A4C1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ABA8006-750C-427A-BD1A-73BED8A54D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C67FE1-1AD6-4810-B820-2CFD630488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116DC0-850B-4FF4-9AFD-E758A1F6EF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FD57E6B-2CE2-47F5-9738-FB02B7227A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57F1E6-A399-413C-A9F4-B99F0CD0EA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A04B6D7-DB2F-44D7-960B-BB6D6BBCDC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0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4920E21-CEA1-4D89-8507-E773CD81714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0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8B4A3E5-E19E-47A9-A3E8-8CAC0A34E7A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0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678ED82-E797-4CB8-8A56-7B1818B0521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www.iso.org/standard/54534.html" TargetMode="External"/><Relationship Id="rId2" Type="http://schemas.openxmlformats.org/officeDocument/2006/relationships/hyperlink" Target="https://www.iso.org/standard/54534.html" TargetMode="External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www.iso.org/iso-31000-risk-management.html" TargetMode="External"/><Relationship Id="rId2" Type="http://schemas.openxmlformats.org/officeDocument/2006/relationships/hyperlink" Target="https://www.iso.org/iso-31000-risk-management.html" TargetMode="External"/><Relationship Id="rId3" Type="http://schemas.openxmlformats.org/officeDocument/2006/relationships/hyperlink" Target="https://www.iso.org/iso-31000-risk-management.html" TargetMode="External"/><Relationship Id="rId4" Type="http://schemas.openxmlformats.org/officeDocument/2006/relationships/hyperlink" Target="https://www.iso.org/iso-31000-risk-management.html" TargetMode="External"/><Relationship Id="rId5" Type="http://schemas.openxmlformats.org/officeDocument/2006/relationships/hyperlink" Target="https://www.iso.org/iso-31000-risk-management.html" TargetMode="External"/><Relationship Id="rId6" Type="http://schemas.openxmlformats.org/officeDocument/2006/relationships/hyperlink" Target="https://www.iso.org/iso-31000-risk-management.html" TargetMode="External"/><Relationship Id="rId7" Type="http://schemas.openxmlformats.org/officeDocument/2006/relationships/hyperlink" Target="https://cloudsecurityalliance.org/" TargetMode="External"/><Relationship Id="rId8" Type="http://schemas.openxmlformats.org/officeDocument/2006/relationships/hyperlink" Target="https://cloudsecurityalliance.org/" TargetMode="External"/><Relationship Id="rId9" Type="http://schemas.openxmlformats.org/officeDocument/2006/relationships/hyperlink" Target="https://cloudsecurityalliance.org/" TargetMode="External"/><Relationship Id="rId10" Type="http://schemas.openxmlformats.org/officeDocument/2006/relationships/hyperlink" Target="https://cloudsecurityalliance.org/" TargetMode="External"/><Relationship Id="rId11" Type="http://schemas.openxmlformats.org/officeDocument/2006/relationships/hyperlink" Target="https://cloudsecurityalliance.org/" TargetMode="External"/><Relationship Id="rId12" Type="http://schemas.openxmlformats.org/officeDocument/2006/relationships/hyperlink" Target="https://cloudsecurityalliance.org/" TargetMode="External"/><Relationship Id="rId1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bject 2"/>
          <p:cNvSpPr/>
          <p:nvPr/>
        </p:nvSpPr>
        <p:spPr>
          <a:xfrm>
            <a:off x="5943600" y="5943600"/>
            <a:ext cx="61714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r>
              <a:rPr b="0" lang="en-US" sz="1800" spc="-39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24" name="object 3"/>
          <p:cNvGrpSpPr/>
          <p:nvPr/>
        </p:nvGrpSpPr>
        <p:grpSpPr>
          <a:xfrm>
            <a:off x="2168640" y="3080160"/>
            <a:ext cx="7902360" cy="847800"/>
            <a:chOff x="2168640" y="3080160"/>
            <a:chExt cx="7902360" cy="847800"/>
          </a:xfrm>
        </p:grpSpPr>
        <p:pic>
          <p:nvPicPr>
            <p:cNvPr id="125" name="object 4" descr=""/>
            <p:cNvPicPr/>
            <p:nvPr/>
          </p:nvPicPr>
          <p:blipFill>
            <a:blip r:embed="rId1"/>
            <a:stretch/>
          </p:blipFill>
          <p:spPr>
            <a:xfrm>
              <a:off x="2288880" y="3159000"/>
              <a:ext cx="7662960" cy="59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6" name="object 5" descr=""/>
            <p:cNvPicPr/>
            <p:nvPr/>
          </p:nvPicPr>
          <p:blipFill>
            <a:blip r:embed="rId2"/>
            <a:stretch/>
          </p:blipFill>
          <p:spPr>
            <a:xfrm>
              <a:off x="2168640" y="3080160"/>
              <a:ext cx="7902360" cy="847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305800" y="3166920"/>
            <a:ext cx="7579440" cy="116784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0224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01-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Comparing</a:t>
            </a:r>
            <a:r>
              <a:rPr b="0" lang="en-US" sz="2800" spc="24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Security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Roles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and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Security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Controls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28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0960" cy="192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4257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715040"/>
            <a:ext cx="982656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5480" bIns="0" anchor="t">
            <a:spAutoFit/>
          </a:bodyPr>
          <a:p>
            <a:pPr marL="12600">
              <a:lnSpc>
                <a:spcPct val="100000"/>
              </a:lnSpc>
              <a:spcBef>
                <a:spcPts val="831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1.1-</a:t>
            </a:r>
            <a:r>
              <a:rPr b="0" lang="en-US" sz="22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Compare and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Contrast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Roles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34"/>
              </a:spcBef>
              <a:buNone/>
            </a:pPr>
            <a:r>
              <a:rPr b="0" lang="en-US" sz="2200" spc="-7" strike="noStrike">
                <a:solidFill>
                  <a:srgbClr val="e1221a"/>
                </a:solidFill>
                <a:latin typeface="Calibri"/>
                <a:ea typeface="DejaVu Sans"/>
              </a:rPr>
              <a:t>1.2-</a:t>
            </a:r>
            <a:r>
              <a:rPr b="0" lang="en-US" sz="2200" spc="-12" strike="noStrike">
                <a:solidFill>
                  <a:srgbClr val="e1221a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Compare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Contrast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2"/>
          <p:cNvSpPr>
            <a:spLocks noGrp="1"/>
          </p:cNvSpPr>
          <p:nvPr>
            <p:ph type="sldNum" idx="1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A04D0C7-06AC-418F-B768-99A93AD3E06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2"/>
          <p:cNvSpPr/>
          <p:nvPr/>
        </p:nvSpPr>
        <p:spPr>
          <a:xfrm>
            <a:off x="916920" y="1313640"/>
            <a:ext cx="100558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1.1-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Compare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and 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Contrast 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Information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Security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Roles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4" name="object 3"/>
          <p:cNvSpPr/>
          <p:nvPr/>
        </p:nvSpPr>
        <p:spPr>
          <a:xfrm>
            <a:off x="916920" y="2264400"/>
            <a:ext cx="95986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1.2-</a:t>
            </a:r>
            <a:r>
              <a:rPr b="0" lang="en-US" sz="2200" spc="-1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Compare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Contrast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PlaceHolder 1"/>
          <p:cNvSpPr>
            <a:spLocks noGrp="1"/>
          </p:cNvSpPr>
          <p:nvPr>
            <p:ph type="sldNum" idx="1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00C1A01-96BE-4E1C-927A-60A6F62932A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83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8" name="object 3"/>
          <p:cNvSpPr/>
          <p:nvPr/>
        </p:nvSpPr>
        <p:spPr>
          <a:xfrm>
            <a:off x="457200" y="1216800"/>
            <a:ext cx="11201040" cy="48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Information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Security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infosec)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theft, 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damage.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vulnerable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stored,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transferred,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way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properties,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CIA </a:t>
            </a:r>
            <a:r>
              <a:rPr b="1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Triad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Confidentiality:</a:t>
            </a:r>
            <a:r>
              <a:rPr b="1" lang="en-US" sz="20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known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people.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Integrity:</a:t>
            </a:r>
            <a:r>
              <a:rPr b="1" lang="en-US" sz="20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transferred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intended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modification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Availability:</a:t>
            </a:r>
            <a:r>
              <a:rPr b="1" lang="en-US" sz="20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accessible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those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view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modify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PlaceHolder 2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FD00B38-EEE7-4E83-9BF5-A94D63F42EB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83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object 3"/>
          <p:cNvSpPr/>
          <p:nvPr/>
        </p:nvSpPr>
        <p:spPr>
          <a:xfrm>
            <a:off x="916920" y="1802520"/>
            <a:ext cx="10229400" cy="35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security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models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researchers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 other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properties that secure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exhibit.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these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non-repudiation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Non-repudiation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 cannot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something,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creating,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modifying,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Example: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legal document,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will,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 be witnessed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it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signed.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dispute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document was correctly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executed,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witness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2"/>
          <p:cNvSpPr>
            <a:spLocks noGrp="1"/>
          </p:cNvSpPr>
          <p:nvPr>
            <p:ph type="sldNum" idx="1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4D8C61C-4262-49E3-AA38-2B74600C5F1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100555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COMPETENCIES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6" name="object 3"/>
          <p:cNvSpPr/>
          <p:nvPr/>
        </p:nvSpPr>
        <p:spPr>
          <a:xfrm>
            <a:off x="685800" y="1547280"/>
            <a:ext cx="10919160" cy="41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professionals working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role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responsibilities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competent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wide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range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disciplines,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design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procurement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human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(HR).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activities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role: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Participate</a:t>
            </a:r>
            <a:r>
              <a:rPr b="0" lang="en-US" sz="2000" spc="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in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risk</a:t>
            </a:r>
            <a:r>
              <a:rPr b="0" lang="en-US" sz="20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assessments</a:t>
            </a:r>
            <a:r>
              <a:rPr b="0" lang="en-US" sz="2000" spc="43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testing</a:t>
            </a:r>
            <a:r>
              <a:rPr b="0" lang="en-US" sz="2000" spc="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of security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ba2709"/>
                </a:solidFill>
                <a:latin typeface="Calibri"/>
                <a:ea typeface="DejaVu Sans"/>
              </a:rPr>
              <a:t>systems</a:t>
            </a:r>
            <a:r>
              <a:rPr b="0" lang="en-US" sz="2000" spc="18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make</a:t>
            </a:r>
            <a:r>
              <a:rPr b="0" lang="en-US" sz="2000" spc="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recommendations.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ba2709"/>
                </a:solidFill>
                <a:latin typeface="Calibri"/>
                <a:ea typeface="DejaVu Sans"/>
              </a:rPr>
              <a:t>Specify,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source,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install,</a:t>
            </a:r>
            <a:r>
              <a:rPr b="0" lang="en-US" sz="2000" spc="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configure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secure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devices</a:t>
            </a:r>
            <a:r>
              <a:rPr b="0" lang="en-US" sz="2000" spc="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software.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Set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up and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maintain</a:t>
            </a:r>
            <a:r>
              <a:rPr b="0" lang="en-US" sz="2000" spc="2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document</a:t>
            </a:r>
            <a:r>
              <a:rPr b="0" lang="en-US" sz="20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access</a:t>
            </a:r>
            <a:r>
              <a:rPr b="0" lang="en-US" sz="2000" spc="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control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user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privilege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profiles.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Monitor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audit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logs,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review</a:t>
            </a:r>
            <a:r>
              <a:rPr b="0" lang="en-US" sz="2000" spc="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user privileges,</a:t>
            </a:r>
            <a:r>
              <a:rPr b="0" lang="en-US" sz="20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document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access</a:t>
            </a:r>
            <a:r>
              <a:rPr b="0" lang="en-US" sz="2000" spc="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controls.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Manage</a:t>
            </a:r>
            <a:r>
              <a:rPr b="0" lang="en-US" sz="20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security-related</a:t>
            </a:r>
            <a:r>
              <a:rPr b="0" lang="en-US" sz="2000" spc="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incident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response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reporting.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Create</a:t>
            </a:r>
            <a:r>
              <a:rPr b="0" lang="en-US" sz="20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test</a:t>
            </a:r>
            <a:r>
              <a:rPr b="0" lang="en-US" sz="20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business</a:t>
            </a:r>
            <a:r>
              <a:rPr b="0" lang="en-US" sz="2000" spc="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continuity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disaster</a:t>
            </a:r>
            <a:r>
              <a:rPr b="0" lang="en-US" sz="2000" spc="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recovery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plans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procedures.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Participate</a:t>
            </a:r>
            <a:r>
              <a:rPr b="0" lang="en-US" sz="2000" spc="2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in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training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education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programs.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PlaceHolder 2"/>
          <p:cNvSpPr>
            <a:spLocks noGrp="1"/>
          </p:cNvSpPr>
          <p:nvPr>
            <p:ph type="sldNum" idx="1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756D21C-EFF7-488B-B2FD-A9CE6A54FBF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28664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28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ROLES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RESPONSIBILITIES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0" name="object 3"/>
          <p:cNvSpPr/>
          <p:nvPr/>
        </p:nvSpPr>
        <p:spPr>
          <a:xfrm>
            <a:off x="457200" y="1371600"/>
            <a:ext cx="11201040" cy="40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Security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Policy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formalized statement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defines how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 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means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protect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confidentiality,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availability,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integrity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sensitive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implementation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policy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support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goals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triad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 be very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 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school,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multinational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accountancy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firm,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 machine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tool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manufacturer.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However,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interest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ensuring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employees, equipment,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damage.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PlaceHolder 2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656D7E3-65E1-4333-AE02-2A7E5926DBC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85800" y="480960"/>
            <a:ext cx="9906840" cy="8902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22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22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2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2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200" spc="-41" strike="noStrike">
                <a:solidFill>
                  <a:srgbClr val="c00000"/>
                </a:solidFill>
                <a:latin typeface="Calibri Light"/>
              </a:rPr>
              <a:t>ROLES</a:t>
            </a:r>
            <a:r>
              <a:rPr b="0" lang="en-US" sz="22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2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2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200" spc="-35" strike="noStrike">
                <a:solidFill>
                  <a:srgbClr val="c00000"/>
                </a:solidFill>
                <a:latin typeface="Calibri Light"/>
              </a:rPr>
              <a:t>RESPONSIBILITIES </a:t>
            </a:r>
            <a:r>
              <a:rPr b="0" lang="en-US" sz="22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4" name="object 3"/>
          <p:cNvSpPr/>
          <p:nvPr/>
        </p:nvSpPr>
        <p:spPr>
          <a:xfrm>
            <a:off x="457200" y="1371600"/>
            <a:ext cx="11201040" cy="42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adopting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posture,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aware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structure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responsibilities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will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size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hierarchy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roles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typical.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internal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 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allocated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dedicated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department,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Director </a:t>
            </a:r>
            <a:r>
              <a:rPr b="1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of </a:t>
            </a:r>
            <a:r>
              <a:rPr b="1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Security, </a:t>
            </a:r>
            <a:r>
              <a:rPr b="1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Chief </a:t>
            </a:r>
            <a:r>
              <a:rPr b="1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 Officer </a:t>
            </a:r>
            <a:r>
              <a:rPr b="1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(CSO)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 or </a:t>
            </a:r>
            <a:r>
              <a:rPr b="1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Chief Information Security </a:t>
            </a:r>
            <a:r>
              <a:rPr b="1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Officer  (CISO)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Managers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domain,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building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ICT,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accounting.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Technical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specialist</a:t>
            </a:r>
            <a:r>
              <a:rPr b="0" lang="en-US" sz="20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staff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implementing,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maintaining,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monitoring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policy.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Non-technical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staff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complying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relevant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legislation.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PlaceHolder 2"/>
          <p:cNvSpPr>
            <a:spLocks noGrp="1"/>
          </p:cNvSpPr>
          <p:nvPr>
            <p:ph type="sldNum" idx="1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A8A77C7-436D-42E8-94CB-3EE91756F80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13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BUSINESS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UNITS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8" name="object 3"/>
          <p:cNvSpPr/>
          <p:nvPr/>
        </p:nvSpPr>
        <p:spPr>
          <a:xfrm>
            <a:off x="916920" y="1697760"/>
            <a:ext cx="10072080" cy="18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7360" bIns="0" anchor="t">
            <a:spAutoFit/>
          </a:bodyPr>
          <a:p>
            <a:pPr marL="2903760">
              <a:lnSpc>
                <a:spcPct val="100000"/>
              </a:lnSpc>
              <a:spcBef>
                <a:spcPts val="924"/>
              </a:spcBef>
              <a:buNone/>
              <a:tabLst>
                <a:tab algn="l" pos="336096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1.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Operations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Center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(SOC)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operations</a:t>
            </a:r>
            <a:r>
              <a:rPr b="1" lang="en-US" sz="2200" spc="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center</a:t>
            </a:r>
            <a:r>
              <a:rPr b="1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(SOC)</a:t>
            </a:r>
            <a:r>
              <a:rPr b="1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location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professionals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protect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across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other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finance,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sales/marketing,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0" name="object 5" descr=""/>
          <p:cNvPicPr/>
          <p:nvPr/>
        </p:nvPicPr>
        <p:blipFill>
          <a:blip r:embed="rId1"/>
          <a:stretch/>
        </p:blipFill>
        <p:spPr>
          <a:xfrm>
            <a:off x="7086600" y="3515400"/>
            <a:ext cx="4092480" cy="2697840"/>
          </a:xfrm>
          <a:prstGeom prst="rect">
            <a:avLst/>
          </a:prstGeom>
          <a:ln w="0">
            <a:noFill/>
          </a:ln>
        </p:spPr>
      </p:pic>
      <p:sp>
        <p:nvSpPr>
          <p:cNvPr id="161" name="PlaceHolder 2"/>
          <p:cNvSpPr>
            <a:spLocks noGrp="1"/>
          </p:cNvSpPr>
          <p:nvPr>
            <p:ph type="sldNum" idx="1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DE05BE5-25B0-43F3-87EA-9527D8E7D3C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809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BUSINESS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UNITS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3" name="object 3"/>
          <p:cNvSpPr/>
          <p:nvPr/>
        </p:nvSpPr>
        <p:spPr>
          <a:xfrm>
            <a:off x="916920" y="1711080"/>
            <a:ext cx="10256760" cy="25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3820320">
              <a:lnSpc>
                <a:spcPct val="100000"/>
              </a:lnSpc>
              <a:spcBef>
                <a:spcPts val="819"/>
              </a:spcBef>
              <a:buNone/>
              <a:tabLst>
                <a:tab algn="l" pos="42775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2. Incident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Response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dedicated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cyber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1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1" lang="en-US" sz="22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team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(CIRT)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/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1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1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 </a:t>
            </a:r>
            <a:r>
              <a:rPr b="1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team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(CSIRT)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/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1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emergency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1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team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(CERT)</a:t>
            </a:r>
            <a:r>
              <a:rPr b="1" lang="en-US" sz="22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single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point-of-contact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notification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incidents.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26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handled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SOC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independent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unit.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PlaceHolder 2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2CA8D5B-0A81-43FE-9C7F-BFDD81148CB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2"/>
          <p:cNvSpPr/>
          <p:nvPr/>
        </p:nvSpPr>
        <p:spPr>
          <a:xfrm>
            <a:off x="916920" y="1808640"/>
            <a:ext cx="914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1.1-</a:t>
            </a:r>
            <a:r>
              <a:rPr b="0" lang="en-US" sz="22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Compare and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Contrast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Roles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914400" y="856440"/>
            <a:ext cx="83732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1.2-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Compare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Contrast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Security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Control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Framework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Types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PlaceHolder 1"/>
          <p:cNvSpPr>
            <a:spLocks noGrp="1"/>
          </p:cNvSpPr>
          <p:nvPr>
            <p:ph type="sldNum" idx="1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CB0C6CE-7A97-44AA-9F01-0755FA266C2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83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1" name="object 3"/>
          <p:cNvSpPr/>
          <p:nvPr/>
        </p:nvSpPr>
        <p:spPr>
          <a:xfrm>
            <a:off x="686160" y="1835640"/>
            <a:ext cx="10972440" cy="41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cybersecurity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assurance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risk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Implementation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cybersecurity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department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organizations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developed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service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provide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best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guides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cybersecurity.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shape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checklists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activities,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technologies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ideally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place.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PlaceHolder 2"/>
          <p:cNvSpPr>
            <a:spLocks noGrp="1"/>
          </p:cNvSpPr>
          <p:nvPr>
            <p:ph type="sldNum" idx="2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5806902-555A-4046-8165-19582C541E9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143000" y="671400"/>
            <a:ext cx="9600840" cy="6998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 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416160" y="1371600"/>
            <a:ext cx="11242080" cy="48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Security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Control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 designed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give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properties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confidentiality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integrity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non-repudiation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4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divided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three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broad categories,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85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implemented: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519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6" strike="noStrike">
                <a:solidFill>
                  <a:srgbClr val="ba2709"/>
                </a:solidFill>
                <a:latin typeface="Calibri"/>
                <a:ea typeface="DejaVu Sans"/>
              </a:rPr>
              <a:t>Technical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implemented</a:t>
            </a:r>
            <a:r>
              <a:rPr b="0" lang="en-US" sz="22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(hardware,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software,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firmware),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firewalls,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antivirus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models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technical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controls.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Technical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described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controls.</a:t>
            </a:r>
            <a:endParaRPr b="0" lang="en-US" sz="2200" spc="-1" strike="noStrike">
              <a:latin typeface="Arial"/>
            </a:endParaRPr>
          </a:p>
          <a:p>
            <a:pPr lvl="1" marL="698400" indent="-228600" algn="just">
              <a:lnSpc>
                <a:spcPts val="2109"/>
              </a:lnSpc>
              <a:spcBef>
                <a:spcPts val="485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Operational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—the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implemented primarily by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people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rather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than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systems,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 example,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 guards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training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programs are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operational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rather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technical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109"/>
              </a:lnSpc>
              <a:spcBef>
                <a:spcPts val="499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Managerial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gives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oversight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identification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allowing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evaluation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selection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7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PlaceHolder 2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4E94E57-496D-47F9-9871-971868E8012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6920" y="687600"/>
            <a:ext cx="105127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 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9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0" name="object 4" descr=""/>
          <p:cNvPicPr/>
          <p:nvPr/>
        </p:nvPicPr>
        <p:blipFill>
          <a:blip r:embed="rId1"/>
          <a:stretch/>
        </p:blipFill>
        <p:spPr>
          <a:xfrm>
            <a:off x="3930840" y="2230200"/>
            <a:ext cx="4896000" cy="3606480"/>
          </a:xfrm>
          <a:prstGeom prst="rect">
            <a:avLst/>
          </a:prstGeom>
          <a:ln w="0">
            <a:noFill/>
          </a:ln>
        </p:spPr>
      </p:pic>
      <p:sp>
        <p:nvSpPr>
          <p:cNvPr id="181" name="PlaceHolder 2"/>
          <p:cNvSpPr>
            <a:spLocks noGrp="1"/>
          </p:cNvSpPr>
          <p:nvPr>
            <p:ph type="sldNum" idx="2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C5FA1AD-FFD4-447F-A0FB-92799CBB859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5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FUNCTIONAL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457200" y="1371600"/>
            <a:ext cx="11429640" cy="45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classified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types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according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goal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9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perform: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11"/>
              </a:spcBef>
              <a:buNone/>
              <a:tabLst>
                <a:tab algn="l" pos="241920"/>
              </a:tabLst>
            </a:pPr>
            <a:endParaRPr b="0" lang="en-US" sz="3100" spc="-1" strike="noStrike">
              <a:latin typeface="Arial"/>
            </a:endParaRPr>
          </a:p>
          <a:p>
            <a:pPr lvl="1" marL="698400" indent="-228600">
              <a:lnSpc>
                <a:spcPts val="2109"/>
              </a:lnSpc>
              <a:spcBef>
                <a:spcPts val="6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Preventive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eliminate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reduce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likelihood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succeed,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preventative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operates</a:t>
            </a:r>
            <a:r>
              <a:rPr b="1" lang="en-US" sz="22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1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1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lists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(ACL)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objects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preventative-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controls,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Anti-malware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preventative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blocking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identified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executing.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699120"/>
              </a:tabLst>
            </a:pPr>
            <a:endParaRPr b="0" lang="en-US" sz="2550" spc="-1" strike="noStrike">
              <a:latin typeface="Arial"/>
            </a:endParaRPr>
          </a:p>
          <a:p>
            <a:pPr lvl="1" marL="698400" indent="-228600">
              <a:lnSpc>
                <a:spcPts val="2109"/>
              </a:lnSpc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Detective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attempted</a:t>
            </a:r>
            <a:r>
              <a:rPr b="0" lang="en-US" sz="22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successful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detective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operates</a:t>
            </a:r>
            <a:r>
              <a:rPr b="1" lang="en-US" sz="22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during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progress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one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best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detective-type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PlaceHolder 2"/>
          <p:cNvSpPr>
            <a:spLocks noGrp="1"/>
          </p:cNvSpPr>
          <p:nvPr>
            <p:ph type="sldNum" idx="2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C58C2B7-50A2-44A4-9DD7-223DF8B47E1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9720" y="685800"/>
            <a:ext cx="10969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FUNCTIONAL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916920" y="1802520"/>
            <a:ext cx="10236960" cy="33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735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classified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types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according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goal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54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Corrective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eliminate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reduce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impact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event,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corrective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b="1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good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restore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damaged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during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intrusion,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patch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management</a:t>
            </a:r>
            <a:r>
              <a:rPr b="0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eliminate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exploited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during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PlaceHolder 2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45E3C47-805C-4ED8-ADB7-36AB2575DA4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5258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FUNCTIONAL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1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object 4" descr=""/>
          <p:cNvPicPr/>
          <p:nvPr/>
        </p:nvPicPr>
        <p:blipFill>
          <a:blip r:embed="rId1"/>
          <a:stretch/>
        </p:blipFill>
        <p:spPr>
          <a:xfrm>
            <a:off x="2670120" y="2048400"/>
            <a:ext cx="6850800" cy="406476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2"/>
          <p:cNvSpPr>
            <a:spLocks noGrp="1"/>
          </p:cNvSpPr>
          <p:nvPr>
            <p:ph type="sldNum" idx="2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D5164D2-0CAD-4F3F-B0ED-FE9915BC6ED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456120"/>
            <a:ext cx="10969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FUNCTIONAL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5" name="object 3"/>
          <p:cNvSpPr/>
          <p:nvPr/>
        </p:nvSpPr>
        <p:spPr>
          <a:xfrm>
            <a:off x="457200" y="1371600"/>
            <a:ext cx="11429640" cy="47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classed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functionally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preventative,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detective,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corrective,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few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define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other cases: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6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Physical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—controls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alarms,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gateways,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locks,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lighting,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cameras,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guards 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deter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premises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classed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separately.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79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Deterrent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logically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psychologically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discourages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attempting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include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signs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warnings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legal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penalties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trespass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intrusion.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0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Compensating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serves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substitute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principal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recommended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standard,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affords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better)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level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but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methodology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technology.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PlaceHolder 2"/>
          <p:cNvSpPr>
            <a:spLocks noGrp="1"/>
          </p:cNvSpPr>
          <p:nvPr>
            <p:ph type="sldNum" idx="2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01953B3-F044-4E62-AC66-48B4C700ED6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826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ISO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FRAMEWORKS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9" name="object 3"/>
          <p:cNvSpPr/>
          <p:nvPr/>
        </p:nvSpPr>
        <p:spPr>
          <a:xfrm>
            <a:off x="916920" y="1802520"/>
            <a:ext cx="10064880" cy="37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International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Organization for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Standardization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(ISO)</a:t>
            </a:r>
            <a:r>
              <a:rPr b="1" lang="en-US" sz="24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cybersecurity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conjunction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International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Electrotechnical </a:t>
            </a:r>
            <a:r>
              <a:rPr b="1" lang="en-US" sz="2400" spc="-53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Commission</a:t>
            </a:r>
            <a:r>
              <a:rPr b="1" lang="en-US" sz="2400" spc="-4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(IEC)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established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2005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revised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2013.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ISO </a:t>
            </a:r>
            <a:r>
              <a:rPr b="1" lang="en-US" sz="24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27001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27000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series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standards,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27K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27002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classifies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27017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27018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reference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27701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focuses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on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PlaceHolder 2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C9A6DF4-B57E-4F4A-BC25-C5175CD8744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5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ISO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FRAMEWORKS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3" name="object 3"/>
          <p:cNvSpPr/>
          <p:nvPr/>
        </p:nvSpPr>
        <p:spPr>
          <a:xfrm>
            <a:off x="457200" y="1371600"/>
            <a:ext cx="11201040" cy="45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09960" indent="-297720">
              <a:lnSpc>
                <a:spcPts val="2735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309960"/>
                <a:tab algn="l" pos="310680"/>
              </a:tabLst>
            </a:pPr>
            <a:r>
              <a:rPr b="0" lang="en-US" sz="2400" spc="-1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ISO</a:t>
            </a:r>
            <a:r>
              <a:rPr b="0" lang="en-US" sz="2400" spc="-15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 </a:t>
            </a:r>
            <a:r>
              <a:rPr b="0" lang="en-US" sz="24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3"/>
              </a:rPr>
              <a:t>31K</a:t>
            </a:r>
            <a:r>
              <a:rPr b="0" lang="en-US" sz="2400" spc="-1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4"/>
              </a:rPr>
              <a:t> </a:t>
            </a:r>
            <a:r>
              <a:rPr b="0" lang="en-US" sz="24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5"/>
              </a:rPr>
              <a:t>(iso.org/iso-31000-risk-management.html)</a:t>
            </a:r>
            <a:r>
              <a:rPr b="0" lang="en-US" sz="2400" spc="-15" strike="noStrike" u="sng">
                <a:solidFill>
                  <a:srgbClr val="0462c1"/>
                </a:solidFill>
                <a:uFillTx/>
                <a:latin typeface="Calibri"/>
                <a:ea typeface="DejaVu Sans"/>
                <a:hlinkClick r:id="rId6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309960"/>
                <a:tab algn="l" pos="31068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enterprise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risk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(ERM).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ERM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risks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opportunities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beyond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cybersecurity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including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financial,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customer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competition,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legal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liability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factors.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ISO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31K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establishes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assessments.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not-for-profit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400" spc="4" strike="noStrike">
                <a:solidFill>
                  <a:srgbClr val="0462c1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7"/>
              </a:rPr>
              <a:t>Cloud</a:t>
            </a:r>
            <a:r>
              <a:rPr b="1" lang="en-US" sz="2400" spc="-21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8"/>
              </a:rPr>
              <a:t> </a:t>
            </a:r>
            <a:r>
              <a:rPr b="1" lang="en-US" sz="24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9"/>
              </a:rPr>
              <a:t>Security</a:t>
            </a:r>
            <a:r>
              <a:rPr b="1" lang="en-US" sz="2400" spc="-1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0"/>
              </a:rPr>
              <a:t> </a:t>
            </a:r>
            <a:r>
              <a:rPr b="1" lang="en-US" sz="24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1"/>
              </a:rPr>
              <a:t>Alliance (CSA)</a:t>
            </a:r>
            <a:r>
              <a:rPr b="1" lang="en-US" sz="2400" spc="-12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2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various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assist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cloud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providers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(CSP)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 and delivering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useful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consumers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evaluating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selecting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PlaceHolder 2"/>
          <p:cNvSpPr>
            <a:spLocks noGrp="1"/>
          </p:cNvSpPr>
          <p:nvPr>
            <p:ph type="sldNum" idx="2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6EE2CA3-B5AA-4988-B6AF-E3F2510453D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2023-09-02T16:50:25Z</dcterms:created>
  <dc:creator>Ahmed Sultan</dc:creator>
  <dc:description/>
  <dc:language>en-US</dc:language>
  <cp:lastModifiedBy/>
  <dcterms:modified xsi:type="dcterms:W3CDTF">2023-09-03T20:04:39Z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