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73E60-16A4-45AD-B7F5-9A401F9F7F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A90047-3B96-42DF-88E0-F51AC335E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CBCC9C-926F-4B04-AF44-93F4833602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58985-66BB-4893-BA75-3A4B1028B2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39123D-C0A3-4BF2-83B7-412C621F0E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6920" y="684720"/>
            <a:ext cx="10357920" cy="26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B1D798-DC1E-4F63-9AED-48400D2F61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A3FE8C-719E-4FED-A4B1-9421E73A46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2C7A1C-26A1-4185-ABB4-2A1AD491FC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12818-3765-45CF-9284-01DF5BA695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5EE0C-87F1-4DB0-AFCA-DA48B7D4AB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C496E8-E0C5-4CB3-B366-B012F69A13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41900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2144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692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41900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2144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72085-4794-486E-B38D-9D810AC305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CFF935-A7FF-47EE-88C7-A4008E7EA4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4B8AE7-30DE-449C-87A1-C429C91574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6FBC6A-A9AD-4C4E-B9A0-8B9B2E858E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60944D-3072-4451-B8EE-501F223910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1A2C09-8445-4E62-84A1-FFA1CBD1F4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916920" y="684720"/>
            <a:ext cx="10357920" cy="26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A0D15-F1D1-4F1B-B8F1-22DF441A28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E19CEE-777D-4C59-AAE2-7F0B35B8F1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696803-0097-49B7-BB98-33FDF26B58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49F433-3CD2-4B81-900F-34DD4F2A20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F97DE2-E289-4683-A729-755B3DD0BA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2BEFE-4D91-4D85-BC95-A068646C9E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41900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2144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91692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41900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2144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2AC325-5F51-4DA5-BD0F-9AF6662DE1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F2F0500-900B-42DD-9EE4-3167B2B743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C86A574-DC6E-480C-A1B5-AC17B1C3E9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31D9BE-B9A5-4042-AEEA-4760CB31D7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36919FB-ADCB-46AB-A8E2-5A7F2CA259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0A9910-917B-46CA-BD4A-E8197A17E8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916920" y="684720"/>
            <a:ext cx="10357920" cy="26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C0C3DC1-7661-47E3-BDC3-41747010EE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D7C2CC-5858-4422-9E2E-CCD31B1C8B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FF822B9-BF6F-4868-8BC6-F90E17A508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3520AF3-524F-4DFE-BAC0-9271A5DE45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916920" y="3296880"/>
            <a:ext cx="1035792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DB9F978-9440-441A-B8A3-C2D7267B8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24400" y="180252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1692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24400" y="3296880"/>
            <a:ext cx="505440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F0E712A-ED85-4650-B643-05833637AE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91692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41900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7921440" y="180252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91692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41900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7921440" y="3296880"/>
            <a:ext cx="3335040" cy="136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D69A3F6-2657-42C5-9E0B-1ACDC83F52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latin typeface="Calibri"/>
              </a:rPr>
              <a:t>Click </a:t>
            </a:r>
            <a:r>
              <a:rPr b="0" lang="en-US" sz="3600" spc="-1" strike="noStrike">
                <a:latin typeface="Calibri"/>
              </a:rPr>
              <a:t>to </a:t>
            </a:r>
            <a:r>
              <a:rPr b="0" lang="en-US" sz="3600" spc="-1" strike="noStrike">
                <a:latin typeface="Calibri"/>
              </a:rPr>
              <a:t>edit </a:t>
            </a:r>
            <a:r>
              <a:rPr b="0" lang="en-US" sz="3600" spc="-1" strike="noStrike">
                <a:latin typeface="Calibri"/>
              </a:rPr>
              <a:t>the </a:t>
            </a:r>
            <a:r>
              <a:rPr b="0" lang="en-US" sz="3600" spc="-1" strike="noStrike">
                <a:latin typeface="Calibri"/>
              </a:rPr>
              <a:t>title </a:t>
            </a:r>
            <a:r>
              <a:rPr b="0" lang="en-US" sz="3600" spc="-1" strike="noStrike">
                <a:latin typeface="Calibri"/>
              </a:rPr>
              <a:t>text </a:t>
            </a:r>
            <a:r>
              <a:rPr b="0" lang="en-US" sz="3600" spc="-1" strike="noStrike">
                <a:latin typeface="Calibri"/>
              </a:rPr>
              <a:t>form</a:t>
            </a:r>
            <a:r>
              <a:rPr b="0" lang="en-US" sz="3600" spc="-1" strike="noStrike">
                <a:latin typeface="Calibri"/>
              </a:rPr>
              <a:t>at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6920" y="1802520"/>
            <a:ext cx="10357920" cy="28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Fifth Outline Level</a:t>
            </a:r>
            <a:endParaRPr b="0" lang="en-US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Sixth Outline Level</a:t>
            </a:r>
            <a:endParaRPr b="0" lang="en-US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Seventh Outline Level</a:t>
            </a:r>
            <a:endParaRPr b="0" lang="en-US" sz="18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3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5492520" y="6451560"/>
            <a:ext cx="112284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1098440" y="6451200"/>
            <a:ext cx="204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16207B0-B3EA-43DB-B3E6-163FEFCB962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6920" y="1808640"/>
            <a:ext cx="1035792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latin typeface="Calibri"/>
              </a:rPr>
              <a:t>Clic</a:t>
            </a:r>
            <a:r>
              <a:rPr b="0" lang="en-US" sz="3600" spc="-1" strike="noStrike">
                <a:latin typeface="Calibri"/>
              </a:rPr>
              <a:t>k to </a:t>
            </a:r>
            <a:r>
              <a:rPr b="0" lang="en-US" sz="3600" spc="-1" strike="noStrike">
                <a:latin typeface="Calibri"/>
              </a:rPr>
              <a:t>edit </a:t>
            </a:r>
            <a:r>
              <a:rPr b="0" lang="en-US" sz="3600" spc="-1" strike="noStrike">
                <a:latin typeface="Calibri"/>
              </a:rPr>
              <a:t>the </a:t>
            </a:r>
            <a:r>
              <a:rPr b="0" lang="en-US" sz="3600" spc="-1" strike="noStrike">
                <a:latin typeface="Calibri"/>
              </a:rPr>
              <a:t>title </a:t>
            </a:r>
            <a:r>
              <a:rPr b="0" lang="en-US" sz="3600" spc="-1" strike="noStrike">
                <a:latin typeface="Calibri"/>
              </a:rPr>
              <a:t>text </a:t>
            </a:r>
            <a:r>
              <a:rPr b="0" lang="en-US" sz="3600" spc="-1" strike="noStrike">
                <a:latin typeface="Calibri"/>
              </a:rPr>
              <a:t>for</a:t>
            </a:r>
            <a:r>
              <a:rPr b="0" lang="en-US" sz="3600" spc="-1" strike="noStrike">
                <a:latin typeface="Calibri"/>
              </a:rPr>
              <a:t>mat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3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5"/>
          </p:nvPr>
        </p:nvSpPr>
        <p:spPr>
          <a:xfrm>
            <a:off x="5492520" y="6451560"/>
            <a:ext cx="112284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11098440" y="6451200"/>
            <a:ext cx="204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359F4D3-AD84-4537-84AE-D72FE1248D3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latin typeface="Calibri"/>
              </a:rPr>
              <a:t>Click to edit the title text format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3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84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4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5E9A675-D026-4300-B371-A3ED1714C5B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Fifth Outline Level</a:t>
            </a:r>
            <a:endParaRPr b="0" lang="en-US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Sixth Outline Level</a:t>
            </a:r>
            <a:endParaRPr b="0" lang="en-US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Calibri"/>
              </a:rPr>
              <a:t>Seventh Outline Level</a:t>
            </a:r>
            <a:endParaRPr b="0" lang="en-US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exchange.xforce.ibmcloud.com/" TargetMode="External"/><Relationship Id="rId2" Type="http://schemas.openxmlformats.org/officeDocument/2006/relationships/hyperlink" Target="https://www.fireeye.com/mandiant/threat-intelligence/threat-intelligence-subscriptions.html" TargetMode="External"/><Relationship Id="rId3" Type="http://schemas.openxmlformats.org/officeDocument/2006/relationships/hyperlink" Target="https://www.fireeye.com/mandiant/threat-intelligence/threat-intelligence-subscriptions.html" TargetMode="External"/><Relationship Id="rId4" Type="http://schemas.openxmlformats.org/officeDocument/2006/relationships/hyperlink" Target="https://www.fireeye.com/mandiant/threat-intelligence/threat-intelligence-subscriptions.html" TargetMode="External"/><Relationship Id="rId5" Type="http://schemas.openxmlformats.org/officeDocument/2006/relationships/hyperlink" Target="https://www.fireeye.com/mandiant/threat-intelligence/threat-intelligence-subscriptions.html" TargetMode="External"/><Relationship Id="rId6" Type="http://schemas.openxmlformats.org/officeDocument/2006/relationships/hyperlink" Target="https://www.fireeye.com/mandiant/threat-intelligence/threat-intelligence-subscriptions.html" TargetMode="External"/><Relationship Id="rId7" Type="http://schemas.openxmlformats.org/officeDocument/2006/relationships/hyperlink" Target="https://www.fireeye.com/mandiant/threat-intelligence/threat-intelligence-subscriptions.html" TargetMode="External"/><Relationship Id="rId8" Type="http://schemas.openxmlformats.org/officeDocument/2006/relationships/hyperlink" Target="https://www.fireeye.com/mandiant/threat-intelligence/threat-intelligence-subscriptions.html" TargetMode="External"/><Relationship Id="rId9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microsoft.com/security/blog/microsoft-security-intelligence/" TargetMode="External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www.nationalisacs.org/member-isacs" TargetMode="External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otx.alienvault.com/" TargetMode="External"/><Relationship Id="rId2" Type="http://schemas.openxmlformats.org/officeDocument/2006/relationships/hyperlink" Target="https://misp-project.org/feeds/" TargetMode="External"/><Relationship Id="rId3" Type="http://schemas.openxmlformats.org/officeDocument/2006/relationships/hyperlink" Target="https://www.spamhaus.org/organization/" TargetMode="External"/><Relationship Id="rId4" Type="http://schemas.openxmlformats.org/officeDocument/2006/relationships/hyperlink" Target="https://www.virustotal.com/gui/home/upload" TargetMode="External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2"/>
          <p:cNvSpPr/>
          <p:nvPr/>
        </p:nvSpPr>
        <p:spPr>
          <a:xfrm>
            <a:off x="5715000" y="5724720"/>
            <a:ext cx="5943600" cy="5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24" name="object 3"/>
          <p:cNvGrpSpPr/>
          <p:nvPr/>
        </p:nvGrpSpPr>
        <p:grpSpPr>
          <a:xfrm>
            <a:off x="2139840" y="3080160"/>
            <a:ext cx="7961040" cy="848520"/>
            <a:chOff x="2139840" y="3080160"/>
            <a:chExt cx="7961040" cy="848520"/>
          </a:xfrm>
        </p:grpSpPr>
        <p:pic>
          <p:nvPicPr>
            <p:cNvPr id="125" name="object 4" descr=""/>
            <p:cNvPicPr/>
            <p:nvPr/>
          </p:nvPicPr>
          <p:blipFill>
            <a:blip r:embed="rId1"/>
            <a:stretch/>
          </p:blipFill>
          <p:spPr>
            <a:xfrm>
              <a:off x="2249280" y="3159000"/>
              <a:ext cx="7743240" cy="59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6" name="object 5" descr=""/>
            <p:cNvPicPr/>
            <p:nvPr/>
          </p:nvPicPr>
          <p:blipFill>
            <a:blip r:embed="rId2"/>
            <a:stretch/>
          </p:blipFill>
          <p:spPr>
            <a:xfrm>
              <a:off x="2139840" y="3080160"/>
              <a:ext cx="7961040" cy="848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266200" y="3166920"/>
            <a:ext cx="7659720" cy="116856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1304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02-</a:t>
            </a:r>
            <a:r>
              <a:rPr b="0" lang="en-US" sz="2800" spc="12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Explaining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Threat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Actors</a:t>
            </a:r>
            <a:r>
              <a:rPr b="0" lang="en-US" sz="2800" spc="4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and</a:t>
            </a:r>
            <a:r>
              <a:rPr b="0" lang="en-US" sz="2800" spc="12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Threat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 Intelligence</a:t>
            </a:r>
            <a:endParaRPr b="0" lang="en-US" sz="2800" spc="-1" strike="noStrike">
              <a:latin typeface="Calibri"/>
            </a:endParaRPr>
          </a:p>
        </p:txBody>
      </p:sp>
      <p:pic>
        <p:nvPicPr>
          <p:cNvPr id="128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680" cy="193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/>
          <p:nvPr/>
        </p:nvSpPr>
        <p:spPr>
          <a:xfrm>
            <a:off x="916920" y="684720"/>
            <a:ext cx="52552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15040"/>
            <a:ext cx="1074168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</a:rPr>
              <a:t>2.1-</a:t>
            </a:r>
            <a:r>
              <a:rPr b="0" lang="en-US" sz="2200" spc="-15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Explain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Types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 </a:t>
            </a:r>
            <a:r>
              <a:rPr b="0" lang="en-US" sz="2200" spc="-26" strike="noStrike">
                <a:latin typeface="Calibri"/>
              </a:rPr>
              <a:t>Attack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32" strike="noStrike">
                <a:latin typeface="Calibri"/>
              </a:rPr>
              <a:t>Vectors </a:t>
            </a:r>
            <a:r>
              <a:rPr b="0" lang="en-US" sz="2200" spc="-480" strike="noStrike">
                <a:latin typeface="Calibri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e1221a"/>
                </a:solidFill>
                <a:latin typeface="Calibri"/>
              </a:rPr>
              <a:t>2.2-</a:t>
            </a:r>
            <a:r>
              <a:rPr b="0" lang="en-US" sz="2200" spc="-15" strike="noStrike">
                <a:solidFill>
                  <a:srgbClr val="e1221a"/>
                </a:solidFill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Explain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2" strike="noStrike">
                <a:latin typeface="Calibri"/>
              </a:rPr>
              <a:t> Intelligence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Sources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1"/>
          <p:cNvSpPr>
            <a:spLocks noGrp="1"/>
          </p:cNvSpPr>
          <p:nvPr>
            <p:ph type="sldNum" idx="10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5BF679B-0ED5-44ED-8ACE-F4DC568727A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2"/>
          <p:cNvSpPr/>
          <p:nvPr/>
        </p:nvSpPr>
        <p:spPr>
          <a:xfrm>
            <a:off x="914400" y="1313640"/>
            <a:ext cx="10744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c00000"/>
                </a:solidFill>
                <a:latin typeface="Calibri"/>
              </a:rPr>
              <a:t>2.1-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Explain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</a:rPr>
              <a:t>Threat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</a:rPr>
              <a:t>Actor 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</a:rPr>
              <a:t>Types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 and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26" strike="noStrike">
                <a:solidFill>
                  <a:srgbClr val="c00000"/>
                </a:solidFill>
                <a:latin typeface="Calibri"/>
              </a:rPr>
              <a:t>Attack</a:t>
            </a:r>
            <a:r>
              <a:rPr b="1" lang="en-US" sz="2400" spc="4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32" strike="noStrike">
                <a:solidFill>
                  <a:srgbClr val="c00000"/>
                </a:solidFill>
                <a:latin typeface="Calibri"/>
              </a:rPr>
              <a:t>Vectors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916920" y="2264400"/>
            <a:ext cx="75412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</a:rPr>
              <a:t>2.2-</a:t>
            </a:r>
            <a:r>
              <a:rPr b="0" lang="en-US" sz="2200" spc="-26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Explain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Intelligence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Sources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5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PlaceHolder 1"/>
          <p:cNvSpPr>
            <a:spLocks noGrp="1"/>
          </p:cNvSpPr>
          <p:nvPr>
            <p:ph type="sldNum" idx="11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C6CE930-DD24-45E3-A5A7-3584FFCC228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8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9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38" name="object 3"/>
          <p:cNvSpPr/>
          <p:nvPr/>
        </p:nvSpPr>
        <p:spPr>
          <a:xfrm>
            <a:off x="916920" y="1802520"/>
            <a:ext cx="10741680" cy="11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As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part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security</a:t>
            </a:r>
            <a:r>
              <a:rPr b="1" lang="en-US" sz="2400" spc="9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assessment</a:t>
            </a:r>
            <a:r>
              <a:rPr b="1" lang="en-US" sz="2400" spc="18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7" strike="noStrike">
                <a:latin typeface="Calibri"/>
              </a:rPr>
              <a:t>monitoring,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security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teams</a:t>
            </a:r>
            <a:r>
              <a:rPr b="0" lang="en-US" sz="2400" spc="-12" strike="noStrike">
                <a:latin typeface="Calibri"/>
              </a:rPr>
              <a:t> must </a:t>
            </a:r>
            <a:r>
              <a:rPr b="0" lang="en-US" sz="2400" spc="-7" strike="noStrike">
                <a:latin typeface="Calibri"/>
              </a:rPr>
              <a:t>identify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26" strike="noStrike">
                <a:latin typeface="Calibri"/>
              </a:rPr>
              <a:t>ways </a:t>
            </a:r>
            <a:r>
              <a:rPr b="0" lang="en-US" sz="2400" spc="-1" strike="noStrike">
                <a:latin typeface="Calibri"/>
              </a:rPr>
              <a:t>in which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their </a:t>
            </a:r>
            <a:r>
              <a:rPr b="0" lang="en-US" sz="2400" spc="-21" strike="noStrike">
                <a:latin typeface="Calibri"/>
              </a:rPr>
              <a:t>systems </a:t>
            </a:r>
            <a:r>
              <a:rPr b="0" lang="en-US" sz="2400" spc="-12" strike="noStrike">
                <a:latin typeface="Calibri"/>
              </a:rPr>
              <a:t>could </a:t>
            </a:r>
            <a:r>
              <a:rPr b="0" lang="en-US" sz="2400" spc="-7" strike="noStrike">
                <a:latin typeface="Calibri"/>
              </a:rPr>
              <a:t>be </a:t>
            </a:r>
            <a:r>
              <a:rPr b="0" lang="en-US" sz="2400" spc="-21" strike="noStrike">
                <a:latin typeface="Calibri"/>
              </a:rPr>
              <a:t>attacked.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These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assessments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involve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vulnerabilities,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threats,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risk.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9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object 5" descr=""/>
          <p:cNvPicPr/>
          <p:nvPr/>
        </p:nvPicPr>
        <p:blipFill>
          <a:blip r:embed="rId1"/>
          <a:stretch/>
        </p:blipFill>
        <p:spPr>
          <a:xfrm>
            <a:off x="2101680" y="3877200"/>
            <a:ext cx="7977960" cy="220752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2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264C70C-7769-4A81-88DB-CDFBF53DF67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8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9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916920" y="1767600"/>
            <a:ext cx="10221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</a:rPr>
              <a:t>Vulnerability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weakness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could</a:t>
            </a:r>
            <a:r>
              <a:rPr b="0" lang="en-US" sz="2200" spc="-7" strike="noStrike">
                <a:latin typeface="Calibri"/>
              </a:rPr>
              <a:t> be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triggered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accidentally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exploited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intentionally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cause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security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breach.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200" spc="-12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Examples</a:t>
            </a:r>
            <a:r>
              <a:rPr b="1" lang="en-US" sz="2200" spc="9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200" spc="-7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of</a:t>
            </a:r>
            <a:r>
              <a:rPr b="1" lang="en-US" sz="2200" spc="4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200" spc="-12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vulnerabilities</a:t>
            </a:r>
            <a:r>
              <a:rPr b="1" lang="en-US" sz="2200" spc="-1" strike="noStrike" u="heavy"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include:</a:t>
            </a:r>
            <a:endParaRPr b="0" lang="en-US" sz="2200" spc="-1" strike="noStrike">
              <a:latin typeface="Arial"/>
            </a:endParaRPr>
          </a:p>
          <a:p>
            <a:pPr lvl="2" marL="1207800" indent="-280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07800"/>
              </a:tabLst>
            </a:pPr>
            <a:r>
              <a:rPr b="0" lang="en-US" sz="1800" spc="-12" strike="noStrike">
                <a:latin typeface="Calibri"/>
              </a:rPr>
              <a:t>I</a:t>
            </a:r>
            <a:r>
              <a:rPr b="0" lang="en-US" sz="2000" spc="-12" strike="noStrike">
                <a:latin typeface="Calibri"/>
              </a:rPr>
              <a:t>mproperly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configured</a:t>
            </a:r>
            <a:r>
              <a:rPr b="0" lang="en-US" sz="2000" spc="-26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or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installed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hardware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or </a:t>
            </a:r>
            <a:r>
              <a:rPr b="0" lang="en-US" sz="2000" spc="-12" strike="noStrike">
                <a:latin typeface="Calibri"/>
              </a:rPr>
              <a:t>software</a:t>
            </a:r>
            <a:endParaRPr b="0" lang="en-US" sz="2000" spc="-1" strike="noStrike">
              <a:latin typeface="Arial"/>
            </a:endParaRPr>
          </a:p>
          <a:p>
            <a:pPr lvl="2" marL="1212120" indent="-28584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12840"/>
              </a:tabLst>
            </a:pPr>
            <a:r>
              <a:rPr b="0" lang="en-US" sz="2000" spc="-15" strike="noStrike">
                <a:latin typeface="Calibri"/>
              </a:rPr>
              <a:t>Delays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in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applying</a:t>
            </a:r>
            <a:r>
              <a:rPr b="0" lang="en-US" sz="2000" spc="-26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12" strike="noStrike">
                <a:latin typeface="Calibri"/>
              </a:rPr>
              <a:t>testing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software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firmware</a:t>
            </a:r>
            <a:r>
              <a:rPr b="0" lang="en-US" sz="2000" spc="2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patches</a:t>
            </a:r>
            <a:endParaRPr b="0" lang="en-US" sz="2000" spc="-1" strike="noStrike">
              <a:latin typeface="Arial"/>
            </a:endParaRPr>
          </a:p>
          <a:p>
            <a:pPr lvl="2" marL="1212120" indent="-28584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12840"/>
              </a:tabLst>
            </a:pPr>
            <a:r>
              <a:rPr b="0" lang="en-US" sz="2000" spc="-15" strike="noStrike">
                <a:latin typeface="Calibri"/>
              </a:rPr>
              <a:t>Untested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software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firmware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patches</a:t>
            </a:r>
            <a:endParaRPr b="0" lang="en-US" sz="2000" spc="-1" strike="noStrike">
              <a:latin typeface="Arial"/>
            </a:endParaRPr>
          </a:p>
          <a:p>
            <a:pPr lvl="2" marL="1212120" indent="-28584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12840"/>
              </a:tabLst>
            </a:pPr>
            <a:r>
              <a:rPr b="0" lang="en-US" sz="2000" spc="-7" strike="noStrike">
                <a:latin typeface="Calibri"/>
              </a:rPr>
              <a:t>The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misuse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of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software</a:t>
            </a:r>
            <a:r>
              <a:rPr b="0" lang="en-US" sz="2000" spc="-7" strike="noStrike">
                <a:latin typeface="Calibri"/>
              </a:rPr>
              <a:t> or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communication</a:t>
            </a:r>
            <a:r>
              <a:rPr b="0" lang="en-US" sz="2000" spc="-12" strike="noStrike">
                <a:latin typeface="Calibri"/>
              </a:rPr>
              <a:t> protocols</a:t>
            </a:r>
            <a:endParaRPr b="0" lang="en-US" sz="2000" spc="-1" strike="noStrike">
              <a:latin typeface="Arial"/>
            </a:endParaRPr>
          </a:p>
          <a:p>
            <a:pPr lvl="2" marL="1212120" indent="-28584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12840"/>
              </a:tabLst>
            </a:pPr>
            <a:r>
              <a:rPr b="0" lang="en-US" sz="2000" spc="-12" strike="noStrike">
                <a:latin typeface="Calibri"/>
              </a:rPr>
              <a:t>Poorly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designed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network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architecture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2000" spc="-7" strike="noStrike">
                <a:latin typeface="Calibri"/>
              </a:rPr>
              <a:t>Insecure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password</a:t>
            </a:r>
            <a:r>
              <a:rPr b="0" lang="en-US" sz="2000" spc="-7" strike="noStrike">
                <a:latin typeface="Calibri"/>
              </a:rPr>
              <a:t> usage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PlaceHolder 2"/>
          <p:cNvSpPr>
            <a:spLocks noGrp="1"/>
          </p:cNvSpPr>
          <p:nvPr>
            <p:ph type="sldNum" idx="13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2885072-6C41-4CC4-94DD-6639BD45162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9720" y="228600"/>
            <a:ext cx="1028448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9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47" name="object 3"/>
          <p:cNvSpPr/>
          <p:nvPr/>
        </p:nvSpPr>
        <p:spPr>
          <a:xfrm>
            <a:off x="228600" y="914400"/>
            <a:ext cx="11658600" cy="55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869"/>
              </a:lnSpc>
              <a:spcBef>
                <a:spcPts val="9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</a:rPr>
              <a:t>Threat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370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potential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for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someone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something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exploit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vulnerability</a:t>
            </a:r>
            <a:r>
              <a:rPr b="0" lang="en-US" sz="2200" spc="-3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breach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361"/>
              </a:lnSpc>
              <a:buNone/>
              <a:tabLst>
                <a:tab algn="l" pos="699120"/>
              </a:tabLst>
            </a:pPr>
            <a:r>
              <a:rPr b="0" lang="en-US" sz="2200" spc="-26" strike="noStrike">
                <a:latin typeface="Calibri"/>
              </a:rPr>
              <a:t>security.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611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may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be</a:t>
            </a:r>
            <a:r>
              <a:rPr b="0" lang="en-US" sz="2200" spc="-12" strike="noStrike">
                <a:latin typeface="Calibri"/>
              </a:rPr>
              <a:t> intentional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 </a:t>
            </a:r>
            <a:r>
              <a:rPr b="0" lang="en-US" sz="2200" spc="-12" strike="noStrike">
                <a:latin typeface="Calibri"/>
              </a:rPr>
              <a:t>unintentional.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616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person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thing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poses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called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24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threat</a:t>
            </a:r>
            <a:r>
              <a:rPr b="1" lang="en-US" sz="2200" spc="38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actor</a:t>
            </a:r>
            <a:r>
              <a:rPr b="1" lang="en-US" sz="2200" spc="3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threat</a:t>
            </a:r>
            <a:r>
              <a:rPr b="1" lang="en-US" sz="2200" spc="38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agent</a:t>
            </a:r>
            <a:r>
              <a:rPr b="0" lang="en-US" sz="2200" spc="-15" strike="noStrike">
                <a:latin typeface="Calibri"/>
              </a:rPr>
              <a:t>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51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path</a:t>
            </a:r>
            <a:r>
              <a:rPr b="0" lang="en-US" sz="2200" spc="-7" strike="noStrike">
                <a:latin typeface="Calibri"/>
              </a:rPr>
              <a:t> 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tool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used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by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malicious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can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be </a:t>
            </a:r>
            <a:r>
              <a:rPr b="0" lang="en-US" sz="2200" spc="-21" strike="noStrike">
                <a:latin typeface="Calibri"/>
              </a:rPr>
              <a:t>referred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49" strike="noStrike">
                <a:latin typeface="Calibri"/>
              </a:rPr>
              <a:t> </a:t>
            </a:r>
            <a:r>
              <a:rPr b="1" lang="en-US" sz="2200" spc="-21" strike="noStrike">
                <a:latin typeface="Calibri"/>
              </a:rPr>
              <a:t>attack </a:t>
            </a:r>
            <a:r>
              <a:rPr b="1" lang="en-US" sz="2200" spc="-486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vector</a:t>
            </a:r>
            <a:r>
              <a:rPr b="0" lang="en-US" sz="2200" spc="-15" strike="noStrike">
                <a:latin typeface="Calibri"/>
              </a:rPr>
              <a:t>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3000" spc="-1" strike="noStrike">
              <a:latin typeface="Arial"/>
            </a:endParaRPr>
          </a:p>
          <a:p>
            <a:pPr marL="241200" indent="-229320">
              <a:lnSpc>
                <a:spcPts val="2869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</a:rPr>
              <a:t>Risk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spcBef>
                <a:spcPts val="50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likelihood</a:t>
            </a:r>
            <a:r>
              <a:rPr b="0" lang="en-US" sz="2200" spc="-7" strike="noStrike">
                <a:latin typeface="Calibri"/>
              </a:rPr>
              <a:t> and impact (or </a:t>
            </a:r>
            <a:r>
              <a:rPr b="0" lang="en-US" sz="2200" spc="-12" strike="noStrike">
                <a:latin typeface="Calibri"/>
              </a:rPr>
              <a:t>consequence)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exploiting</a:t>
            </a:r>
            <a:r>
              <a:rPr b="0" lang="en-US" sz="2200" spc="-7" strike="noStrike">
                <a:latin typeface="Calibri"/>
              </a:rPr>
              <a:t> a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vulnerability.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370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00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assess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risk,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you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identify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vulnerability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then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evaluate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likelihood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being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375"/>
              </a:lnSpc>
              <a:buNone/>
              <a:tabLst>
                <a:tab algn="l" pos="699120"/>
              </a:tabLst>
            </a:pPr>
            <a:r>
              <a:rPr b="0" lang="en-US" sz="2200" spc="-15" strike="noStrike">
                <a:latin typeface="Calibri"/>
              </a:rPr>
              <a:t>exploited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impact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successful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exploit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would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have.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8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PlaceHolder 2"/>
          <p:cNvSpPr>
            <a:spLocks noGrp="1"/>
          </p:cNvSpPr>
          <p:nvPr>
            <p:ph type="sldNum" idx="14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2AD49C1-DEFF-4295-A400-F50D5B90849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88320" y="352800"/>
            <a:ext cx="9827280" cy="5616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ATTRIBUTES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51" name="object 3"/>
          <p:cNvSpPr/>
          <p:nvPr/>
        </p:nvSpPr>
        <p:spPr>
          <a:xfrm>
            <a:off x="511560" y="1008000"/>
            <a:ext cx="11375640" cy="50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Internal/External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200" spc="-7" strike="noStrike">
                <a:latin typeface="Calibri"/>
              </a:rPr>
              <a:t>An </a:t>
            </a:r>
            <a:r>
              <a:rPr b="1" lang="en-US" sz="2200" spc="-15" strike="noStrike">
                <a:latin typeface="Calibri"/>
              </a:rPr>
              <a:t>external</a:t>
            </a:r>
            <a:r>
              <a:rPr b="1" lang="en-US" sz="2200" spc="38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threat</a:t>
            </a:r>
            <a:r>
              <a:rPr b="1" lang="en-US" sz="2200" spc="38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actor</a:t>
            </a:r>
            <a:r>
              <a:rPr b="1" lang="en-US" sz="2200" spc="18" strike="noStrike">
                <a:latin typeface="Calibri"/>
              </a:rPr>
              <a:t> </a:t>
            </a:r>
            <a:r>
              <a:rPr b="1" lang="en-US" sz="2200" spc="-7" strike="noStrike">
                <a:latin typeface="Calibri"/>
              </a:rPr>
              <a:t>or</a:t>
            </a:r>
            <a:r>
              <a:rPr b="1" lang="en-US" sz="2200" spc="24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agent</a:t>
            </a:r>
            <a:r>
              <a:rPr b="1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one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has no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account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authorized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access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target system.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malicious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external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must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infiltrate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security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system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using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malware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and/or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social</a:t>
            </a:r>
            <a:r>
              <a:rPr b="0" lang="en-US" sz="2200" spc="-3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engineering.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Note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external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may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perpetrate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attack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remotely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on-premises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(by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breaking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into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company's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headquarters,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for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instance).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It is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-7" strike="noStrike">
                <a:latin typeface="Calibri"/>
              </a:rPr>
              <a:t> is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defined</a:t>
            </a:r>
            <a:r>
              <a:rPr b="0" lang="en-US" sz="2200" spc="-1" strike="noStrike">
                <a:latin typeface="Calibri"/>
              </a:rPr>
              <a:t> as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external,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rather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than </a:t>
            </a: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attack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method.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32" strike="noStrike">
                <a:latin typeface="Calibri"/>
              </a:rPr>
              <a:t>Conversely,</a:t>
            </a:r>
            <a:r>
              <a:rPr b="0" lang="en-US" sz="2200" spc="4" strike="noStrike">
                <a:latin typeface="Calibri"/>
              </a:rPr>
              <a:t> </a:t>
            </a:r>
            <a:r>
              <a:rPr b="1" lang="en-US" sz="2200" spc="-7" strike="noStrike">
                <a:latin typeface="Calibri"/>
              </a:rPr>
              <a:t>an</a:t>
            </a:r>
            <a:r>
              <a:rPr b="1" lang="en-US" sz="2200" spc="-1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internal</a:t>
            </a:r>
            <a:r>
              <a:rPr b="1" lang="en-US" sz="2200" spc="32" strike="noStrike">
                <a:latin typeface="Calibri"/>
              </a:rPr>
              <a:t> </a:t>
            </a:r>
            <a:r>
              <a:rPr b="1" lang="en-US" sz="2200" spc="-7" strike="noStrike">
                <a:latin typeface="Calibri"/>
              </a:rPr>
              <a:t>(or</a:t>
            </a:r>
            <a:r>
              <a:rPr b="1" lang="en-US" sz="2200" spc="29" strike="noStrike">
                <a:latin typeface="Calibri"/>
              </a:rPr>
              <a:t> </a:t>
            </a:r>
            <a:r>
              <a:rPr b="1" lang="en-US" sz="2200" spc="-7" strike="noStrike">
                <a:latin typeface="Calibri"/>
              </a:rPr>
              <a:t>insider)</a:t>
            </a:r>
            <a:r>
              <a:rPr b="1" lang="en-US" sz="2200" spc="-1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threat</a:t>
            </a:r>
            <a:r>
              <a:rPr b="1" lang="en-US" sz="2200" spc="43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actor</a:t>
            </a:r>
            <a:r>
              <a:rPr b="1" lang="en-US" sz="2200" spc="5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one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has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been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granted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permissions </a:t>
            </a:r>
            <a:r>
              <a:rPr b="0" lang="en-US" sz="2200" spc="-7" strike="noStrike">
                <a:latin typeface="Calibri"/>
              </a:rPr>
              <a:t>on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 </a:t>
            </a:r>
            <a:r>
              <a:rPr b="0" lang="en-US" sz="2200" spc="-21" strike="noStrike">
                <a:latin typeface="Calibri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0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This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typically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means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employee,</a:t>
            </a:r>
            <a:r>
              <a:rPr b="0" lang="en-US" sz="2200" spc="3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but</a:t>
            </a:r>
            <a:r>
              <a:rPr b="0" lang="en-US" sz="2200" spc="-7" strike="noStrike">
                <a:latin typeface="Calibri"/>
              </a:rPr>
              <a:t> insider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can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also arise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from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contractors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business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partners.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2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PlaceHolder 2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61D3055-A48B-496D-98C9-037ABD36A50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456120"/>
            <a:ext cx="102844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ATTRIBUTES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463320" y="1223640"/>
            <a:ext cx="11423880" cy="41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08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600" spc="-12" strike="noStrike">
                <a:solidFill>
                  <a:srgbClr val="ba2709"/>
                </a:solidFill>
                <a:latin typeface="Calibri"/>
              </a:rPr>
              <a:t>Intent/Motivation</a:t>
            </a:r>
            <a:endParaRPr b="0" lang="en-US" sz="26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5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200" spc="-21" strike="noStrike">
                <a:latin typeface="Calibri"/>
              </a:rPr>
              <a:t>Intent</a:t>
            </a:r>
            <a:r>
              <a:rPr b="1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describes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what</a:t>
            </a:r>
            <a:r>
              <a:rPr b="0" lang="en-US" sz="2200" spc="-1" strike="noStrike">
                <a:latin typeface="Calibri"/>
              </a:rPr>
              <a:t> an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attacker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hopes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achieve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from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attack,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while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1" lang="en-US" sz="2200" spc="-15" strike="noStrike">
                <a:latin typeface="Calibri"/>
              </a:rPr>
              <a:t>motivation</a:t>
            </a:r>
            <a:r>
              <a:rPr b="1" lang="en-US" sz="2200" spc="3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attacker's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reason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for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perpetrating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attack.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malicious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could</a:t>
            </a:r>
            <a:r>
              <a:rPr b="0" lang="en-US" sz="2200" spc="-7" strike="noStrike">
                <a:latin typeface="Calibri"/>
              </a:rPr>
              <a:t> be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motivated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greed,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curiosity,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sort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of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grievance,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for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instance.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intent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could</a:t>
            </a:r>
            <a:r>
              <a:rPr b="0" lang="en-US" sz="2200" spc="-7" strike="noStrike">
                <a:latin typeface="Calibri"/>
              </a:rPr>
              <a:t> be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vandalize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disrupt</a:t>
            </a:r>
            <a:r>
              <a:rPr b="0" lang="en-US" sz="2200" spc="-7" strike="noStrike">
                <a:latin typeface="Calibri"/>
              </a:rPr>
              <a:t> 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system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steal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something.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3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Malicious</a:t>
            </a:r>
            <a:r>
              <a:rPr b="0" lang="en-US" sz="2200" spc="-15" strike="noStrike">
                <a:latin typeface="Calibri"/>
              </a:rPr>
              <a:t> intents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motivations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can</a:t>
            </a:r>
            <a:r>
              <a:rPr b="0" lang="en-US" sz="2200" spc="-7" strike="noStrike">
                <a:latin typeface="Calibri"/>
              </a:rPr>
              <a:t> be </a:t>
            </a:r>
            <a:r>
              <a:rPr b="0" lang="en-US" sz="2200" spc="-21" strike="noStrike">
                <a:latin typeface="Calibri"/>
              </a:rPr>
              <a:t>contrasted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with </a:t>
            </a:r>
            <a:r>
              <a:rPr b="0" lang="en-US" sz="2200" spc="-12" strike="noStrike">
                <a:latin typeface="Calibri"/>
              </a:rPr>
              <a:t>accidental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 </a:t>
            </a:r>
            <a:r>
              <a:rPr b="0" lang="en-US" sz="2200" spc="-12" strike="noStrike">
                <a:latin typeface="Calibri"/>
              </a:rPr>
              <a:t>unintentional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actors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agents.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Unintentional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actors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represents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accidents,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oversights,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other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mistakes.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sldNum" idx="16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9E15F45-4BF7-495B-ACA5-C7663EB21A8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42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THREAT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59" name="object 3"/>
          <p:cNvSpPr/>
          <p:nvPr/>
        </p:nvSpPr>
        <p:spPr>
          <a:xfrm>
            <a:off x="916920" y="1802520"/>
            <a:ext cx="10233360" cy="38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14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fully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assess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intent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capability, </a:t>
            </a:r>
            <a:r>
              <a:rPr b="0" lang="en-US" sz="2400" spc="-1" strike="noStrike">
                <a:latin typeface="Calibri"/>
              </a:rPr>
              <a:t>it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helpful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identify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different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categories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threat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actors.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</a:rPr>
              <a:t>Hackers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5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1" strike="noStrike">
                <a:latin typeface="Calibri"/>
              </a:rPr>
              <a:t>Hacker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describes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individual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who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has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skills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gain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access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computer</a:t>
            </a:r>
            <a:r>
              <a:rPr b="0" lang="en-US" sz="2200" spc="3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systems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through unauthorized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unapproved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means.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18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6" strike="noStrike">
                <a:latin typeface="Calibri"/>
              </a:rPr>
              <a:t>Originally,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hacker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was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neutral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term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for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who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excelled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computer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5" strike="noStrike">
                <a:latin typeface="Calibri"/>
              </a:rPr>
              <a:t>programming</a:t>
            </a:r>
            <a:r>
              <a:rPr b="0" lang="en-US" sz="2200" spc="-7" strike="noStrike">
                <a:latin typeface="Calibri"/>
              </a:rPr>
              <a:t> and </a:t>
            </a:r>
            <a:r>
              <a:rPr b="0" lang="en-US" sz="2200" spc="-15" strike="noStrike">
                <a:latin typeface="Calibri"/>
              </a:rPr>
              <a:t>computer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system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administration.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Hacking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into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system</a:t>
            </a:r>
            <a:r>
              <a:rPr b="0" lang="en-US" sz="2200" spc="3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was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sign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of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technical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skill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creativity.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terms</a:t>
            </a:r>
            <a:r>
              <a:rPr b="0" lang="en-US" sz="2200" spc="24" strike="noStrike">
                <a:latin typeface="Calibri"/>
              </a:rPr>
              <a:t> </a:t>
            </a:r>
            <a:r>
              <a:rPr b="1" lang="en-US" sz="2200" spc="-7" strike="noStrike">
                <a:latin typeface="Calibri"/>
              </a:rPr>
              <a:t>black</a:t>
            </a:r>
            <a:r>
              <a:rPr b="1" lang="en-US" sz="2200" spc="4" strike="noStrike">
                <a:latin typeface="Calibri"/>
              </a:rPr>
              <a:t> </a:t>
            </a:r>
            <a:r>
              <a:rPr b="1" lang="en-US" sz="2200" spc="-21" strike="noStrike">
                <a:latin typeface="Calibri"/>
              </a:rPr>
              <a:t>hat</a:t>
            </a:r>
            <a:r>
              <a:rPr b="1" lang="en-US" sz="2200" spc="24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(unauthorized)</a:t>
            </a:r>
            <a:r>
              <a:rPr b="1" lang="en-US" sz="2200" spc="3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 </a:t>
            </a:r>
            <a:r>
              <a:rPr b="1" lang="en-US" sz="2200" spc="-15" strike="noStrike">
                <a:latin typeface="Calibri"/>
              </a:rPr>
              <a:t>white</a:t>
            </a:r>
            <a:r>
              <a:rPr b="1" lang="en-US" sz="2200" spc="12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hat</a:t>
            </a:r>
            <a:r>
              <a:rPr b="1" lang="en-US" sz="2200" spc="12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(authorized)</a:t>
            </a:r>
            <a:r>
              <a:rPr b="1" lang="en-US" sz="2200" spc="4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are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used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distinguish </a:t>
            </a:r>
            <a:r>
              <a:rPr b="0" lang="en-US" sz="2200" spc="-7" strike="noStrike">
                <a:latin typeface="Calibri"/>
              </a:rPr>
              <a:t>these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motivations.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0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PlaceHolder 2"/>
          <p:cNvSpPr>
            <a:spLocks noGrp="1"/>
          </p:cNvSpPr>
          <p:nvPr>
            <p:ph type="sldNum" idx="17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EA1B1BE-04B4-4211-A4E1-F99CE31D65C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72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916920" y="1767600"/>
            <a:ext cx="10328040" cy="33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</a:rPr>
              <a:t>Hackers</a:t>
            </a:r>
            <a:r>
              <a:rPr b="1" lang="en-US" sz="2400" spc="-5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course,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between</a:t>
            </a:r>
            <a:r>
              <a:rPr b="0" lang="en-US" sz="2200" spc="3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black </a:t>
            </a:r>
            <a:r>
              <a:rPr b="0" lang="en-US" sz="2200" spc="-7" strike="noStrike">
                <a:latin typeface="Calibri"/>
              </a:rPr>
              <a:t>and </a:t>
            </a:r>
            <a:r>
              <a:rPr b="0" lang="en-US" sz="2200" spc="-12" strike="noStrike">
                <a:latin typeface="Calibri"/>
              </a:rPr>
              <a:t>white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lie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shades of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52" strike="noStrike">
                <a:latin typeface="Calibri"/>
              </a:rPr>
              <a:t>gray.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0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4" strike="noStrike">
                <a:latin typeface="Calibri"/>
              </a:rPr>
              <a:t> </a:t>
            </a:r>
            <a:r>
              <a:rPr b="1" lang="en-US" sz="2200" spc="-26" strike="noStrike">
                <a:latin typeface="Calibri"/>
              </a:rPr>
              <a:t>Gray</a:t>
            </a:r>
            <a:r>
              <a:rPr b="1" lang="en-US" sz="2200" spc="9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hat</a:t>
            </a:r>
            <a:r>
              <a:rPr b="1" lang="en-US" sz="2200" spc="12" strike="noStrike">
                <a:latin typeface="Calibri"/>
              </a:rPr>
              <a:t> </a:t>
            </a:r>
            <a:r>
              <a:rPr b="1" lang="en-US" sz="2200" spc="-15" strike="noStrike">
                <a:latin typeface="Calibri"/>
              </a:rPr>
              <a:t>hacker</a:t>
            </a:r>
            <a:r>
              <a:rPr b="1" lang="en-US" sz="2200" spc="9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(semi-authorized)</a:t>
            </a:r>
            <a:r>
              <a:rPr b="1" lang="en-US" sz="2200" spc="3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might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try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find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vulnerabilities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product </a:t>
            </a:r>
            <a:r>
              <a:rPr b="0" lang="en-US" sz="2200" spc="-1" strike="noStrike">
                <a:latin typeface="Calibri"/>
              </a:rPr>
              <a:t>or 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network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without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seeking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approval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owner;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but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they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might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not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try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exploit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any</a:t>
            </a:r>
            <a:r>
              <a:rPr b="0" lang="en-US" sz="2200" spc="-7" strike="noStrike">
                <a:latin typeface="Calibri"/>
              </a:rPr>
              <a:t> vulnerabilities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they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find.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gray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hat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might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seek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voluntary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compensation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sort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(a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bug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bounty),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but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will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not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 </a:t>
            </a:r>
            <a:r>
              <a:rPr b="0" lang="en-US" sz="2200" spc="-15" strike="noStrike">
                <a:latin typeface="Calibri"/>
              </a:rPr>
              <a:t>exploit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as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extortion.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8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white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hat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hacker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always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seeks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authorization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perform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penetration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testing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private</a:t>
            </a:r>
            <a:r>
              <a:rPr b="0" lang="en-US" sz="2200" spc="-7" strike="noStrike">
                <a:latin typeface="Calibri"/>
              </a:rPr>
              <a:t> and</a:t>
            </a:r>
            <a:r>
              <a:rPr b="0" lang="en-US" sz="2200" spc="-12" strike="noStrike">
                <a:latin typeface="Calibri"/>
              </a:rPr>
              <a:t> proprietary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systems.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PlaceHolder 2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4018DE8-1EC7-472E-B2CA-FFE58ACC6CF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6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916920" y="1767600"/>
            <a:ext cx="1018944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Script</a:t>
            </a:r>
            <a:r>
              <a:rPr b="1" lang="en-US" sz="2400" spc="-5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Kiddies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script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kiddie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someone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who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uses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hacker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tools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without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necessarily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understanding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how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they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work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 </a:t>
            </a:r>
            <a:r>
              <a:rPr b="0" lang="en-US" sz="2200" spc="-12" strike="noStrike">
                <a:latin typeface="Calibri"/>
              </a:rPr>
              <a:t>having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ability</a:t>
            </a:r>
            <a:r>
              <a:rPr b="0" lang="en-US" sz="2200" spc="-21" strike="noStrike">
                <a:latin typeface="Calibri"/>
              </a:rPr>
              <a:t> to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craft </a:t>
            </a:r>
            <a:r>
              <a:rPr b="0" lang="en-US" sz="2200" spc="-12" strike="noStrike">
                <a:latin typeface="Calibri"/>
              </a:rPr>
              <a:t>new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attacks.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Script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kiddie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attacks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might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have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no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specific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target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any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reasonable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goal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other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than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gaining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attention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proving technical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abilities.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2"/>
          <p:cNvSpPr>
            <a:spLocks noGrp="1"/>
          </p:cNvSpPr>
          <p:nvPr>
            <p:ph type="sldNum" idx="19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07ED2D3-8F75-4E1E-A3D8-228DD1B7950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8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CATEGORIES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ACTORS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457200" y="1371600"/>
            <a:ext cx="11201400" cy="46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Hacker</a:t>
            </a:r>
            <a:r>
              <a:rPr b="1" lang="en-US" sz="2400" spc="-46" strike="noStrike">
                <a:solidFill>
                  <a:srgbClr val="ba2709"/>
                </a:solidFill>
                <a:latin typeface="Calibri"/>
              </a:rPr>
              <a:t> Teams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</a:rPr>
              <a:t>and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Hacktivists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historical</a:t>
            </a:r>
            <a:r>
              <a:rPr b="0" lang="en-US" sz="2200" spc="-12" strike="noStrike">
                <a:latin typeface="Calibri"/>
              </a:rPr>
              <a:t> image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hacker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35" strike="noStrike">
                <a:latin typeface="Calibri"/>
              </a:rPr>
              <a:t>loner,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acting</a:t>
            </a:r>
            <a:r>
              <a:rPr b="0" lang="en-US" sz="2200" spc="-1" strike="noStrike">
                <a:latin typeface="Calibri"/>
              </a:rPr>
              <a:t> as </a:t>
            </a:r>
            <a:r>
              <a:rPr b="0" lang="en-US" sz="2200" spc="-7" strike="noStrike">
                <a:latin typeface="Calibri"/>
              </a:rPr>
              <a:t>an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individual</a:t>
            </a:r>
            <a:r>
              <a:rPr b="0" lang="en-US" sz="2200" spc="-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with</a:t>
            </a:r>
            <a:r>
              <a:rPr b="0" lang="en-US" sz="2200" spc="-21" strike="noStrike">
                <a:latin typeface="Calibri"/>
              </a:rPr>
              <a:t> </a:t>
            </a:r>
            <a:r>
              <a:rPr b="0" lang="en-US" sz="2200" spc="-32" strike="noStrike">
                <a:latin typeface="Calibri"/>
              </a:rPr>
              <a:t>few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resources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-3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funding.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While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any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such</a:t>
            </a:r>
            <a:r>
              <a:rPr b="0" lang="en-US" sz="2200" spc="-7" strike="noStrike">
                <a:latin typeface="Calibri"/>
              </a:rPr>
              <a:t> "lone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hacker"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remains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must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be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accounted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66" strike="noStrike">
                <a:latin typeface="Calibri"/>
              </a:rPr>
              <a:t>for,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 </a:t>
            </a:r>
            <a:r>
              <a:rPr b="0" lang="en-US" sz="2200" spc="-486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actors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are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now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likely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to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work</a:t>
            </a:r>
            <a:r>
              <a:rPr b="0" lang="en-US" sz="2200" spc="-1" strike="noStrike">
                <a:latin typeface="Calibri"/>
              </a:rPr>
              <a:t> as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part</a:t>
            </a:r>
            <a:r>
              <a:rPr b="0" lang="en-US" sz="2200" spc="-7" strike="noStrike">
                <a:latin typeface="Calibri"/>
              </a:rPr>
              <a:t> of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some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sort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team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group.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The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collaborative </a:t>
            </a:r>
            <a:r>
              <a:rPr b="0" lang="en-US" sz="2200" spc="-12" strike="noStrike">
                <a:latin typeface="Calibri"/>
              </a:rPr>
              <a:t>team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effort</a:t>
            </a:r>
            <a:r>
              <a:rPr b="0" lang="en-US" sz="2200" spc="29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means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that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these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types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of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actors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are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able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develop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sophisticated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tools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novel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strategies.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latin typeface="Calibri"/>
              </a:rPr>
              <a:t>A</a:t>
            </a:r>
            <a:r>
              <a:rPr b="0" lang="en-US" sz="2200" spc="9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hacktivist</a:t>
            </a:r>
            <a:r>
              <a:rPr b="1" lang="en-US" sz="2200" spc="4" strike="noStrike">
                <a:latin typeface="Calibri"/>
              </a:rPr>
              <a:t> </a:t>
            </a:r>
            <a:r>
              <a:rPr b="1" lang="en-US" sz="2200" spc="-12" strike="noStrike">
                <a:latin typeface="Calibri"/>
              </a:rPr>
              <a:t>group</a:t>
            </a:r>
            <a:r>
              <a:rPr b="0" lang="en-US" sz="2200" spc="-12" strike="noStrike">
                <a:latin typeface="Calibri"/>
              </a:rPr>
              <a:t>,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such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as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7" strike="noStrike">
                <a:solidFill>
                  <a:srgbClr val="006fc0"/>
                </a:solidFill>
                <a:latin typeface="Calibri"/>
              </a:rPr>
              <a:t>Anonymous</a:t>
            </a:r>
            <a:r>
              <a:rPr b="0" lang="en-US" sz="2200" spc="-7" strike="noStrike">
                <a:latin typeface="Calibri"/>
              </a:rPr>
              <a:t>,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solidFill>
                  <a:srgbClr val="006fc0"/>
                </a:solidFill>
                <a:latin typeface="Calibri"/>
              </a:rPr>
              <a:t>WikiLeaks</a:t>
            </a:r>
            <a:r>
              <a:rPr b="0" lang="en-US" sz="2200" spc="-7" strike="noStrike">
                <a:latin typeface="Calibri"/>
              </a:rPr>
              <a:t>,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6fc0"/>
                </a:solidFill>
                <a:latin typeface="Calibri"/>
              </a:rPr>
              <a:t>LulzSec</a:t>
            </a:r>
            <a:r>
              <a:rPr b="0" lang="en-US" sz="2200" spc="-12" strike="noStrike">
                <a:latin typeface="Calibri"/>
              </a:rPr>
              <a:t>,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uses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cyber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weapons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promote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 </a:t>
            </a:r>
            <a:r>
              <a:rPr b="0" lang="en-US" sz="2200" spc="-12" strike="noStrike">
                <a:latin typeface="Calibri"/>
              </a:rPr>
              <a:t>political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agenda.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latin typeface="Calibri"/>
              </a:rPr>
              <a:t>Hacktivists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might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attempt</a:t>
            </a:r>
            <a:r>
              <a:rPr b="0" lang="en-US" sz="2200" spc="32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obtain</a:t>
            </a:r>
            <a:r>
              <a:rPr b="0" lang="en-US" sz="2200" spc="-7" strike="noStrike">
                <a:latin typeface="Calibri"/>
              </a:rPr>
              <a:t> and </a:t>
            </a:r>
            <a:r>
              <a:rPr b="0" lang="en-US" sz="2200" spc="-12" strike="noStrike">
                <a:latin typeface="Calibri"/>
              </a:rPr>
              <a:t>release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confidential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information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to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the </a:t>
            </a:r>
            <a:r>
              <a:rPr b="0" lang="en-US" sz="2200" spc="-480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public</a:t>
            </a:r>
            <a:r>
              <a:rPr b="0" lang="en-US" sz="2200" spc="-15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domain,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perform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denial</a:t>
            </a:r>
            <a:r>
              <a:rPr b="0" lang="en-US" sz="2200" spc="-7" strike="noStrike">
                <a:latin typeface="Calibri"/>
              </a:rPr>
              <a:t> of</a:t>
            </a:r>
            <a:r>
              <a:rPr b="0" lang="en-US" sz="2200" spc="9" strike="noStrike">
                <a:latin typeface="Calibri"/>
              </a:rPr>
              <a:t> </a:t>
            </a:r>
            <a:r>
              <a:rPr b="0" lang="en-US" sz="2200" spc="-1" strike="noStrike">
                <a:latin typeface="Calibri"/>
              </a:rPr>
              <a:t>service</a:t>
            </a:r>
            <a:r>
              <a:rPr b="0" lang="en-US" sz="2200" spc="-7" strike="noStrike">
                <a:latin typeface="Calibri"/>
              </a:rPr>
              <a:t> (DoS) </a:t>
            </a:r>
            <a:r>
              <a:rPr b="0" lang="en-US" sz="2200" spc="-21" strike="noStrike">
                <a:latin typeface="Calibri"/>
              </a:rPr>
              <a:t>attacks,</a:t>
            </a:r>
            <a:r>
              <a:rPr b="0" lang="en-US" sz="2200" spc="12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or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21" strike="noStrike">
                <a:latin typeface="Calibri"/>
              </a:rPr>
              <a:t>deface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websites.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72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PlaceHolder 2"/>
          <p:cNvSpPr>
            <a:spLocks noGrp="1"/>
          </p:cNvSpPr>
          <p:nvPr>
            <p:ph type="sldNum" idx="20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6539D92-C471-484A-999D-E04E58766EE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275400" y="228600"/>
            <a:ext cx="104688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600" spc="-26" strike="noStrike" baseline="-8000">
                <a:solidFill>
                  <a:srgbClr val="c00000"/>
                </a:solidFill>
                <a:latin typeface="Calibri Light"/>
              </a:rPr>
              <a:t>S</a:t>
            </a:r>
            <a:r>
              <a:rPr b="1" lang="en-US" sz="3600" spc="-307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330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26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E</a:t>
            </a:r>
            <a:r>
              <a:rPr b="1" lang="en-US" sz="3600" spc="-92" strike="noStrike" baseline="-8000">
                <a:solidFill>
                  <a:srgbClr val="c00000"/>
                </a:solidFill>
                <a:latin typeface="Calibri Light"/>
              </a:rPr>
              <a:t> </a:t>
            </a:r>
            <a:r>
              <a:rPr b="1" lang="en-US" sz="3600" spc="-35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7" strike="noStrike" baseline="-8000">
                <a:solidFill>
                  <a:srgbClr val="c00000"/>
                </a:solidFill>
                <a:latin typeface="Calibri Light"/>
              </a:rPr>
              <a:t>C</a:t>
            </a:r>
            <a:r>
              <a:rPr b="1" lang="en-US" sz="3600" spc="-137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41" strike="noStrike" baseline="-8000">
                <a:solidFill>
                  <a:srgbClr val="c00000"/>
                </a:solidFill>
                <a:latin typeface="Calibri Light"/>
              </a:rPr>
              <a:t>O</a:t>
            </a:r>
            <a:r>
              <a:rPr b="1" lang="en-US" sz="3600" spc="-97" strike="noStrike" baseline="-8000">
                <a:solidFill>
                  <a:srgbClr val="c00000"/>
                </a:solidFill>
                <a:latin typeface="Calibri Light"/>
              </a:rPr>
              <a:t>R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S</a:t>
            </a:r>
            <a:r>
              <a:rPr b="1" lang="en-US" sz="3600" spc="-86" strike="noStrike" baseline="-8000">
                <a:solidFill>
                  <a:srgbClr val="c00000"/>
                </a:solidFill>
                <a:latin typeface="Calibri Light"/>
              </a:rPr>
              <a:t> </a:t>
            </a:r>
            <a:r>
              <a:rPr b="1" lang="en-US" sz="3600" spc="-26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32" strike="noStrike" baseline="-8000">
                <a:solidFill>
                  <a:srgbClr val="c00000"/>
                </a:solidFill>
                <a:latin typeface="Calibri Light"/>
              </a:rPr>
              <a:t>N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D</a:t>
            </a:r>
            <a:r>
              <a:rPr b="1" lang="en-US" sz="3600" spc="-86" strike="noStrike" baseline="-8000">
                <a:solidFill>
                  <a:srgbClr val="c00000"/>
                </a:solidFill>
                <a:latin typeface="Calibri Light"/>
              </a:rPr>
              <a:t> </a:t>
            </a:r>
            <a:r>
              <a:rPr b="1" lang="en-US" sz="3600" spc="-26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60" strike="noStrike" baseline="-8000">
                <a:solidFill>
                  <a:srgbClr val="c00000"/>
                </a:solidFill>
                <a:latin typeface="Calibri Light"/>
              </a:rPr>
              <a:t>D</a:t>
            </a:r>
            <a:r>
              <a:rPr b="1" lang="en-US" sz="3600" spc="-185" strike="noStrike" baseline="-8000">
                <a:solidFill>
                  <a:srgbClr val="c00000"/>
                </a:solidFill>
                <a:latin typeface="Calibri Light"/>
              </a:rPr>
              <a:t>V</a:t>
            </a:r>
            <a:r>
              <a:rPr b="1" lang="en-US" sz="3600" spc="-35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55" strike="noStrike" baseline="-8000">
                <a:solidFill>
                  <a:srgbClr val="c00000"/>
                </a:solidFill>
                <a:latin typeface="Calibri Light"/>
              </a:rPr>
              <a:t>N</a:t>
            </a:r>
            <a:r>
              <a:rPr b="1" lang="en-US" sz="3600" spc="-46" strike="noStrike" baseline="-8000">
                <a:solidFill>
                  <a:srgbClr val="c00000"/>
                </a:solidFill>
                <a:latin typeface="Calibri Light"/>
              </a:rPr>
              <a:t>C</a:t>
            </a:r>
            <a:r>
              <a:rPr b="1" lang="en-US" sz="3600" spc="-35" strike="noStrike" baseline="-8000">
                <a:solidFill>
                  <a:srgbClr val="c00000"/>
                </a:solidFill>
                <a:latin typeface="Calibri Light"/>
              </a:rPr>
              <a:t>E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D</a:t>
            </a:r>
            <a:r>
              <a:rPr b="1" lang="en-US" sz="3600" spc="-86" strike="noStrike" baseline="-8000">
                <a:solidFill>
                  <a:srgbClr val="c00000"/>
                </a:solidFill>
                <a:latin typeface="Calibri Light"/>
              </a:rPr>
              <a:t> </a:t>
            </a:r>
            <a:r>
              <a:rPr b="1" lang="en-US" sz="3600" spc="-15" strike="noStrike" baseline="-8000">
                <a:solidFill>
                  <a:srgbClr val="c00000"/>
                </a:solidFill>
                <a:latin typeface="Calibri Light"/>
              </a:rPr>
              <a:t>P</a:t>
            </a:r>
            <a:r>
              <a:rPr b="1" lang="en-US" sz="3600" spc="-26" strike="noStrike" baseline="-8000">
                <a:solidFill>
                  <a:srgbClr val="c00000"/>
                </a:solidFill>
                <a:latin typeface="Calibri Light"/>
              </a:rPr>
              <a:t>E</a:t>
            </a:r>
            <a:r>
              <a:rPr b="1" lang="en-US" sz="3600" spc="-80" strike="noStrike" baseline="-8000">
                <a:solidFill>
                  <a:srgbClr val="c00000"/>
                </a:solidFill>
                <a:latin typeface="Calibri Light"/>
              </a:rPr>
              <a:t>R</a:t>
            </a:r>
            <a:r>
              <a:rPr b="1" lang="en-US" sz="3600" spc="-35" strike="noStrike" baseline="-8000">
                <a:solidFill>
                  <a:srgbClr val="c00000"/>
                </a:solidFill>
                <a:latin typeface="Calibri Light"/>
              </a:rPr>
              <a:t>S</a:t>
            </a:r>
            <a:r>
              <a:rPr b="1" lang="en-US" sz="3600" spc="-15" strike="noStrike" baseline="-8000">
                <a:solidFill>
                  <a:srgbClr val="c00000"/>
                </a:solidFill>
                <a:latin typeface="Calibri Light"/>
              </a:rPr>
              <a:t>I</a:t>
            </a:r>
            <a:r>
              <a:rPr b="1" lang="en-US" sz="3600" spc="-52" strike="noStrike" baseline="-8000">
                <a:solidFill>
                  <a:srgbClr val="c00000"/>
                </a:solidFill>
                <a:latin typeface="Calibri Light"/>
              </a:rPr>
              <a:t>S</a:t>
            </a:r>
            <a:r>
              <a:rPr b="1" lang="en-US" sz="3600" spc="-41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35" strike="noStrike" baseline="-8000">
                <a:solidFill>
                  <a:srgbClr val="c00000"/>
                </a:solidFill>
                <a:latin typeface="Calibri Light"/>
              </a:rPr>
              <a:t>E</a:t>
            </a:r>
            <a:r>
              <a:rPr b="1" lang="en-US" sz="3600" spc="-46" strike="noStrike" baseline="-8000">
                <a:solidFill>
                  <a:srgbClr val="c00000"/>
                </a:solidFill>
                <a:latin typeface="Calibri Light"/>
              </a:rPr>
              <a:t>N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86" strike="noStrike" baseline="-8000">
                <a:solidFill>
                  <a:srgbClr val="c00000"/>
                </a:solidFill>
                <a:latin typeface="Calibri Light"/>
              </a:rPr>
              <a:t> </a:t>
            </a:r>
            <a:r>
              <a:rPr b="1" lang="en-US" sz="3600" spc="-15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32" strike="noStrike" baseline="-8000">
                <a:solidFill>
                  <a:srgbClr val="c00000"/>
                </a:solidFill>
                <a:latin typeface="Calibri Light"/>
              </a:rPr>
              <a:t>HR</a:t>
            </a:r>
            <a:r>
              <a:rPr b="1" lang="en-US" sz="3600" spc="-72" strike="noStrike" baseline="-8000">
                <a:solidFill>
                  <a:srgbClr val="c00000"/>
                </a:solidFill>
                <a:latin typeface="Calibri Light"/>
              </a:rPr>
              <a:t>E</a:t>
            </a:r>
            <a:r>
              <a:rPr b="1" lang="en-US" sz="3600" spc="-330" strike="noStrike" baseline="-8000">
                <a:solidFill>
                  <a:srgbClr val="c00000"/>
                </a:solidFill>
                <a:latin typeface="Calibri Light"/>
              </a:rPr>
              <a:t>A</a:t>
            </a:r>
            <a:r>
              <a:rPr b="1" lang="en-US" sz="3600" spc="-41" strike="noStrike" baseline="-8000">
                <a:solidFill>
                  <a:srgbClr val="c00000"/>
                </a:solidFill>
                <a:latin typeface="Calibri Light"/>
              </a:rPr>
              <a:t>T</a:t>
            </a:r>
            <a:r>
              <a:rPr b="1" lang="en-US" sz="3600" spc="-1" strike="noStrike" baseline="-8000">
                <a:solidFill>
                  <a:srgbClr val="c00000"/>
                </a:solidFill>
                <a:latin typeface="Calibri Light"/>
              </a:rPr>
              <a:t>S</a:t>
            </a:r>
            <a:endParaRPr b="1" lang="en-US" sz="3600" spc="-1" strike="noStrike" baseline="-8000">
              <a:latin typeface="Calibri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232200" y="914400"/>
            <a:ext cx="11655000" cy="47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latin typeface="Calibri"/>
              </a:rPr>
              <a:t>Most </a:t>
            </a:r>
            <a:r>
              <a:rPr b="0" lang="en-US" sz="2400" spc="-7" strike="noStrike">
                <a:latin typeface="Calibri"/>
              </a:rPr>
              <a:t>nation </a:t>
            </a:r>
            <a:r>
              <a:rPr b="0" lang="en-US" sz="2400" spc="-21" strike="noStrike">
                <a:latin typeface="Calibri"/>
              </a:rPr>
              <a:t>states have </a:t>
            </a:r>
            <a:r>
              <a:rPr b="0" lang="en-US" sz="2400" spc="-7" strike="noStrike">
                <a:latin typeface="Calibri"/>
              </a:rPr>
              <a:t>developed cybersecurity expertise </a:t>
            </a:r>
            <a:r>
              <a:rPr b="0" lang="en-US" sz="2400" spc="-1" strike="noStrike">
                <a:latin typeface="Calibri"/>
              </a:rPr>
              <a:t>and will </a:t>
            </a:r>
            <a:r>
              <a:rPr b="0" lang="en-US" sz="2400" spc="-7" strike="noStrike">
                <a:latin typeface="Calibri"/>
              </a:rPr>
              <a:t>use cyber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weapons</a:t>
            </a:r>
            <a:r>
              <a:rPr b="0" lang="en-US" sz="2400" spc="-15" strike="noStrike">
                <a:latin typeface="Calibri"/>
              </a:rPr>
              <a:t> to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achieve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both military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commercial</a:t>
            </a:r>
            <a:r>
              <a:rPr b="0" lang="en-US" sz="2400" spc="-4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goals.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term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</a:rPr>
              <a:t>Advanced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1" lang="en-US" sz="2400" spc="-21" strike="noStrike">
                <a:solidFill>
                  <a:srgbClr val="006fc0"/>
                </a:solidFill>
                <a:latin typeface="Calibri"/>
              </a:rPr>
              <a:t>Persistent</a:t>
            </a:r>
            <a:r>
              <a:rPr b="1" lang="en-US" sz="2400" spc="4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</a:rPr>
              <a:t>Threat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</a:rPr>
              <a:t>(APT)</a:t>
            </a:r>
            <a:r>
              <a:rPr b="1" lang="en-US" sz="2400" spc="4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was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coined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12" strike="noStrike">
                <a:latin typeface="Calibri"/>
              </a:rPr>
              <a:t> understand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4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latin typeface="Calibri"/>
              </a:rPr>
              <a:t>behavior</a:t>
            </a:r>
            <a:r>
              <a:rPr b="0" lang="en-US" sz="2400" spc="-7" strike="noStrike">
                <a:latin typeface="Calibri"/>
              </a:rPr>
              <a:t> underpinning</a:t>
            </a:r>
            <a:r>
              <a:rPr b="0" lang="en-US" sz="2400" spc="-1" strike="noStrike">
                <a:latin typeface="Calibri"/>
              </a:rPr>
              <a:t> modern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types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of</a:t>
            </a:r>
            <a:r>
              <a:rPr b="0" lang="en-US" sz="2400" spc="-7" strike="noStrike">
                <a:latin typeface="Calibri"/>
              </a:rPr>
              <a:t> cyber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adversaries.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Rather </a:t>
            </a:r>
            <a:r>
              <a:rPr b="0" lang="en-US" sz="2400" spc="-1" strike="noStrike">
                <a:latin typeface="Calibri"/>
              </a:rPr>
              <a:t>than think in </a:t>
            </a:r>
            <a:r>
              <a:rPr b="0" lang="en-US" sz="2400" spc="-7" strike="noStrike">
                <a:latin typeface="Calibri"/>
              </a:rPr>
              <a:t>terms of </a:t>
            </a:r>
            <a:r>
              <a:rPr b="0" lang="en-US" sz="2400" spc="-21" strike="noStrike">
                <a:latin typeface="Calibri"/>
              </a:rPr>
              <a:t>systems </a:t>
            </a:r>
            <a:r>
              <a:rPr b="0" lang="en-US" sz="2400" spc="-7" strike="noStrike">
                <a:latin typeface="Calibri"/>
              </a:rPr>
              <a:t>being </a:t>
            </a:r>
            <a:r>
              <a:rPr b="0" lang="en-US" sz="2400" spc="-15" strike="noStrike">
                <a:latin typeface="Calibri"/>
              </a:rPr>
              <a:t>infected </a:t>
            </a:r>
            <a:r>
              <a:rPr b="0" lang="en-US" sz="2400" spc="-1" strike="noStrike">
                <a:latin typeface="Calibri"/>
              </a:rPr>
              <a:t>with a virus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32" strike="noStrike">
                <a:latin typeface="Calibri"/>
              </a:rPr>
              <a:t>Trojan,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APT </a:t>
            </a:r>
            <a:r>
              <a:rPr b="0" lang="en-US" sz="2400" spc="-26" strike="noStrike">
                <a:latin typeface="Calibri"/>
              </a:rPr>
              <a:t>refers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ongoing </a:t>
            </a:r>
            <a:r>
              <a:rPr b="0" lang="en-US" sz="2400" spc="-1" strike="noStrike">
                <a:latin typeface="Calibri"/>
              </a:rPr>
              <a:t>ability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12" strike="noStrike">
                <a:latin typeface="Calibri"/>
              </a:rPr>
              <a:t>adversary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compromise network </a:t>
            </a:r>
            <a:r>
              <a:rPr b="0" lang="en-US" sz="2400" spc="-7" strike="noStrike">
                <a:latin typeface="Calibri"/>
              </a:rPr>
              <a:t> security—to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obtain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maintain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access—using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variety</a:t>
            </a:r>
            <a:r>
              <a:rPr b="0" lang="en-US" sz="2400" spc="-7" strike="noStrike">
                <a:latin typeface="Calibri"/>
              </a:rPr>
              <a:t> of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tools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techniques.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01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21" strike="noStrike">
                <a:solidFill>
                  <a:srgbClr val="006fc0"/>
                </a:solidFill>
                <a:latin typeface="Calibri"/>
              </a:rPr>
              <a:t>State</a:t>
            </a:r>
            <a:r>
              <a:rPr b="1" lang="en-US" sz="2400" spc="4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</a:rPr>
              <a:t>actors </a:t>
            </a:r>
            <a:r>
              <a:rPr b="0" lang="en-US" sz="2400" spc="-21" strike="noStrike">
                <a:latin typeface="Calibri"/>
              </a:rPr>
              <a:t>have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been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implicated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many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attacks,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particularly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on energy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health </a:t>
            </a:r>
            <a:r>
              <a:rPr b="0" lang="en-US" sz="2400" spc="-12" strike="noStrike">
                <a:latin typeface="Calibri"/>
              </a:rPr>
              <a:t>network</a:t>
            </a:r>
            <a:r>
              <a:rPr b="0" lang="en-US" sz="2400" spc="-21" strike="noStrike">
                <a:latin typeface="Calibri"/>
              </a:rPr>
              <a:t> systems.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goals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state</a:t>
            </a:r>
            <a:r>
              <a:rPr b="0" lang="en-US" sz="2400" spc="-15" strike="noStrike">
                <a:latin typeface="Calibri"/>
              </a:rPr>
              <a:t> actors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are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primarily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espionage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15" strike="noStrike">
                <a:latin typeface="Calibri"/>
              </a:rPr>
              <a:t>strategic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advantage,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but</a:t>
            </a:r>
            <a:r>
              <a:rPr b="0" lang="en-US" sz="2400" spc="-1" strike="noStrike">
                <a:latin typeface="Calibri"/>
              </a:rPr>
              <a:t> it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not </a:t>
            </a:r>
            <a:r>
              <a:rPr b="0" lang="en-US" sz="2400" spc="-12" strike="noStrike">
                <a:latin typeface="Calibri"/>
              </a:rPr>
              <a:t>unknown </a:t>
            </a:r>
            <a:r>
              <a:rPr b="0" lang="en-US" sz="2400" spc="-21" strike="noStrike">
                <a:latin typeface="Calibri"/>
              </a:rPr>
              <a:t>for </a:t>
            </a:r>
            <a:r>
              <a:rPr b="0" lang="en-US" sz="2400" spc="-7" strike="noStrike">
                <a:latin typeface="Calibri"/>
              </a:rPr>
              <a:t>countries—</a:t>
            </a:r>
            <a:r>
              <a:rPr b="1" lang="en-US" sz="2400" spc="-7" strike="noStrike">
                <a:latin typeface="Calibri"/>
              </a:rPr>
              <a:t>North </a:t>
            </a:r>
            <a:r>
              <a:rPr b="1" lang="en-US" sz="2400" spc="-15" strike="noStrike">
                <a:latin typeface="Calibri"/>
              </a:rPr>
              <a:t>Korea </a:t>
            </a:r>
            <a:r>
              <a:rPr b="0" lang="en-US" sz="2400" spc="-7" strike="noStrike">
                <a:latin typeface="Calibri"/>
              </a:rPr>
              <a:t>being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2" strike="noStrike">
                <a:latin typeface="Calibri"/>
              </a:rPr>
              <a:t>good example—to </a:t>
            </a:r>
            <a:r>
              <a:rPr b="0" lang="en-US" sz="2400" spc="-15" strike="noStrike">
                <a:latin typeface="Calibri"/>
              </a:rPr>
              <a:t>target 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companies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purely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for</a:t>
            </a:r>
            <a:r>
              <a:rPr b="0" lang="en-US" sz="2400" spc="-12" strike="noStrike">
                <a:latin typeface="Calibri"/>
              </a:rPr>
              <a:t> commercial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gain.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6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2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B32A819-B212-4145-916E-2323EAD98D3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457200"/>
            <a:ext cx="9141480" cy="700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8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243000" y="1143000"/>
            <a:ext cx="11415600" cy="45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An </a:t>
            </a:r>
            <a:r>
              <a:rPr b="1" lang="en-US" sz="2400" spc="-26" strike="noStrike">
                <a:solidFill>
                  <a:srgbClr val="ba2709"/>
                </a:solidFill>
                <a:latin typeface="Calibri"/>
              </a:rPr>
              <a:t>Attack 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</a:rPr>
              <a:t>Vector </a:t>
            </a:r>
            <a:r>
              <a:rPr b="0" lang="en-US" sz="2400" spc="-1" strike="noStrike">
                <a:latin typeface="Calibri"/>
              </a:rPr>
              <a:t>is the </a:t>
            </a:r>
            <a:r>
              <a:rPr b="0" lang="en-US" sz="2400" spc="-12" strike="noStrike">
                <a:latin typeface="Calibri"/>
              </a:rPr>
              <a:t>path that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2" strike="noStrike">
                <a:latin typeface="Calibri"/>
              </a:rPr>
              <a:t>threat </a:t>
            </a:r>
            <a:r>
              <a:rPr b="0" lang="en-US" sz="2400" spc="-7" strike="noStrike">
                <a:latin typeface="Calibri"/>
              </a:rPr>
              <a:t>actor uses </a:t>
            </a:r>
            <a:r>
              <a:rPr b="0" lang="en-US" sz="2400" spc="-15" strike="noStrike">
                <a:latin typeface="Calibri"/>
              </a:rPr>
              <a:t>to gain </a:t>
            </a:r>
            <a:r>
              <a:rPr b="0" lang="en-US" sz="2400" spc="-1" strike="noStrike">
                <a:latin typeface="Calibri"/>
              </a:rPr>
              <a:t>access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2" strike="noStrike">
                <a:latin typeface="Calibri"/>
              </a:rPr>
              <a:t>secure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In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majority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cases,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gaining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access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means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being</a:t>
            </a:r>
            <a:r>
              <a:rPr b="0" lang="en-US" sz="2400" spc="-1" strike="noStrike">
                <a:latin typeface="Calibri"/>
              </a:rPr>
              <a:t> able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to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run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malicious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code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4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on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target.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06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Direct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</a:rPr>
              <a:t>access</a:t>
            </a:r>
            <a:r>
              <a:rPr b="0" lang="en-US" sz="2400" spc="-1" strike="noStrike">
                <a:latin typeface="Calibri"/>
              </a:rPr>
              <a:t>—this is a type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5" strike="noStrike">
                <a:latin typeface="Calibri"/>
              </a:rPr>
              <a:t>physical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2" strike="noStrike">
                <a:latin typeface="Calibri"/>
              </a:rPr>
              <a:t>local </a:t>
            </a:r>
            <a:r>
              <a:rPr b="0" lang="en-US" sz="2400" spc="-15" strike="noStrike">
                <a:latin typeface="Calibri"/>
              </a:rPr>
              <a:t>attack, </a:t>
            </a:r>
            <a:r>
              <a:rPr b="0" lang="en-US" sz="2400" spc="-7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threat </a:t>
            </a:r>
            <a:r>
              <a:rPr b="0" lang="en-US" sz="2400" spc="-7" strike="noStrike">
                <a:latin typeface="Calibri"/>
              </a:rPr>
              <a:t>actor </a:t>
            </a:r>
            <a:r>
              <a:rPr b="0" lang="en-US" sz="2400" spc="-12" strike="noStrike">
                <a:latin typeface="Calibri"/>
              </a:rPr>
              <a:t>could 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exploit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15" strike="noStrike">
                <a:latin typeface="Calibri"/>
              </a:rPr>
              <a:t>unlocked workstation, </a:t>
            </a:r>
            <a:r>
              <a:rPr b="0" lang="en-US" sz="2400" spc="-7" strike="noStrike">
                <a:latin typeface="Calibri"/>
              </a:rPr>
              <a:t>use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2" strike="noStrike">
                <a:latin typeface="Calibri"/>
              </a:rPr>
              <a:t>boot </a:t>
            </a:r>
            <a:r>
              <a:rPr b="0" lang="en-US" sz="2400" spc="-7" strike="noStrike">
                <a:latin typeface="Calibri"/>
              </a:rPr>
              <a:t>disk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try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install </a:t>
            </a:r>
            <a:r>
              <a:rPr b="0" lang="en-US" sz="2400" spc="-1" strike="noStrike">
                <a:latin typeface="Calibri"/>
              </a:rPr>
              <a:t>malicious </a:t>
            </a:r>
            <a:r>
              <a:rPr b="0" lang="en-US" sz="2400" spc="-12" strike="noStrike">
                <a:latin typeface="Calibri"/>
              </a:rPr>
              <a:t>tools,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steal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device,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for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example.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4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Removable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</a:rPr>
              <a:t>media</a:t>
            </a:r>
            <a:r>
              <a:rPr b="0" lang="en-US" sz="2400" spc="-1" strike="noStrike">
                <a:latin typeface="Calibri"/>
              </a:rPr>
              <a:t>—the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12" strike="noStrike">
                <a:latin typeface="Calibri"/>
              </a:rPr>
              <a:t>conceals malware </a:t>
            </a:r>
            <a:r>
              <a:rPr b="0" lang="en-US" sz="2400" spc="-7" strike="noStrike">
                <a:latin typeface="Calibri"/>
              </a:rPr>
              <a:t>on </a:t>
            </a:r>
            <a:r>
              <a:rPr b="0" lang="en-US" sz="2400" spc="-1" strike="noStrike">
                <a:latin typeface="Calibri"/>
              </a:rPr>
              <a:t>a USB thumb </a:t>
            </a:r>
            <a:r>
              <a:rPr b="0" lang="en-US" sz="2400" spc="-12" strike="noStrike">
                <a:latin typeface="Calibri"/>
              </a:rPr>
              <a:t>drive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" strike="noStrike">
                <a:latin typeface="Calibri"/>
              </a:rPr>
              <a:t> memory </a:t>
            </a:r>
            <a:r>
              <a:rPr b="0" lang="en-US" sz="2400" spc="-15" strike="noStrike">
                <a:latin typeface="Calibri"/>
              </a:rPr>
              <a:t>card </a:t>
            </a:r>
            <a:r>
              <a:rPr b="0" lang="en-US" sz="2400" spc="-1" strike="noStrike">
                <a:latin typeface="Calibri"/>
              </a:rPr>
              <a:t>and tries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trick </a:t>
            </a:r>
            <a:r>
              <a:rPr b="0" lang="en-US" sz="2400" spc="-7" strike="noStrike">
                <a:latin typeface="Calibri"/>
              </a:rPr>
              <a:t>employees </a:t>
            </a:r>
            <a:r>
              <a:rPr b="0" lang="en-US" sz="2400" spc="-15" strike="noStrike">
                <a:latin typeface="Calibri"/>
              </a:rPr>
              <a:t>into </a:t>
            </a:r>
            <a:r>
              <a:rPr b="0" lang="en-US" sz="2400" spc="-12" strike="noStrike">
                <a:latin typeface="Calibri"/>
              </a:rPr>
              <a:t>connecting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7" strike="noStrike">
                <a:latin typeface="Calibri"/>
              </a:rPr>
              <a:t>media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7" strike="noStrike">
                <a:latin typeface="Calibri"/>
              </a:rPr>
              <a:t>PC,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laptop,</a:t>
            </a:r>
            <a:r>
              <a:rPr b="0" lang="en-US" sz="2400" spc="-7" strike="noStrike">
                <a:latin typeface="Calibri"/>
              </a:rPr>
              <a:t> or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smartphone,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For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some </a:t>
            </a:r>
            <a:r>
              <a:rPr b="0" lang="en-US" sz="2400" spc="-12" strike="noStrike">
                <a:latin typeface="Calibri"/>
              </a:rPr>
              <a:t>exploits,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simply</a:t>
            </a:r>
            <a:r>
              <a:rPr b="0" lang="en-US" sz="2400" spc="-12" strike="noStrike">
                <a:latin typeface="Calibri"/>
              </a:rPr>
              <a:t> connecting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media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may</a:t>
            </a:r>
            <a:r>
              <a:rPr b="0" lang="en-US" sz="2400" spc="-7" strike="noStrike">
                <a:latin typeface="Calibri"/>
              </a:rPr>
              <a:t> be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sufficient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run the </a:t>
            </a:r>
            <a:r>
              <a:rPr b="0" lang="en-US" sz="2400" spc="-12" strike="noStrike">
                <a:latin typeface="Calibri"/>
              </a:rPr>
              <a:t>malware, </a:t>
            </a:r>
            <a:r>
              <a:rPr b="0" lang="en-US" sz="2400" spc="-1" strike="noStrike">
                <a:latin typeface="Calibri"/>
              </a:rPr>
              <a:t>In </a:t>
            </a:r>
            <a:r>
              <a:rPr b="0" lang="en-US" sz="2400" spc="-15" strike="noStrike">
                <a:latin typeface="Calibri"/>
              </a:rPr>
              <a:t>many </a:t>
            </a:r>
            <a:r>
              <a:rPr b="0" lang="en-US" sz="2400" spc="-7" strike="noStrike">
                <a:latin typeface="Calibri"/>
              </a:rPr>
              <a:t>cases,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15" strike="noStrike">
                <a:latin typeface="Calibri"/>
              </a:rPr>
              <a:t>may </a:t>
            </a:r>
            <a:r>
              <a:rPr b="0" lang="en-US" sz="2400" spc="-7" strike="noStrike">
                <a:latin typeface="Calibri"/>
              </a:rPr>
              <a:t>need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employee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open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file </a:t>
            </a:r>
            <a:r>
              <a:rPr b="0" lang="en-US" sz="2400" spc="-1" strike="noStrike">
                <a:latin typeface="Calibri"/>
              </a:rPr>
              <a:t>in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7" strike="noStrike">
                <a:latin typeface="Calibri"/>
              </a:rPr>
              <a:t> vulnerable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application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" strike="noStrike">
                <a:latin typeface="Calibri"/>
              </a:rPr>
              <a:t>run a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setup </a:t>
            </a:r>
            <a:r>
              <a:rPr b="0" lang="en-US" sz="2400" spc="-15" strike="noStrike">
                <a:latin typeface="Calibri"/>
              </a:rPr>
              <a:t>program.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0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PlaceHolder 2"/>
          <p:cNvSpPr>
            <a:spLocks noGrp="1"/>
          </p:cNvSpPr>
          <p:nvPr>
            <p:ph type="sldNum" idx="22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7BCCBFE-0F45-4CC4-BB3B-28AC37CB027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4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8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916920" y="1802520"/>
            <a:ext cx="10334160" cy="37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Email</a:t>
            </a:r>
            <a:r>
              <a:rPr b="0" lang="en-US" sz="2400" spc="-7" strike="noStrike">
                <a:latin typeface="Calibri"/>
              </a:rPr>
              <a:t>—the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7" strike="noStrike">
                <a:latin typeface="Calibri"/>
              </a:rPr>
              <a:t>sends </a:t>
            </a:r>
            <a:r>
              <a:rPr b="0" lang="en-US" sz="2400" spc="-1" strike="noStrike">
                <a:latin typeface="Calibri"/>
              </a:rPr>
              <a:t>a malicious </a:t>
            </a:r>
            <a:r>
              <a:rPr b="0" lang="en-US" sz="2400" spc="-7" strike="noStrike">
                <a:latin typeface="Calibri"/>
              </a:rPr>
              <a:t>file </a:t>
            </a:r>
            <a:r>
              <a:rPr b="0" lang="en-US" sz="2400" spc="-12" strike="noStrike">
                <a:latin typeface="Calibri"/>
              </a:rPr>
              <a:t>attachment </a:t>
            </a:r>
            <a:r>
              <a:rPr b="0" lang="en-US" sz="2400" spc="-1" strike="noStrike">
                <a:latin typeface="Calibri"/>
              </a:rPr>
              <a:t>via email, </a:t>
            </a:r>
            <a:r>
              <a:rPr b="0" lang="en-US" sz="2400" spc="-7" strike="noStrike">
                <a:latin typeface="Calibri"/>
              </a:rPr>
              <a:t>or via </a:t>
            </a:r>
            <a:r>
              <a:rPr b="0" lang="en-US" sz="2400" spc="-21" strike="noStrike">
                <a:latin typeface="Calibri"/>
              </a:rPr>
              <a:t>any </a:t>
            </a:r>
            <a:r>
              <a:rPr b="0" lang="en-US" sz="2400" spc="-7" strike="noStrike">
                <a:latin typeface="Calibri"/>
              </a:rPr>
              <a:t>other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communications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26" strike="noStrike">
                <a:latin typeface="Calibri"/>
              </a:rPr>
              <a:t>system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allows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attachments,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The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attacker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needs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use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social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engineering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techniques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persuade </a:t>
            </a:r>
            <a:r>
              <a:rPr b="0" lang="en-US" sz="2400" spc="-7" strike="noStrike">
                <a:latin typeface="Calibri"/>
              </a:rPr>
              <a:t>or</a:t>
            </a:r>
            <a:r>
              <a:rPr b="0" lang="en-US" sz="2400" spc="-1" strike="noStrike">
                <a:latin typeface="Calibri"/>
              </a:rPr>
              <a:t> trick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user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into</a:t>
            </a:r>
            <a:r>
              <a:rPr b="0" lang="en-US" sz="2400" spc="-7" strike="noStrike">
                <a:latin typeface="Calibri"/>
              </a:rPr>
              <a:t> opening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the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attachment.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09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Remote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</a:rPr>
              <a:t>and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wireless</a:t>
            </a:r>
            <a:r>
              <a:rPr b="0" lang="en-US" sz="2400" spc="-7" strike="noStrike">
                <a:latin typeface="Calibri"/>
              </a:rPr>
              <a:t>—the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1" strike="noStrike">
                <a:latin typeface="Calibri"/>
              </a:rPr>
              <a:t>either </a:t>
            </a:r>
            <a:r>
              <a:rPr b="0" lang="en-US" sz="2400" spc="-12" strike="noStrike">
                <a:latin typeface="Calibri"/>
              </a:rPr>
              <a:t>obtains </a:t>
            </a:r>
            <a:r>
              <a:rPr b="0" lang="en-US" sz="2400" spc="-7" strike="noStrike">
                <a:latin typeface="Calibri"/>
              </a:rPr>
              <a:t>credentials </a:t>
            </a:r>
            <a:r>
              <a:rPr b="0" lang="en-US" sz="2400" spc="-21" strike="noStrike">
                <a:latin typeface="Calibri"/>
              </a:rPr>
              <a:t>for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5" strike="noStrike">
                <a:latin typeface="Calibri"/>
              </a:rPr>
              <a:t>remote </a:t>
            </a:r>
            <a:r>
              <a:rPr b="0" lang="en-US" sz="2400" spc="-1" strike="noStrike">
                <a:latin typeface="Calibri"/>
              </a:rPr>
              <a:t>access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 wireless </a:t>
            </a:r>
            <a:r>
              <a:rPr b="0" lang="en-US" sz="2400" spc="-12" strike="noStrike">
                <a:latin typeface="Calibri"/>
              </a:rPr>
              <a:t>connection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network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5" strike="noStrike">
                <a:latin typeface="Calibri"/>
              </a:rPr>
              <a:t>cracks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7" strike="noStrike">
                <a:latin typeface="Calibri"/>
              </a:rPr>
              <a:t>security </a:t>
            </a:r>
            <a:r>
              <a:rPr b="0" lang="en-US" sz="2400" spc="-15" strike="noStrike">
                <a:latin typeface="Calibri"/>
              </a:rPr>
              <a:t>protocols </a:t>
            </a:r>
            <a:r>
              <a:rPr b="0" lang="en-US" sz="2400" spc="-7" strike="noStrike">
                <a:latin typeface="Calibri"/>
              </a:rPr>
              <a:t>used </a:t>
            </a:r>
            <a:r>
              <a:rPr b="0" lang="en-US" sz="2400" spc="-26" strike="noStrike">
                <a:latin typeface="Calibri"/>
              </a:rPr>
              <a:t>for 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authentication,</a:t>
            </a:r>
            <a:r>
              <a:rPr b="0" lang="en-US" sz="2400" spc="-21" strike="noStrike">
                <a:latin typeface="Calibri"/>
              </a:rPr>
              <a:t> Alternatively,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attacker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spoofs</a:t>
            </a:r>
            <a:r>
              <a:rPr b="0" lang="en-US" sz="2400" spc="-1" strike="noStrike">
                <a:latin typeface="Calibri"/>
              </a:rPr>
              <a:t> a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trusted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resource,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such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access </a:t>
            </a:r>
            <a:r>
              <a:rPr b="0" lang="en-US" sz="2400" spc="-12" strike="noStrike">
                <a:latin typeface="Calibri"/>
              </a:rPr>
              <a:t>point,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7" strike="noStrike">
                <a:latin typeface="Calibri"/>
              </a:rPr>
              <a:t>uses </a:t>
            </a:r>
            <a:r>
              <a:rPr b="0" lang="en-US" sz="2400" spc="-1" strike="noStrike">
                <a:latin typeface="Calibri"/>
              </a:rPr>
              <a:t>it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perform </a:t>
            </a:r>
            <a:r>
              <a:rPr b="0" lang="en-US" sz="2400" spc="-7" strike="noStrike">
                <a:latin typeface="Calibri"/>
              </a:rPr>
              <a:t>credential harvesting </a:t>
            </a:r>
            <a:r>
              <a:rPr b="0" lang="en-US" sz="2400" spc="-1" strike="noStrike">
                <a:latin typeface="Calibri"/>
              </a:rPr>
              <a:t>and then </a:t>
            </a:r>
            <a:r>
              <a:rPr b="0" lang="en-US" sz="2400" spc="-7" strike="noStrike">
                <a:latin typeface="Calibri"/>
              </a:rPr>
              <a:t>uses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stolen</a:t>
            </a:r>
            <a:r>
              <a:rPr b="0" lang="en-US" sz="2400" spc="-12" strike="noStrike">
                <a:latin typeface="Calibri"/>
              </a:rPr>
              <a:t> account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details</a:t>
            </a:r>
            <a:r>
              <a:rPr b="0" lang="en-US" sz="2400" spc="-15" strike="noStrike">
                <a:latin typeface="Calibri"/>
              </a:rPr>
              <a:t> to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access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network.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PlaceHolder 2"/>
          <p:cNvSpPr>
            <a:spLocks noGrp="1"/>
          </p:cNvSpPr>
          <p:nvPr>
            <p:ph type="sldNum" idx="23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3C32CBD-CB48-4DAA-8BC6-86425A4FA95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554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8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916920" y="1802520"/>
            <a:ext cx="10106280" cy="37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32" strike="noStrike">
                <a:solidFill>
                  <a:srgbClr val="ba2709"/>
                </a:solidFill>
                <a:latin typeface="Calibri"/>
              </a:rPr>
              <a:t>Web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</a:rPr>
              <a:t>and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social media</a:t>
            </a:r>
            <a:r>
              <a:rPr b="0" lang="en-US" sz="2400" spc="-7" strike="noStrike">
                <a:latin typeface="Calibri"/>
              </a:rPr>
              <a:t>—malware </a:t>
            </a:r>
            <a:r>
              <a:rPr b="0" lang="en-US" sz="2400" spc="-15" strike="noStrike">
                <a:latin typeface="Calibri"/>
              </a:rPr>
              <a:t>may </a:t>
            </a:r>
            <a:r>
              <a:rPr b="0" lang="en-US" sz="2400" spc="-7" strike="noStrike">
                <a:latin typeface="Calibri"/>
              </a:rPr>
              <a:t>be concealed </a:t>
            </a:r>
            <a:r>
              <a:rPr b="0" lang="en-US" sz="2400" spc="-1" strike="noStrike">
                <a:latin typeface="Calibri"/>
              </a:rPr>
              <a:t>in </a:t>
            </a:r>
            <a:r>
              <a:rPr b="0" lang="en-US" sz="2400" spc="-7" strike="noStrike">
                <a:latin typeface="Calibri"/>
              </a:rPr>
              <a:t>files </a:t>
            </a:r>
            <a:r>
              <a:rPr b="0" lang="en-US" sz="2400" spc="-15" strike="noStrike">
                <a:latin typeface="Calibri"/>
              </a:rPr>
              <a:t>attached to </a:t>
            </a:r>
            <a:r>
              <a:rPr b="0" lang="en-US" sz="2400" spc="-12" strike="noStrike">
                <a:latin typeface="Calibri"/>
              </a:rPr>
              <a:t>posts or 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presented </a:t>
            </a:r>
            <a:r>
              <a:rPr b="0" lang="en-US" sz="2400" spc="-1" strike="noStrike">
                <a:latin typeface="Calibri"/>
              </a:rPr>
              <a:t>as </a:t>
            </a:r>
            <a:r>
              <a:rPr b="0" lang="en-US" sz="2400" spc="-7" strike="noStrike">
                <a:latin typeface="Calibri"/>
              </a:rPr>
              <a:t>downloads,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15" strike="noStrike">
                <a:latin typeface="Calibri"/>
              </a:rPr>
              <a:t>may </a:t>
            </a:r>
            <a:r>
              <a:rPr b="0" lang="en-US" sz="2400" spc="-1" strike="noStrike">
                <a:latin typeface="Calibri"/>
              </a:rPr>
              <a:t>also </a:t>
            </a:r>
            <a:r>
              <a:rPr b="0" lang="en-US" sz="2400" spc="-7" strike="noStrike">
                <a:latin typeface="Calibri"/>
              </a:rPr>
              <a:t>be </a:t>
            </a:r>
            <a:r>
              <a:rPr b="0" lang="en-US" sz="2400" spc="-1" strike="noStrike">
                <a:latin typeface="Calibri"/>
              </a:rPr>
              <a:t>able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compromise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12" strike="noStrike">
                <a:latin typeface="Calibri"/>
              </a:rPr>
              <a:t>site </a:t>
            </a:r>
            <a:r>
              <a:rPr b="0" lang="en-US" sz="2400" spc="-7" strike="noStrike">
                <a:latin typeface="Calibri"/>
              </a:rPr>
              <a:t>so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it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automatically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infects vulnerable</a:t>
            </a:r>
            <a:r>
              <a:rPr b="0" lang="en-US" sz="2400" spc="18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browser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software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(a drive-by</a:t>
            </a:r>
            <a:r>
              <a:rPr b="0" lang="en-US" sz="2400" spc="2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download).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321480"/>
              </a:tabLst>
            </a:pP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Cloud</a:t>
            </a:r>
            <a:r>
              <a:rPr b="0" lang="en-US" sz="2400" spc="-12" strike="noStrike">
                <a:latin typeface="Calibri"/>
              </a:rPr>
              <a:t>—many companies now </a:t>
            </a:r>
            <a:r>
              <a:rPr b="0" lang="en-US" sz="2400" spc="-1" strike="noStrike">
                <a:latin typeface="Calibri"/>
              </a:rPr>
              <a:t>run </a:t>
            </a:r>
            <a:r>
              <a:rPr b="0" lang="en-US" sz="2400" spc="-7" strike="noStrike">
                <a:latin typeface="Calibri"/>
              </a:rPr>
              <a:t>part or </a:t>
            </a:r>
            <a:r>
              <a:rPr b="0" lang="en-US" sz="2400" spc="-1" strike="noStrike">
                <a:latin typeface="Calibri"/>
              </a:rPr>
              <a:t>all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" strike="noStrike">
                <a:latin typeface="Calibri"/>
              </a:rPr>
              <a:t>their </a:t>
            </a:r>
            <a:r>
              <a:rPr b="0" lang="en-US" sz="2400" spc="-12" strike="noStrike">
                <a:latin typeface="Calibri"/>
              </a:rPr>
              <a:t>network </a:t>
            </a:r>
            <a:r>
              <a:rPr b="0" lang="en-US" sz="2400" spc="-1" strike="noStrike">
                <a:latin typeface="Calibri"/>
              </a:rPr>
              <a:t>services via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Internet-accessible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clouds, </a:t>
            </a:r>
            <a:r>
              <a:rPr b="0" lang="en-US" sz="2400" spc="-12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attacker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only needs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find one </a:t>
            </a:r>
            <a:r>
              <a:rPr b="0" lang="en-US" sz="2400" spc="-12" strike="noStrike">
                <a:latin typeface="Calibri"/>
              </a:rPr>
              <a:t>account,</a:t>
            </a:r>
            <a:r>
              <a:rPr b="0" lang="en-US" sz="2400" spc="-1" strike="noStrike">
                <a:latin typeface="Calibri"/>
              </a:rPr>
              <a:t> service,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5" strike="noStrike">
                <a:latin typeface="Calibri"/>
              </a:rPr>
              <a:t>host </a:t>
            </a:r>
            <a:r>
              <a:rPr b="0" lang="en-US" sz="2400" spc="-1" strike="noStrike">
                <a:latin typeface="Calibri"/>
              </a:rPr>
              <a:t>with </a:t>
            </a:r>
            <a:r>
              <a:rPr b="0" lang="en-US" sz="2400" spc="-7" strike="noStrike">
                <a:latin typeface="Calibri"/>
              </a:rPr>
              <a:t>weak credentials </a:t>
            </a:r>
            <a:r>
              <a:rPr b="0" lang="en-US" sz="2400" spc="-15" strike="noStrike">
                <a:latin typeface="Calibri"/>
              </a:rPr>
              <a:t>to gain </a:t>
            </a:r>
            <a:r>
              <a:rPr b="0" lang="en-US" sz="2400" spc="-7" strike="noStrike">
                <a:latin typeface="Calibri"/>
              </a:rPr>
              <a:t>access, The </a:t>
            </a:r>
            <a:r>
              <a:rPr b="0" lang="en-US" sz="2400" spc="-21" strike="noStrike">
                <a:latin typeface="Calibri"/>
              </a:rPr>
              <a:t>attacker </a:t>
            </a:r>
            <a:r>
              <a:rPr b="0" lang="en-US" sz="2400" spc="-1" strike="noStrike">
                <a:latin typeface="Calibri"/>
              </a:rPr>
              <a:t>is </a:t>
            </a:r>
            <a:r>
              <a:rPr b="0" lang="en-US" sz="2400" spc="-15" strike="noStrike">
                <a:latin typeface="Calibri"/>
              </a:rPr>
              <a:t>likely to target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accounts </a:t>
            </a:r>
            <a:r>
              <a:rPr b="0" lang="en-US" sz="2400" spc="-7" strike="noStrike">
                <a:latin typeface="Calibri"/>
              </a:rPr>
              <a:t>used </a:t>
            </a:r>
            <a:r>
              <a:rPr b="0" lang="en-US" sz="2400" spc="-12" strike="noStrike">
                <a:latin typeface="Calibri"/>
              </a:rPr>
              <a:t>to develop </a:t>
            </a:r>
            <a:r>
              <a:rPr b="0" lang="en-US" sz="2400" spc="-1" strike="noStrike">
                <a:latin typeface="Calibri"/>
              </a:rPr>
              <a:t>services in the cloud </a:t>
            </a:r>
            <a:r>
              <a:rPr b="0" lang="en-US" sz="2400" spc="-7" strike="noStrike">
                <a:latin typeface="Calibri"/>
              </a:rPr>
              <a:t>or manage </a:t>
            </a:r>
            <a:r>
              <a:rPr b="0" lang="en-US" sz="2400" spc="-1" strike="noStrike">
                <a:latin typeface="Calibri"/>
              </a:rPr>
              <a:t>cloud </a:t>
            </a:r>
            <a:r>
              <a:rPr b="0" lang="en-US" sz="2400" spc="-32" strike="noStrike">
                <a:latin typeface="Calibri"/>
              </a:rPr>
              <a:t>systems,They 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may </a:t>
            </a:r>
            <a:r>
              <a:rPr b="0" lang="en-US" sz="2400" spc="-1" strike="noStrike">
                <a:latin typeface="Calibri"/>
              </a:rPr>
              <a:t>also try </a:t>
            </a:r>
            <a:r>
              <a:rPr b="0" lang="en-US" sz="2400" spc="-15" strike="noStrike">
                <a:latin typeface="Calibri"/>
              </a:rPr>
              <a:t>to attack </a:t>
            </a:r>
            <a:r>
              <a:rPr b="0" lang="en-US" sz="2400" spc="-1" strike="noStrike">
                <a:latin typeface="Calibri"/>
              </a:rPr>
              <a:t>the cloud service </a:t>
            </a:r>
            <a:r>
              <a:rPr b="0" lang="en-US" sz="2400" spc="-12" strike="noStrike">
                <a:latin typeface="Calibri"/>
              </a:rPr>
              <a:t>provider </a:t>
            </a:r>
            <a:r>
              <a:rPr b="0" lang="en-US" sz="2400" spc="-7" strike="noStrike">
                <a:latin typeface="Calibri"/>
              </a:rPr>
              <a:t>(CSP) </a:t>
            </a:r>
            <a:r>
              <a:rPr b="0" lang="en-US" sz="2400" spc="-1" strike="noStrike">
                <a:latin typeface="Calibri"/>
              </a:rPr>
              <a:t>as a </a:t>
            </a:r>
            <a:r>
              <a:rPr b="0" lang="en-US" sz="2400" spc="-26" strike="noStrike">
                <a:latin typeface="Calibri"/>
              </a:rPr>
              <a:t>way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" strike="noStrike">
                <a:latin typeface="Calibri"/>
              </a:rPr>
              <a:t>accessing the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victim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system.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PlaceHolder 2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DF5FADD-80C1-46AF-9F90-3D1E389BBE7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bject 2"/>
          <p:cNvSpPr/>
          <p:nvPr/>
        </p:nvSpPr>
        <p:spPr>
          <a:xfrm>
            <a:off x="916920" y="1808640"/>
            <a:ext cx="82270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</a:rPr>
              <a:t>2.1-</a:t>
            </a:r>
            <a:r>
              <a:rPr b="0" lang="en-US" sz="2200" spc="-15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Explain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15" strike="noStrike">
                <a:latin typeface="Calibri"/>
              </a:rPr>
              <a:t>Threat</a:t>
            </a:r>
            <a:r>
              <a:rPr b="0" lang="en-US" sz="2200" spc="-7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Actor</a:t>
            </a:r>
            <a:r>
              <a:rPr b="0" lang="en-US" sz="2200" spc="-1" strike="noStrike">
                <a:latin typeface="Calibri"/>
              </a:rPr>
              <a:t> </a:t>
            </a:r>
            <a:r>
              <a:rPr b="0" lang="en-US" sz="2200" spc="-26" strike="noStrike">
                <a:latin typeface="Calibri"/>
              </a:rPr>
              <a:t>Types</a:t>
            </a:r>
            <a:r>
              <a:rPr b="0" lang="en-US" sz="2200" spc="18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and </a:t>
            </a:r>
            <a:r>
              <a:rPr b="0" lang="en-US" sz="2200" spc="-26" strike="noStrike">
                <a:latin typeface="Calibri"/>
              </a:rPr>
              <a:t>Attack</a:t>
            </a:r>
            <a:r>
              <a:rPr b="0" lang="en-US" sz="2200" spc="4" strike="noStrike">
                <a:latin typeface="Calibri"/>
              </a:rPr>
              <a:t> </a:t>
            </a:r>
            <a:r>
              <a:rPr b="0" lang="en-US" sz="2200" spc="-32" strike="noStrike">
                <a:latin typeface="Calibri"/>
              </a:rPr>
              <a:t>Vectors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1" name="object 3"/>
          <p:cNvSpPr/>
          <p:nvPr/>
        </p:nvSpPr>
        <p:spPr>
          <a:xfrm>
            <a:off x="521640" y="685800"/>
            <a:ext cx="77079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2.2-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</a:rPr>
              <a:t>Explain</a:t>
            </a:r>
            <a:r>
              <a:rPr b="1" lang="en-US" sz="2400" spc="-26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</a:rPr>
              <a:t>Threat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Intelligence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Sources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2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PlaceHolder 1"/>
          <p:cNvSpPr>
            <a:spLocks noGrp="1"/>
          </p:cNvSpPr>
          <p:nvPr>
            <p:ph type="sldNum" idx="25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FD08796-8541-4814-9683-B7D3AB6B556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4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RESEARCH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SOURCES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95" name="object 3"/>
          <p:cNvSpPr/>
          <p:nvPr/>
        </p:nvSpPr>
        <p:spPr>
          <a:xfrm>
            <a:off x="228600" y="1371600"/>
            <a:ext cx="11430000" cy="41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latin typeface="Calibri"/>
              </a:rPr>
              <a:t>Threat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research </a:t>
            </a:r>
            <a:r>
              <a:rPr b="0" lang="en-US" sz="2400" spc="-1" strike="noStrike">
                <a:latin typeface="Calibri"/>
              </a:rPr>
              <a:t>is a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counterintelligence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gathering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effort</a:t>
            </a:r>
            <a:r>
              <a:rPr b="0" lang="en-US" sz="2400" spc="-1" strike="noStrike">
                <a:latin typeface="Calibri"/>
              </a:rPr>
              <a:t> in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which </a:t>
            </a:r>
            <a:r>
              <a:rPr b="0" lang="en-US" sz="2400" spc="-7" strike="noStrike">
                <a:latin typeface="Calibri"/>
              </a:rPr>
              <a:t>security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companies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researchers</a:t>
            </a:r>
            <a:r>
              <a:rPr b="0" lang="en-US" sz="2400" spc="-15" strike="noStrike">
                <a:latin typeface="Calibri"/>
              </a:rPr>
              <a:t> attempt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discover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24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tactics,</a:t>
            </a:r>
            <a:r>
              <a:rPr b="1" lang="en-US" sz="2400" spc="-1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techniques,</a:t>
            </a:r>
            <a:r>
              <a:rPr b="1" lang="en-US" sz="2400" spc="9" strike="noStrike">
                <a:latin typeface="Calibri"/>
              </a:rPr>
              <a:t> </a:t>
            </a:r>
            <a:r>
              <a:rPr b="1" lang="en-US" sz="2400" spc="-1" strike="noStrike">
                <a:latin typeface="Calibri"/>
              </a:rPr>
              <a:t>and </a:t>
            </a:r>
            <a:r>
              <a:rPr b="1" lang="en-US" sz="2400" spc="-525" strike="noStrike">
                <a:latin typeface="Calibri"/>
              </a:rPr>
              <a:t> </a:t>
            </a:r>
            <a:r>
              <a:rPr b="1" lang="en-US" sz="2400" spc="-12" strike="noStrike">
                <a:latin typeface="Calibri"/>
              </a:rPr>
              <a:t>procedures</a:t>
            </a:r>
            <a:r>
              <a:rPr b="1" lang="en-US" sz="2400" spc="-21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(TTPs)</a:t>
            </a:r>
            <a:r>
              <a:rPr b="1" lang="en-US" sz="2400" spc="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modern cyber</a:t>
            </a:r>
            <a:r>
              <a:rPr b="0" lang="en-US" sz="2400" spc="-12" strike="noStrike">
                <a:latin typeface="Calibri"/>
              </a:rPr>
              <a:t> adversaries.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latin typeface="Calibri"/>
              </a:rPr>
              <a:t>There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are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many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companies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academic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institutions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engaged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primary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cybersecurity</a:t>
            </a:r>
            <a:r>
              <a:rPr b="0" lang="en-US" sz="2400" spc="-4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research.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Security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solution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providers</a:t>
            </a:r>
            <a:r>
              <a:rPr b="0" lang="en-US" sz="2400" spc="-1" strike="noStrike">
                <a:latin typeface="Calibri"/>
              </a:rPr>
              <a:t> with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firewall</a:t>
            </a:r>
            <a:r>
              <a:rPr b="0" lang="en-US" sz="2400" spc="-1" strike="noStrike">
                <a:latin typeface="Calibri"/>
              </a:rPr>
              <a:t> and </a:t>
            </a:r>
            <a:r>
              <a:rPr b="0" lang="en-US" sz="2400" spc="-12" strike="noStrike">
                <a:latin typeface="Calibri"/>
              </a:rPr>
              <a:t>anti-malware</a:t>
            </a:r>
            <a:r>
              <a:rPr b="0" lang="en-US" sz="2400" spc="-15" strike="noStrike">
                <a:latin typeface="Calibri"/>
              </a:rPr>
              <a:t> platforms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derive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lot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data from </a:t>
            </a:r>
            <a:r>
              <a:rPr b="0" lang="en-US" sz="2400" spc="-1" strike="noStrike">
                <a:latin typeface="Calibri"/>
              </a:rPr>
              <a:t>their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own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customers'</a:t>
            </a:r>
            <a:r>
              <a:rPr b="0" lang="en-US" sz="2400" spc="-3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networks.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As </a:t>
            </a:r>
            <a:r>
              <a:rPr b="0" lang="en-US" sz="2400" spc="-7" strike="noStrike">
                <a:latin typeface="Calibri"/>
              </a:rPr>
              <a:t>they assist </a:t>
            </a:r>
            <a:r>
              <a:rPr b="0" lang="en-US" sz="2400" spc="-15" strike="noStrike">
                <a:latin typeface="Calibri"/>
              </a:rPr>
              <a:t>customers </a:t>
            </a:r>
            <a:r>
              <a:rPr b="0" lang="en-US" sz="2400" spc="-1" strike="noStrike">
                <a:latin typeface="Calibri"/>
              </a:rPr>
              <a:t>with </a:t>
            </a:r>
            <a:r>
              <a:rPr b="0" lang="en-US" sz="2400" spc="-7" strike="noStrike">
                <a:latin typeface="Calibri"/>
              </a:rPr>
              <a:t>cybersecurity </a:t>
            </a:r>
            <a:r>
              <a:rPr b="0" lang="en-US" sz="2400" spc="-12" strike="noStrike">
                <a:latin typeface="Calibri"/>
              </a:rPr>
              <a:t>operations, </a:t>
            </a:r>
            <a:r>
              <a:rPr b="0" lang="en-US" sz="2400" spc="-7" strike="noStrike">
                <a:latin typeface="Calibri"/>
              </a:rPr>
              <a:t>they </a:t>
            </a:r>
            <a:r>
              <a:rPr b="0" lang="en-US" sz="2400" spc="-15" strike="noStrike">
                <a:latin typeface="Calibri"/>
              </a:rPr>
              <a:t>are </a:t>
            </a:r>
            <a:r>
              <a:rPr b="0" lang="en-US" sz="2400" spc="-1" strike="noStrike">
                <a:latin typeface="Calibri"/>
              </a:rPr>
              <a:t>able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analyze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12" strike="noStrike">
                <a:latin typeface="Calibri"/>
              </a:rPr>
              <a:t> publicize TTPs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their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indicators.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These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organizations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also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operate</a:t>
            </a:r>
            <a:r>
              <a:rPr b="0" lang="en-US" sz="2400" spc="9" strike="noStrike">
                <a:latin typeface="Calibri"/>
              </a:rPr>
              <a:t> </a:t>
            </a:r>
            <a:r>
              <a:rPr b="1" lang="en-US" sz="2400" spc="-7" strike="noStrike">
                <a:latin typeface="Calibri"/>
              </a:rPr>
              <a:t>honeynets</a:t>
            </a:r>
            <a:r>
              <a:rPr b="1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" strike="noStrike">
                <a:latin typeface="Calibri"/>
              </a:rPr>
              <a:t>try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observe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how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hackers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interact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with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vulnerable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systems.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PlaceHolder 2"/>
          <p:cNvSpPr>
            <a:spLocks noGrp="1"/>
          </p:cNvSpPr>
          <p:nvPr>
            <p:ph type="sldNum" idx="26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643E202-44E4-4B0A-A5A8-C5BC646CE3D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700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RESEARCH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SOURCES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99" name="object 3"/>
          <p:cNvSpPr/>
          <p:nvPr/>
        </p:nvSpPr>
        <p:spPr>
          <a:xfrm>
            <a:off x="916920" y="1711080"/>
            <a:ext cx="10167120" cy="35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Another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primary</a:t>
            </a:r>
            <a:r>
              <a:rPr b="0" lang="en-US" sz="2400" spc="-12" strike="noStrike">
                <a:latin typeface="Calibri"/>
              </a:rPr>
              <a:t> source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2" strike="noStrike">
                <a:latin typeface="Calibri"/>
              </a:rPr>
              <a:t>threat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intelligence </a:t>
            </a:r>
            <a:r>
              <a:rPr b="0" lang="en-US" sz="2400" spc="-1" strike="noStrike">
                <a:latin typeface="Calibri"/>
              </a:rPr>
              <a:t>is the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</a:rPr>
              <a:t>dark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</a:rPr>
              <a:t>web</a:t>
            </a:r>
            <a:r>
              <a:rPr b="0" lang="en-US" sz="2400" spc="-12" strike="noStrike">
                <a:latin typeface="Calibri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deep </a:t>
            </a:r>
            <a:r>
              <a:rPr b="0" lang="en-US" sz="2400" spc="-12" strike="noStrike">
                <a:latin typeface="Calibri"/>
              </a:rPr>
              <a:t>web</a:t>
            </a:r>
            <a:r>
              <a:rPr b="0" lang="en-US" sz="2400" spc="-1" strike="noStrike">
                <a:latin typeface="Calibri"/>
              </a:rPr>
              <a:t> is </a:t>
            </a:r>
            <a:r>
              <a:rPr b="0" lang="en-US" sz="2400" spc="-21" strike="noStrike">
                <a:latin typeface="Calibri"/>
              </a:rPr>
              <a:t>any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part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26" strike="noStrike">
                <a:latin typeface="Calibri"/>
              </a:rPr>
              <a:t>World</a:t>
            </a:r>
            <a:r>
              <a:rPr b="0" lang="en-US" sz="2400" spc="-1" strike="noStrike">
                <a:latin typeface="Calibri"/>
              </a:rPr>
              <a:t> Wide </a:t>
            </a:r>
            <a:r>
              <a:rPr b="0" lang="en-US" sz="2400" spc="-32" strike="noStrike">
                <a:latin typeface="Calibri"/>
              </a:rPr>
              <a:t>Web</a:t>
            </a:r>
            <a:r>
              <a:rPr b="0" lang="en-US" sz="2400" spc="-12" strike="noStrike">
                <a:latin typeface="Calibri"/>
              </a:rPr>
              <a:t> that</a:t>
            </a:r>
            <a:r>
              <a:rPr b="0" lang="en-US" sz="2400" spc="-1" strike="noStrike">
                <a:latin typeface="Calibri"/>
              </a:rPr>
              <a:t> is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not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indexed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by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search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engine.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This</a:t>
            </a:r>
            <a:r>
              <a:rPr b="0" lang="en-US" sz="2400" spc="-1" strike="noStrike">
                <a:latin typeface="Calibri"/>
              </a:rPr>
              <a:t> includes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pages</a:t>
            </a:r>
            <a:r>
              <a:rPr b="0" lang="en-US" sz="2400" spc="18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 require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registration, </a:t>
            </a:r>
            <a:r>
              <a:rPr b="0" lang="en-US" sz="2400" spc="-12" strike="noStrike">
                <a:latin typeface="Calibri"/>
              </a:rPr>
              <a:t>pages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 </a:t>
            </a:r>
            <a:r>
              <a:rPr b="0" lang="en-US" sz="2400" spc="-7" strike="noStrike">
                <a:latin typeface="Calibri"/>
              </a:rPr>
              <a:t>block</a:t>
            </a:r>
            <a:r>
              <a:rPr b="0" lang="en-US" sz="2400" spc="-12" strike="noStrike">
                <a:latin typeface="Calibri"/>
              </a:rPr>
              <a:t> search</a:t>
            </a:r>
            <a:r>
              <a:rPr b="0" lang="en-US" sz="2400" spc="-7" strike="noStrike">
                <a:latin typeface="Calibri"/>
              </a:rPr>
              <a:t> indexing,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unlinked </a:t>
            </a:r>
            <a:r>
              <a:rPr b="0" lang="en-US" sz="2400" spc="-12" strike="noStrike">
                <a:latin typeface="Calibri"/>
              </a:rPr>
              <a:t>pages,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pages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using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nonstandard</a:t>
            </a:r>
            <a:r>
              <a:rPr b="0" lang="en-US" sz="2400" spc="-7" strike="noStrike">
                <a:latin typeface="Calibri"/>
              </a:rPr>
              <a:t> DNS,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content </a:t>
            </a:r>
            <a:r>
              <a:rPr b="0" lang="en-US" sz="2400" spc="-7" strike="noStrike">
                <a:latin typeface="Calibri"/>
              </a:rPr>
              <a:t>encoded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 a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nonstandard </a:t>
            </a:r>
            <a:r>
              <a:rPr b="0" lang="en-US" sz="2400" spc="-35" strike="noStrike">
                <a:latin typeface="Calibri"/>
              </a:rPr>
              <a:t>manner.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Within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deep</a:t>
            </a:r>
            <a:r>
              <a:rPr b="0" lang="en-US" sz="2400" spc="12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web,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are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areas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</a:t>
            </a:r>
            <a:r>
              <a:rPr b="0" lang="en-US" sz="2400" spc="-15" strike="noStrike">
                <a:latin typeface="Calibri"/>
              </a:rPr>
              <a:t> are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deliberately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concealed</a:t>
            </a:r>
            <a:r>
              <a:rPr b="0" lang="en-US" sz="2400" spc="-15" strike="noStrike">
                <a:latin typeface="Calibri"/>
              </a:rPr>
              <a:t> from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"regular"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latin typeface="Calibri"/>
              </a:rPr>
              <a:t>browser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access.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0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PlaceHolder 2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AAAC634-C809-4256-AD5A-E8E3A215A67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4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RESEARCH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SOURCES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03" name="object 3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4" name="object 4" descr=""/>
          <p:cNvPicPr/>
          <p:nvPr/>
        </p:nvPicPr>
        <p:blipFill>
          <a:blip r:embed="rId1"/>
          <a:stretch/>
        </p:blipFill>
        <p:spPr>
          <a:xfrm>
            <a:off x="2558880" y="1690200"/>
            <a:ext cx="7074000" cy="4413240"/>
          </a:xfrm>
          <a:prstGeom prst="rect">
            <a:avLst/>
          </a:prstGeom>
          <a:ln w="0">
            <a:noFill/>
          </a:ln>
        </p:spPr>
      </p:pic>
      <p:sp>
        <p:nvSpPr>
          <p:cNvPr id="205" name="PlaceHolder 2"/>
          <p:cNvSpPr>
            <a:spLocks noGrp="1"/>
          </p:cNvSpPr>
          <p:nvPr>
            <p:ph type="sldNum" idx="28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2F83263-6DCD-4D3B-80DB-35E34974504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4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RESEARCH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SOURCES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07" name="object 3"/>
          <p:cNvSpPr/>
          <p:nvPr/>
        </p:nvSpPr>
        <p:spPr>
          <a:xfrm>
            <a:off x="228600" y="1802520"/>
            <a:ext cx="11658600" cy="34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Dark net</a:t>
            </a:r>
            <a:r>
              <a:rPr b="0" lang="en-US" sz="2400" spc="-7" strike="noStrike">
                <a:latin typeface="Calibri"/>
              </a:rPr>
              <a:t>—a </a:t>
            </a:r>
            <a:r>
              <a:rPr b="0" lang="en-US" sz="2400" spc="-12" strike="noStrike">
                <a:latin typeface="Calibri"/>
              </a:rPr>
              <a:t>network </a:t>
            </a:r>
            <a:r>
              <a:rPr b="0" lang="en-US" sz="2400" spc="-7" strike="noStrike">
                <a:latin typeface="Calibri"/>
              </a:rPr>
              <a:t>established </a:t>
            </a:r>
            <a:r>
              <a:rPr b="0" lang="en-US" sz="2400" spc="-1" strike="noStrike">
                <a:latin typeface="Calibri"/>
              </a:rPr>
              <a:t>as an </a:t>
            </a:r>
            <a:r>
              <a:rPr b="0" lang="en-US" sz="2400" spc="-15" strike="noStrike">
                <a:latin typeface="Calibri"/>
              </a:rPr>
              <a:t>overlay to </a:t>
            </a:r>
            <a:r>
              <a:rPr b="0" lang="en-US" sz="2400" spc="-12" strike="noStrike">
                <a:latin typeface="Calibri"/>
              </a:rPr>
              <a:t>Internet infrastructure by 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software,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such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as</a:t>
            </a:r>
            <a:r>
              <a:rPr b="0" lang="en-US" sz="2400" spc="-7" strike="noStrike">
                <a:latin typeface="Calibri"/>
              </a:rPr>
              <a:t> 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Onion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Router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(TOR),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Freenet,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80" strike="noStrike">
                <a:latin typeface="Calibri"/>
              </a:rPr>
              <a:t>I2P,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that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acts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anonymize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usage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prevent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third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party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from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knowing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about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existence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network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 analyzing </a:t>
            </a:r>
            <a:r>
              <a:rPr b="0" lang="en-US" sz="2400" spc="-21" strike="noStrike">
                <a:latin typeface="Calibri"/>
              </a:rPr>
              <a:t>any </a:t>
            </a:r>
            <a:r>
              <a:rPr b="0" lang="en-US" sz="2400" spc="-1" strike="noStrike">
                <a:latin typeface="Calibri"/>
              </a:rPr>
              <a:t>activity </a:t>
            </a:r>
            <a:r>
              <a:rPr b="0" lang="en-US" sz="2400" spc="-7" strike="noStrike">
                <a:latin typeface="Calibri"/>
              </a:rPr>
              <a:t>taking place </a:t>
            </a:r>
            <a:r>
              <a:rPr b="0" lang="en-US" sz="2400" spc="-15" strike="noStrike">
                <a:latin typeface="Calibri"/>
              </a:rPr>
              <a:t>over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network, </a:t>
            </a:r>
            <a:r>
              <a:rPr b="0" lang="en-US" sz="2400" spc="-7" strike="noStrike">
                <a:latin typeface="Calibri"/>
              </a:rPr>
              <a:t>Onion </a:t>
            </a:r>
            <a:r>
              <a:rPr b="0" lang="en-US" sz="2400" spc="-12" strike="noStrike">
                <a:latin typeface="Calibri"/>
              </a:rPr>
              <a:t>routing, </a:t>
            </a:r>
            <a:r>
              <a:rPr b="0" lang="en-US" sz="2400" spc="-26" strike="noStrike">
                <a:latin typeface="Calibri"/>
              </a:rPr>
              <a:t>for 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instance,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uses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multiple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layers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encryption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relays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between</a:t>
            </a:r>
            <a:r>
              <a:rPr b="0" lang="en-US" sz="2400" spc="-7" strike="noStrike">
                <a:latin typeface="Calibri"/>
              </a:rPr>
              <a:t> nodes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achieve </a:t>
            </a:r>
            <a:r>
              <a:rPr b="0" lang="en-US" sz="2400" spc="-1" strike="noStrike">
                <a:latin typeface="Calibri"/>
              </a:rPr>
              <a:t> this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26" strike="noStrike">
                <a:latin typeface="Calibri"/>
              </a:rPr>
              <a:t>anonymity.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0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Dark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web</a:t>
            </a:r>
            <a:r>
              <a:rPr b="0" lang="en-US" sz="2400" spc="-12" strike="noStrike">
                <a:latin typeface="Calibri"/>
              </a:rPr>
              <a:t>—sites, </a:t>
            </a:r>
            <a:r>
              <a:rPr b="0" lang="en-US" sz="2400" spc="-15" strike="noStrike">
                <a:latin typeface="Calibri"/>
              </a:rPr>
              <a:t>content, </a:t>
            </a:r>
            <a:r>
              <a:rPr b="0" lang="en-US" sz="2400" spc="-1" strike="noStrike">
                <a:latin typeface="Calibri"/>
              </a:rPr>
              <a:t>and services accessible </a:t>
            </a:r>
            <a:r>
              <a:rPr b="0" lang="en-US" sz="2400" spc="-7" strike="noStrike">
                <a:latin typeface="Calibri"/>
              </a:rPr>
              <a:t>only </a:t>
            </a:r>
            <a:r>
              <a:rPr b="0" lang="en-US" sz="2400" spc="-15" strike="noStrike">
                <a:latin typeface="Calibri"/>
              </a:rPr>
              <a:t>over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7" strike="noStrike">
                <a:latin typeface="Calibri"/>
              </a:rPr>
              <a:t>dark net, </a:t>
            </a:r>
            <a:r>
              <a:rPr b="0" lang="en-US" sz="2400" spc="-1" strike="noStrike">
                <a:latin typeface="Calibri"/>
              </a:rPr>
              <a:t>While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there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are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dark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web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search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engines,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many</a:t>
            </a:r>
            <a:r>
              <a:rPr b="0" lang="en-US" sz="2400" spc="-12" strike="noStrike">
                <a:latin typeface="Calibri"/>
              </a:rPr>
              <a:t> sites</a:t>
            </a:r>
            <a:r>
              <a:rPr b="0" lang="en-US" sz="2400" spc="-15" strike="noStrike">
                <a:latin typeface="Calibri"/>
              </a:rPr>
              <a:t> are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hidden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from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them,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Access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dark </a:t>
            </a:r>
            <a:r>
              <a:rPr b="0" lang="en-US" sz="2400" spc="-12" strike="noStrike">
                <a:latin typeface="Calibri"/>
              </a:rPr>
              <a:t>web site </a:t>
            </a:r>
            <a:r>
              <a:rPr b="0" lang="en-US" sz="2400" spc="-1" strike="noStrike">
                <a:latin typeface="Calibri"/>
              </a:rPr>
              <a:t>via its URL is </a:t>
            </a:r>
            <a:r>
              <a:rPr b="0" lang="en-US" sz="2400" spc="-12" strike="noStrike">
                <a:latin typeface="Calibri"/>
              </a:rPr>
              <a:t>often </a:t>
            </a:r>
            <a:r>
              <a:rPr b="0" lang="en-US" sz="2400" spc="-7" strike="noStrike">
                <a:latin typeface="Calibri"/>
              </a:rPr>
              <a:t>only </a:t>
            </a:r>
            <a:r>
              <a:rPr b="0" lang="en-US" sz="2400" spc="-12" strike="noStrike">
                <a:latin typeface="Calibri"/>
              </a:rPr>
              <a:t>available </a:t>
            </a:r>
            <a:r>
              <a:rPr b="0" lang="en-US" sz="2400" spc="-1" strike="noStrike">
                <a:latin typeface="Calibri"/>
              </a:rPr>
              <a:t>via </a:t>
            </a:r>
            <a:r>
              <a:rPr b="0" lang="en-US" sz="2400" spc="-21" strike="noStrike">
                <a:latin typeface="Calibri"/>
              </a:rPr>
              <a:t>"word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" strike="noStrike">
                <a:latin typeface="Calibri"/>
              </a:rPr>
              <a:t>mouth" </a:t>
            </a:r>
            <a:r>
              <a:rPr b="0" lang="en-US" sz="2400" spc="-7" strike="noStrike">
                <a:latin typeface="Calibri"/>
              </a:rPr>
              <a:t>bulletin 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boards.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8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PlaceHolder 2"/>
          <p:cNvSpPr>
            <a:spLocks noGrp="1"/>
          </p:cNvSpPr>
          <p:nvPr>
            <p:ph type="sldNum" idx="29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86DE049-9F60-4E47-9981-3C004513FB5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4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INTELLIGENCE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PROVIDERS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11" name="object 5"/>
          <p:cNvSpPr/>
          <p:nvPr/>
        </p:nvSpPr>
        <p:spPr>
          <a:xfrm>
            <a:off x="685800" y="1600200"/>
            <a:ext cx="11201400" cy="35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1800" spc="-15" strike="noStrike">
                <a:latin typeface="Calibri"/>
              </a:rPr>
              <a:t>Threat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intelligence</a:t>
            </a:r>
            <a:r>
              <a:rPr b="0" lang="en-US" sz="1800" spc="-15" strike="noStrike">
                <a:latin typeface="Calibri"/>
              </a:rPr>
              <a:t> platforms</a:t>
            </a:r>
            <a:r>
              <a:rPr b="0" lang="en-US" sz="1800" spc="-1" strike="noStrike">
                <a:latin typeface="Calibri"/>
              </a:rPr>
              <a:t> and </a:t>
            </a:r>
            <a:r>
              <a:rPr b="0" lang="en-US" sz="1800" spc="-15" strike="noStrike">
                <a:latin typeface="Calibri"/>
              </a:rPr>
              <a:t>feeds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are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supplied</a:t>
            </a:r>
            <a:r>
              <a:rPr b="0" lang="en-US" sz="1800" spc="-1" strike="noStrike">
                <a:latin typeface="Calibri"/>
              </a:rPr>
              <a:t> as </a:t>
            </a:r>
            <a:r>
              <a:rPr b="0" lang="en-US" sz="1800" spc="-7" strike="noStrike">
                <a:latin typeface="Calibri"/>
              </a:rPr>
              <a:t>one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of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three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21" strike="noStrike">
                <a:latin typeface="Calibri"/>
              </a:rPr>
              <a:t>different </a:t>
            </a:r>
            <a:r>
              <a:rPr b="0" lang="en-US" sz="1800" spc="-525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commercial</a:t>
            </a:r>
            <a:r>
              <a:rPr b="0" lang="en-US" sz="1800" spc="-46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models:</a:t>
            </a:r>
            <a:endParaRPr b="0" lang="en-US" sz="1800" spc="-1" strike="noStrike">
              <a:latin typeface="Arial"/>
            </a:endParaRPr>
          </a:p>
          <a:p>
            <a:pPr marL="252720" indent="-240840">
              <a:lnSpc>
                <a:spcPts val="2741"/>
              </a:lnSpc>
              <a:spcBef>
                <a:spcPts val="686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1800" spc="-7" strike="noStrike">
                <a:solidFill>
                  <a:srgbClr val="ba2709"/>
                </a:solidFill>
                <a:latin typeface="Calibri"/>
              </a:rPr>
              <a:t>Closed/proprietary</a:t>
            </a:r>
            <a:r>
              <a:rPr b="0" lang="en-US" sz="1800" spc="-7" strike="noStrike">
                <a:latin typeface="Calibri"/>
              </a:rPr>
              <a:t>—the</a:t>
            </a:r>
            <a:r>
              <a:rPr b="0" lang="en-US" sz="1800" spc="-32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threat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research</a:t>
            </a:r>
            <a:r>
              <a:rPr b="0" lang="en-US" sz="1800" spc="-1" strike="noStrike">
                <a:latin typeface="Calibri"/>
              </a:rPr>
              <a:t> is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made </a:t>
            </a:r>
            <a:r>
              <a:rPr b="0" lang="en-US" sz="1800" spc="-12" strike="noStrike">
                <a:latin typeface="Calibri"/>
              </a:rPr>
              <a:t>available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as a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1" lang="en-US" sz="1800" spc="-7" strike="noStrike">
                <a:latin typeface="Calibri"/>
              </a:rPr>
              <a:t>paid</a:t>
            </a:r>
            <a:r>
              <a:rPr b="1" lang="en-US" sz="1800" spc="-1" strike="noStrike">
                <a:latin typeface="Calibri"/>
              </a:rPr>
              <a:t> </a:t>
            </a:r>
            <a:r>
              <a:rPr b="1" lang="en-US" sz="1800" spc="-7" strike="noStrike">
                <a:latin typeface="Calibri"/>
              </a:rPr>
              <a:t>subscription</a:t>
            </a:r>
            <a:endParaRPr b="0" lang="en-US" sz="18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53440"/>
              </a:tabLst>
            </a:pPr>
            <a:r>
              <a:rPr b="0" lang="en-US" sz="1800" spc="-15" strike="noStrike">
                <a:latin typeface="Calibri"/>
              </a:rPr>
              <a:t>to</a:t>
            </a:r>
            <a:r>
              <a:rPr b="0" lang="en-US" sz="1800" spc="-12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a</a:t>
            </a:r>
            <a:r>
              <a:rPr b="0" lang="en-US" sz="1800" spc="-12" strike="noStrike">
                <a:latin typeface="Calibri"/>
              </a:rPr>
              <a:t> commercial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threat intelligence </a:t>
            </a:r>
            <a:r>
              <a:rPr b="0" lang="en-US" sz="1800" spc="-15" strike="noStrike">
                <a:latin typeface="Calibri"/>
              </a:rPr>
              <a:t>platform.</a:t>
            </a: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1800" spc="-7" strike="noStrike">
                <a:latin typeface="Calibri"/>
              </a:rPr>
              <a:t>The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security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solution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provider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will</a:t>
            </a:r>
            <a:r>
              <a:rPr b="0" lang="en-US" sz="1800" spc="-12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also</a:t>
            </a:r>
            <a:r>
              <a:rPr b="0" lang="en-US" sz="1800" spc="-12" strike="noStrike">
                <a:latin typeface="Calibri"/>
              </a:rPr>
              <a:t> </a:t>
            </a:r>
            <a:r>
              <a:rPr b="0" lang="en-US" sz="1800" spc="-21" strike="noStrike">
                <a:latin typeface="Calibri"/>
              </a:rPr>
              <a:t>make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the</a:t>
            </a:r>
            <a:r>
              <a:rPr b="0" lang="en-US" sz="1800" spc="-12" strike="noStrike">
                <a:latin typeface="Calibri"/>
              </a:rPr>
              <a:t> most </a:t>
            </a:r>
            <a:r>
              <a:rPr b="0" lang="en-US" sz="1800" spc="-7" strike="noStrike">
                <a:latin typeface="Calibri"/>
              </a:rPr>
              <a:t>valuable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research available </a:t>
            </a:r>
            <a:r>
              <a:rPr b="0" lang="en-US" sz="1800" spc="-525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early</a:t>
            </a:r>
            <a:r>
              <a:rPr b="0" lang="en-US" sz="1800" spc="-12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to</a:t>
            </a:r>
            <a:r>
              <a:rPr b="0" lang="en-US" sz="1800" spc="-12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platform </a:t>
            </a:r>
            <a:r>
              <a:rPr b="0" lang="en-US" sz="1800" spc="-12" strike="noStrike">
                <a:latin typeface="Calibri"/>
              </a:rPr>
              <a:t>subscribers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in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the</a:t>
            </a:r>
            <a:r>
              <a:rPr b="0" lang="en-US" sz="1800" spc="-15" strike="noStrike">
                <a:latin typeface="Calibri"/>
              </a:rPr>
              <a:t> form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of </a:t>
            </a:r>
            <a:r>
              <a:rPr b="0" lang="en-US" sz="1800" spc="-12" strike="noStrike">
                <a:latin typeface="Calibri"/>
              </a:rPr>
              <a:t>blogs,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white papers,</a:t>
            </a:r>
            <a:r>
              <a:rPr b="0" lang="en-US" sz="1800" spc="-1" strike="noStrike">
                <a:latin typeface="Calibri"/>
              </a:rPr>
              <a:t> and</a:t>
            </a:r>
            <a:r>
              <a:rPr b="0" lang="en-US" sz="1800" spc="-7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webinars. </a:t>
            </a:r>
            <a:r>
              <a:rPr b="0" lang="en-US" sz="1800" spc="-7" strike="noStrike">
                <a:latin typeface="Calibri"/>
              </a:rPr>
              <a:t> Some</a:t>
            </a:r>
            <a:r>
              <a:rPr b="0" lang="en-US" sz="1800" spc="-26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examples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of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such </a:t>
            </a:r>
            <a:r>
              <a:rPr b="0" lang="en-US" sz="1800" spc="-15" strike="noStrike">
                <a:latin typeface="Calibri"/>
              </a:rPr>
              <a:t>platforms</a:t>
            </a:r>
            <a:r>
              <a:rPr b="0" lang="en-US" sz="1800" spc="-26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include: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1" lang="en-US" sz="1800" spc="-1" strike="noStrike">
                <a:latin typeface="Calibri"/>
              </a:rPr>
              <a:t>IBM</a:t>
            </a:r>
            <a:r>
              <a:rPr b="1" lang="en-US" sz="1800" spc="4" strike="noStrike">
                <a:latin typeface="Calibri"/>
              </a:rPr>
              <a:t> </a:t>
            </a:r>
            <a:r>
              <a:rPr b="1" lang="en-US" sz="1800" spc="-12" strike="noStrike">
                <a:latin typeface="Calibri"/>
              </a:rPr>
              <a:t>X-Force</a:t>
            </a:r>
            <a:r>
              <a:rPr b="1" lang="en-US" sz="1800" spc="-7" strike="noStrike">
                <a:latin typeface="Calibri"/>
              </a:rPr>
              <a:t> </a:t>
            </a:r>
            <a:r>
              <a:rPr b="1" lang="en-US" sz="1800" spc="-12" strike="noStrike">
                <a:latin typeface="Calibri"/>
              </a:rPr>
              <a:t>Exchange</a:t>
            </a:r>
            <a:r>
              <a:rPr b="1" lang="en-US" sz="1800" spc="18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(</a:t>
            </a:r>
            <a:r>
              <a:rPr b="0" lang="en-US" sz="18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"/>
              </a:rPr>
              <a:t>exchange.xforce.ibmcloud.com</a:t>
            </a:r>
            <a:r>
              <a:rPr b="0" lang="en-US" sz="1800" spc="-12" strike="noStrike">
                <a:latin typeface="Calibri"/>
              </a:rPr>
              <a:t>)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1" lang="en-US" sz="1800" spc="-15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FireEye</a:t>
            </a:r>
            <a:r>
              <a:rPr b="1" lang="en-US" sz="1800" spc="134" strike="noStrike" u="sng">
                <a:solidFill>
                  <a:srgbClr val="0000ff"/>
                </a:solidFill>
                <a:uFillTx/>
                <a:latin typeface="Calibri"/>
                <a:hlinkClick r:id="rId3"/>
              </a:rPr>
              <a:t> </a:t>
            </a:r>
            <a:r>
              <a:rPr b="0" lang="en-US" sz="1800" spc="-12" strike="noStrike" u="sng">
                <a:solidFill>
                  <a:srgbClr val="0000ff"/>
                </a:solidFill>
                <a:uFillTx/>
                <a:latin typeface="Calibri"/>
                <a:hlinkClick r:id="rId4"/>
              </a:rPr>
              <a:t>(</a:t>
            </a:r>
            <a:r>
              <a:rPr b="0" lang="en-US" sz="18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5"/>
              </a:rPr>
              <a:t>fireeye.com/solutions/cyber-threat-intelligence/threat-intelligence- </a:t>
            </a:r>
            <a:r>
              <a:rPr b="0" lang="en-US" sz="1800" spc="-440" strike="noStrike" u="sng">
                <a:solidFill>
                  <a:srgbClr val="0000ff"/>
                </a:solidFill>
                <a:uFillTx/>
                <a:latin typeface="Calibri"/>
                <a:hlinkClick r:id="rId6"/>
              </a:rPr>
              <a:t> </a:t>
            </a:r>
            <a:r>
              <a:rPr b="0" lang="en-US" sz="1800" spc="-7" strike="noStrike" u="sng">
                <a:solidFill>
                  <a:srgbClr val="0000ff"/>
                </a:solidFill>
                <a:uFillTx/>
                <a:latin typeface="Calibri"/>
                <a:hlinkClick r:id="rId7"/>
              </a:rPr>
              <a:t>subscriptions.html</a:t>
            </a:r>
            <a:r>
              <a:rPr b="0" lang="en-US" sz="1800" spc="-7" strike="noStrike" u="sng">
                <a:solidFill>
                  <a:srgbClr val="0000ff"/>
                </a:solidFill>
                <a:uFillTx/>
                <a:latin typeface="Calibri"/>
                <a:hlinkClick r:id="rId8"/>
              </a:rPr>
              <a:t>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object 6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PlaceHolder 2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9EE6119-ED07-4FAB-810D-C0C2D6C068C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30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INTELLIGENCE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PROVIDERS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15" name="object 3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object 4" descr=""/>
          <p:cNvPicPr/>
          <p:nvPr/>
        </p:nvPicPr>
        <p:blipFill>
          <a:blip r:embed="rId1"/>
          <a:stretch/>
        </p:blipFill>
        <p:spPr>
          <a:xfrm>
            <a:off x="2875680" y="1597320"/>
            <a:ext cx="6440040" cy="454104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2"/>
          <p:cNvSpPr>
            <a:spLocks noGrp="1"/>
          </p:cNvSpPr>
          <p:nvPr>
            <p:ph type="sldNum" idx="31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F7C5DDC-70BA-4D25-B257-6FB5018B7D9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16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INTELLIGENCE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PROVIDERS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19" name="object 3"/>
          <p:cNvSpPr/>
          <p:nvPr/>
        </p:nvSpPr>
        <p:spPr>
          <a:xfrm>
            <a:off x="228600" y="1732320"/>
            <a:ext cx="11658600" cy="18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440" bIns="0" anchor="t">
            <a:spAutoFit/>
          </a:bodyPr>
          <a:p>
            <a:pPr marL="252720" indent="-240840">
              <a:lnSpc>
                <a:spcPct val="100000"/>
              </a:lnSpc>
              <a:spcBef>
                <a:spcPts val="649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1800" spc="-26" strike="noStrike">
                <a:solidFill>
                  <a:srgbClr val="ba2709"/>
                </a:solidFill>
                <a:latin typeface="Calibri"/>
              </a:rPr>
              <a:t>Vendor</a:t>
            </a:r>
            <a:r>
              <a:rPr b="0" lang="en-US" sz="1800" spc="1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0" lang="en-US" sz="1800" spc="-12" strike="noStrike">
                <a:solidFill>
                  <a:srgbClr val="ba2709"/>
                </a:solidFill>
                <a:latin typeface="Calibri"/>
              </a:rPr>
              <a:t>websites</a:t>
            </a:r>
            <a:r>
              <a:rPr b="0" lang="en-US" sz="1800" spc="-12" strike="noStrike">
                <a:latin typeface="Calibri"/>
              </a:rPr>
              <a:t>—proprietary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threat</a:t>
            </a:r>
            <a:r>
              <a:rPr b="0" lang="en-US" sz="1800" spc="-7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intelligence</a:t>
            </a:r>
            <a:r>
              <a:rPr b="0" lang="en-US" sz="1800" spc="-7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is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not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21" strike="noStrike">
                <a:latin typeface="Calibri"/>
              </a:rPr>
              <a:t>always </a:t>
            </a:r>
            <a:r>
              <a:rPr b="0" lang="en-US" sz="1800" spc="-12" strike="noStrike">
                <a:latin typeface="Calibri"/>
              </a:rPr>
              <a:t>provided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at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cost.</a:t>
            </a: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ct val="91000"/>
              </a:lnSpc>
              <a:spcBef>
                <a:spcPts val="1281"/>
              </a:spcBef>
              <a:buClr>
                <a:srgbClr val="000000"/>
              </a:buClr>
              <a:buSzPct val="117000"/>
              <a:buFont typeface="Arial MT"/>
              <a:buChar char="•"/>
              <a:tabLst>
                <a:tab algn="l" pos="321840"/>
                <a:tab algn="l" pos="322560"/>
              </a:tabLst>
            </a:pPr>
            <a:r>
              <a:rPr b="0" lang="en-US" sz="1800" spc="-1" strike="noStrike">
                <a:latin typeface="Calibri"/>
              </a:rPr>
              <a:t>	</a:t>
            </a:r>
            <a:r>
              <a:rPr b="0" lang="en-US" sz="1800" spc="-1" strike="noStrike">
                <a:latin typeface="Calibri"/>
              </a:rPr>
              <a:t>All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types</a:t>
            </a:r>
            <a:r>
              <a:rPr b="0" lang="en-US" sz="1800" spc="-7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of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26" strike="noStrike">
                <a:latin typeface="Calibri"/>
              </a:rPr>
              <a:t>security, </a:t>
            </a:r>
            <a:r>
              <a:rPr b="0" lang="en-US" sz="1800" spc="-15" strike="noStrike">
                <a:latin typeface="Calibri"/>
              </a:rPr>
              <a:t>hardware,</a:t>
            </a:r>
            <a:r>
              <a:rPr b="0" lang="en-US" sz="1800" spc="-1" strike="noStrike">
                <a:latin typeface="Calibri"/>
              </a:rPr>
              <a:t> and </a:t>
            </a:r>
            <a:r>
              <a:rPr b="0" lang="en-US" sz="1800" spc="-15" strike="noStrike">
                <a:latin typeface="Calibri"/>
              </a:rPr>
              <a:t>software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vendors</a:t>
            </a:r>
            <a:r>
              <a:rPr b="0" lang="en-US" sz="1800" spc="-7" strike="noStrike">
                <a:latin typeface="Calibri"/>
              </a:rPr>
              <a:t> </a:t>
            </a:r>
            <a:r>
              <a:rPr b="0" lang="en-US" sz="1800" spc="-21" strike="noStrike">
                <a:latin typeface="Calibri"/>
              </a:rPr>
              <a:t>make</a:t>
            </a:r>
            <a:r>
              <a:rPr b="0" lang="en-US" sz="1800" spc="-15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huge</a:t>
            </a:r>
            <a:r>
              <a:rPr b="0" lang="en-US" sz="1800" spc="9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amounts</a:t>
            </a:r>
            <a:r>
              <a:rPr b="0" lang="en-US" sz="1800" spc="-21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of </a:t>
            </a:r>
            <a:r>
              <a:rPr b="0" lang="en-US" sz="1800" spc="-525" strike="noStrike">
                <a:latin typeface="Calibri"/>
              </a:rPr>
              <a:t> </a:t>
            </a:r>
            <a:r>
              <a:rPr b="0" lang="en-US" sz="1800" spc="-12" strike="noStrike">
                <a:latin typeface="Calibri"/>
              </a:rPr>
              <a:t>threat research available </a:t>
            </a:r>
            <a:r>
              <a:rPr b="0" lang="en-US" sz="1800" spc="-1" strike="noStrike">
                <a:latin typeface="Calibri"/>
              </a:rPr>
              <a:t>via their </a:t>
            </a:r>
            <a:r>
              <a:rPr b="0" lang="en-US" sz="1800" spc="-12" strike="noStrike">
                <a:latin typeface="Calibri"/>
              </a:rPr>
              <a:t>websites </a:t>
            </a:r>
            <a:r>
              <a:rPr b="0" lang="en-US" sz="1800" spc="-1" strike="noStrike">
                <a:latin typeface="Calibri"/>
              </a:rPr>
              <a:t>as a </a:t>
            </a:r>
            <a:r>
              <a:rPr b="0" lang="en-US" sz="1800" spc="-12" strike="noStrike">
                <a:latin typeface="Calibri"/>
              </a:rPr>
              <a:t>general benefit </a:t>
            </a:r>
            <a:r>
              <a:rPr b="0" lang="en-US" sz="1800" spc="-15" strike="noStrike">
                <a:latin typeface="Calibri"/>
              </a:rPr>
              <a:t>to </a:t>
            </a:r>
            <a:r>
              <a:rPr b="0" lang="en-US" sz="1800" spc="-1" strike="noStrike">
                <a:latin typeface="Calibri"/>
              </a:rPr>
              <a:t>their </a:t>
            </a:r>
            <a:r>
              <a:rPr b="0" lang="en-US" sz="1800" spc="4" strike="noStrike">
                <a:latin typeface="Calibri"/>
              </a:rPr>
              <a:t> </a:t>
            </a:r>
            <a:r>
              <a:rPr b="0" lang="en-US" sz="1800" spc="-15" strike="noStrike">
                <a:latin typeface="Calibri"/>
              </a:rPr>
              <a:t>customers.</a:t>
            </a: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1800" spc="-7" strike="noStrike">
                <a:latin typeface="Calibri"/>
              </a:rPr>
              <a:t>One </a:t>
            </a:r>
            <a:r>
              <a:rPr b="0" lang="en-US" sz="1800" spc="-15" strike="noStrike">
                <a:latin typeface="Calibri"/>
              </a:rPr>
              <a:t>example </a:t>
            </a:r>
            <a:r>
              <a:rPr b="0" lang="en-US" sz="1800" spc="-1" strike="noStrike">
                <a:latin typeface="Calibri"/>
              </a:rPr>
              <a:t>is </a:t>
            </a:r>
            <a:r>
              <a:rPr b="0" lang="en-US" sz="1800" spc="-12" strike="noStrike">
                <a:latin typeface="Calibri"/>
              </a:rPr>
              <a:t>Microsoft's </a:t>
            </a:r>
            <a:r>
              <a:rPr b="0" lang="en-US" sz="1800" spc="-1" strike="noStrike">
                <a:latin typeface="Calibri"/>
              </a:rPr>
              <a:t>Security </a:t>
            </a:r>
            <a:r>
              <a:rPr b="0" lang="en-US" sz="1800" spc="-12" strike="noStrike">
                <a:latin typeface="Calibri"/>
              </a:rPr>
              <a:t>Intelligence </a:t>
            </a:r>
            <a:r>
              <a:rPr b="0" lang="en-US" sz="1800" spc="-7" strike="noStrike">
                <a:latin typeface="Calibri"/>
              </a:rPr>
              <a:t>blog 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lang="en-US" sz="1800" spc="-7" strike="noStrike">
                <a:latin typeface="Calibri"/>
              </a:rPr>
              <a:t>(</a:t>
            </a:r>
            <a:r>
              <a:rPr b="0" lang="en-US" sz="18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"/>
              </a:rPr>
              <a:t>microsoft.com/security/blog/microsoft-security-intelligence</a:t>
            </a:r>
            <a:r>
              <a:rPr b="0" lang="en-US" sz="1800" spc="-7" strike="noStrike">
                <a:latin typeface="Calibri"/>
              </a:rPr>
              <a:t>).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0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PlaceHolder 2"/>
          <p:cNvSpPr>
            <a:spLocks noGrp="1"/>
          </p:cNvSpPr>
          <p:nvPr>
            <p:ph type="sldNum" idx="32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8BD1766-B822-4B70-9A93-96ED21A5F1B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44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INTELLIGENCE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PROVIDERS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23" name="object 3"/>
          <p:cNvSpPr/>
          <p:nvPr/>
        </p:nvSpPr>
        <p:spPr>
          <a:xfrm>
            <a:off x="916920" y="1802520"/>
            <a:ext cx="1034064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Public/private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information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sharing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 centers</a:t>
            </a:r>
            <a:r>
              <a:rPr b="0" lang="en-US" sz="2400" spc="-12" strike="noStrike">
                <a:latin typeface="Calibri"/>
              </a:rPr>
              <a:t>—in </a:t>
            </a:r>
            <a:r>
              <a:rPr b="0" lang="en-US" sz="2400" spc="-15" strike="noStrike">
                <a:latin typeface="Calibri"/>
              </a:rPr>
              <a:t>many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critical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industries, </a:t>
            </a:r>
            <a:r>
              <a:rPr b="0" lang="en-US" sz="2400" spc="-21" strike="noStrike">
                <a:latin typeface="Calibri"/>
              </a:rPr>
              <a:t>have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been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set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up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share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threat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intelligence </a:t>
            </a:r>
            <a:r>
              <a:rPr b="0" lang="en-US" sz="2400" spc="-1" strike="noStrike">
                <a:latin typeface="Calibri"/>
              </a:rPr>
              <a:t>and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promote</a:t>
            </a:r>
            <a:r>
              <a:rPr b="0" lang="en-US" sz="2400" spc="-12" strike="noStrike">
                <a:latin typeface="Calibri"/>
              </a:rPr>
              <a:t> best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practice </a:t>
            </a:r>
            <a:r>
              <a:rPr b="0" lang="en-US" sz="2400" spc="-7" strike="noStrike">
                <a:latin typeface="Calibri"/>
              </a:rPr>
              <a:t> (</a:t>
            </a:r>
            <a:r>
              <a:rPr b="0" lang="en-US" sz="24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"/>
              </a:rPr>
              <a:t>nationalisacs.org/member-isacs</a:t>
            </a:r>
            <a:r>
              <a:rPr b="0" lang="en-US" sz="2400" spc="-7" strike="noStrike">
                <a:latin typeface="Calibri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These </a:t>
            </a:r>
            <a:r>
              <a:rPr b="0" lang="en-US" sz="2400" spc="-15" strike="noStrike">
                <a:latin typeface="Calibri"/>
              </a:rPr>
              <a:t>are </a:t>
            </a:r>
            <a:r>
              <a:rPr b="0" lang="en-US" sz="2400" spc="-7" strike="noStrike">
                <a:latin typeface="Calibri"/>
              </a:rPr>
              <a:t>sector-specific </a:t>
            </a:r>
            <a:r>
              <a:rPr b="0" lang="en-US" sz="2400" spc="-12" strike="noStrike">
                <a:latin typeface="Calibri"/>
              </a:rPr>
              <a:t>resources </a:t>
            </a:r>
            <a:r>
              <a:rPr b="0" lang="en-US" sz="2400" spc="-21" strike="noStrike">
                <a:latin typeface="Calibri"/>
              </a:rPr>
              <a:t>for </a:t>
            </a:r>
            <a:r>
              <a:rPr b="0" lang="en-US" sz="2400" spc="-12" strike="noStrike">
                <a:latin typeface="Calibri"/>
              </a:rPr>
              <a:t>companies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7" strike="noStrike">
                <a:latin typeface="Calibri"/>
              </a:rPr>
              <a:t>agencies </a:t>
            </a:r>
            <a:r>
              <a:rPr b="0" lang="en-US" sz="2400" spc="-12" strike="noStrike">
                <a:latin typeface="Calibri"/>
              </a:rPr>
              <a:t>working </a:t>
            </a:r>
            <a:r>
              <a:rPr b="0" lang="en-US" sz="2400" spc="-1" strike="noStrike">
                <a:latin typeface="Calibri"/>
              </a:rPr>
              <a:t>in </a:t>
            </a:r>
            <a:r>
              <a:rPr b="0" lang="en-US" sz="2400" spc="-7" strike="noStrike">
                <a:latin typeface="Calibri"/>
              </a:rPr>
              <a:t>critical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industries, such </a:t>
            </a:r>
            <a:r>
              <a:rPr b="0" lang="en-US" sz="2400" spc="-1" strike="noStrike">
                <a:latin typeface="Calibri"/>
              </a:rPr>
              <a:t>as </a:t>
            </a:r>
            <a:r>
              <a:rPr b="0" lang="en-US" sz="2400" spc="-15" strike="noStrike">
                <a:latin typeface="Calibri"/>
              </a:rPr>
              <a:t>power </a:t>
            </a:r>
            <a:r>
              <a:rPr b="0" lang="en-US" sz="2400" spc="-32" strike="noStrike">
                <a:latin typeface="Calibri"/>
              </a:rPr>
              <a:t>supply, </a:t>
            </a:r>
            <a:r>
              <a:rPr b="0" lang="en-US" sz="2400" spc="-7" strike="noStrike">
                <a:latin typeface="Calibri"/>
              </a:rPr>
              <a:t>financial </a:t>
            </a:r>
            <a:r>
              <a:rPr b="0" lang="en-US" sz="2400" spc="-12" strike="noStrike">
                <a:latin typeface="Calibri"/>
              </a:rPr>
              <a:t>markets, </a:t>
            </a:r>
            <a:r>
              <a:rPr b="0" lang="en-US" sz="2400" spc="-7" strike="noStrike">
                <a:latin typeface="Calibri"/>
              </a:rPr>
              <a:t>or </a:t>
            </a:r>
            <a:r>
              <a:rPr b="0" lang="en-US" sz="2400" spc="-12" strike="noStrike">
                <a:latin typeface="Calibri"/>
              </a:rPr>
              <a:t>aviation. Where there </a:t>
            </a:r>
            <a:r>
              <a:rPr b="0" lang="en-US" sz="2400" spc="-1" strike="noStrike">
                <a:latin typeface="Calibri"/>
              </a:rPr>
              <a:t>is </a:t>
            </a:r>
            <a:r>
              <a:rPr b="0" lang="en-US" sz="2400" spc="-7" strike="noStrike">
                <a:latin typeface="Calibri"/>
              </a:rPr>
              <a:t>no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coverage </a:t>
            </a:r>
            <a:r>
              <a:rPr b="0" lang="en-US" sz="2400" spc="-12" strike="noStrike">
                <a:latin typeface="Calibri"/>
              </a:rPr>
              <a:t>by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12" strike="noStrike">
                <a:latin typeface="Calibri"/>
              </a:rPr>
              <a:t>ISAC, </a:t>
            </a:r>
            <a:r>
              <a:rPr b="0" lang="en-US" sz="2400" spc="-7" strike="noStrike">
                <a:latin typeface="Calibri"/>
              </a:rPr>
              <a:t>local industry </a:t>
            </a:r>
            <a:r>
              <a:rPr b="0" lang="en-US" sz="2400" spc="-15" strike="noStrike">
                <a:latin typeface="Calibri"/>
              </a:rPr>
              <a:t>groups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7" strike="noStrike">
                <a:latin typeface="Calibri"/>
              </a:rPr>
              <a:t>associations </a:t>
            </a:r>
            <a:r>
              <a:rPr b="0" lang="en-US" sz="2400" spc="-15" strike="noStrike">
                <a:latin typeface="Calibri"/>
              </a:rPr>
              <a:t>may </a:t>
            </a:r>
            <a:r>
              <a:rPr b="0" lang="en-US" sz="2400" spc="-12" strike="noStrike">
                <a:latin typeface="Calibri"/>
              </a:rPr>
              <a:t>come together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provide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mutual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support.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PlaceHolder 2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1B930D9-F85A-4E4E-9BFC-7229B4969D9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8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THREAT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INTELLIGENCE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PROVIDERS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227" name="object 3"/>
          <p:cNvSpPr/>
          <p:nvPr/>
        </p:nvSpPr>
        <p:spPr>
          <a:xfrm>
            <a:off x="916920" y="1802520"/>
            <a:ext cx="10047240" cy="34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ba2709"/>
              </a:buClr>
              <a:buSzPct val="96000"/>
              <a:buFont typeface="Wingdings" charset="2"/>
              <a:buChar char=""/>
              <a:tabLst>
                <a:tab algn="l" pos="25344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Open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</a:rPr>
              <a:t>source intelligence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</a:rPr>
              <a:t>(OSINT)—</a:t>
            </a:r>
            <a:r>
              <a:rPr b="0" lang="en-US" sz="2400" spc="-7" strike="noStrike">
                <a:latin typeface="Calibri"/>
              </a:rPr>
              <a:t>some </a:t>
            </a:r>
            <a:r>
              <a:rPr b="0" lang="en-US" sz="2400" spc="-12" strike="noStrike">
                <a:latin typeface="Calibri"/>
              </a:rPr>
              <a:t>companies </a:t>
            </a:r>
            <a:r>
              <a:rPr b="0" lang="en-US" sz="2400" spc="-21" strike="noStrike">
                <a:latin typeface="Calibri"/>
              </a:rPr>
              <a:t>operate </a:t>
            </a:r>
            <a:r>
              <a:rPr b="0" lang="en-US" sz="2400" spc="-12" strike="noStrike">
                <a:latin typeface="Calibri"/>
              </a:rPr>
              <a:t>threat intelligence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services </a:t>
            </a:r>
            <a:r>
              <a:rPr b="0" lang="en-US" sz="2400" spc="-7" strike="noStrike">
                <a:latin typeface="Calibri"/>
              </a:rPr>
              <a:t>on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12" strike="noStrike">
                <a:latin typeface="Calibri"/>
              </a:rPr>
              <a:t>open-source </a:t>
            </a:r>
            <a:r>
              <a:rPr b="0" lang="en-US" sz="2400" spc="-7" strike="noStrike">
                <a:latin typeface="Calibri"/>
              </a:rPr>
              <a:t>basis, </a:t>
            </a:r>
            <a:r>
              <a:rPr b="0" lang="en-US" sz="2400" spc="-1" strike="noStrike">
                <a:latin typeface="Calibri"/>
              </a:rPr>
              <a:t>earning </a:t>
            </a:r>
            <a:r>
              <a:rPr b="0" lang="en-US" sz="2400" spc="-12" strike="noStrike">
                <a:latin typeface="Calibri"/>
              </a:rPr>
              <a:t>income </a:t>
            </a:r>
            <a:r>
              <a:rPr b="0" lang="en-US" sz="2400" spc="-15" strike="noStrike">
                <a:latin typeface="Calibri"/>
              </a:rPr>
              <a:t>from </a:t>
            </a:r>
            <a:r>
              <a:rPr b="0" lang="en-US" sz="2400" spc="-12" strike="noStrike">
                <a:latin typeface="Calibri"/>
              </a:rPr>
              <a:t>consultancy </a:t>
            </a:r>
            <a:r>
              <a:rPr b="0" lang="en-US" sz="2400" spc="-15" strike="noStrike">
                <a:latin typeface="Calibri"/>
              </a:rPr>
              <a:t>rather </a:t>
            </a:r>
            <a:r>
              <a:rPr b="0" lang="en-US" sz="2400" spc="-1" strike="noStrike">
                <a:latin typeface="Calibri"/>
              </a:rPr>
              <a:t>than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directly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from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5" strike="noStrike">
                <a:latin typeface="Calibri"/>
              </a:rPr>
              <a:t>platform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research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effort.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Some</a:t>
            </a:r>
            <a:r>
              <a:rPr b="0" lang="en-US" sz="2400" spc="-4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examples</a:t>
            </a:r>
            <a:r>
              <a:rPr b="0" lang="en-US" sz="2400" spc="-4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include: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41" strike="noStrike">
                <a:latin typeface="Calibri"/>
              </a:rPr>
              <a:t>AT&amp;T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Security,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previously </a:t>
            </a:r>
            <a:r>
              <a:rPr b="0" lang="en-US" sz="2000" spc="-7" strike="noStrike">
                <a:latin typeface="Calibri"/>
              </a:rPr>
              <a:t>Alien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Vault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Open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Threat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Exchange</a:t>
            </a:r>
            <a:r>
              <a:rPr b="0" lang="en-US" sz="2000" spc="-3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(OTX)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"/>
              </a:rPr>
              <a:t>otx.alienvault.com</a:t>
            </a:r>
            <a:r>
              <a:rPr b="0" lang="en-US" sz="2000" spc="-7" strike="noStrike">
                <a:latin typeface="Calibri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2" strike="noStrike">
                <a:latin typeface="Calibri"/>
              </a:rPr>
              <a:t>Malware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Information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Sharing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Project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(MISP)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2"/>
              </a:rPr>
              <a:t>misp-project.org/feeds</a:t>
            </a:r>
            <a:r>
              <a:rPr b="0" lang="en-US" sz="2000" spc="-7" strike="noStrike">
                <a:latin typeface="Calibri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Spamhaus</a:t>
            </a:r>
            <a:r>
              <a:rPr b="0" lang="en-US" sz="2000" spc="-3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3"/>
              </a:rPr>
              <a:t>spamhaus.org/organization</a:t>
            </a:r>
            <a:r>
              <a:rPr b="0" lang="en-US" sz="2000" spc="-7" strike="noStrike">
                <a:latin typeface="Calibri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26" strike="noStrike">
                <a:latin typeface="Calibri"/>
              </a:rPr>
              <a:t>VirusTotal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4"/>
              </a:rPr>
              <a:t>virustotal.com</a:t>
            </a:r>
            <a:r>
              <a:rPr b="0" lang="en-US" sz="2000" spc="-12" strike="noStrike">
                <a:latin typeface="Calibri"/>
              </a:rPr>
              <a:t>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object 4"/>
          <p:cNvSpPr/>
          <p:nvPr/>
        </p:nvSpPr>
        <p:spPr>
          <a:xfrm>
            <a:off x="838080" y="633672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PlaceHolder 2"/>
          <p:cNvSpPr>
            <a:spLocks noGrp="1"/>
          </p:cNvSpPr>
          <p:nvPr>
            <p:ph type="sldNum" idx="34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BDABC7B-E7E7-4CE5-9AB6-4D42A55E0E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2023-09-02T16:53:57Z</dcterms:created>
  <dc:creator>Ahmed Sultan</dc:creator>
  <dc:description/>
  <dc:language>en-US</dc:language>
  <cp:lastModifiedBy/>
  <dcterms:modified xsi:type="dcterms:W3CDTF">2023-09-02T20:51:43Z</dcterms:modified>
  <cp:revision>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