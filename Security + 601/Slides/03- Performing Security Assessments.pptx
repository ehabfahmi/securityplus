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media/image5.jpeg" ContentType="image/jpeg"/>
  <Override PartName="/ppt/media/image10.jpeg" ContentType="image/jpeg"/>
  <Override PartName="/ppt/media/image6.jpeg" ContentType="image/jpeg"/>
  <Override PartName="/ppt/media/image8.png" ContentType="image/png"/>
  <Override PartName="/ppt/media/image11.jpeg" ContentType="image/jpeg"/>
  <Override PartName="/ppt/media/image7.png" ContentType="image/png"/>
  <Override PartName="/ppt/media/image9.png" ContentType="image/png"/>
  <Override PartName="/ppt/media/image12.jpeg" ContentType="image/jpe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10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88BC4B-7C5D-49F0-A8B4-BE4C13341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B884FC-66FD-4F57-930B-B7DD209BF7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5700BE-682C-4A2A-AB48-BA1DE70E85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6177DF-7E2C-4AB3-B25A-D82ED2A013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0B99D0-5491-4A72-8367-297E7DC299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182EAC-4FCD-49DA-BC62-9BA6A97566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92FE9D-AF18-4C42-8587-35BBC1D055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8CC3E8-C9C2-42F2-9CC0-64041D1602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F70779-2CB9-459B-87ED-F43C2D326F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3D2F55-4BC7-453A-A34A-319FA2FDF5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688D0B-9CD6-4A2B-956D-B9E835ABE0E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190A82-4167-4CB5-9E9C-4592DA5983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FA24A4-C91E-4C97-9483-0B4E1BCB6F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2C441F-4EA3-4C98-8DFB-8FE3BF240F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6A2A5D-FC7B-44EE-9A15-4C144D17B2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00D61D-7C49-41ED-9261-50A8E4DB82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A373E9C-84B4-4EFA-B97D-32CB33A63E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758FAC-2F1A-48FA-B917-C341BF06D1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C3746B-1DF3-4E55-88EA-8EB5926E46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2C1DF8-ED0D-4F03-8D9C-E252D52B72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EACB3C-5FBD-46D7-B834-9419A4E370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C151055-DED9-4BF8-B7E4-EF18DAEB91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7BEBCE-D3F8-4E9C-AE08-B5B91EC00D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0DF4A5D-E5F1-48D4-8918-DB45DA6E11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3D71831-4B55-4566-8D4E-F29468EB687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61652D5-E12F-4D0E-B53A-6997A8454DB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ocs.microsoft.com/en-us/windows-server/administration/windows-commands/windows-commands" TargetMode="External"/><Relationship Id="rId2" Type="http://schemas.openxmlformats.org/officeDocument/2006/relationships/hyperlink" Target="https://docs.microsoft.com/en-us/windows-server/administration/windows-commands/windows-commands" TargetMode="External"/><Relationship Id="rId3" Type="http://schemas.openxmlformats.org/officeDocument/2006/relationships/hyperlink" Target="https://docs.microsoft.com/en-us/windows-server/administration/windows-commands/windows-commands" TargetMode="External"/><Relationship Id="rId4" Type="http://schemas.openxmlformats.org/officeDocument/2006/relationships/hyperlink" Target="https://docs.microsoft.com/en-us/windows-server/administration/windows-commands/windows-commands" TargetMode="External"/><Relationship Id="rId5" Type="http://schemas.openxmlformats.org/officeDocument/2006/relationships/hyperlink" Target="https://docs.microsoft.com/en-us/windows-server/administration/windows-commands/windows-commands" TargetMode="External"/><Relationship Id="rId6" Type="http://schemas.openxmlformats.org/officeDocument/2006/relationships/hyperlink" Target="https://docs.microsoft.com/en-us/windows-server/administration/windows-commands/windows-commands" TargetMode="External"/><Relationship Id="rId7" Type="http://schemas.openxmlformats.org/officeDocument/2006/relationships/hyperlink" Target="https://docs.microsoft.com/en-us/windows-server/administration/windows-commands/windows-commands" TargetMode="External"/><Relationship Id="rId8" Type="http://schemas.openxmlformats.org/officeDocument/2006/relationships/hyperlink" Target="https://docs.microsoft.com/en-us/windows-server/administration/windows-commands/windows-commands" TargetMode="External"/><Relationship Id="rId9" Type="http://schemas.openxmlformats.org/officeDocument/2006/relationships/hyperlink" Target="https://docs.microsoft.com/en-us/windows-server/administration/windows-commands/windows-commands" TargetMode="External"/><Relationship Id="rId10" Type="http://schemas.openxmlformats.org/officeDocument/2006/relationships/hyperlink" Target="https://docs.microsoft.com/en-us/windows-server/administration/windows-commands/windows-commands" TargetMode="External"/><Relationship Id="rId11" Type="http://schemas.openxmlformats.org/officeDocument/2006/relationships/hyperlink" Target="https://docs.microsoft.com/en-us/windows-server/administration/windows-commands/windows-commands" TargetMode="External"/><Relationship Id="rId12" Type="http://schemas.openxmlformats.org/officeDocument/2006/relationships/hyperlink" Target="https://docs.microsoft.com/en-us/windows-server/administration/windows-commands/windows-commands" TargetMode="External"/><Relationship Id="rId13" Type="http://schemas.openxmlformats.org/officeDocument/2006/relationships/hyperlink" Target="https://docs.microsoft.com/en-us/windows-server/administration/windows-commands/windows-commands" TargetMode="External"/><Relationship Id="rId14" Type="http://schemas.openxmlformats.org/officeDocument/2006/relationships/hyperlink" Target="https://docs.microsoft.com/en-us/windows-server/administration/windows-commands/windows-commands" TargetMode="External"/><Relationship Id="rId15" Type="http://schemas.openxmlformats.org/officeDocument/2006/relationships/hyperlink" Target="https://docs.microsoft.com/en-us/windows-server/administration/windows-commands/windows-commands" TargetMode="External"/><Relationship Id="rId16" Type="http://schemas.openxmlformats.org/officeDocument/2006/relationships/hyperlink" Target="https://docs.microsoft.com/en-us/windows-server/administration/windows-commands/windows-commands" TargetMode="External"/><Relationship Id="rId17" Type="http://schemas.openxmlformats.org/officeDocument/2006/relationships/hyperlink" Target="https://docs.microsoft.com/en-us/windows-server/administration/windows-commands/windows-commands" TargetMode="External"/><Relationship Id="rId18" Type="http://schemas.openxmlformats.org/officeDocument/2006/relationships/hyperlink" Target="https://docs.microsoft.com/en-us/windows-server/administration/windows-commands/windows-commands" TargetMode="External"/><Relationship Id="rId19" Type="http://schemas.openxmlformats.org/officeDocument/2006/relationships/hyperlink" Target="https://docs.microsoft.com/en-us/windows-server/administration/windows-commands/windows-commands" TargetMode="External"/><Relationship Id="rId20" Type="http://schemas.openxmlformats.org/officeDocument/2006/relationships/hyperlink" Target="https://docs.microsoft.com/en-us/windows-server/administration/windows-commands/windows-commands" TargetMode="External"/><Relationship Id="rId21" Type="http://schemas.openxmlformats.org/officeDocument/2006/relationships/hyperlink" Target="https://docs.microsoft.com/en-us/windows-server/administration/windows-commands/windows-commands" TargetMode="External"/><Relationship Id="rId22" Type="http://schemas.openxmlformats.org/officeDocument/2006/relationships/hyperlink" Target="https://docs.microsoft.com/en-us/windows-server/administration/windows-commands/windows-commands" TargetMode="External"/><Relationship Id="rId23" Type="http://schemas.openxmlformats.org/officeDocument/2006/relationships/hyperlink" Target="https://docs.microsoft.com/en-us/windows-server/administration/windows-commands/windows-commands" TargetMode="External"/><Relationship Id="rId24" Type="http://schemas.openxmlformats.org/officeDocument/2006/relationships/hyperlink" Target="https://www.digitalocean.com/community/tutorials/how-to-use-iproute2-tools-to-manage-network-configuration-on-a-linux-vps" TargetMode="External"/><Relationship Id="rId25" Type="http://schemas.openxmlformats.org/officeDocument/2006/relationships/hyperlink" Target="https://www.digitalocean.com/community/tutorials/how-to-use-iproute2-tools-to-manage-network-configuration-on-a-linux-vps" TargetMode="External"/><Relationship Id="rId26" Type="http://schemas.openxmlformats.org/officeDocument/2006/relationships/hyperlink" Target="https://www.digitalocean.com/community/tutorials/how-to-use-iproute2-tools-to-manage-network-configuration-on-a-linux-vps" TargetMode="External"/><Relationship Id="rId27" Type="http://schemas.openxmlformats.org/officeDocument/2006/relationships/hyperlink" Target="https://www.digitalocean.com/community/tutorials/how-to-use-iproute2-tools-to-manage-network-configuration-on-a-linux-vps" TargetMode="External"/><Relationship Id="rId28" Type="http://schemas.openxmlformats.org/officeDocument/2006/relationships/hyperlink" Target="https://www.digitalocean.com/community/tutorials/how-to-use-iproute2-tools-to-manage-network-configuration-on-a-linux-vps" TargetMode="External"/><Relationship Id="rId29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nmap.org/" TargetMode="External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www.kali.org/" TargetMode="External"/><Relationship Id="rId2" Type="http://schemas.openxmlformats.org/officeDocument/2006/relationships/hyperlink" Target="https://parrotlinux.org/" TargetMode="External"/><Relationship Id="rId3" Type="http://schemas.openxmlformats.org/officeDocument/2006/relationships/hyperlink" Target="https://www.fireeye.com/blog/threat-research/2019/03/commando-vm-windows-offensive-distribution.html" TargetMode="External"/><Relationship Id="rId4" Type="http://schemas.openxmlformats.org/officeDocument/2006/relationships/hyperlink" Target="https://www.fireeye.com/blog/threat-research/2019/03/commando-vm-windows-offensive-distribution.html" TargetMode="External"/><Relationship Id="rId5" Type="http://schemas.openxmlformats.org/officeDocument/2006/relationships/hyperlink" Target="https://www.fireeye.com/blog/threat-research/2019/03/commando-vm-windows-offensive-distribution.html" TargetMode="External"/><Relationship Id="rId6" Type="http://schemas.openxmlformats.org/officeDocument/2006/relationships/hyperlink" Target="https://www.fireeye.com/blog/threat-research/2019/03/commando-vm-windows-offensive-distribution.html" TargetMode="External"/><Relationship Id="rId7" Type="http://schemas.openxmlformats.org/officeDocument/2006/relationships/hyperlink" Target="https://www.fireeye.com/blog/threat-research/2019/03/commando-vm-windows-offensive-distribution.html" TargetMode="External"/><Relationship Id="rId8" Type="http://schemas.openxmlformats.org/officeDocument/2006/relationships/hyperlink" Target="https://www.fireeye.com/blog/threat-research/2019/03/commando-vm-windows-offensive-distribution.html" TargetMode="External"/><Relationship Id="rId9" Type="http://schemas.openxmlformats.org/officeDocument/2006/relationships/hyperlink" Target="https://www.fireeye.com/blog/threat-research/2019/03/commando-vm-windows-offensive-distribution.html" TargetMode="External"/><Relationship Id="rId10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s://github.com/laramies/theHarvester" TargetMode="External"/><Relationship Id="rId2" Type="http://schemas.openxmlformats.org/officeDocument/2006/relationships/hyperlink" Target="https://github.com/fwaeytens/dnsenum" TargetMode="External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hyperlink" Target="https://github.com/vesche/scanless" TargetMode="External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www.tenable.com/products/nessus/nessus-professional" TargetMode="External"/><Relationship Id="rId2" Type="http://schemas.openxmlformats.org/officeDocument/2006/relationships/hyperlink" Target="https://www.tenable.com/products/nessus/nessus-professional" TargetMode="External"/><Relationship Id="rId3" Type="http://schemas.openxmlformats.org/officeDocument/2006/relationships/hyperlink" Target="https://www.tenable.com/products/nessus/nessus-professional" TargetMode="External"/><Relationship Id="rId4" Type="http://schemas.openxmlformats.org/officeDocument/2006/relationships/hyperlink" Target="https://www.tenable.com/products/nessus/nessus-professional" TargetMode="External"/><Relationship Id="rId5" Type="http://schemas.openxmlformats.org/officeDocument/2006/relationships/hyperlink" Target="https://www.tenable.com/products/nessus/nessus-professional" TargetMode="External"/><Relationship Id="rId6" Type="http://schemas.openxmlformats.org/officeDocument/2006/relationships/hyperlink" Target="https://www.tenable.com/products/nessus/nessus-professional" TargetMode="External"/><Relationship Id="rId7" Type="http://schemas.openxmlformats.org/officeDocument/2006/relationships/hyperlink" Target="https://www.tenable.com/products/nessus/nessus-professional" TargetMode="External"/><Relationship Id="rId8" Type="http://schemas.openxmlformats.org/officeDocument/2006/relationships/hyperlink" Target="https://www.tenable.com/products/nessus/nessus-professional" TargetMode="External"/><Relationship Id="rId9" Type="http://schemas.openxmlformats.org/officeDocument/2006/relationships/hyperlink" Target="https://www.tenable.com/products/nessus/nessus-professional" TargetMode="External"/><Relationship Id="rId10" Type="http://schemas.openxmlformats.org/officeDocument/2006/relationships/hyperlink" Target="https://www.tenable.com/products/nessus/nessus-professional" TargetMode="External"/><Relationship Id="rId11" Type="http://schemas.openxmlformats.org/officeDocument/2006/relationships/hyperlink" Target="https://www.tenable.com/products/nessus/nessus-professional" TargetMode="External"/><Relationship Id="rId12" Type="http://schemas.openxmlformats.org/officeDocument/2006/relationships/hyperlink" Target="https://www.tenable.com/products/nessus/nessus-professional" TargetMode="External"/><Relationship Id="rId13" Type="http://schemas.openxmlformats.org/officeDocument/2006/relationships/hyperlink" Target="https://www.tenable.com/products/nessus/nessus-professional" TargetMode="External"/><Relationship Id="rId14" Type="http://schemas.openxmlformats.org/officeDocument/2006/relationships/hyperlink" Target="https://www.tenable.com/products/nessus/nessus-professional" TargetMode="External"/><Relationship Id="rId15" Type="http://schemas.openxmlformats.org/officeDocument/2006/relationships/hyperlink" Target="https://www.tenable.com/products/nessus/nessus-professional" TargetMode="External"/><Relationship Id="rId16" Type="http://schemas.openxmlformats.org/officeDocument/2006/relationships/hyperlink" Target="https://www.tenable.com/products/nessus/nessus-professional" TargetMode="External"/><Relationship Id="rId17" Type="http://schemas.openxmlformats.org/officeDocument/2006/relationships/hyperlink" Target="https://www.tenable.com/products/nessus/nessus-professional" TargetMode="External"/><Relationship Id="rId18" Type="http://schemas.openxmlformats.org/officeDocument/2006/relationships/hyperlink" Target="https://www.tenable.com/products/nessus/nessus-professional" TargetMode="External"/><Relationship Id="rId19" Type="http://schemas.openxmlformats.org/officeDocument/2006/relationships/hyperlink" Target="https://www.tenable.com/products/nessus/nessus-professional" TargetMode="External"/><Relationship Id="rId20" Type="http://schemas.openxmlformats.org/officeDocument/2006/relationships/hyperlink" Target="https://www.tenable.com/products/nessus/nessus-professional" TargetMode="External"/><Relationship Id="rId21" Type="http://schemas.openxmlformats.org/officeDocument/2006/relationships/hyperlink" Target="https://www.tenable.com/products/nessus/nessus-professional" TargetMode="External"/><Relationship Id="rId22" Type="http://schemas.openxmlformats.org/officeDocument/2006/relationships/hyperlink" Target="https://www.tenable.com/products/nessus/nessus-professional" TargetMode="External"/><Relationship Id="rId23" Type="http://schemas.openxmlformats.org/officeDocument/2006/relationships/hyperlink" Target="https://www.tenable.com/products/nessus/nessus-professional" TargetMode="External"/><Relationship Id="rId24" Type="http://schemas.openxmlformats.org/officeDocument/2006/relationships/hyperlink" Target="https://www.tenable.com/products/nessus/nessus-professional" TargetMode="External"/><Relationship Id="rId25" Type="http://schemas.openxmlformats.org/officeDocument/2006/relationships/hyperlink" Target="https://www.tenable.com/products/nessus/nessus-professional" TargetMode="External"/><Relationship Id="rId26" Type="http://schemas.openxmlformats.org/officeDocument/2006/relationships/hyperlink" Target="https://www.tenable.com/products/nessus/nessus-professional" TargetMode="External"/><Relationship Id="rId27" Type="http://schemas.openxmlformats.org/officeDocument/2006/relationships/hyperlink" Target="https://www.tenable.com/products/nessus/nessus-professional" TargetMode="External"/><Relationship Id="rId28" Type="http://schemas.openxmlformats.org/officeDocument/2006/relationships/hyperlink" Target="https://www.tenable.com/products/nessus/nessus-professional" TargetMode="External"/><Relationship Id="rId29" Type="http://schemas.openxmlformats.org/officeDocument/2006/relationships/hyperlink" Target="https://www.tenable.com/products/nessus/nessus-professional" TargetMode="External"/><Relationship Id="rId30" Type="http://schemas.openxmlformats.org/officeDocument/2006/relationships/hyperlink" Target="https://www.tenable.com/products/nessus/nessus-professional" TargetMode="External"/><Relationship Id="rId31" Type="http://schemas.openxmlformats.org/officeDocument/2006/relationships/hyperlink" Target="https://www.tenable.com/products/nessus/nessus-professional" TargetMode="External"/><Relationship Id="rId32" Type="http://schemas.openxmlformats.org/officeDocument/2006/relationships/hyperlink" Target="https://www.tenable.com/products/nessus/nessus-professional" TargetMode="External"/><Relationship Id="rId33" Type="http://schemas.openxmlformats.org/officeDocument/2006/relationships/hyperlink" Target="https://www.tenable.com/products/nessus/nessus-professional" TargetMode="External"/><Relationship Id="rId34" Type="http://schemas.openxmlformats.org/officeDocument/2006/relationships/hyperlink" Target="https://www.tenable.com/products/nessus/nessus-professional" TargetMode="External"/><Relationship Id="rId3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wiki.wireshark.org/DisplayFilters" TargetMode="External"/><Relationship Id="rId2" Type="http://schemas.openxmlformats.org/officeDocument/2006/relationships/hyperlink" Target="https://wiki.wireshark.org/ColoringRules" TargetMode="External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monkey.org/~dugsong/dsniff/" TargetMode="External"/><Relationship Id="rId2" Type="http://schemas.openxmlformats.org/officeDocument/2006/relationships/hyperlink" Target="https://www.ettercap-project.org/" TargetMode="External"/><Relationship Id="rId3" Type="http://schemas.openxmlformats.org/officeDocument/2006/relationships/hyperlink" Target="https://scapy.net/" TargetMode="External"/><Relationship Id="rId4" Type="http://schemas.openxmlformats.org/officeDocument/2006/relationships/hyperlink" Target="http://hping.org/" TargetMode="External"/><Relationship Id="rId5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hyperlink" Target="https://www.metasploit.com/" TargetMode="External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hyperlink" Target="https://www.tenable.com/products/nessus" TargetMode="External"/><Relationship Id="rId2" Type="http://schemas.openxmlformats.org/officeDocument/2006/relationships/hyperlink" Target="https://www.openvas.org/" TargetMode="External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cirt.net/Nikto2" TargetMode="External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s://csrc.nist.gov/projects/security-content-automation-protocol/" TargetMode="External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hyperlink" Target="https://cve.mitre.org/" TargetMode="External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hyperlink" Target="https://www.tripwire.com/state-of-security/security-data-protection/cyber-security/essential-bug-bounty-programs/" TargetMode="External"/><Relationship Id="rId2" Type="http://schemas.openxmlformats.org/officeDocument/2006/relationships/hyperlink" Target="https://www.tripwire.com/state-of-security/security-data-protection/cyber-security/essential-bug-bounty-programs/" TargetMode="External"/><Relationship Id="rId3" Type="http://schemas.openxmlformats.org/officeDocument/2006/relationships/hyperlink" Target="https://www.tripwire.com/state-of-security/security-data-protection/cyber-security/essential-bug-bounty-programs/" TargetMode="External"/><Relationship Id="rId4" Type="http://schemas.openxmlformats.org/officeDocument/2006/relationships/hyperlink" Target="https://www.tripwire.com/state-of-security/security-data-protection/cyber-security/essential-bug-bounty-programs/" TargetMode="External"/><Relationship Id="rId5" Type="http://schemas.openxmlformats.org/officeDocument/2006/relationships/hyperlink" Target="https://www.tripwire.com/state-of-security/security-data-protection/cyber-security/essential-bug-bounty-programs/" TargetMode="External"/><Relationship Id="rId6" Type="http://schemas.openxmlformats.org/officeDocument/2006/relationships/hyperlink" Target="https://www.tripwire.com/state-of-security/security-data-protection/cyber-security/essential-bug-bounty-programs/" TargetMode="External"/><Relationship Id="rId7" Type="http://schemas.openxmlformats.org/officeDocument/2006/relationships/hyperlink" Target="https://www.tripwire.com/state-of-security/security-data-protection/cyber-security/essential-bug-bounty-programs/" TargetMode="External"/><Relationship Id="rId8" Type="http://schemas.openxmlformats.org/officeDocument/2006/relationships/hyperlink" Target="https://www.tripwire.com/state-of-security/security-data-protection/cyber-security/essential-bug-bounty-programs/" TargetMode="External"/><Relationship Id="rId9" Type="http://schemas.openxmlformats.org/officeDocument/2006/relationships/hyperlink" Target="https://www.tripwire.com/state-of-security/security-data-protection/cyber-security/essential-bug-bounty-programs/" TargetMode="External"/><Relationship Id="rId10" Type="http://schemas.openxmlformats.org/officeDocument/2006/relationships/hyperlink" Target="https://www.tripwire.com/state-of-security/security-data-protection/cyber-security/essential-bug-bounty-programs/" TargetMode="External"/><Relationship Id="rId11" Type="http://schemas.openxmlformats.org/officeDocument/2006/relationships/hyperlink" Target="https://www.tripwire.com/state-of-security/security-data-protection/cyber-security/essential-bug-bounty-programs/" TargetMode="External"/><Relationship Id="rId12" Type="http://schemas.openxmlformats.org/officeDocument/2006/relationships/hyperlink" Target="https://www.tripwire.com/state-of-security/security-data-protection/cyber-security/essential-bug-bounty-programs/" TargetMode="External"/><Relationship Id="rId13" Type="http://schemas.openxmlformats.org/officeDocument/2006/relationships/hyperlink" Target="https://www.tripwire.com/state-of-security/security-data-protection/cyber-security/essential-bug-bounty-programs/" TargetMode="External"/><Relationship Id="rId14" Type="http://schemas.openxmlformats.org/officeDocument/2006/relationships/hyperlink" Target="https://www.tripwire.com/state-of-security/security-data-protection/cyber-security/essential-bug-bounty-programs/" TargetMode="External"/><Relationship Id="rId15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bject 2"/>
          <p:cNvSpPr/>
          <p:nvPr/>
        </p:nvSpPr>
        <p:spPr>
          <a:xfrm>
            <a:off x="5943600" y="5724720"/>
            <a:ext cx="61102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83" name="object 3"/>
          <p:cNvGrpSpPr/>
          <p:nvPr/>
        </p:nvGrpSpPr>
        <p:grpSpPr>
          <a:xfrm>
            <a:off x="3195720" y="3080160"/>
            <a:ext cx="5849640" cy="847800"/>
            <a:chOff x="3195720" y="3080160"/>
            <a:chExt cx="5849640" cy="847800"/>
          </a:xfrm>
        </p:grpSpPr>
        <p:pic>
          <p:nvPicPr>
            <p:cNvPr id="84" name="object 4" descr=""/>
            <p:cNvPicPr/>
            <p:nvPr/>
          </p:nvPicPr>
          <p:blipFill>
            <a:blip r:embed="rId1"/>
            <a:stretch/>
          </p:blipFill>
          <p:spPr>
            <a:xfrm>
              <a:off x="3299400" y="3159000"/>
              <a:ext cx="5642280" cy="597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5" name="object 5" descr=""/>
            <p:cNvPicPr/>
            <p:nvPr/>
          </p:nvPicPr>
          <p:blipFill>
            <a:blip r:embed="rId2"/>
            <a:stretch/>
          </p:blipFill>
          <p:spPr>
            <a:xfrm>
              <a:off x="3195720" y="3080160"/>
              <a:ext cx="5849640" cy="847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16320" y="3166920"/>
            <a:ext cx="5559120" cy="116784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1880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03-</a:t>
            </a:r>
            <a:r>
              <a:rPr b="0" lang="en-US" sz="2800" spc="12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Performing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Security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Assessments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7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0960" cy="192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9720" y="457200"/>
            <a:ext cx="75405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457200" y="1242000"/>
            <a:ext cx="11429280" cy="40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c00000"/>
                </a:solidFill>
                <a:latin typeface="Calibri"/>
                <a:ea typeface="DejaVu Sans"/>
              </a:rPr>
              <a:t>3.1-</a:t>
            </a:r>
            <a:r>
              <a:rPr b="0" lang="en-US" sz="2200" spc="-1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Assess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Tools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e1221a"/>
                </a:solidFill>
                <a:latin typeface="Calibri"/>
                <a:ea typeface="DejaVu Sans"/>
              </a:rPr>
              <a:t>3.2-</a:t>
            </a:r>
            <a:r>
              <a:rPr b="0" lang="en-US" sz="2200" spc="-12" strike="noStrike">
                <a:solidFill>
                  <a:srgbClr val="e1221a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Concerns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3.3-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Techniques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3.4-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Penetration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Testing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6"/>
              </a:spcBef>
              <a:buNone/>
            </a:pPr>
            <a:endParaRPr b="0" lang="en-US" sz="3050" spc="-1" strike="noStrike">
              <a:latin typeface="Arial"/>
            </a:endParaRPr>
          </a:p>
          <a:p>
            <a:pPr marL="12600">
              <a:lnSpc>
                <a:spcPct val="100000"/>
              </a:lnSpc>
              <a:buNone/>
            </a:pPr>
            <a:r>
              <a:rPr b="0" lang="en-US" sz="3000" spc="-12" strike="noStrike">
                <a:solidFill>
                  <a:srgbClr val="ba2709"/>
                </a:solidFill>
                <a:latin typeface="Calibri"/>
                <a:ea typeface="DejaVu Sans"/>
              </a:rPr>
              <a:t>Labs</a:t>
            </a:r>
            <a:endParaRPr b="0" lang="en-US" sz="30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05"/>
              </a:spcBef>
              <a:buNone/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Lab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1: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Exploring the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Lab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Environment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65"/>
              </a:spcBef>
              <a:buNone/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Lab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 2: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Identifying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Nodes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9"/>
              </a:spcBef>
              <a:buNone/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Lab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3: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Intercepting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Interpreting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Sniffing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71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Lab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4: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Analyzing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Results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Credentialed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sldNum" idx="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00AEE93-3C9F-4939-9562-84A88E0B628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2680" y="899640"/>
            <a:ext cx="89964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3.1-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</a:rPr>
              <a:t>Assess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Organizational</a:t>
            </a:r>
            <a:r>
              <a:rPr b="1" lang="en-US" sz="2400" spc="-26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Security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with Network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</a:rPr>
              <a:t>Reconnaissance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1" lang="en-US" sz="2400" spc="-41" strike="noStrike">
                <a:solidFill>
                  <a:srgbClr val="ba2709"/>
                </a:solidFill>
                <a:latin typeface="Calibri"/>
              </a:rPr>
              <a:t>Tools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object 3"/>
          <p:cNvSpPr/>
          <p:nvPr/>
        </p:nvSpPr>
        <p:spPr>
          <a:xfrm>
            <a:off x="457200" y="2170440"/>
            <a:ext cx="11200680" cy="13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3.2-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Concerns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General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3.3-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Summarize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Techniques</a:t>
            </a:r>
            <a:endParaRPr b="0" lang="en-US" sz="2200" spc="-1" strike="noStrike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4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3.4-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Explain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Penetration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Testing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PlaceHolder 2"/>
          <p:cNvSpPr>
            <a:spLocks noGrp="1"/>
          </p:cNvSpPr>
          <p:nvPr>
            <p:ph type="sldNum" idx="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7D17EDB-1A2C-40AB-9042-0F58FC6FA7B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311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IPCONFIG,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PING,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ARP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7" name="object 3"/>
          <p:cNvSpPr/>
          <p:nvPr/>
        </p:nvSpPr>
        <p:spPr>
          <a:xfrm>
            <a:off x="228600" y="1559160"/>
            <a:ext cx="11429280" cy="40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mapping out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surface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1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threat actors,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 they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professionals to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their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own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assessment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ongoing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monitoring.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Topology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discovery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"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footprinting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")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ranges,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routes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networks 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structure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Topology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 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non-authorized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(rogue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errors.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PlaceHolder 2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68AEE5A-C6C8-4349-A82B-4956500C8B9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454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IPCONFIG,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PING,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ARP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430200" y="1371600"/>
            <a:ext cx="11456280" cy="429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Basic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topology discovery tasks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accomplished 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line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report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IP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connectivity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segment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subnet: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ipconfig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—show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interface(s)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ifconfig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—show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assigned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interface(s)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89000"/>
              </a:lnSpc>
              <a:spcBef>
                <a:spcPts val="510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onsolas"/>
                <a:ea typeface="DejaVu Sans"/>
              </a:rPr>
              <a:t>ping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—probe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host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Message </a:t>
            </a:r>
            <a:r>
              <a:rPr b="1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</a:t>
            </a:r>
            <a:r>
              <a:rPr b="1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(ICMP)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ping 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script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sweep 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the IP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subnet.</a:t>
            </a:r>
            <a:endParaRPr b="0" lang="en-US" sz="2000" spc="-1" strike="noStrike">
              <a:latin typeface="Arial"/>
            </a:endParaRPr>
          </a:p>
          <a:p>
            <a:pPr lvl="1" marL="698400" indent="-228600" algn="just">
              <a:lnSpc>
                <a:spcPts val="2160"/>
              </a:lnSpc>
              <a:spcBef>
                <a:spcPts val="536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onsolas"/>
                <a:ea typeface="DejaVu Sans"/>
              </a:rPr>
              <a:t>arp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—display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machine's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Resolution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(ARP) cache.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ARP cache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shows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MAC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interface associated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 each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communicated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recently.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sldNum" idx="1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2F2BB74-B033-45E1-AADE-40BAF89A03C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1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IPCONFIG,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PING,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ARP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5" name="object 3"/>
          <p:cNvSpPr/>
          <p:nvPr/>
        </p:nvSpPr>
        <p:spPr>
          <a:xfrm>
            <a:off x="914400" y="1600200"/>
            <a:ext cx="10514880" cy="30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more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about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commands,</a:t>
            </a:r>
            <a:r>
              <a:rPr b="0" i="1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 </a:t>
            </a:r>
            <a:r>
              <a:rPr b="0" i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syntax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usage,</a:t>
            </a:r>
            <a:r>
              <a:rPr b="0" i="1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look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up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i="1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command</a:t>
            </a:r>
            <a:r>
              <a:rPr b="0" i="1" lang="en-US" sz="2000" spc="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 </a:t>
            </a:r>
            <a:r>
              <a:rPr b="0" i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in</a:t>
            </a:r>
            <a:r>
              <a:rPr b="0" i="1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 </a:t>
            </a:r>
            <a:r>
              <a:rPr b="0" i="1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5"/>
              </a:rPr>
              <a:t>an online</a:t>
            </a:r>
            <a:r>
              <a:rPr b="0" i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6"/>
              </a:rPr>
              <a:t> </a:t>
            </a:r>
            <a:r>
              <a:rPr b="0" i="1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7"/>
              </a:rPr>
              <a:t>resource</a:t>
            </a:r>
            <a:r>
              <a:rPr b="0" i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8"/>
              </a:rPr>
              <a:t> </a:t>
            </a:r>
            <a:r>
              <a:rPr b="0" i="1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9"/>
              </a:rPr>
              <a:t>for</a:t>
            </a:r>
            <a:r>
              <a:rPr b="0" i="1" lang="en-US" sz="2000" spc="4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0"/>
              </a:rPr>
              <a:t> </a:t>
            </a:r>
            <a:r>
              <a:rPr b="1" i="1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1"/>
              </a:rPr>
              <a:t>Windows</a:t>
            </a:r>
            <a:r>
              <a:rPr b="1" i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2"/>
              </a:rPr>
              <a:t> </a:t>
            </a:r>
            <a:r>
              <a:rPr b="0" i="1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3"/>
              </a:rPr>
              <a:t>(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4"/>
              </a:rPr>
              <a:t>docs.microsoft.com/en- </a:t>
            </a:r>
            <a:r>
              <a:rPr b="0" i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5"/>
              </a:rPr>
              <a:t> 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6"/>
              </a:rPr>
              <a:t>us/windows-server/administration/windows-commands/windows-commands)</a:t>
            </a:r>
            <a:r>
              <a:rPr b="0" i="1" lang="en-US" sz="2000" spc="3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7"/>
              </a:rPr>
              <a:t> 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8"/>
              </a:rPr>
              <a:t>or </a:t>
            </a:r>
            <a:r>
              <a:rPr b="0" i="1" lang="en-US" sz="2000" spc="-525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9"/>
              </a:rPr>
              <a:t> 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0"/>
              </a:rPr>
              <a:t>Linux</a:t>
            </a:r>
            <a:r>
              <a:rPr b="0" i="1" lang="en-US" sz="2000" spc="-1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1"/>
              </a:rPr>
              <a:t> 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2"/>
              </a:rPr>
              <a:t>(linux.die.net/man</a:t>
            </a:r>
            <a:r>
              <a:rPr b="0" i="1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3"/>
              </a:rPr>
              <a:t>).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241920"/>
              </a:tabLst>
            </a:pP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67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commands</a:t>
            </a:r>
            <a:r>
              <a:rPr b="0" i="1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 as</a:t>
            </a:r>
            <a:r>
              <a:rPr b="0" i="1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ifconfig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i="1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arp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i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route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traceroute</a:t>
            </a:r>
            <a:r>
              <a:rPr b="0" i="1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deprecated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utilities</a:t>
            </a:r>
            <a:r>
              <a:rPr b="0" i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been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updated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i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years,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i="1" lang="en-US" sz="2000" spc="5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i="1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iproute2</a:t>
            </a:r>
            <a:r>
              <a:rPr b="1" i="1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suite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tools supply replacements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i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i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commands </a:t>
            </a:r>
            <a:r>
              <a:rPr b="0" i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4"/>
              </a:rPr>
              <a:t>(</a:t>
            </a:r>
            <a:r>
              <a:rPr b="0" i="1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5"/>
              </a:rPr>
              <a:t>digitalocean.com/community/tutorials/how-to-use-iproute2-tools-to-manage- </a:t>
            </a:r>
            <a:r>
              <a:rPr b="0" i="1" lang="en-US" sz="2000" spc="-53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6"/>
              </a:rPr>
              <a:t> </a:t>
            </a:r>
            <a:r>
              <a:rPr b="0" i="1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7"/>
              </a:rPr>
              <a:t>network-configuration-on-a-linux-vps</a:t>
            </a:r>
            <a:r>
              <a:rPr b="0" i="1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8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PlaceHolder 2"/>
          <p:cNvSpPr>
            <a:spLocks noGrp="1"/>
          </p:cNvSpPr>
          <p:nvPr>
            <p:ph type="sldNum" idx="1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C5E581A-B6CB-4BA5-B633-5568114DC5C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5405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ROUTE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TRACEROUTE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9" name="object 3"/>
          <p:cNvSpPr/>
          <p:nvPr/>
        </p:nvSpPr>
        <p:spPr>
          <a:xfrm>
            <a:off x="470880" y="1600200"/>
            <a:ext cx="11187000" cy="42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connectivity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hosts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5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route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—view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host's local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routing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table.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route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forward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gateway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router.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49"/>
              </a:lnSpc>
              <a:spcBef>
                <a:spcPts val="54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tracert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—uses ICMP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probes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report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round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trip time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(RTT)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hops between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tracert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tool.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onsolas"/>
                <a:ea typeface="DejaVu Sans"/>
              </a:rPr>
              <a:t>traceroute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—performs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route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traceroute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UDP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probes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ICMP,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default.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onsolas"/>
                <a:ea typeface="DejaVu Sans"/>
              </a:rPr>
              <a:t>pathping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—provides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statistics</a:t>
            </a:r>
            <a:r>
              <a:rPr b="0" lang="en-US" sz="2000" spc="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latency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loss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along 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route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longer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measuring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period,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pathping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tool;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equivalent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mtr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PlaceHolder 2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41F6E53-56FB-4D1F-AF5F-5237F2F58CA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5405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IP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SCANNERS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228600" y="1371600"/>
            <a:ext cx="11429280" cy="38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time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consuming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non-stealthy,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return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detailed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results.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topology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dedicated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IP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together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internetwork.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Nmap Security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Scanner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nmap.org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popular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open-source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scanners.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diverse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methods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discovery,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operate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stealthily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defeat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mechanisms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firewalls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sldNum" idx="1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1F935F1-0EF9-47D2-9929-137BB87661E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7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SCANNERS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7" name="object 3"/>
          <p:cNvSpPr/>
          <p:nvPr/>
        </p:nvSpPr>
        <p:spPr>
          <a:xfrm>
            <a:off x="457200" y="1371600"/>
            <a:ext cx="11200680" cy="48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open-source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packages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most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Linux,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macOS,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operated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command</a:t>
            </a:r>
            <a:r>
              <a:rPr b="0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line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via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GUI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(Zenmap).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syntax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Nmap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command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IP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subnet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host</a:t>
            </a:r>
            <a:endParaRPr b="0" lang="en-US" sz="2400" spc="-1" strike="noStrike">
              <a:latin typeface="Arial"/>
            </a:endParaRPr>
          </a:p>
          <a:p>
            <a:pPr marL="241200" algn="just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address)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scan.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switches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like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this, the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 behavior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Nmap 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TCP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ACK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packet 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ports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80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443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 whether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segment,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Nmap will also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ARP and 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(Neighbor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sweeps.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detected,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running.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PlaceHolder 2"/>
          <p:cNvSpPr>
            <a:spLocks noGrp="1"/>
          </p:cNvSpPr>
          <p:nvPr>
            <p:ph type="sldNum" idx="1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9E9E068-0522-4066-B6D1-EB7FD45C0B2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8338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IP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SCANNERS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1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2" name="object 4" descr=""/>
          <p:cNvPicPr/>
          <p:nvPr/>
        </p:nvPicPr>
        <p:blipFill>
          <a:blip r:embed="rId1"/>
          <a:stretch/>
        </p:blipFill>
        <p:spPr>
          <a:xfrm>
            <a:off x="2371320" y="2080440"/>
            <a:ext cx="7448400" cy="392940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2C793A6-A604-467C-AD64-76C55A605F2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97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916920" y="1802520"/>
            <a:ext cx="10270800" cy="359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241200" indent="-229320">
              <a:lnSpc>
                <a:spcPct val="90000"/>
              </a:lnSpc>
              <a:spcBef>
                <a:spcPts val="3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Having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identified active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hosts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gained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idea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topology,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next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step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reconnaissance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work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 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each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running,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and, if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possible,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underpinning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those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process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described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discovery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defensively,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potential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rogue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sldNum" idx="1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D6466A4-4FC6-47C4-8D4B-FE28624B4F6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979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9" name="object 3"/>
          <p:cNvSpPr/>
          <p:nvPr/>
        </p:nvSpPr>
        <p:spPr>
          <a:xfrm>
            <a:off x="488880" y="1472040"/>
            <a:ext cx="11223720" cy="42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241200" indent="-229320">
              <a:lnSpc>
                <a:spcPts val="2299"/>
              </a:lnSpc>
              <a:spcBef>
                <a:spcPts val="66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Nmap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report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state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scope.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4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point,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run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additional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against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more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594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active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addresses.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43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principal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options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discovery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scans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are:</a:t>
            </a:r>
            <a:endParaRPr b="0" lang="en-US" sz="2400" spc="-1" strike="noStrike">
              <a:latin typeface="Arial"/>
            </a:endParaRPr>
          </a:p>
          <a:p>
            <a:pPr lvl="1" marL="698400" indent="-228600" algn="just">
              <a:lnSpc>
                <a:spcPct val="80000"/>
              </a:lnSpc>
              <a:spcBef>
                <a:spcPts val="510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TCP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SYN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(-sS)—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this is 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fast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 also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half-open scanning, as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 requests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connection without acknowledging it,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target's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scan's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SYN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50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UDP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scans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(-sU)—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these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ACKs,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Nmap needs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timeout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determine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state,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long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time,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UDP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combined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TCP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8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Port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range</a:t>
            </a:r>
            <a:r>
              <a:rPr b="0" lang="en-US" sz="20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(-p)—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default,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1000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commonly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listed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-p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argument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specify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 range.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PlaceHolder 2"/>
          <p:cNvSpPr>
            <a:spLocks noGrp="1"/>
          </p:cNvSpPr>
          <p:nvPr>
            <p:ph type="sldNum" idx="1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BF85E14-519F-4CF4-B40C-7B87E3DAA71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3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4" name="object 4" descr=""/>
          <p:cNvPicPr/>
          <p:nvPr/>
        </p:nvPicPr>
        <p:blipFill>
          <a:blip r:embed="rId1"/>
          <a:stretch/>
        </p:blipFill>
        <p:spPr>
          <a:xfrm>
            <a:off x="3237480" y="1777680"/>
            <a:ext cx="5716080" cy="422676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2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2D92EC6-8270-436A-B059-1B87D08F199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3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916920" y="1711080"/>
            <a:ext cx="10298520" cy="35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detailed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particular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4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fingerprinting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because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 or application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underpins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responds to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unique </a:t>
            </a:r>
            <a:r>
              <a:rPr b="0" lang="en-US" sz="2400" spc="-60" strike="noStrike">
                <a:solidFill>
                  <a:srgbClr val="000000"/>
                </a:solidFill>
                <a:latin typeface="Calibri"/>
                <a:ea typeface="DejaVu Sans"/>
              </a:rPr>
              <a:t>way.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allows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guess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name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version,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without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having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sort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host.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banner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grabbing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banner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header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response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returned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sldNum" idx="1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D5B6ED3-512A-4B4B-B648-5317FAD5EC4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1" name="object 3"/>
          <p:cNvSpPr/>
          <p:nvPr/>
        </p:nvSpPr>
        <p:spPr>
          <a:xfrm>
            <a:off x="916920" y="1804320"/>
            <a:ext cx="10281600" cy="432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080" bIns="0" anchor="t">
            <a:spAutoFit/>
          </a:bodyPr>
          <a:p>
            <a:pPr marL="241200" indent="-229320">
              <a:lnSpc>
                <a:spcPts val="2580"/>
              </a:lnSpc>
              <a:spcBef>
                <a:spcPts val="434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services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discovered,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onsolas"/>
                <a:ea typeface="DejaVu Sans"/>
              </a:rPr>
              <a:t>-sV</a:t>
            </a:r>
            <a:r>
              <a:rPr b="0" lang="en-US" sz="2400" spc="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6fc0"/>
                </a:solidFill>
                <a:latin typeface="Consolas"/>
                <a:ea typeface="DejaVu Sans"/>
              </a:rPr>
              <a:t>-A</a:t>
            </a:r>
            <a:r>
              <a:rPr b="0" lang="en-US" sz="2400" spc="4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host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intensively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6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Protocol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—do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not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assume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port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being 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"well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known"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protocol.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verify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matches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expected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signature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(HTTP,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SMTP,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Application name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and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version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—the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Apache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web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Internet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(IIS) web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OS type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version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—use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-O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enable OS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fingerprinting (or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-A</a:t>
            </a:r>
            <a:r>
              <a:rPr b="0" lang="en-US" sz="2000" spc="-650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fingerprinting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discovery).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Device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 type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PCs,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Nmap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switches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routers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devices,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such as NAS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boxes,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printers,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webcams.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PlaceHolder 2"/>
          <p:cNvSpPr>
            <a:spLocks noGrp="1"/>
          </p:cNvSpPr>
          <p:nvPr>
            <p:ph type="sldNum" idx="2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2FF642F-31DD-45D2-B556-771C95774BA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826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NMAP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5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6" name="object 4" descr=""/>
          <p:cNvPicPr/>
          <p:nvPr/>
        </p:nvPicPr>
        <p:blipFill>
          <a:blip r:embed="rId1"/>
          <a:stretch/>
        </p:blipFill>
        <p:spPr>
          <a:xfrm>
            <a:off x="3546360" y="1757160"/>
            <a:ext cx="5098320" cy="4506840"/>
          </a:xfrm>
          <a:prstGeom prst="rect">
            <a:avLst/>
          </a:prstGeom>
          <a:ln w="0">
            <a:noFill/>
          </a:ln>
        </p:spPr>
      </p:pic>
      <p:sp>
        <p:nvSpPr>
          <p:cNvPr id="147" name="PlaceHolder 2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616AFD6-144C-4035-9CEC-5B901D50BE2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object 3"/>
          <p:cNvSpPr/>
          <p:nvPr/>
        </p:nvSpPr>
        <p:spPr>
          <a:xfrm>
            <a:off x="916920" y="1802520"/>
            <a:ext cx="9906840" cy="19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tasks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netstat</a:t>
            </a:r>
            <a:r>
              <a:rPr b="0" lang="en-US" sz="2000" spc="-1" strike="noStrike">
                <a:solidFill>
                  <a:srgbClr val="ba2709"/>
                </a:solidFill>
                <a:latin typeface="Calibri"/>
                <a:ea typeface="DejaVu Sans"/>
              </a:rPr>
              <a:t>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show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state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TCP/UDP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machine,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command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 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though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syntax.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object 5" descr=""/>
          <p:cNvPicPr/>
          <p:nvPr/>
        </p:nvPicPr>
        <p:blipFill>
          <a:blip r:embed="rId1"/>
          <a:stretch/>
        </p:blipFill>
        <p:spPr>
          <a:xfrm>
            <a:off x="2743200" y="4223520"/>
            <a:ext cx="7036920" cy="1947960"/>
          </a:xfrm>
          <a:prstGeom prst="rect">
            <a:avLst/>
          </a:prstGeom>
          <a:ln w="0">
            <a:noFill/>
          </a:ln>
        </p:spPr>
      </p:pic>
      <p:sp>
        <p:nvSpPr>
          <p:cNvPr id="152" name="PlaceHolder 2"/>
          <p:cNvSpPr>
            <a:spLocks noGrp="1"/>
          </p:cNvSpPr>
          <p:nvPr>
            <p:ph type="sldNum" idx="2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ECAF536-3F3B-4D35-8F6F-1818922CEDC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07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D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K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U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4" name="object 3"/>
          <p:cNvSpPr/>
          <p:nvPr/>
        </p:nvSpPr>
        <p:spPr>
          <a:xfrm>
            <a:off x="866520" y="1600200"/>
            <a:ext cx="10740960" cy="19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Basic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tasks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using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built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(cont.)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ba2709"/>
                </a:solidFill>
                <a:latin typeface="Consolas"/>
                <a:ea typeface="DejaVu Sans"/>
              </a:rPr>
              <a:t>nslookup/dig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—query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given domain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resolver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(nslookup) 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(dig).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5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6" name="object 5" descr=""/>
          <p:cNvPicPr/>
          <p:nvPr/>
        </p:nvPicPr>
        <p:blipFill>
          <a:blip r:embed="rId1"/>
          <a:stretch/>
        </p:blipFill>
        <p:spPr>
          <a:xfrm>
            <a:off x="5029200" y="3657600"/>
            <a:ext cx="6732000" cy="2618640"/>
          </a:xfrm>
          <a:prstGeom prst="rect">
            <a:avLst/>
          </a:prstGeom>
          <a:ln w="0">
            <a:noFill/>
          </a:ln>
        </p:spPr>
      </p:pic>
      <p:sp>
        <p:nvSpPr>
          <p:cNvPr id="157" name="PlaceHolder 2"/>
          <p:cNvSpPr>
            <a:spLocks noGrp="1"/>
          </p:cNvSpPr>
          <p:nvPr>
            <p:ph type="sldNum" idx="2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0C1C9DD-29AF-46B5-9E41-837C41FF07F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228600" y="684720"/>
            <a:ext cx="1165788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OTHER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RECONNAISSANCE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TOOLS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9" name="object 3"/>
          <p:cNvSpPr/>
          <p:nvPr/>
        </p:nvSpPr>
        <p:spPr>
          <a:xfrm>
            <a:off x="231120" y="1613880"/>
            <a:ext cx="11655360" cy="21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1480" bIns="0" anchor="t">
            <a:spAutoFit/>
          </a:bodyPr>
          <a:p>
            <a:pPr marL="241200" indent="-229320">
              <a:lnSpc>
                <a:spcPts val="2619"/>
              </a:lnSpc>
              <a:spcBef>
                <a:spcPts val="40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hundreds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relevant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assessments,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 scanning,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penetration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distributions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specialize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bundling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3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Linux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KALI</a:t>
            </a:r>
            <a:r>
              <a:rPr b="1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kali.org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plus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ParrotOS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parrotlinux.org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)—and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For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Windows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5"/>
              </a:rPr>
              <a:t>— 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6"/>
              </a:rPr>
              <a:t>fireeye.com/blog/threat-research/2019/03/commando-vm-windows- </a:t>
            </a:r>
            <a:r>
              <a:rPr b="0" lang="en-US" sz="2000" spc="-440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7"/>
              </a:rPr>
              <a:t> 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8"/>
              </a:rPr>
              <a:t>offensive-distribution.html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9"/>
              </a:rPr>
              <a:t>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PlaceHolder 2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7293CE5-80B8-4D4D-8A41-1B24127DF1E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228600" y="684720"/>
            <a:ext cx="116578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600" spc="-46" strike="noStrike">
                <a:solidFill>
                  <a:srgbClr val="c00000"/>
                </a:solidFill>
                <a:latin typeface="Calibri Light"/>
              </a:rPr>
              <a:t>OTHER</a:t>
            </a:r>
            <a:r>
              <a:rPr b="0" lang="en-US" sz="2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46" strike="noStrike">
                <a:solidFill>
                  <a:srgbClr val="c00000"/>
                </a:solidFill>
                <a:latin typeface="Calibri Light"/>
              </a:rPr>
              <a:t>RECONNAISSANCE</a:t>
            </a:r>
            <a:r>
              <a:rPr b="0" lang="en-US" sz="2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2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52" strike="noStrike">
                <a:solidFill>
                  <a:srgbClr val="c00000"/>
                </a:solidFill>
                <a:latin typeface="Calibri Light"/>
              </a:rPr>
              <a:t>TOOLS</a:t>
            </a:r>
            <a:r>
              <a:rPr b="0" lang="en-US" sz="2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3" name="object 3"/>
          <p:cNvSpPr/>
          <p:nvPr/>
        </p:nvSpPr>
        <p:spPr>
          <a:xfrm>
            <a:off x="457200" y="1323000"/>
            <a:ext cx="10808640" cy="451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9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theHarvester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theHarvester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gathering open-source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intelligence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(OSINT)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domain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 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github.com/laramies/theHarvester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7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works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scanning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gather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subdomains,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IPs,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URLs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relevant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129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dnsenum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160"/>
              </a:lnSpc>
              <a:spcBef>
                <a:spcPts val="4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 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dig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whois</a:t>
            </a:r>
            <a:r>
              <a:rPr b="1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query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records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details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160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check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external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leaking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8000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dnsenum</a:t>
            </a:r>
            <a:r>
              <a:rPr b="1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packages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number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query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github.com/fwaeytens/dnsenum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1919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hosting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records,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dnsenum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try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address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ranges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PlaceHolder 2"/>
          <p:cNvSpPr>
            <a:spLocks noGrp="1"/>
          </p:cNvSpPr>
          <p:nvPr>
            <p:ph type="sldNum" idx="2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78FC7CA-074E-4E1E-BCCC-11DAFEE649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228600" y="671040"/>
            <a:ext cx="116568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OTHER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RECONNAISSANCE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52" strike="noStrike">
                <a:solidFill>
                  <a:srgbClr val="c00000"/>
                </a:solidFill>
                <a:latin typeface="Calibri Light"/>
              </a:rPr>
              <a:t>TOOLS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218880" y="1507680"/>
            <a:ext cx="11439000" cy="46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scanless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difficult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conceal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unless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slowly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results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gathered over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extended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period.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option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disguise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probes,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97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end,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scanless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third-party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sites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github.com/vesche/scanless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sort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defensive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sense,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ports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services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shouldn't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69912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None/>
              <a:tabLst>
                <a:tab algn="l" pos="699120"/>
              </a:tabLst>
            </a:pPr>
            <a:endParaRPr b="0" lang="en-US" sz="145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curl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curl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command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line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performing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transfers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protocol,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submit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HTTP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GET,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POST,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requests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testing,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curl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supports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many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data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protocols,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including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66" strike="noStrike">
                <a:solidFill>
                  <a:srgbClr val="000000"/>
                </a:solidFill>
                <a:latin typeface="Calibri"/>
                <a:ea typeface="DejaVu Sans"/>
              </a:rPr>
              <a:t>FTP,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IMAP,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LDAP,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POP3,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SMB,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55" strike="noStrike">
                <a:solidFill>
                  <a:srgbClr val="000000"/>
                </a:solidFill>
                <a:latin typeface="Calibri"/>
                <a:ea typeface="DejaVu Sans"/>
              </a:rPr>
              <a:t>SMTP.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PlaceHolder 2"/>
          <p:cNvSpPr>
            <a:spLocks noGrp="1"/>
          </p:cNvSpPr>
          <p:nvPr>
            <p:ph type="sldNum" idx="2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FFE6BA6-2C3F-4EEB-9E84-F26CBC37B3E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520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OTHER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6" strike="noStrike">
                <a:solidFill>
                  <a:srgbClr val="c00000"/>
                </a:solidFill>
                <a:latin typeface="Calibri Light"/>
              </a:rPr>
              <a:t>RECONNAISSANCE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DISCOVERY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52" strike="noStrike">
                <a:solidFill>
                  <a:srgbClr val="c00000"/>
                </a:solidFill>
                <a:latin typeface="Calibri Light"/>
              </a:rPr>
              <a:t>TOOLS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1" name="object 3"/>
          <p:cNvSpPr/>
          <p:nvPr/>
        </p:nvSpPr>
        <p:spPr>
          <a:xfrm>
            <a:off x="677160" y="1585800"/>
            <a:ext cx="10294920" cy="43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Nessus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 running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cross-checked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lists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automated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tools.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1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Nessus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,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produced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5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6"/>
              </a:rPr>
              <a:t>by</a:t>
            </a:r>
            <a:r>
              <a:rPr b="0" lang="en-US" sz="2000" spc="18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7"/>
              </a:rPr>
              <a:t> </a:t>
            </a:r>
            <a:r>
              <a:rPr b="0" lang="en-US" sz="2000" spc="-3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8"/>
              </a:rPr>
              <a:t>Tenable</a:t>
            </a:r>
            <a:r>
              <a:rPr b="0" lang="en-US" sz="2000" spc="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9"/>
              </a:rPr>
              <a:t> 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0"/>
              </a:rPr>
              <a:t>Network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1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2"/>
              </a:rPr>
              <a:t>Security</a:t>
            </a:r>
            <a:r>
              <a:rPr b="0" lang="en-US" sz="2000" spc="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3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4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5"/>
              </a:rPr>
              <a:t>tenable.com/products/nessus/nessus- </a:t>
            </a:r>
            <a:r>
              <a:rPr b="0" lang="en-US" sz="2000" spc="-440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6"/>
              </a:rPr>
              <a:t> 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7"/>
              </a:rPr>
              <a:t>professional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8"/>
              </a:rPr>
              <a:t>),</a:t>
            </a:r>
            <a:r>
              <a:rPr b="0" lang="en-US" sz="2000" spc="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9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0"/>
              </a:rPr>
              <a:t>is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1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2"/>
              </a:rPr>
              <a:t>one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3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4"/>
              </a:rPr>
              <a:t>of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5"/>
              </a:rPr>
              <a:t>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6"/>
              </a:rPr>
              <a:t>the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7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8"/>
              </a:rPr>
              <a:t>best-known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9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0"/>
              </a:rPr>
              <a:t>commercial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1"/>
              </a:rPr>
              <a:t> </a:t>
            </a:r>
            <a:r>
              <a:rPr b="0" lang="en-US" sz="20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2"/>
              </a:rPr>
              <a:t>vulnerability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3"/>
              </a:rPr>
              <a:t> </a:t>
            </a:r>
            <a:r>
              <a:rPr b="0" lang="en-US" sz="20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4"/>
              </a:rPr>
              <a:t>scanners.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on-premises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(Nessus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Manager)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cloud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(Tenable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Cloud)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versions,</a:t>
            </a:r>
            <a:r>
              <a:rPr b="0" lang="en-US" sz="20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Nessus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Professional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smaller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product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free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home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paid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subscription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basis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enterprises.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previously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open-source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program,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Nessus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also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scanners.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PlaceHolder 2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6751C55-E526-44AD-B162-A418F1D2ECE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1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PACKET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ANALYSIS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WIRESHARK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" name="object 3"/>
          <p:cNvSpPr/>
          <p:nvPr/>
        </p:nvSpPr>
        <p:spPr>
          <a:xfrm>
            <a:off x="228600" y="1802520"/>
            <a:ext cx="11429280" cy="454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 indent="-229320">
              <a:lnSpc>
                <a:spcPts val="2735"/>
              </a:lnSpc>
              <a:spcBef>
                <a:spcPts val="9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filter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expression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syntax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tcpdump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(though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expression 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built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via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GUI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output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.pcap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load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Wireshark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supports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powerful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display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filters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wiki.wireshark.org/DisplayFilters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applied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capture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file.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adjust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coloring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rules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wiki.wireshark.org/ColoringRules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row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shading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font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color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each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frame.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Another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useful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option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Follow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TCP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Stream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context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reconstruct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TCP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session.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PlaceHolder 2"/>
          <p:cNvSpPr>
            <a:spLocks noGrp="1"/>
          </p:cNvSpPr>
          <p:nvPr>
            <p:ph type="sldNum" idx="2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DE5DA99-0FE6-4AC2-BEF2-248B3DB7F38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0551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PACKET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ANALYSIS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WIRESHARK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9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0" name="object 4" descr=""/>
          <p:cNvPicPr/>
          <p:nvPr/>
        </p:nvPicPr>
        <p:blipFill>
          <a:blip r:embed="rId1"/>
          <a:stretch/>
        </p:blipFill>
        <p:spPr>
          <a:xfrm>
            <a:off x="3108960" y="1822680"/>
            <a:ext cx="5973120" cy="4446000"/>
          </a:xfrm>
          <a:prstGeom prst="rect">
            <a:avLst/>
          </a:prstGeom>
          <a:ln w="0">
            <a:noFill/>
          </a:ln>
        </p:spPr>
      </p:pic>
      <p:sp>
        <p:nvSpPr>
          <p:cNvPr id="181" name="PlaceHolder 2"/>
          <p:cNvSpPr>
            <a:spLocks noGrp="1"/>
          </p:cNvSpPr>
          <p:nvPr>
            <p:ph type="sldNum" idx="2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CD870FB-C528-40D7-B1B0-94509957F7D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226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75" strike="noStrike">
                <a:solidFill>
                  <a:srgbClr val="c00000"/>
                </a:solidFill>
                <a:latin typeface="Calibri Light"/>
              </a:rPr>
              <a:t>PACKET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INJECTION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REPLAY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916920" y="1802520"/>
            <a:ext cx="10242720" cy="44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depend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sending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forged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spoofed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sniffing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libraries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frames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inserted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injected)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stream.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kinds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packets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crafted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manipulated.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Well-known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packet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injection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Dsniff</a:t>
            </a:r>
            <a:r>
              <a:rPr b="0" lang="en-US" sz="2000" spc="18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monkey.org/~dugsong/dsniff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Ettercap</a:t>
            </a:r>
            <a:r>
              <a:rPr b="0" lang="en-US" sz="20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ettercap-project.org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Scapy</a:t>
            </a:r>
            <a:r>
              <a:rPr b="0" lang="en-US" sz="2000" spc="-60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21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3"/>
              </a:rPr>
              <a:t>scapy.net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ba2709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hping</a:t>
            </a:r>
            <a:r>
              <a:rPr b="0" lang="en-US" sz="2000" spc="-8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0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4"/>
              </a:rPr>
              <a:t>hping.org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PlaceHolder 2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DDDB61E-6162-4F16-B451-537BF3B0CB3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3693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EXPLOITATION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FRAMEWORKS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7" name="object 3"/>
          <p:cNvSpPr/>
          <p:nvPr/>
        </p:nvSpPr>
        <p:spPr>
          <a:xfrm>
            <a:off x="457200" y="1371600"/>
            <a:ext cx="11200680" cy="44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custom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module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injected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obfuscate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injected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intrusion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antivirus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best-known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framework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Metasploit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7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metasploit.com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open-source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now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maintained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Rapid7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is 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free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framework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(command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line)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community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edition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installation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packages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Rapid7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produces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pro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express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commercial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editions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framework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it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closely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integrated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Nexpose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1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scanner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PlaceHolder 2"/>
          <p:cNvSpPr>
            <a:spLocks noGrp="1"/>
          </p:cNvSpPr>
          <p:nvPr>
            <p:ph type="sldNum" idx="3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AED1EBF-0172-4ADF-B831-7828AF90DC7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157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EXPLOITATION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FRAMEWORKS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1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2" name="object 4" descr=""/>
          <p:cNvPicPr/>
          <p:nvPr/>
        </p:nvPicPr>
        <p:blipFill>
          <a:blip r:embed="rId1"/>
          <a:stretch/>
        </p:blipFill>
        <p:spPr>
          <a:xfrm>
            <a:off x="2666880" y="1973520"/>
            <a:ext cx="6856920" cy="414252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2"/>
          <p:cNvSpPr>
            <a:spLocks noGrp="1"/>
          </p:cNvSpPr>
          <p:nvPr>
            <p:ph type="sldNum" idx="3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C1AD36A-4DCB-4343-9E66-F0A5B4978F1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6543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5" name="object 3"/>
          <p:cNvSpPr/>
          <p:nvPr/>
        </p:nvSpPr>
        <p:spPr>
          <a:xfrm>
            <a:off x="916920" y="1802520"/>
            <a:ext cx="10131480" cy="31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connectivity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Netcat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(nc)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Linux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Netcat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fingerprinting.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 command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 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HTTP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port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return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banner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sending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"head"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HTTP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keyword: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241920"/>
              </a:tabLst>
            </a:pPr>
            <a:endParaRPr b="0" lang="en-US" sz="3550" spc="-1" strike="noStrike">
              <a:latin typeface="Arial"/>
            </a:endParaRPr>
          </a:p>
          <a:p>
            <a:pPr marL="226080" algn="ctr">
              <a:lnSpc>
                <a:spcPct val="100000"/>
              </a:lnSpc>
              <a:buNone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echo</a:t>
            </a:r>
            <a:r>
              <a:rPr b="0" lang="en-US" sz="2000" spc="-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"head"</a:t>
            </a:r>
            <a:r>
              <a:rPr b="0" lang="en-US" sz="2000" spc="-15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|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nc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 10.1.0.1</a:t>
            </a:r>
            <a:r>
              <a:rPr b="0" lang="en-US" sz="2000" spc="-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-v</a:t>
            </a:r>
            <a:r>
              <a:rPr b="0" lang="en-US" sz="2000" spc="-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80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PlaceHolder 2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F545E1F-B1D5-493C-B128-6060C16FA99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54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9" name="object 3"/>
          <p:cNvSpPr/>
          <p:nvPr/>
        </p:nvSpPr>
        <p:spPr>
          <a:xfrm>
            <a:off x="916920" y="1711080"/>
            <a:ext cx="10247040" cy="40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 algn="just">
              <a:lnSpc>
                <a:spcPct val="100000"/>
              </a:lnSpc>
              <a:spcBef>
                <a:spcPts val="819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Netcat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establish connections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machines.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14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 Netcat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backdoor,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you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set up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listener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victim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IP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10.1.0.1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 set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pipe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traffic 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command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interpreter,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handler:</a:t>
            </a:r>
            <a:endParaRPr b="0" lang="en-US" sz="2400" spc="-1" strike="noStrike">
              <a:latin typeface="Arial"/>
            </a:endParaRPr>
          </a:p>
          <a:p>
            <a:pPr marL="108720" algn="ctr">
              <a:lnSpc>
                <a:spcPct val="100000"/>
              </a:lnSpc>
              <a:spcBef>
                <a:spcPts val="794"/>
              </a:spcBef>
              <a:buNone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nc</a:t>
            </a:r>
            <a:r>
              <a:rPr b="0" lang="en-US" sz="2000" spc="-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-l -p 666</a:t>
            </a:r>
            <a:r>
              <a:rPr b="0" lang="en-US" sz="2000" spc="-12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-e</a:t>
            </a:r>
            <a:r>
              <a:rPr b="0" lang="en-US" sz="2000" spc="-21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cmd.exe</a:t>
            </a:r>
            <a:endParaRPr b="0" lang="en-US" sz="2000" spc="-1" strike="noStrike">
              <a:latin typeface="Arial"/>
            </a:endParaRPr>
          </a:p>
          <a:p>
            <a:pPr marL="108720">
              <a:lnSpc>
                <a:spcPct val="100000"/>
              </a:lnSpc>
              <a:buNone/>
              <a:tabLst>
                <a:tab algn="l" pos="241920"/>
              </a:tabLst>
            </a:pPr>
            <a:endParaRPr b="0" lang="en-US" sz="2000" spc="-1" strike="noStrike">
              <a:latin typeface="Arial"/>
            </a:endParaRPr>
          </a:p>
          <a:p>
            <a:pPr marL="108720">
              <a:lnSpc>
                <a:spcPct val="100000"/>
              </a:lnSpc>
              <a:spcBef>
                <a:spcPts val="31"/>
              </a:spcBef>
              <a:buNone/>
              <a:tabLst>
                <a:tab algn="l" pos="241920"/>
              </a:tabLst>
            </a:pPr>
            <a:endParaRPr b="0" lang="en-US" sz="19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 command connects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listener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grants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terminal: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241920"/>
              </a:tabLst>
            </a:pPr>
            <a:endParaRPr b="0" lang="en-US" sz="3550" spc="-1" strike="noStrike">
              <a:latin typeface="Arial"/>
            </a:endParaRPr>
          </a:p>
          <a:p>
            <a:pPr marL="110520" algn="ctr">
              <a:lnSpc>
                <a:spcPct val="100000"/>
              </a:lnSpc>
              <a:buNone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nc</a:t>
            </a:r>
            <a:r>
              <a:rPr b="0" lang="en-US" sz="2000" spc="-21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10.1.0.1</a:t>
            </a:r>
            <a:r>
              <a:rPr b="0" lang="en-US" sz="2000" spc="-35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666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PlaceHolder 2"/>
          <p:cNvSpPr>
            <a:spLocks noGrp="1"/>
          </p:cNvSpPr>
          <p:nvPr>
            <p:ph type="sldNum" idx="3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9605E3C-06EE-4376-92B0-64B9E807F84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269712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1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(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.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" name="object 3"/>
          <p:cNvSpPr/>
          <p:nvPr/>
        </p:nvSpPr>
        <p:spPr>
          <a:xfrm>
            <a:off x="916920" y="1711080"/>
            <a:ext cx="10059120" cy="45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around,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Netcat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used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receive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example,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target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system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runs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None/>
              <a:tabLst>
                <a:tab algn="l" pos="241920"/>
              </a:tabLst>
            </a:pPr>
            <a:endParaRPr b="0" lang="en-US" sz="3550" spc="-1" strike="noStrike">
              <a:latin typeface="Arial"/>
            </a:endParaRPr>
          </a:p>
          <a:p>
            <a:pPr marL="307800" algn="ctr">
              <a:lnSpc>
                <a:spcPct val="100000"/>
              </a:lnSpc>
              <a:buNone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type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accounts.sql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| nc</a:t>
            </a:r>
            <a:r>
              <a:rPr b="0" lang="en-US" sz="2000" spc="-15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10.1.0.192</a:t>
            </a:r>
            <a:r>
              <a:rPr b="0" lang="en-US" sz="2000" spc="-15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6666</a:t>
            </a:r>
            <a:endParaRPr b="0" lang="en-US" sz="2000" spc="-1" strike="noStrike">
              <a:latin typeface="Arial"/>
            </a:endParaRPr>
          </a:p>
          <a:p>
            <a:pPr marL="307800">
              <a:lnSpc>
                <a:spcPct val="100000"/>
              </a:lnSpc>
              <a:buNone/>
              <a:tabLst>
                <a:tab algn="l" pos="241920"/>
              </a:tabLst>
            </a:pPr>
            <a:endParaRPr b="0" lang="en-US" sz="2000" spc="-1" strike="noStrike">
              <a:latin typeface="Arial"/>
            </a:endParaRPr>
          </a:p>
          <a:p>
            <a:pPr marL="307800">
              <a:lnSpc>
                <a:spcPct val="100000"/>
              </a:lnSpc>
              <a:spcBef>
                <a:spcPts val="54"/>
              </a:spcBef>
              <a:buNone/>
              <a:tabLst>
                <a:tab algn="l" pos="241920"/>
              </a:tabLst>
            </a:pPr>
            <a:endParaRPr b="0" lang="en-US" sz="16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handler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IP</a:t>
            </a:r>
            <a:r>
              <a:rPr b="1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10.1.0.192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attacker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command: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51"/>
              </a:spcBef>
              <a:buNone/>
              <a:tabLst>
                <a:tab algn="l" pos="241920"/>
              </a:tabLst>
            </a:pPr>
            <a:endParaRPr b="0" lang="en-US" sz="3550" spc="-1" strike="noStrike">
              <a:latin typeface="Arial"/>
            </a:endParaRPr>
          </a:p>
          <a:p>
            <a:pPr marL="298440" algn="ctr">
              <a:lnSpc>
                <a:spcPct val="100000"/>
              </a:lnSpc>
              <a:buNone/>
              <a:tabLst>
                <a:tab algn="l" pos="2419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nc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-l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-p 6666 </a:t>
            </a:r>
            <a:r>
              <a:rPr b="0" lang="en-US" sz="2000" spc="-1" strike="noStrike">
                <a:solidFill>
                  <a:srgbClr val="006fc0"/>
                </a:solidFill>
                <a:latin typeface="Consolas"/>
                <a:ea typeface="DejaVu Sans"/>
              </a:rPr>
              <a:t>&gt;</a:t>
            </a:r>
            <a:r>
              <a:rPr b="0" lang="en-US" sz="2000" spc="-7" strike="noStrike">
                <a:solidFill>
                  <a:srgbClr val="006fc0"/>
                </a:solidFill>
                <a:latin typeface="Consolas"/>
                <a:ea typeface="DejaVu Sans"/>
              </a:rPr>
              <a:t> accounts.sql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0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PlaceHolder 2"/>
          <p:cNvSpPr>
            <a:spLocks noGrp="1"/>
          </p:cNvSpPr>
          <p:nvPr>
            <p:ph type="sldNum" idx="3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45E06EA-086E-4E4B-B704-EDE4CF4464C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35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VULNERABILITY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SCAN</a:t>
            </a:r>
            <a:r>
              <a:rPr b="0" lang="en-US" sz="3600" spc="-14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7" name="object 3"/>
          <p:cNvSpPr/>
          <p:nvPr/>
        </p:nvSpPr>
        <p:spPr>
          <a:xfrm>
            <a:off x="916920" y="1697760"/>
            <a:ext cx="10343160" cy="38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  <a:tabLst>
                <a:tab algn="l" pos="46980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1.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	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Scanner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101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2" strike="noStrike">
                <a:solidFill>
                  <a:srgbClr val="000000"/>
                </a:solidFill>
                <a:latin typeface="Calibri"/>
                <a:ea typeface="DejaVu Sans"/>
              </a:rPr>
              <a:t>scanner,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35" strike="noStrike">
                <a:solidFill>
                  <a:srgbClr val="006fc0"/>
                </a:solidFill>
                <a:latin typeface="Calibri"/>
                <a:ea typeface="DejaVu Sans"/>
              </a:rPr>
              <a:t>Tenable</a:t>
            </a:r>
            <a:r>
              <a:rPr b="1" lang="en-US" sz="2200" spc="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6fc0"/>
                </a:solidFill>
                <a:latin typeface="Calibri"/>
                <a:ea typeface="DejaVu Sans"/>
              </a:rPr>
              <a:t>Nessus</a:t>
            </a:r>
            <a:r>
              <a:rPr b="1" lang="en-US" sz="2200" spc="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2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tenable.com/products/nessus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6" strike="noStrike">
                <a:solidFill>
                  <a:srgbClr val="006fc0"/>
                </a:solidFill>
                <a:latin typeface="Calibri"/>
                <a:ea typeface="DejaVu Sans"/>
              </a:rPr>
              <a:t>OpenVAS</a:t>
            </a:r>
            <a:r>
              <a:rPr b="1" lang="en-US" sz="2200" spc="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200" spc="-15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2"/>
              </a:rPr>
              <a:t>openvas.org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),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designed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hosts,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including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client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PCs,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mobile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devices,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servers,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routers,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switches.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2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examines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organization's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on-premises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applications,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compares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results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templates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plus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lists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0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Typical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results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assessment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identify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missing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patches,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deviations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509"/>
              </a:lnSpc>
              <a:buNone/>
              <a:tabLst>
                <a:tab algn="l" pos="2419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baseline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templates,</a:t>
            </a:r>
            <a:r>
              <a:rPr b="0" lang="en-US" sz="2200" spc="3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related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PlaceHolder 2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9573BDC-A11F-458B-890C-4543B7128A9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65680" y="457200"/>
            <a:ext cx="933480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VULNERABILITY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SCAN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1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2" name="object 4" descr=""/>
          <p:cNvPicPr/>
          <p:nvPr/>
        </p:nvPicPr>
        <p:blipFill>
          <a:blip r:embed="rId1"/>
          <a:stretch/>
        </p:blipFill>
        <p:spPr>
          <a:xfrm>
            <a:off x="5029200" y="1569600"/>
            <a:ext cx="6222960" cy="4581720"/>
          </a:xfrm>
          <a:prstGeom prst="rect">
            <a:avLst/>
          </a:prstGeom>
          <a:ln w="0">
            <a:noFill/>
          </a:ln>
        </p:spPr>
      </p:pic>
      <p:sp>
        <p:nvSpPr>
          <p:cNvPr id="213" name="PlaceHolder 2"/>
          <p:cNvSpPr>
            <a:spLocks noGrp="1"/>
          </p:cNvSpPr>
          <p:nvPr>
            <p:ph type="sldNum" idx="3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1736965-D4F8-461A-B7B1-03BA4B0C9C3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3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VULNERABILITY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SCAN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5" name="object 3"/>
          <p:cNvSpPr/>
          <p:nvPr/>
        </p:nvSpPr>
        <p:spPr>
          <a:xfrm>
            <a:off x="916920" y="1697760"/>
            <a:ext cx="10260000" cy="46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  <a:tabLst>
                <a:tab algn="l" pos="469800"/>
              </a:tabLst>
            </a:pP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2.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	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0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Web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Application</a:t>
            </a:r>
            <a:r>
              <a:rPr b="0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Scanners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5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dedicated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 scanner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detailed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specific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scripts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509"/>
              </a:lnSpc>
              <a:buNone/>
              <a:tabLst>
                <a:tab algn="l" pos="2419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attacks,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missing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patches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weak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best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class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scanners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scanners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4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1" lang="en-US" sz="2200" spc="-12" strike="noStrike">
                <a:solidFill>
                  <a:srgbClr val="006fc0"/>
                </a:solidFill>
                <a:latin typeface="Calibri"/>
                <a:ea typeface="DejaVu Sans"/>
              </a:rPr>
              <a:t>Nikto</a:t>
            </a:r>
            <a:r>
              <a:rPr b="1" lang="en-US" sz="22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2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cirt.net/Nikto2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look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exploits,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SQL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injection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cross-site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scripting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(XSS),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analyze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source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code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unsecure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programming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989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application scanner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optimized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particular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class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35" strike="noStrike">
                <a:solidFill>
                  <a:srgbClr val="000000"/>
                </a:solidFill>
                <a:latin typeface="Calibri"/>
                <a:ea typeface="DejaVu Sans"/>
              </a:rPr>
              <a:t>server.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16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PlaceHolder 2"/>
          <p:cNvSpPr>
            <a:spLocks noGrp="1"/>
          </p:cNvSpPr>
          <p:nvPr>
            <p:ph type="sldNum" idx="3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E134A6C-FCE5-4F2E-9572-5F3287470D8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283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COMMON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EXPOSURES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9" name="object 3"/>
          <p:cNvSpPr/>
          <p:nvPr/>
        </p:nvSpPr>
        <p:spPr>
          <a:xfrm>
            <a:off x="916920" y="1802520"/>
            <a:ext cx="10174680" cy="326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automated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scanner needs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kept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date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known vulnerabilities.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vulnerability feed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though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Nessus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tool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refers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these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feeds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plug-ins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OpenVAS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 as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network </a:t>
            </a:r>
            <a:r>
              <a:rPr b="1" lang="en-US" sz="2400" spc="-53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vulnerability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tests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(NVTs)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 algn="just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Often,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feed forms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important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scan vendors'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commercial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models,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latest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updates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valid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subscription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acquire.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0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PlaceHolder 2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8A92BF0-D6E9-4AE8-9C56-DFD22E928BC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914400" y="671040"/>
            <a:ext cx="109720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200" spc="-41" strike="noStrike">
                <a:solidFill>
                  <a:srgbClr val="c00000"/>
                </a:solidFill>
                <a:latin typeface="Calibri Light"/>
              </a:rPr>
              <a:t>COMMON</a:t>
            </a:r>
            <a:r>
              <a:rPr b="0" lang="en-US" sz="32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32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2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5" strike="noStrike">
                <a:solidFill>
                  <a:srgbClr val="c00000"/>
                </a:solidFill>
                <a:latin typeface="Calibri Light"/>
              </a:rPr>
              <a:t>EXPOSURES</a:t>
            </a:r>
            <a:r>
              <a:rPr b="0" lang="en-US" sz="32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3" name="object 3"/>
          <p:cNvSpPr/>
          <p:nvPr/>
        </p:nvSpPr>
        <p:spPr>
          <a:xfrm>
            <a:off x="916920" y="1371600"/>
            <a:ext cx="10314000" cy="40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feeds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identifiers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facilitate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sharing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intelligence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across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different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scanners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Secure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Content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Automation</a:t>
            </a:r>
            <a:r>
              <a:rPr b="1" lang="en-US" sz="2400" spc="4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Protocol</a:t>
            </a:r>
            <a:r>
              <a:rPr b="1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(SCAP)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obtain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feed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plug-in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updates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scap.nist.gov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mechanism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distributing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feed,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SCAP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defines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actual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configuration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target-secure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baseline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plus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various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common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identifiers.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identifiers supply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refer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consistently.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PlaceHolder 2"/>
          <p:cNvSpPr>
            <a:spLocks noGrp="1"/>
          </p:cNvSpPr>
          <p:nvPr>
            <p:ph type="sldNum" idx="4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2757E6A-ED25-4F2C-8AFD-7F3883A4CDE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180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COMMON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EXPOSURES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7" name="object 3"/>
          <p:cNvSpPr/>
          <p:nvPr/>
        </p:nvSpPr>
        <p:spPr>
          <a:xfrm>
            <a:off x="916920" y="1802520"/>
            <a:ext cx="10153080" cy="37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ba2709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Common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ba2709"/>
                </a:solidFill>
                <a:latin typeface="Calibri"/>
                <a:ea typeface="DejaVu Sans"/>
              </a:rPr>
              <a:t>Vulnerabilities</a:t>
            </a:r>
            <a:r>
              <a:rPr b="1" lang="en-US" sz="2400" spc="2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and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 Exposures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 (CVE)</a:t>
            </a:r>
            <a:r>
              <a:rPr b="1" lang="en-US" sz="2400" spc="4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dictionary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vulnerabilities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published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"/>
              </a:rPr>
              <a:t>cve.mitre.org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elements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up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vulnerability's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entry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CVE: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identifier</a:t>
            </a:r>
            <a:r>
              <a:rPr b="0" lang="en-US" sz="20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format: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CVE-YYYY-####,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YYYY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year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vulnerability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discovered,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####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four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digits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indicate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order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which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brief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description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5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reference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</a:t>
            </a:r>
            <a:r>
              <a:rPr b="0" lang="en-US" sz="20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URLs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entry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was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8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PlaceHolder 2"/>
          <p:cNvSpPr>
            <a:spLocks noGrp="1"/>
          </p:cNvSpPr>
          <p:nvPr>
            <p:ph type="sldNum" idx="4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C73D5A4-44EA-4484-91CF-6C45793A539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51804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COMMON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VULNERABILITIES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8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EXPOSURES</a:t>
            </a:r>
            <a:r>
              <a:rPr b="0" lang="en-US" sz="28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1" name="object 3"/>
          <p:cNvSpPr/>
          <p:nvPr/>
        </p:nvSpPr>
        <p:spPr>
          <a:xfrm>
            <a:off x="916920" y="1802520"/>
            <a:ext cx="10166040" cy="24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NVD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supplements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CVE descriptions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 additional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analysis,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criticality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metric,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calculated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Common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Vulnerability 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Scoring </a:t>
            </a:r>
            <a:r>
              <a:rPr b="1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System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(CVSS)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 plus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fix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CVSS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metrics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generate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score from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0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10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based 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characteristics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vulnerability,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triggered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needs local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intervention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required,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2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233" name="object 5"/>
          <p:cNvGraphicFramePr/>
          <p:nvPr/>
        </p:nvGraphicFramePr>
        <p:xfrm>
          <a:off x="6095880" y="4129560"/>
          <a:ext cx="5447160" cy="2122920"/>
        </p:xfrm>
        <a:graphic>
          <a:graphicData uri="http://schemas.openxmlformats.org/drawingml/2006/table">
            <a:tbl>
              <a:tblPr/>
              <a:tblGrid>
                <a:gridCol w="2723400"/>
                <a:gridCol w="2723760"/>
              </a:tblGrid>
              <a:tr h="579960"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44"/>
                        </a:spcBef>
                        <a:buNone/>
                      </a:pPr>
                      <a:r>
                        <a:rPr b="1" lang="en-US" sz="1800" spc="-12" strike="noStrike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260280">
                        <a:lnSpc>
                          <a:spcPct val="100000"/>
                        </a:lnSpc>
                        <a:spcBef>
                          <a:spcPts val="244"/>
                        </a:spcBef>
                        <a:buNone/>
                      </a:pPr>
                      <a:r>
                        <a:rPr b="1" lang="en-US" sz="1800" spc="-7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1c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44"/>
                        </a:spcBef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0.1+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44"/>
                        </a:spcBef>
                        <a:buNone/>
                      </a:pPr>
                      <a:r>
                        <a:rPr b="0" lang="en-US" sz="18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4.0+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461520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Medium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  <a:tr h="370440"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7.0+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7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4ea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9.0+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534600">
                        <a:lnSpc>
                          <a:spcPct val="100000"/>
                        </a:lnSpc>
                        <a:spcBef>
                          <a:spcPts val="264"/>
                        </a:spcBef>
                        <a:buNone/>
                      </a:pPr>
                      <a:r>
                        <a:rPr b="0" lang="en-US" sz="1800" spc="-12" strike="noStrike">
                          <a:solidFill>
                            <a:srgbClr val="000000"/>
                          </a:solidFill>
                          <a:latin typeface="Calibri"/>
                        </a:rPr>
                        <a:t>Critical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234" name="PlaceHolder 2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DC10652-2C16-4789-9B04-1ADEEBD8E95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261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PENETRATION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TESTING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6" name="object 3"/>
          <p:cNvSpPr/>
          <p:nvPr/>
        </p:nvSpPr>
        <p:spPr>
          <a:xfrm>
            <a:off x="916920" y="1802520"/>
            <a:ext cx="9955800" cy="34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penetration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test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—often</a:t>
            </a:r>
            <a:r>
              <a:rPr b="0" lang="en-US" sz="24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shortened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pen</a:t>
            </a:r>
            <a:r>
              <a:rPr b="0" lang="en-US" sz="2400" spc="4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test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—uses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authorized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hacking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4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exploitable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weaknesses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target's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Pen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testing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also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ethical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hacking.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involve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following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steps: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Verify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a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threat exists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1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Bypass</a:t>
            </a: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security</a:t>
            </a: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controls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24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Actively 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test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security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controls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4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Exploit</a:t>
            </a:r>
            <a:r>
              <a:rPr b="0" lang="en-US" sz="22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vulnerabilities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PlaceHolder 2"/>
          <p:cNvSpPr>
            <a:spLocks noGrp="1"/>
          </p:cNvSpPr>
          <p:nvPr>
            <p:ph type="sldNum" idx="43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CDFDF36-8D93-4F50-A5B0-70DC18C5646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540560" cy="914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RULES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OF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ENGAGEMENT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0" name="object 3"/>
          <p:cNvSpPr/>
          <p:nvPr/>
        </p:nvSpPr>
        <p:spPr>
          <a:xfrm>
            <a:off x="916920" y="1802520"/>
            <a:ext cx="10301040" cy="35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assessments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contracted to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consultants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other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Rules of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engagement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specify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what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activity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permitted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permitted.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rules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should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made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explicit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contractual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agreement.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For</a:t>
            </a:r>
            <a:r>
              <a:rPr b="1" lang="en-US" sz="2400" spc="-21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 </a:t>
            </a:r>
            <a:r>
              <a:rPr b="1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example: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concrete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objective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scope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 a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vague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"Break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into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network"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penetration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should not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PlaceHolder 2"/>
          <p:cNvSpPr>
            <a:spLocks noGrp="1"/>
          </p:cNvSpPr>
          <p:nvPr>
            <p:ph type="sldNum" idx="44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2364708-32A9-4901-8038-1726FD1A003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5687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Profile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4" name="object 3"/>
          <p:cNvSpPr/>
          <p:nvPr/>
        </p:nvSpPr>
        <p:spPr>
          <a:xfrm>
            <a:off x="916920" y="1711080"/>
            <a:ext cx="10022400" cy="31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Attacks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from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motivations.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wish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resistance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external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(targeted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untargeted)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66" strike="noStrike">
                <a:solidFill>
                  <a:srgbClr val="000000"/>
                </a:solidFill>
                <a:latin typeface="Calibri"/>
                <a:ea typeface="DejaVu Sans"/>
              </a:rPr>
              <a:t>You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need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how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much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information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consultant: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10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Black</a:t>
            </a:r>
            <a:r>
              <a:rPr b="0" lang="en-US" sz="2200" spc="-4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1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White</a:t>
            </a:r>
            <a:r>
              <a:rPr b="0" lang="en-US" sz="2200" spc="-2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2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0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6" strike="noStrike">
                <a:solidFill>
                  <a:srgbClr val="ba2709"/>
                </a:solidFill>
                <a:latin typeface="Calibri"/>
                <a:ea typeface="DejaVu Sans"/>
              </a:rPr>
              <a:t>Gray</a:t>
            </a:r>
            <a:r>
              <a:rPr b="0" lang="en-US" sz="22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PlaceHolder 2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3E9254B-3095-41C2-BF2E-69195CAE6CE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03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Profile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8" name="object 3"/>
          <p:cNvSpPr/>
          <p:nvPr/>
        </p:nvSpPr>
        <p:spPr>
          <a:xfrm>
            <a:off x="916920" y="1697760"/>
            <a:ext cx="10201320" cy="30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  <a:tabLst>
                <a:tab algn="l" pos="46980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1.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ba2709"/>
                </a:solidFill>
                <a:latin typeface="Calibri"/>
                <a:ea typeface="DejaVu Sans"/>
              </a:rPr>
              <a:t>Black</a:t>
            </a:r>
            <a:r>
              <a:rPr b="1" lang="en-US" sz="2400" spc="-5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5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unknown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environment)—the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consultant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509"/>
              </a:lnSpc>
              <a:buNone/>
              <a:tabLst>
                <a:tab algn="l" pos="241920"/>
              </a:tabLst>
            </a:pP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its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tester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phase.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46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Black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box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simulating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behavior</a:t>
            </a:r>
            <a:r>
              <a:rPr b="1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external</a:t>
            </a:r>
            <a:r>
              <a:rPr b="1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9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PlaceHolder 2"/>
          <p:cNvSpPr>
            <a:spLocks noGrp="1"/>
          </p:cNvSpPr>
          <p:nvPr>
            <p:ph type="sldNum" idx="46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26ABEF0-054B-48C4-AAD2-14914941E8F2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9403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Profile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2" name="object 3"/>
          <p:cNvSpPr/>
          <p:nvPr/>
        </p:nvSpPr>
        <p:spPr>
          <a:xfrm>
            <a:off x="916920" y="1697760"/>
            <a:ext cx="10155600" cy="34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  <a:tabLst>
                <a:tab algn="l" pos="46980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2.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	</a:t>
            </a:r>
            <a:r>
              <a:rPr b="1" lang="en-US" sz="2400" spc="-12" strike="noStrike">
                <a:solidFill>
                  <a:srgbClr val="ba2709"/>
                </a:solidFill>
                <a:latin typeface="Calibri"/>
                <a:ea typeface="DejaVu Sans"/>
              </a:rPr>
              <a:t>White</a:t>
            </a:r>
            <a:r>
              <a:rPr b="1" lang="en-US" sz="2400" spc="-3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09"/>
              </a:lnSpc>
              <a:spcBef>
                <a:spcPts val="75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environment)—the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consultant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complete</a:t>
            </a:r>
            <a:r>
              <a:rPr b="0" lang="en-US" sz="2200" spc="43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about</a:t>
            </a:r>
            <a:endParaRPr b="0" lang="en-US" sz="2200" spc="-1" strike="noStrike">
              <a:latin typeface="Arial"/>
            </a:endParaRPr>
          </a:p>
          <a:p>
            <a:pPr marL="241200">
              <a:lnSpc>
                <a:spcPts val="2509"/>
              </a:lnSpc>
              <a:buNone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network.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3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sometimes</a:t>
            </a:r>
            <a:r>
              <a:rPr b="0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conducted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follow-up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black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box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fully </a:t>
            </a:r>
            <a:r>
              <a:rPr b="0" lang="en-US" sz="22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evaluate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flaws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discovered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black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box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tester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skips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phase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White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box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simulating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behavior</a:t>
            </a:r>
            <a:r>
              <a:rPr b="1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privileged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3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PlaceHolder 2"/>
          <p:cNvSpPr>
            <a:spLocks noGrp="1"/>
          </p:cNvSpPr>
          <p:nvPr>
            <p:ph type="sldNum" idx="47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A7E29F7-A378-4C9F-9352-AFA63356E3EC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3975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Attack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Profile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6" name="object 3"/>
          <p:cNvSpPr/>
          <p:nvPr/>
        </p:nvSpPr>
        <p:spPr>
          <a:xfrm>
            <a:off x="916920" y="1697760"/>
            <a:ext cx="10279080" cy="350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7360" bIns="0" anchor="t">
            <a:spAutoFit/>
          </a:bodyPr>
          <a:p>
            <a:pPr marL="12600">
              <a:lnSpc>
                <a:spcPct val="100000"/>
              </a:lnSpc>
              <a:spcBef>
                <a:spcPts val="924"/>
              </a:spcBef>
              <a:buNone/>
              <a:tabLst>
                <a:tab algn="l" pos="469800"/>
              </a:tabLst>
            </a:pP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3.</a:t>
            </a:r>
            <a:r>
              <a:rPr b="1" lang="en-US" sz="2400" spc="-7" strike="noStrike">
                <a:solidFill>
                  <a:srgbClr val="ba2709"/>
                </a:solidFill>
                <a:latin typeface="Calibri"/>
                <a:ea typeface="DejaVu Sans"/>
              </a:rPr>
              <a:t>	</a:t>
            </a:r>
            <a:r>
              <a:rPr b="1" lang="en-US" sz="2400" spc="-32" strike="noStrike">
                <a:solidFill>
                  <a:srgbClr val="ba2709"/>
                </a:solidFill>
                <a:latin typeface="Calibri"/>
                <a:ea typeface="DejaVu Sans"/>
              </a:rPr>
              <a:t>Gray</a:t>
            </a:r>
            <a:r>
              <a:rPr b="1" lang="en-US" sz="2400" spc="-46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1" lang="en-US" sz="2400" spc="-21" strike="noStrike">
                <a:solidFill>
                  <a:srgbClr val="ba2709"/>
                </a:solidFill>
                <a:latin typeface="Calibri"/>
                <a:ea typeface="DejaVu Sans"/>
              </a:rPr>
              <a:t>box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51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(or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partially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environment)—the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consultant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ts val="2381"/>
              </a:lnSpc>
              <a:spcBef>
                <a:spcPts val="1035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typically,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would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resemble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knowledge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junior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non-IT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staff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particular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requires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partial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reconnaissance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part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46" strike="noStrike">
                <a:solidFill>
                  <a:srgbClr val="000000"/>
                </a:solidFill>
                <a:latin typeface="Calibri"/>
                <a:ea typeface="DejaVu Sans"/>
              </a:rPr>
              <a:t>tester.</a:t>
            </a:r>
            <a:endParaRPr b="0" lang="en-US" sz="22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34"/>
              </a:spcBef>
              <a:buClr>
                <a:srgbClr val="000000"/>
              </a:buClr>
              <a:buSzPct val="95000"/>
              <a:buFont typeface="Wingdings" charset="2"/>
              <a:buChar char=""/>
              <a:tabLst>
                <a:tab algn="l" pos="241920"/>
              </a:tabLst>
            </a:pP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Gray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6" strike="noStrike">
                <a:solidFill>
                  <a:srgbClr val="000000"/>
                </a:solidFill>
                <a:latin typeface="Calibri"/>
                <a:ea typeface="DejaVu Sans"/>
              </a:rPr>
              <a:t>box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tests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useful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1" lang="en-US" sz="2200" spc="2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simulating</a:t>
            </a:r>
            <a:r>
              <a:rPr b="1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behavior</a:t>
            </a:r>
            <a:r>
              <a:rPr b="1" lang="en-US" sz="22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1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unprivileged</a:t>
            </a:r>
            <a:r>
              <a:rPr b="1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1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7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PlaceHolder 2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06E3084-E2DB-41CB-9A87-01B0FA9B5F71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254560" cy="686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Bug</a:t>
            </a:r>
            <a:r>
              <a:rPr b="0" lang="en-US" sz="3600" spc="-15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Bounty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0" name="object 3"/>
          <p:cNvSpPr/>
          <p:nvPr/>
        </p:nvSpPr>
        <p:spPr>
          <a:xfrm>
            <a:off x="457200" y="1371600"/>
            <a:ext cx="11429280" cy="41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bug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bounty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 operated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vendor or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website operator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rewards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given</a:t>
            </a:r>
            <a:r>
              <a:rPr b="0" lang="en-US" sz="24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reporting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pen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test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contractual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costed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consultant,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bounty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way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crowd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sourcing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detection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bug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bounties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operated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internal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programs,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rewards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only.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35"/>
              </a:lnSpc>
              <a:spcBef>
                <a:spcPts val="67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Most</a:t>
            </a:r>
            <a:r>
              <a:rPr b="0" lang="en-US" sz="2400" spc="-2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 </a:t>
            </a:r>
            <a:r>
              <a:rPr b="0" lang="en-US" sz="2400" spc="-15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are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 </a:t>
            </a:r>
            <a:r>
              <a:rPr b="0" lang="en-US" sz="24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5"/>
              </a:rPr>
              <a:t>open </a:t>
            </a:r>
            <a:r>
              <a:rPr b="0" lang="en-US" sz="24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6"/>
              </a:rPr>
              <a:t>to</a:t>
            </a:r>
            <a:r>
              <a:rPr b="0" lang="en-US" sz="2400" spc="-2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7"/>
              </a:rPr>
              <a:t> </a:t>
            </a:r>
            <a:r>
              <a:rPr b="0" lang="en-US" sz="24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8"/>
              </a:rPr>
              <a:t>public</a:t>
            </a:r>
            <a:r>
              <a:rPr b="0" lang="en-US" sz="24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9"/>
              </a:rPr>
              <a:t> </a:t>
            </a:r>
            <a:r>
              <a:rPr b="0" lang="en-US" sz="2400" spc="-7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0"/>
              </a:rPr>
              <a:t>submissions </a:t>
            </a:r>
            <a:r>
              <a:rPr b="0" lang="en-US" sz="24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1"/>
              </a:rPr>
              <a:t>(</a:t>
            </a: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2"/>
              </a:rPr>
              <a:t>tripwire.com/state-of-security/security-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35"/>
              </a:lnSpc>
              <a:buNone/>
              <a:tabLst>
                <a:tab algn="l" pos="241920"/>
              </a:tabLst>
            </a:pPr>
            <a:r>
              <a:rPr b="0" lang="en-US" sz="2400" spc="-12" strike="noStrike" u="heavy">
                <a:solidFill>
                  <a:srgbClr val="0000ff"/>
                </a:solidFill>
                <a:uFill>
                  <a:solidFill>
                    <a:srgbClr val="0462c1"/>
                  </a:solidFill>
                </a:uFill>
                <a:latin typeface="Calibri"/>
                <a:ea typeface="DejaVu Sans"/>
                <a:hlinkClick r:id="rId13"/>
              </a:rPr>
              <a:t>data-protection/cyber-security/essential-bug-bounty-programs</a:t>
            </a:r>
            <a:r>
              <a:rPr b="0" lang="en-US" sz="2400" spc="-12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4"/>
              </a:rPr>
              <a:t>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1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PlaceHolder 2"/>
          <p:cNvSpPr>
            <a:spLocks noGrp="1"/>
          </p:cNvSpPr>
          <p:nvPr>
            <p:ph type="sldNum" idx="49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7D36DF1-3E2A-47F9-97A4-07EEB1133E8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896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EXERCISE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4" name="object 3"/>
          <p:cNvSpPr/>
          <p:nvPr/>
        </p:nvSpPr>
        <p:spPr>
          <a:xfrm>
            <a:off x="916920" y="1802520"/>
            <a:ext cx="10119600" cy="174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techniques used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penetration testing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employed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an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exercise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between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competing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teams: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15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21" strike="noStrike">
                <a:solidFill>
                  <a:srgbClr val="ba2709"/>
                </a:solidFill>
                <a:latin typeface="Calibri"/>
                <a:ea typeface="DejaVu Sans"/>
              </a:rPr>
              <a:t>Red</a:t>
            </a:r>
            <a:r>
              <a:rPr b="0" lang="en-US" sz="2200" spc="7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team—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offensive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try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infiltrate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target.</a:t>
            </a:r>
            <a:endParaRPr b="0" lang="en-US" sz="2200" spc="-1" strike="noStrike">
              <a:latin typeface="Arial"/>
            </a:endParaRPr>
          </a:p>
          <a:p>
            <a:pPr lvl="1" marL="698400" indent="-228600">
              <a:lnSpc>
                <a:spcPts val="2381"/>
              </a:lnSpc>
              <a:spcBef>
                <a:spcPts val="536"/>
              </a:spcBef>
              <a:buClr>
                <a:srgbClr val="ba2709"/>
              </a:buClr>
              <a:buSzPct val="95000"/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Blue</a:t>
            </a:r>
            <a:r>
              <a:rPr b="0" lang="en-US" sz="2200" spc="-1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ba2709"/>
                </a:solidFill>
                <a:latin typeface="Calibri"/>
                <a:ea typeface="DejaVu Sans"/>
              </a:rPr>
              <a:t>team—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performs</a:t>
            </a:r>
            <a:r>
              <a:rPr b="0" lang="en-US" sz="2200" spc="18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defensive</a:t>
            </a:r>
            <a:r>
              <a:rPr b="0" lang="en-US" sz="2200" spc="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role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200" spc="4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operating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monitoring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alerting </a:t>
            </a:r>
            <a:r>
              <a:rPr b="0" lang="en-US" sz="2200" spc="-48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controls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5" strike="noStrike">
                <a:solidFill>
                  <a:srgbClr val="000000"/>
                </a:solidFill>
                <a:latin typeface="Calibri"/>
                <a:ea typeface="DejaVu Sans"/>
              </a:rPr>
              <a:t>detect</a:t>
            </a:r>
            <a:r>
              <a:rPr b="0" lang="en-US" sz="22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200" spc="-21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infiltration.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5" name="object 4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PlaceHolder 2"/>
          <p:cNvSpPr>
            <a:spLocks noGrp="1"/>
          </p:cNvSpPr>
          <p:nvPr>
            <p:ph type="sldNum" idx="50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E4E08077-9CC8-40D8-9119-CBEE6DD6911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153680" cy="11570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EXERCISE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8" name="object 3"/>
          <p:cNvSpPr/>
          <p:nvPr/>
        </p:nvSpPr>
        <p:spPr>
          <a:xfrm>
            <a:off x="838080" y="6400800"/>
            <a:ext cx="10514520" cy="22752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9" name="object 4" descr=""/>
          <p:cNvPicPr/>
          <p:nvPr/>
        </p:nvPicPr>
        <p:blipFill>
          <a:blip r:embed="rId1"/>
          <a:stretch/>
        </p:blipFill>
        <p:spPr>
          <a:xfrm>
            <a:off x="3534120" y="1931040"/>
            <a:ext cx="5122440" cy="4229640"/>
          </a:xfrm>
          <a:prstGeom prst="rect">
            <a:avLst/>
          </a:prstGeom>
          <a:ln w="0">
            <a:noFill/>
          </a:ln>
        </p:spPr>
      </p:pic>
      <p:sp>
        <p:nvSpPr>
          <p:cNvPr id="270" name="PlaceHolder 2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4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EFA915C-1F3F-49F0-919E-507B04A410D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2023-09-02T16:54:37Z</dcterms:created>
  <dc:creator>Ahmed Sultan</dc:creator>
  <dc:description/>
  <dc:language>en-US</dc:language>
  <cp:lastModifiedBy/>
  <dcterms:modified xsi:type="dcterms:W3CDTF">2023-09-03T22:41:19Z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2021-08-10T00:00:00Z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