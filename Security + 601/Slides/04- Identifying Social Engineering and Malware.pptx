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media/image10.jpeg" ContentType="image/jpeg"/>
  <Override PartName="/ppt/media/image6.jpeg" ContentType="image/jpeg"/>
  <Override PartName="/ppt/media/image11.jpeg" ContentType="image/jpeg"/>
  <Override PartName="/ppt/media/image7.jpeg" ContentType="image/jpeg"/>
  <Override PartName="/ppt/media/image8.jpeg" ContentType="image/jpeg"/>
  <Override PartName="/ppt/media/image9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2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2C8572-7DC2-4459-972D-A856F74B05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C7D94A-B6EC-48ED-BB2A-B4DDA5B6AB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CBA7E3-60D8-4BCE-AF4A-C8BFC30A3C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EC9122-3A44-4123-9578-FA991B60D5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9E53B9-F559-436E-96C6-CB2F37BA84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500312-5C53-4611-A8A2-3A23ADDB5F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0D72CE-4452-439F-93D0-020DAC3745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9F91CF-23EA-44D3-8037-ED1192051C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D9B919-D730-4D73-B938-3E6CB66315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8791FA-B197-4938-816A-75376598DB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CE75CD-A66B-4E66-986B-2BDEF8D4D2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ADC6AF-8E68-4A83-8836-C6008F1D48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3516F9-336E-43D0-A0AB-05F8A1B175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017447-FF5D-4993-BA4A-93C825B7C3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1AB7D0-FDC1-4E12-8121-39246D2EA1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622E73-62B3-4974-BDC7-37EA492654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DD55F5-A771-48FC-8CEC-4B0D278815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2EB2FA-C0F5-43DF-8675-D269CADCDD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02F4BD-4F4B-49E6-84B4-F0112D515A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2F9184-81A1-4035-AE06-9B9CD5D38C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78396F-3169-4246-A1E9-A06BC125FF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C5B6DE-30F0-453E-A60C-A98AF85BCA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0D0A94-A8E7-4482-A102-F1BC5E8CDD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4E2A38-F6E6-45FF-9AF3-ACEFCF2EF6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C314188-14F0-4C99-8DC4-13180555B4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036F254-523A-4D87-AA3E-0ED5DFE70C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A50D28F-9AD0-4895-9163-565CF6AC46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A8FBE5-D1FB-4448-AC59-4317DF1DF2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42AA11-6A69-4B18-94D2-7AD9C4CE3F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129B16E-CD7C-4B9D-A024-50826DD668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A97AFD-4BAB-4D3F-AB9F-503F8E1689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7D7F9C-E236-4886-9896-61208E5008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08BEF6-F2B1-40AF-A9BA-E6DCAC980D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E75520C-4FEE-4653-8BFB-903E13CB98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016555-1BEE-4408-B5C9-E95F4085E4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E2C1746-A4A2-4C0E-8DB1-30B9F0F4620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96EF7D4-46AD-4730-B6E5-F3240366860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38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52A1402-34B8-4927-BFD7-C2700FC025E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D8BC11E-C141-4470-A3AD-EC8A634944F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https://cuckoosandbox.org/" TargetMode="External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bject 2"/>
          <p:cNvSpPr/>
          <p:nvPr/>
        </p:nvSpPr>
        <p:spPr>
          <a:xfrm>
            <a:off x="6172200" y="5724720"/>
            <a:ext cx="588204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124" name="object 3"/>
          <p:cNvGrpSpPr/>
          <p:nvPr/>
        </p:nvGrpSpPr>
        <p:grpSpPr>
          <a:xfrm>
            <a:off x="2468880" y="3080160"/>
            <a:ext cx="7300800" cy="848160"/>
            <a:chOff x="2468880" y="3080160"/>
            <a:chExt cx="7300800" cy="848160"/>
          </a:xfrm>
        </p:grpSpPr>
        <p:pic>
          <p:nvPicPr>
            <p:cNvPr id="125" name="object 4" descr=""/>
            <p:cNvPicPr/>
            <p:nvPr/>
          </p:nvPicPr>
          <p:blipFill>
            <a:blip r:embed="rId1"/>
            <a:stretch/>
          </p:blipFill>
          <p:spPr>
            <a:xfrm>
              <a:off x="2592360" y="3159000"/>
              <a:ext cx="705708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6" name="object 5" descr=""/>
            <p:cNvPicPr/>
            <p:nvPr/>
          </p:nvPicPr>
          <p:blipFill>
            <a:blip r:embed="rId2"/>
            <a:stretch/>
          </p:blipFill>
          <p:spPr>
            <a:xfrm>
              <a:off x="2468880" y="3080160"/>
              <a:ext cx="730080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608920" y="3166920"/>
            <a:ext cx="69735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9972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04-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Identifying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Social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Engineering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and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Malware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28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254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0" name="object 3"/>
          <p:cNvSpPr/>
          <p:nvPr/>
        </p:nvSpPr>
        <p:spPr>
          <a:xfrm>
            <a:off x="916920" y="1715040"/>
            <a:ext cx="9369720" cy="23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4.1-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Compare and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Contrast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Social Engineering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4.2-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Malware-Based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896"/>
              </a:spcBef>
              <a:buNone/>
            </a:pPr>
            <a:r>
              <a:rPr b="0" lang="en-US" sz="3200" spc="-12" strike="noStrike">
                <a:solidFill>
                  <a:srgbClr val="ba2709"/>
                </a:solidFill>
                <a:latin typeface="Calibri"/>
                <a:ea typeface="DejaVu Sans"/>
              </a:rPr>
              <a:t>Labs</a:t>
            </a:r>
            <a:endParaRPr b="0" lang="en-US" sz="3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Lab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5:</a:t>
            </a:r>
            <a:r>
              <a:rPr b="0" lang="en-US" sz="22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Installing,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Using,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Blocking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Malware-based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Backdoor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PlaceHolder 2"/>
          <p:cNvSpPr>
            <a:spLocks noGrp="1"/>
          </p:cNvSpPr>
          <p:nvPr>
            <p:ph type="sldNum" idx="1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B580C73-121B-4CCA-8E18-4F49C35960D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2"/>
          <p:cNvSpPr/>
          <p:nvPr/>
        </p:nvSpPr>
        <p:spPr>
          <a:xfrm>
            <a:off x="914400" y="1085040"/>
            <a:ext cx="576828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4.1-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Compare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Contrast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Social</a:t>
            </a:r>
            <a:r>
              <a:rPr b="1" lang="en-US" sz="24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Engineering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4" name="object 3"/>
          <p:cNvSpPr/>
          <p:nvPr/>
        </p:nvSpPr>
        <p:spPr>
          <a:xfrm>
            <a:off x="916920" y="2264400"/>
            <a:ext cx="914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4.2-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Malware-Based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3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PlaceHolder 1"/>
          <p:cNvSpPr>
            <a:spLocks noGrp="1"/>
          </p:cNvSpPr>
          <p:nvPr>
            <p:ph type="ftr" idx="1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dt" idx="1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1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B7471D2-ECB8-499C-BCE0-1D2B17527E0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40960" y="457200"/>
            <a:ext cx="7845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SOCIAL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ENGINEERING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0" name="object 3"/>
          <p:cNvSpPr/>
          <p:nvPr/>
        </p:nvSpPr>
        <p:spPr>
          <a:xfrm>
            <a:off x="457200" y="1689120"/>
            <a:ext cx="11429640" cy="34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ctr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Adversaries can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diverse range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techniques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2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prerequisite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obtain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2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Social engineering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refers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either eliciting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someone </a:t>
            </a:r>
            <a:r>
              <a:rPr b="0" lang="en-US" sz="22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getting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action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threat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actor.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Social</a:t>
            </a:r>
            <a:r>
              <a:rPr b="1" lang="en-US" sz="22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engineering</a:t>
            </a:r>
            <a:r>
              <a:rPr b="1" lang="en-US" sz="22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most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successful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techniques,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exploits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human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trust.</a:t>
            </a:r>
            <a:endParaRPr b="0" lang="en-US" sz="2200" spc="-1" strike="noStrike">
              <a:latin typeface="Arial"/>
            </a:endParaRPr>
          </a:p>
          <a:p>
            <a:pPr marL="241200" indent="-2419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"hacking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human".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PlaceHolder 2"/>
          <p:cNvSpPr>
            <a:spLocks noGrp="1"/>
          </p:cNvSpPr>
          <p:nvPr>
            <p:ph type="sldNum" idx="1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4EB4C8E-B0B1-4069-A083-4FDCF48891F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998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SOCIAL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ENGINEERING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4" name="object 3"/>
          <p:cNvSpPr/>
          <p:nvPr/>
        </p:nvSpPr>
        <p:spPr>
          <a:xfrm>
            <a:off x="228600" y="1371600"/>
            <a:ext cx="11024640" cy="44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social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engineering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scenarios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0"/>
              </a:spcBef>
              <a:buClr>
                <a:srgbClr val="c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creates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executable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prompts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their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password,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records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whatever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inputs,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emails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executable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story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double-click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again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clear up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problems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experiencing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morning,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complies,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now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credentials.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05"/>
              </a:spcBef>
              <a:buClr>
                <a:srgbClr val="c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contacts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help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desk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pretending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sales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representative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needs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assistance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series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calls,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obtains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name/address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login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credentials,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addition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numbers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organization's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voice-mail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PlaceHolder 2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B775D47-6A2C-47C8-A77E-3FC7B4E0178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712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IMPERSONATION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8" name="object 3"/>
          <p:cNvSpPr/>
          <p:nvPr/>
        </p:nvSpPr>
        <p:spPr>
          <a:xfrm>
            <a:off x="916920" y="1711080"/>
            <a:ext cx="10072800" cy="30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 algn="just">
              <a:lnSpc>
                <a:spcPct val="100000"/>
              </a:lnSpc>
              <a:spcBef>
                <a:spcPts val="81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Impersonation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pretending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someone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else.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social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engineering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techniques.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Impersonation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possible where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verify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attacker's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easily,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via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381"/>
              </a:lnSpc>
              <a:spcBef>
                <a:spcPts val="10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classic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impersonation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social engineer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phone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into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department,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claim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have to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adjust something on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 user's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remotely,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get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reveal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4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PlaceHolder 2"/>
          <p:cNvSpPr>
            <a:spLocks noGrp="1"/>
          </p:cNvSpPr>
          <p:nvPr>
            <p:ph type="sldNum" idx="1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E3D7C5A-7166-490B-8956-56788F3E684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1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DUMPSTER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DIVING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TAILGATING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2" name="object 3"/>
          <p:cNvSpPr/>
          <p:nvPr/>
        </p:nvSpPr>
        <p:spPr>
          <a:xfrm>
            <a:off x="916920" y="1758960"/>
            <a:ext cx="10110960" cy="34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Dumpster</a:t>
            </a:r>
            <a:r>
              <a:rPr b="1" lang="en-US" sz="2400" spc="-4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Diving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Dumpster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diving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combing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organization's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individual's)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garbage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try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find useful documents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even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discarded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removable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media).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11"/>
              </a:spcBef>
              <a:buNone/>
              <a:tabLst>
                <a:tab algn="l" pos="699120"/>
              </a:tabLst>
            </a:pPr>
            <a:endParaRPr b="0" lang="en-US" sz="1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Tailgating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Tailgating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entering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authorization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close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behind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open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 checkpoint.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PlaceHolder 2"/>
          <p:cNvSpPr>
            <a:spLocks noGrp="1"/>
          </p:cNvSpPr>
          <p:nvPr>
            <p:ph type="sldNum" idx="1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616F9DB-417A-4A0C-A0B2-9AAD539906D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5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FRAUD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6" name="object 3"/>
          <p:cNvSpPr/>
          <p:nvPr/>
        </p:nvSpPr>
        <p:spPr>
          <a:xfrm>
            <a:off x="916920" y="1767600"/>
            <a:ext cx="10297800" cy="40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Identity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fraud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impersonation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details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someone's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identity.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consumer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fraud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someone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else's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address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make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loan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stolen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credit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details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start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mobile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contract.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156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Note: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Identity</a:t>
            </a:r>
            <a:r>
              <a:rPr b="1" lang="en-US" sz="2200" spc="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Fraud:</a:t>
            </a:r>
            <a:r>
              <a:rPr b="1" lang="en-US" sz="2200" spc="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identity.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1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Identity</a:t>
            </a:r>
            <a:r>
              <a:rPr b="1" lang="en-US" sz="2200" spc="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Theft:</a:t>
            </a:r>
            <a:r>
              <a:rPr b="1" lang="en-US" sz="2200" spc="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stealing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someone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else's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identity.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5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PlaceHolder 2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40484D6-CD0D-4FAD-802E-46D367659A5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28600" y="684720"/>
            <a:ext cx="114296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SHOULDER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SURFING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LAUNCHTIME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ATTACKS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0" name="object 3"/>
          <p:cNvSpPr/>
          <p:nvPr/>
        </p:nvSpPr>
        <p:spPr>
          <a:xfrm>
            <a:off x="457200" y="1371600"/>
            <a:ext cx="11201040" cy="46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869"/>
              </a:lnSpc>
              <a:spcBef>
                <a:spcPts val="9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Shoulder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Surfing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370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learn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PIN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information)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watching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361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109"/>
              </a:lnSpc>
              <a:spcBef>
                <a:spcPts val="49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Despite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name,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close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proximity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target—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high-powered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binoculars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CCTV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directly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observe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remotely.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699120"/>
              </a:tabLst>
            </a:pPr>
            <a:endParaRPr b="0" lang="en-US" sz="2650" spc="-1" strike="noStrike">
              <a:latin typeface="Arial"/>
            </a:endParaRPr>
          </a:p>
          <a:p>
            <a:pPr marL="241200" indent="-229320" algn="just">
              <a:lnSpc>
                <a:spcPts val="2874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Lunchtime</a:t>
            </a:r>
            <a:r>
              <a:rPr b="1" lang="en-US" sz="24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attacks</a:t>
            </a:r>
            <a:endParaRPr b="0" lang="en-US" sz="2400" spc="-1" strike="noStrike">
              <a:latin typeface="Arial"/>
            </a:endParaRPr>
          </a:p>
          <a:p>
            <a:pPr lvl="1" marL="698400" indent="-228600" algn="just">
              <a:lnSpc>
                <a:spcPct val="80000"/>
              </a:lnSpc>
              <a:spcBef>
                <a:spcPts val="519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If 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leaves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workstation unattended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while logged on, an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can physically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gain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200" spc="-1" strike="noStrike">
              <a:latin typeface="Arial"/>
            </a:endParaRPr>
          </a:p>
          <a:p>
            <a:pPr lvl="1" marL="698400" indent="-228600" algn="just">
              <a:lnSpc>
                <a:spcPts val="2109"/>
              </a:lnSpc>
              <a:spcBef>
                <a:spcPts val="49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 set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 activate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password-protected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screen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saver after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defined period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no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keyboard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 mouse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activity,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Users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should also be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trained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lock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 log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off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workstation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whenever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leave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unattended.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2"/>
          <p:cNvSpPr>
            <a:spLocks noGrp="1"/>
          </p:cNvSpPr>
          <p:nvPr>
            <p:ph type="sldNum" idx="1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5451FFE-F499-4C06-A7DC-65E34DF4EE3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object 3"/>
          <p:cNvSpPr/>
          <p:nvPr/>
        </p:nvSpPr>
        <p:spPr>
          <a:xfrm>
            <a:off x="457200" y="1143000"/>
            <a:ext cx="11429640" cy="51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869"/>
              </a:lnSpc>
              <a:spcBef>
                <a:spcPts val="9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Phishing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616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combination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social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engineering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spoofing.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361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persuades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tricks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interacting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resource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disguised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364"/>
              </a:lnSpc>
              <a:buNone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one,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traditionally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vector.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109"/>
              </a:lnSpc>
              <a:spcBef>
                <a:spcPts val="499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phishing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message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convince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action,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installing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disguised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allowing 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attacker.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370"/>
              </a:lnSpc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phishing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campaign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spoof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website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imitate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bank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361"/>
              </a:lnSpc>
              <a:buNone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e-commerce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site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 other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should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target.</a:t>
            </a:r>
            <a:endParaRPr b="0" lang="en-US" sz="2200" spc="-1" strike="noStrike">
              <a:latin typeface="Arial"/>
            </a:endParaRPr>
          </a:p>
          <a:p>
            <a:pPr marL="698400" indent="-228600">
              <a:lnSpc>
                <a:spcPts val="2109"/>
              </a:lnSpc>
              <a:spcBef>
                <a:spcPts val="49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emails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genuine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website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their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updated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hoax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alert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alarm,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supplying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disguised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link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actually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leads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site.</a:t>
            </a:r>
            <a:endParaRPr b="0" lang="en-US" sz="2200" spc="-1" strike="noStrike">
              <a:latin typeface="Arial"/>
            </a:endParaRPr>
          </a:p>
          <a:p>
            <a:pPr marL="698400" indent="-228600">
              <a:lnSpc>
                <a:spcPts val="2109"/>
              </a:lnSpc>
              <a:spcBef>
                <a:spcPts val="51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authenticates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spoofed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site,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logon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captured.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PlaceHolder 1"/>
          <p:cNvSpPr>
            <a:spLocks noGrp="1"/>
          </p:cNvSpPr>
          <p:nvPr>
            <p:ph type="sldNum" idx="2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A69E46C-0FF6-4154-894E-B0A9A885684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1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PHISHING</a:t>
            </a:r>
            <a:r>
              <a:rPr b="0" lang="en-US" sz="3600" spc="-16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8" name="object 4" descr=""/>
          <p:cNvPicPr/>
          <p:nvPr/>
        </p:nvPicPr>
        <p:blipFill>
          <a:blip r:embed="rId1"/>
          <a:stretch/>
        </p:blipFill>
        <p:spPr>
          <a:xfrm>
            <a:off x="2499480" y="2101680"/>
            <a:ext cx="7192440" cy="388692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37E23CA-90DF-4ADA-B7FD-93AC0DA0A6B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797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SPEAR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PHISHING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1" name="object 3"/>
          <p:cNvSpPr/>
          <p:nvPr/>
        </p:nvSpPr>
        <p:spPr>
          <a:xfrm>
            <a:off x="916920" y="1767600"/>
            <a:ext cx="10334520" cy="33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Spear</a:t>
            </a:r>
            <a:r>
              <a:rPr b="1" lang="en-US" sz="2400" spc="-4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phishing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phishing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makes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individual</a:t>
            </a:r>
            <a:endParaRPr b="0" lang="en-US" sz="2200" spc="-1" strike="noStrike">
              <a:latin typeface="Arial"/>
            </a:endParaRPr>
          </a:p>
          <a:p>
            <a:pPr marL="698400">
              <a:lnSpc>
                <a:spcPts val="2509"/>
              </a:lnSpc>
              <a:buNone/>
              <a:tabLst>
                <a:tab algn="l" pos="699120"/>
              </a:tabLst>
            </a:pP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fooled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phishing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message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tailored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specific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52" strike="noStrike">
                <a:solidFill>
                  <a:srgbClr val="000000"/>
                </a:solidFill>
                <a:latin typeface="Calibri"/>
                <a:ea typeface="DejaVu Sans"/>
              </a:rPr>
              <a:t>user.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know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document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editing,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instance,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copy,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phishing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show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knows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recipient's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full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name,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job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title,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telephone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number,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details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help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convince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communication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genuine.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7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PlaceHolder 2"/>
          <p:cNvSpPr>
            <a:spLocks noGrp="1"/>
          </p:cNvSpPr>
          <p:nvPr>
            <p:ph type="sldNum" idx="2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5C4016C-E4DB-4434-9290-2C563BDC8A9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63979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WHALING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VISHING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457200" y="1143000"/>
            <a:ext cx="10550160" cy="48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968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91"/>
              </a:spcBef>
              <a:buClr>
                <a:srgbClr val="ba2709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1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Whaling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spear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phishing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directed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specifically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upper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levels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(CEOs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other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"big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fish").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Upper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management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ordinary phishing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their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reluctance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learn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  <a:buNone/>
              <a:tabLst>
                <a:tab algn="l" pos="699120"/>
              </a:tabLst>
            </a:pPr>
            <a:endParaRPr b="0" lang="en-US" sz="27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"/>
              </a:spcBef>
              <a:buClr>
                <a:srgbClr val="ba2709"/>
              </a:buClr>
              <a:buFont typeface="Arial MT"/>
              <a:buChar char="•"/>
              <a:tabLst>
                <a:tab algn="l" pos="241200"/>
                <a:tab algn="l" pos="241920"/>
              </a:tabLst>
            </a:pPr>
            <a:r>
              <a:rPr b="1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Vishing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phishing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conducted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voice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channel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(telephone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72" strike="noStrike">
                <a:solidFill>
                  <a:srgbClr val="000000"/>
                </a:solidFill>
                <a:latin typeface="Calibri"/>
                <a:ea typeface="DejaVu Sans"/>
              </a:rPr>
              <a:t>VoIP,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targets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someone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purporting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bank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asking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verify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transaction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requesting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details.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much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someone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refuse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made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call compared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made in 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PlaceHolder 2"/>
          <p:cNvSpPr>
            <a:spLocks noGrp="1"/>
          </p:cNvSpPr>
          <p:nvPr>
            <p:ph type="sldNum" idx="2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1A75E60-A99C-4D58-8353-97F5EFB186F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10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X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9" name="object 3"/>
          <p:cNvSpPr/>
          <p:nvPr/>
        </p:nvSpPr>
        <p:spPr>
          <a:xfrm>
            <a:off x="916920" y="1758960"/>
            <a:ext cx="9982800" cy="38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Spam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actors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harvest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marketing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databases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historic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privacy breaches,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might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every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company.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11"/>
              </a:spcBef>
              <a:buNone/>
              <a:tabLst>
                <a:tab algn="l" pos="699120"/>
              </a:tabLst>
            </a:pPr>
            <a:endParaRPr b="0" lang="en-US" sz="1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Hoaxes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alert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web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pop-up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claim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virus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infection,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offer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fix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problem.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ofcourse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Trojan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PlaceHolder 2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50C2F3F-CD3B-4EF6-A780-00CB304E5DB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9984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42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412920" y="1371600"/>
            <a:ext cx="11017080" cy="30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perpetrated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computer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Malware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something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bad,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perspective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owner.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classifications,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Trojan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virus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worm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focus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malware.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method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potentially spreads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PlaceHolder 2"/>
          <p:cNvSpPr>
            <a:spLocks noGrp="1"/>
          </p:cNvSpPr>
          <p:nvPr>
            <p:ph type="sldNum" idx="2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F7DD444-DB17-4C24-88E9-6CC3EB72908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42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916920" y="1767600"/>
            <a:ext cx="10025280" cy="20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Viruses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1" lang="en-US" sz="24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worms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represent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types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spread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authorization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concealed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within the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executable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primarily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replicate,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drop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payload.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9" name="object 5" descr=""/>
          <p:cNvPicPr/>
          <p:nvPr/>
        </p:nvPicPr>
        <p:blipFill>
          <a:blip r:embed="rId1"/>
          <a:stretch/>
        </p:blipFill>
        <p:spPr>
          <a:xfrm>
            <a:off x="5178600" y="4624200"/>
            <a:ext cx="1770840" cy="1268280"/>
          </a:xfrm>
          <a:prstGeom prst="rect">
            <a:avLst/>
          </a:prstGeom>
          <a:ln w="0">
            <a:noFill/>
          </a:ln>
        </p:spPr>
      </p:pic>
      <p:sp>
        <p:nvSpPr>
          <p:cNvPr id="190" name="PlaceHolder 2"/>
          <p:cNvSpPr>
            <a:spLocks noGrp="1"/>
          </p:cNvSpPr>
          <p:nvPr>
            <p:ph type="sldNum" idx="2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181F6B7-F627-403D-83AD-D7C9BE070CE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8455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42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2" name="object 3"/>
          <p:cNvSpPr/>
          <p:nvPr/>
        </p:nvSpPr>
        <p:spPr>
          <a:xfrm>
            <a:off x="916920" y="2055600"/>
            <a:ext cx="9582840" cy="17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26" strike="noStrike">
                <a:solidFill>
                  <a:srgbClr val="ba2709"/>
                </a:solidFill>
                <a:latin typeface="Calibri"/>
                <a:ea typeface="DejaVu Sans"/>
              </a:rPr>
              <a:t>Trojan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concealed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package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appears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 legitimate.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4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seek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consent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installation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actively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designed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secretly.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4" name="object 5" descr=""/>
          <p:cNvPicPr/>
          <p:nvPr/>
        </p:nvPicPr>
        <p:blipFill>
          <a:blip r:embed="rId1"/>
          <a:stretch/>
        </p:blipFill>
        <p:spPr>
          <a:xfrm>
            <a:off x="5088600" y="4551120"/>
            <a:ext cx="1983240" cy="1488240"/>
          </a:xfrm>
          <a:prstGeom prst="rect">
            <a:avLst/>
          </a:prstGeom>
          <a:ln w="0">
            <a:noFill/>
          </a:ln>
        </p:spPr>
      </p:pic>
      <p:sp>
        <p:nvSpPr>
          <p:cNvPr id="195" name="PlaceHolder 2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6634426-FD9E-41BA-9B6C-7D7C6E64FDE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519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42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772920" y="1839600"/>
            <a:ext cx="10262880" cy="31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Potentially 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unwanted</a:t>
            </a:r>
            <a:r>
              <a:rPr b="1" lang="en-US" sz="2400" spc="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programs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(PUPs)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509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alongside 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package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selected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perhaps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bundled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 a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new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Unlike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Trojan,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PUP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automatically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regarded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active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consent</a:t>
            </a:r>
            <a:r>
              <a:rPr b="0" lang="en-US" sz="22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consent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purposefully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confusing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license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agreement.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19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sometimes</a:t>
            </a:r>
            <a:r>
              <a:rPr b="0" lang="en-US" sz="22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described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grayware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than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9" name="object 5" descr=""/>
          <p:cNvPicPr/>
          <p:nvPr/>
        </p:nvPicPr>
        <p:blipFill>
          <a:blip r:embed="rId1"/>
          <a:stretch/>
        </p:blipFill>
        <p:spPr>
          <a:xfrm>
            <a:off x="9052560" y="4893840"/>
            <a:ext cx="1806840" cy="1405080"/>
          </a:xfrm>
          <a:prstGeom prst="rect">
            <a:avLst/>
          </a:prstGeom>
          <a:ln w="0">
            <a:noFill/>
          </a:ln>
        </p:spPr>
      </p:pic>
      <p:sp>
        <p:nvSpPr>
          <p:cNvPr id="200" name="PlaceHolder 2"/>
          <p:cNvSpPr>
            <a:spLocks noGrp="1"/>
          </p:cNvSpPr>
          <p:nvPr>
            <p:ph type="sldNum" idx="2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323F4ED-38D2-4051-9892-4128DD33D28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32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COMPUTER</a:t>
            </a:r>
            <a:r>
              <a:rPr b="0" lang="en-US" sz="3600" spc="-17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VIRUSES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2" name="object 3"/>
          <p:cNvSpPr/>
          <p:nvPr/>
        </p:nvSpPr>
        <p:spPr>
          <a:xfrm>
            <a:off x="457200" y="1371600"/>
            <a:ext cx="10779480" cy="46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virus is a 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replicate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spread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computer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computer,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"infecting"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executable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 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viruses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they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classified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file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infect: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241920"/>
              </a:tabLst>
            </a:pPr>
            <a:endParaRPr b="0" lang="en-US" sz="33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Non-resident/file</a:t>
            </a:r>
            <a:r>
              <a:rPr b="0" lang="en-US" sz="20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infector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within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executable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virus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infect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images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persistent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payload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actions,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back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400" spc="-1" strike="noStrike">
              <a:latin typeface="Arial"/>
            </a:endParaRPr>
          </a:p>
          <a:p>
            <a:pPr lvl="1" marL="698400" indent="-241920">
              <a:lnSpc>
                <a:spcPts val="2279"/>
              </a:lnSpc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Memory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resident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—when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executed,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process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itself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memory,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remains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memory,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terminated.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PlaceHolder 2"/>
          <p:cNvSpPr>
            <a:spLocks noGrp="1"/>
          </p:cNvSpPr>
          <p:nvPr>
            <p:ph type="sldNum" idx="2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FCF1EB1-86BC-4734-AD1F-3331B94B541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013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COMPUTER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VIRUSES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6" name="object 3"/>
          <p:cNvSpPr/>
          <p:nvPr/>
        </p:nvSpPr>
        <p:spPr>
          <a:xfrm>
            <a:off x="914400" y="1828800"/>
            <a:ext cx="10263600" cy="41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viruses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they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classified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file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infect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Boot—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virus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sector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partition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fixed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USB media,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executes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memory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resident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starts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media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attached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computer.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buNone/>
              <a:tabLst>
                <a:tab algn="l" pos="699120"/>
              </a:tabLst>
            </a:pPr>
            <a:endParaRPr b="0" lang="en-US" sz="255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Script</a:t>
            </a:r>
            <a:r>
              <a:rPr b="0" lang="en-US" sz="2000" spc="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macro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viruses—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programming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scripting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engines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and/or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browser,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PowerShell,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Instrumentation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(WMI),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JavaScript,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Microsoft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Office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Visual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(VBA) code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enabled,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PDF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JavaScript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enabled.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PlaceHolder 2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A9B9E64-E95A-4EDC-888B-668CCC9D102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COMPUTER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VIRUSES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0" name="object 3"/>
          <p:cNvSpPr/>
          <p:nvPr/>
        </p:nvSpPr>
        <p:spPr>
          <a:xfrm>
            <a:off x="916920" y="1802520"/>
            <a:ext cx="10311120" cy="182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types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viruses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infect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infected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distributed through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normal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means—on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disk,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attachment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email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social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post,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download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PlaceHolder 2"/>
          <p:cNvSpPr>
            <a:spLocks noGrp="1"/>
          </p:cNvSpPr>
          <p:nvPr>
            <p:ph type="sldNum" idx="3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B3EB0BB-71A2-4552-9A4F-F657BDA3773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COMPUTER</a:t>
            </a:r>
            <a:r>
              <a:rPr b="0" lang="en-US" sz="3600" spc="-16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WORMS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4" name="object 3"/>
          <p:cNvSpPr/>
          <p:nvPr/>
        </p:nvSpPr>
        <p:spPr>
          <a:xfrm>
            <a:off x="916920" y="1802520"/>
            <a:ext cx="10215000" cy="32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worm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memory-resident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that 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without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intervention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replicate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90000"/>
              </a:lnSpc>
              <a:spcBef>
                <a:spcPts val="96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 virus is </a:t>
            </a:r>
            <a:r>
              <a:rPr b="0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executed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only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when the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performs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 action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downloading </a:t>
            </a:r>
            <a:r>
              <a:rPr b="0" lang="en-US" sz="2400" spc="-53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 running an </a:t>
            </a:r>
            <a:r>
              <a:rPr b="0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infected executable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process, attaching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 </a:t>
            </a:r>
            <a:r>
              <a:rPr b="0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infected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USB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stick, or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opening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infected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ba2709"/>
                </a:solidFill>
                <a:latin typeface="Calibri"/>
                <a:ea typeface="DejaVu Sans"/>
              </a:rPr>
              <a:t>Word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 document</a:t>
            </a:r>
            <a:r>
              <a:rPr b="0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with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macros</a:t>
            </a:r>
            <a:r>
              <a:rPr b="0" lang="en-US" sz="24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enabled.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By contrast,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worm can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execute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exploiting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browses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runs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vulnerable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infected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share.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PlaceHolder 2"/>
          <p:cNvSpPr>
            <a:spLocks noGrp="1"/>
          </p:cNvSpPr>
          <p:nvPr>
            <p:ph type="sldNum" idx="3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6A4C2BE-8B7B-4E15-B516-1A06EA2733A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016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COMPUTER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WORMS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8" name="object 3"/>
          <p:cNvSpPr/>
          <p:nvPr/>
        </p:nvSpPr>
        <p:spPr>
          <a:xfrm>
            <a:off x="916920" y="1802520"/>
            <a:ext cx="9698400" cy="263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primary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effect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computer worm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rapidly consume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bandwidth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replicates.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crash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operating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(performing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Denial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1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Also,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like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viruses,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worms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carry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payload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PlaceHolder 2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9618741-E31D-44B9-8866-EF1A7A316E0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4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SPYWARE,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KEYLOGGERS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ADWARE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2" name="object 3"/>
          <p:cNvSpPr/>
          <p:nvPr/>
        </p:nvSpPr>
        <p:spPr>
          <a:xfrm>
            <a:off x="516600" y="1587600"/>
            <a:ext cx="11429640" cy="356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1800" spc="-12" strike="noStrike">
                <a:solidFill>
                  <a:srgbClr val="ba2709"/>
                </a:solidFill>
                <a:latin typeface="Calibri"/>
                <a:ea typeface="DejaVu Sans"/>
              </a:rPr>
              <a:t>Spyware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adware-like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tracking,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but also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monitor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screenshots,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activate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recording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devices,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microphone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webcam.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51"/>
              </a:spcBef>
              <a:buNone/>
              <a:tabLst>
                <a:tab algn="l" pos="699120"/>
              </a:tabLst>
            </a:pPr>
            <a:endParaRPr b="0" lang="en-US" sz="18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1800" spc="-12" strike="noStrike">
                <a:solidFill>
                  <a:srgbClr val="ba2709"/>
                </a:solidFill>
                <a:latin typeface="Calibri"/>
                <a:ea typeface="DejaVu Sans"/>
              </a:rPr>
              <a:t>Keylogger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spyware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actively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steal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confidential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recording</a:t>
            </a:r>
            <a:r>
              <a:rPr b="0" lang="en-US" sz="18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keystrokes.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hope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credit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card data.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None/>
              <a:tabLst>
                <a:tab algn="l" pos="699120"/>
              </a:tabLst>
            </a:pPr>
            <a:endParaRPr b="0" lang="en-US" sz="18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1800" spc="-12" strike="noStrike">
                <a:solidFill>
                  <a:srgbClr val="ba2709"/>
                </a:solidFill>
                <a:latin typeface="Calibri"/>
                <a:ea typeface="DejaVu Sans"/>
              </a:rPr>
              <a:t>Adware</a:t>
            </a:r>
            <a:endParaRPr b="0" lang="en-US" sz="18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class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PUP/grayware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performs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reconfigurations,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allowing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changing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search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providers,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opening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sponsor's pages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startup,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adding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bookmarks, </a:t>
            </a:r>
            <a:r>
              <a:rPr b="0" lang="en-US" sz="18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on,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Adware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extension/plug-in.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PlaceHolder 2"/>
          <p:cNvSpPr>
            <a:spLocks noGrp="1"/>
          </p:cNvSpPr>
          <p:nvPr>
            <p:ph type="sldNum" idx="3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BCCDCDC-A5E3-4E35-B599-D3DFCCC653D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132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SPYWARE,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KEYLOGGERS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ADWARE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6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7" name="object 4" descr=""/>
          <p:cNvPicPr/>
          <p:nvPr/>
        </p:nvPicPr>
        <p:blipFill>
          <a:blip r:embed="rId1"/>
          <a:stretch/>
        </p:blipFill>
        <p:spPr>
          <a:xfrm>
            <a:off x="2895480" y="1690200"/>
            <a:ext cx="6400080" cy="4496760"/>
          </a:xfrm>
          <a:prstGeom prst="rect">
            <a:avLst/>
          </a:prstGeom>
          <a:ln w="0">
            <a:noFill/>
          </a:ln>
        </p:spPr>
      </p:pic>
      <p:sp>
        <p:nvSpPr>
          <p:cNvPr id="228" name="PlaceHolder 2"/>
          <p:cNvSpPr>
            <a:spLocks noGrp="1"/>
          </p:cNvSpPr>
          <p:nvPr>
            <p:ph type="sldNum" idx="3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0ECEEED-F2F1-4848-941A-6564C3B73A5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85800" y="671040"/>
            <a:ext cx="10972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200" spc="-46" strike="noStrike">
                <a:solidFill>
                  <a:srgbClr val="c00000"/>
                </a:solidFill>
                <a:latin typeface="Calibri Light"/>
              </a:rPr>
              <a:t>BACKDOORS</a:t>
            </a:r>
            <a:r>
              <a:rPr b="0" lang="en-US" sz="3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2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32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52" strike="noStrike">
                <a:solidFill>
                  <a:srgbClr val="c00000"/>
                </a:solidFill>
                <a:latin typeface="Calibri Light"/>
              </a:rPr>
              <a:t>TROJANS</a:t>
            </a:r>
            <a:r>
              <a:rPr b="0" lang="en-US" sz="3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75" strike="noStrike">
                <a:solidFill>
                  <a:srgbClr val="c00000"/>
                </a:solidFill>
                <a:latin typeface="Calibri Light"/>
              </a:rPr>
              <a:t>(RAT)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0" name="object 3"/>
          <p:cNvSpPr/>
          <p:nvPr/>
        </p:nvSpPr>
        <p:spPr>
          <a:xfrm>
            <a:off x="916920" y="1758960"/>
            <a:ext cx="10317960" cy="31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Backdoor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circumvents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usual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gives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administrative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11"/>
              </a:spcBef>
              <a:buNone/>
              <a:tabLst>
                <a:tab algn="l" pos="699120"/>
              </a:tabLst>
            </a:pPr>
            <a:endParaRPr b="0" lang="en-US" sz="1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c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A</a:t>
            </a:r>
            <a:r>
              <a:rPr b="1" lang="en-US" sz="24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c00000"/>
                </a:solidFill>
                <a:latin typeface="Calibri"/>
                <a:ea typeface="DejaVu Sans"/>
              </a:rPr>
              <a:t>remote</a:t>
            </a:r>
            <a:r>
              <a:rPr b="1" lang="en-US" sz="2400" spc="-4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c00000"/>
                </a:solidFill>
                <a:latin typeface="Calibri"/>
                <a:ea typeface="DejaVu Sans"/>
              </a:rPr>
              <a:t>access</a:t>
            </a:r>
            <a:r>
              <a:rPr b="1" lang="en-US" sz="2400" spc="-2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c00000"/>
                </a:solidFill>
                <a:latin typeface="Calibri"/>
                <a:ea typeface="DejaVu Sans"/>
              </a:rPr>
              <a:t>trojan</a:t>
            </a:r>
            <a:r>
              <a:rPr b="1" lang="en-US" sz="24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1" lang="en-US" sz="2400" spc="-46" strike="noStrike">
                <a:solidFill>
                  <a:srgbClr val="c00000"/>
                </a:solidFill>
                <a:latin typeface="Calibri"/>
                <a:ea typeface="DejaVu Sans"/>
              </a:rPr>
              <a:t>(RAT)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backdoor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mimics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functionality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legitimate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programs,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covertly.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RAT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installed,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allows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upload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PlaceHolder 2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F3E391E-6F4C-49D9-954C-D58435E7728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410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BACKDOORS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28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52" strike="noStrike">
                <a:solidFill>
                  <a:srgbClr val="c00000"/>
                </a:solidFill>
                <a:latin typeface="Calibri Light"/>
              </a:rPr>
              <a:t>TROJANS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75" strike="noStrike">
                <a:solidFill>
                  <a:srgbClr val="c00000"/>
                </a:solidFill>
                <a:latin typeface="Calibri Light"/>
              </a:rPr>
              <a:t>(RAT)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4" name="object 3"/>
          <p:cNvSpPr/>
          <p:nvPr/>
        </p:nvSpPr>
        <p:spPr>
          <a:xfrm>
            <a:off x="916920" y="1711080"/>
            <a:ext cx="10061640" cy="35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 bot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script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group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bots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under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instance can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manipulated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botnet.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botnet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purpose,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triggering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distributed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denial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(DDoS)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launching spam campaigns,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cryptomining.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PlaceHolder 2"/>
          <p:cNvSpPr>
            <a:spLocks noGrp="1"/>
          </p:cNvSpPr>
          <p:nvPr>
            <p:ph type="sldNum" idx="3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C6895D7-571B-4BA6-BF8A-D11BAF3E25C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684720"/>
            <a:ext cx="10800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BACKDOORS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28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52" strike="noStrike">
                <a:solidFill>
                  <a:srgbClr val="c00000"/>
                </a:solidFill>
                <a:latin typeface="Calibri Light"/>
              </a:rPr>
              <a:t>TROJANS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75" strike="noStrike">
                <a:solidFill>
                  <a:srgbClr val="c00000"/>
                </a:solidFill>
                <a:latin typeface="Calibri Light"/>
              </a:rPr>
              <a:t>(RAT)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8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39" name="object 4" descr=""/>
          <p:cNvPicPr/>
          <p:nvPr/>
        </p:nvPicPr>
        <p:blipFill>
          <a:blip r:embed="rId1"/>
          <a:stretch/>
        </p:blipFill>
        <p:spPr>
          <a:xfrm>
            <a:off x="3609000" y="1853280"/>
            <a:ext cx="4973760" cy="4383720"/>
          </a:xfrm>
          <a:prstGeom prst="rect">
            <a:avLst/>
          </a:prstGeom>
          <a:ln w="0">
            <a:noFill/>
          </a:ln>
        </p:spPr>
      </p:pic>
      <p:sp>
        <p:nvSpPr>
          <p:cNvPr id="240" name="PlaceHolder 2"/>
          <p:cNvSpPr>
            <a:spLocks noGrp="1"/>
          </p:cNvSpPr>
          <p:nvPr>
            <p:ph type="sldNum" idx="3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94948D7-04B5-45FD-AF4E-1F4D27495BF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410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BACKDOORS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REMOTE</a:t>
            </a:r>
            <a:r>
              <a:rPr b="0" lang="en-US" sz="28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52" strike="noStrike">
                <a:solidFill>
                  <a:srgbClr val="c00000"/>
                </a:solidFill>
                <a:latin typeface="Calibri Light"/>
              </a:rPr>
              <a:t>TROJANS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75" strike="noStrike">
                <a:solidFill>
                  <a:srgbClr val="c00000"/>
                </a:solidFill>
                <a:latin typeface="Calibri Light"/>
              </a:rPr>
              <a:t>(RAT)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42" name="object 3"/>
          <p:cNvSpPr/>
          <p:nvPr/>
        </p:nvSpPr>
        <p:spPr>
          <a:xfrm>
            <a:off x="916920" y="1802520"/>
            <a:ext cx="10323000" cy="38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NOTE: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buNone/>
              <a:tabLst>
                <a:tab algn="l" pos="241920"/>
              </a:tabLst>
            </a:pPr>
            <a:endParaRPr b="0" lang="en-US" sz="315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Backdoors</a:t>
            </a:r>
            <a:r>
              <a:rPr b="0" i="1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ways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infection</a:t>
            </a:r>
            <a:r>
              <a:rPr b="0" i="1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malware.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Programmers may create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backdoors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software applications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testing and development </a:t>
            </a:r>
            <a:r>
              <a:rPr b="0" i="1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i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subsequently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removed</a:t>
            </a:r>
            <a:r>
              <a:rPr b="0" i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i="1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deployed.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6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Backdoors</a:t>
            </a:r>
            <a:r>
              <a:rPr b="0" i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created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i="1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misconfiguration of</a:t>
            </a:r>
            <a:r>
              <a:rPr b="0" i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i="1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i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allows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i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i="1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i="1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"/>
              <a:tabLst>
                <a:tab algn="l" pos="699120"/>
              </a:tabLst>
            </a:pPr>
            <a:r>
              <a:rPr b="1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Examples: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 leaving a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router configured with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default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administrative password,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having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Desktop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connection configured with an unsecure password, or leaving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i="1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modem</a:t>
            </a:r>
            <a:r>
              <a:rPr b="0" i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open</a:t>
            </a:r>
            <a:r>
              <a:rPr b="0" i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receive dial-up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connections.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PlaceHolder 2"/>
          <p:cNvSpPr>
            <a:spLocks noGrp="1"/>
          </p:cNvSpPr>
          <p:nvPr>
            <p:ph type="ftr" idx="3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4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sldNum" idx="4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AE85DC6-C840-42F2-A24B-52ACBF705F0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85800" y="469080"/>
            <a:ext cx="3426120" cy="6739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KI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8" name="object 3"/>
          <p:cNvSpPr/>
          <p:nvPr/>
        </p:nvSpPr>
        <p:spPr>
          <a:xfrm>
            <a:off x="685800" y="1371600"/>
            <a:ext cx="10371240" cy="42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can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manually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administrator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enough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package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enter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credentials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accept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User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(UAC)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prompt.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tries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abuse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administrator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higher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level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(SYSTEM).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Consequently,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Trojans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regular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conceal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presence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entirely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show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running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PlaceHolder 2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312E61B-A2E8-4664-B428-BA3290C91F2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5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RANSOMWARE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CRYPTO-MALWARE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2" name="object 3"/>
          <p:cNvSpPr/>
          <p:nvPr/>
        </p:nvSpPr>
        <p:spPr>
          <a:xfrm>
            <a:off x="663120" y="1371600"/>
            <a:ext cx="10309320" cy="460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Ransomware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tries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extort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money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victim.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class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ransomware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display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threatening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messages,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requiring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reactivated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suggesting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locked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police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because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view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pornography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terrorism.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apparently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installing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shell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relatively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fix.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crypto-malware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class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ransomware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encrypt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fixed,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removable,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drives.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successful,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unable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obtaining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key,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held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attacker.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successful,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extremely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mitigate,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unless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up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backups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PlaceHolder 2"/>
          <p:cNvSpPr>
            <a:spLocks noGrp="1"/>
          </p:cNvSpPr>
          <p:nvPr>
            <p:ph type="sldNum" idx="4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1998F4C-9179-4881-904E-7CAEA195483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4834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200" spc="-55" strike="noStrike">
                <a:solidFill>
                  <a:srgbClr val="c00000"/>
                </a:solidFill>
                <a:latin typeface="Calibri Light"/>
              </a:rPr>
              <a:t>RANSOMWARE</a:t>
            </a:r>
            <a:r>
              <a:rPr b="0" lang="en-US" sz="32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2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75" strike="noStrike">
                <a:solidFill>
                  <a:srgbClr val="c00000"/>
                </a:solidFill>
                <a:latin typeface="Calibri Light"/>
              </a:rPr>
              <a:t>CRYPTO-MALWARE</a:t>
            </a:r>
            <a:r>
              <a:rPr b="0" lang="en-US" sz="32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6" name="object 3"/>
          <p:cNvSpPr/>
          <p:nvPr/>
        </p:nvSpPr>
        <p:spPr>
          <a:xfrm>
            <a:off x="916920" y="1802520"/>
            <a:ext cx="10152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1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Cryptolocker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Trojan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searches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files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prompts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victim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pay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sum of money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before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countdown </a:t>
            </a:r>
            <a:r>
              <a:rPr b="0" lang="en-US" sz="20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time,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after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destroys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allows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decryption.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8" name="object 5" descr=""/>
          <p:cNvPicPr/>
          <p:nvPr/>
        </p:nvPicPr>
        <p:blipFill>
          <a:blip r:embed="rId1"/>
          <a:stretch/>
        </p:blipFill>
        <p:spPr>
          <a:xfrm>
            <a:off x="7086600" y="2999520"/>
            <a:ext cx="4202640" cy="3172320"/>
          </a:xfrm>
          <a:prstGeom prst="rect">
            <a:avLst/>
          </a:prstGeom>
          <a:ln w="0">
            <a:noFill/>
          </a:ln>
        </p:spPr>
      </p:pic>
      <p:sp>
        <p:nvSpPr>
          <p:cNvPr id="259" name="PlaceHolder 2"/>
          <p:cNvSpPr>
            <a:spLocks noGrp="1"/>
          </p:cNvSpPr>
          <p:nvPr>
            <p:ph type="ftr" idx="4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dt" idx="4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sldNum" idx="4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AC8CEF7-D945-4FDB-9A61-98FC38DBC0F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42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2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3" name="object 3"/>
          <p:cNvSpPr/>
          <p:nvPr/>
        </p:nvSpPr>
        <p:spPr>
          <a:xfrm>
            <a:off x="916920" y="1711080"/>
            <a:ext cx="10335960" cy="24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Given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indicators.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display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obvious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changes,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adjusting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browser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displaying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ransom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malware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covertly,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detailed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file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behavior.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PlaceHolder 2"/>
          <p:cNvSpPr>
            <a:spLocks noGrp="1"/>
          </p:cNvSpPr>
          <p:nvPr>
            <p:ph type="sldNum" idx="4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2F33657-BE19-4F1B-B1E9-9C2CAA70050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57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MALWARE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INDICATORS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7" name="object 3"/>
          <p:cNvSpPr/>
          <p:nvPr/>
        </p:nvSpPr>
        <p:spPr>
          <a:xfrm>
            <a:off x="916920" y="1758960"/>
            <a:ext cx="10292040" cy="29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Antivirus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Notifications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running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antivirus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(A-V)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suites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better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conceived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endpoint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platforms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(EPPs)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next-gen </a:t>
            </a:r>
            <a:r>
              <a:rPr b="0" lang="en-US" sz="2000" spc="-106" strike="noStrike">
                <a:solidFill>
                  <a:srgbClr val="000000"/>
                </a:solidFill>
                <a:latin typeface="Calibri"/>
                <a:ea typeface="DejaVu Sans"/>
              </a:rPr>
              <a:t>A-V.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signature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regardless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type, though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rates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vary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quite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widely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product.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 suites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integrate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entity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behavior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analytics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(UEBA)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AI-backed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detect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behavior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bypassed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signature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matching.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PlaceHolder 2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D0A4639-E36A-4FDB-B2FC-968472FE80A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6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MALWARE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INDICATORS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1" name="object 3"/>
          <p:cNvSpPr/>
          <p:nvPr/>
        </p:nvSpPr>
        <p:spPr>
          <a:xfrm>
            <a:off x="916920" y="1758960"/>
            <a:ext cx="10314360" cy="31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Sandbox</a:t>
            </a:r>
            <a:r>
              <a:rPr b="1" lang="en-US" sz="2400" spc="-4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Execution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detected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endpoint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want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suspect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sandboxed</a:t>
            </a:r>
            <a:r>
              <a:rPr b="0" lang="en-US" sz="2000" spc="-7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sandbox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isolated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"break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out."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sandbox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registry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plus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Cuckoo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packaged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aims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provide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turnkey sandbox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cuckoosandbox.org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PlaceHolder 2"/>
          <p:cNvSpPr>
            <a:spLocks noGrp="1"/>
          </p:cNvSpPr>
          <p:nvPr>
            <p:ph type="sldNum" idx="4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2B96DD9-B807-4C19-8827-A0116E119E6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998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MALWARE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INDICATORS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5" name="object 3"/>
          <p:cNvSpPr/>
          <p:nvPr/>
        </p:nvSpPr>
        <p:spPr>
          <a:xfrm>
            <a:off x="916920" y="1758960"/>
            <a:ext cx="10256400" cy="40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Resource</a:t>
            </a:r>
            <a:r>
              <a:rPr b="1" lang="en-US" sz="24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Consumption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Abnormal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resource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consumption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detected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performance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monitor,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Task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Manager,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top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utility.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excessive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continuous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CPU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usage,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leaks,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read/write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space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usage 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caused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performance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stability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issues.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Also,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really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poorly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written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performs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intensive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(botnet DDoS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cryptoransomware,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displays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behavior.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consumption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reason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investigate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definitive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proof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infection.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PlaceHolder 2"/>
          <p:cNvSpPr>
            <a:spLocks noGrp="1"/>
          </p:cNvSpPr>
          <p:nvPr>
            <p:ph type="sldNum" idx="5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7E420B2-8C3D-474E-8A06-D0871904575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MALWARE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INDICATORS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9" name="object 3"/>
          <p:cNvSpPr/>
          <p:nvPr/>
        </p:nvSpPr>
        <p:spPr>
          <a:xfrm>
            <a:off x="916920" y="1758960"/>
            <a:ext cx="10204200" cy="34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File</a:t>
            </a:r>
            <a:r>
              <a:rPr b="1" lang="en-US" sz="2400" spc="-5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System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fileless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prevalent,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anomaly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still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necessary.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Even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saved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disk,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still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registry,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revealing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behavior.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computer's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great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deal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useful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metadata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files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were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accessed,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modified.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Analyzing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metadata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checking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suspicious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temporary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help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 your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timeline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 left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traces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PlaceHolder 2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01D0CA0-E9F9-47BA-B6CF-99B6B309A2F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57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MALWARE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INDICATORS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3" name="object 3"/>
          <p:cNvSpPr/>
          <p:nvPr/>
        </p:nvSpPr>
        <p:spPr>
          <a:xfrm>
            <a:off x="916920" y="1802520"/>
            <a:ext cx="25664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9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File</a:t>
            </a:r>
            <a:r>
              <a:rPr b="1" lang="en-US" sz="2400" spc="-4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System</a:t>
            </a:r>
            <a:r>
              <a:rPr b="1" lang="en-US" sz="24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5" name="object 5" descr=""/>
          <p:cNvPicPr/>
          <p:nvPr/>
        </p:nvPicPr>
        <p:blipFill>
          <a:blip r:embed="rId1"/>
          <a:stretch/>
        </p:blipFill>
        <p:spPr>
          <a:xfrm>
            <a:off x="3265920" y="2418480"/>
            <a:ext cx="5659560" cy="3757320"/>
          </a:xfrm>
          <a:prstGeom prst="rect">
            <a:avLst/>
          </a:prstGeom>
          <a:ln w="0">
            <a:noFill/>
          </a:ln>
        </p:spPr>
      </p:pic>
      <p:sp>
        <p:nvSpPr>
          <p:cNvPr id="286" name="PlaceHolder 2"/>
          <p:cNvSpPr>
            <a:spLocks noGrp="1"/>
          </p:cNvSpPr>
          <p:nvPr>
            <p:ph type="sldNum" idx="5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CA040CA-975F-46CA-8D11-1500A6B4172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2023-09-02T17:14:53Z</dcterms:created>
  <dc:creator>Ahmed Sultan</dc:creator>
  <dc:description/>
  <dc:language>en-US</dc:language>
  <cp:lastModifiedBy/>
  <dcterms:modified xsi:type="dcterms:W3CDTF">2023-09-04T19:42:32Z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