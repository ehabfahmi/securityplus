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media/image4.jpeg" ContentType="image/jpeg"/>
  <Override PartName="/ppt/media/image5.jpeg" ContentType="image/jpeg"/>
  <Override PartName="/ppt/media/image6.jpeg" ContentType="image/jpe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29284B-197C-4A0B-A28A-729301BF8F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5235514-EA22-429B-9131-C16AB6C108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E94B102-E09D-43F7-861D-61EA04E402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755096-C72E-42EA-B9B7-3D865229A9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F71EF5-A94D-4053-9C2C-B8F2EC095B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2E751A-E188-4A5A-AD61-1DE4EF0638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2B33C09-21BB-4064-AC90-4598000E73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87319F6-626D-4826-90DC-1BC76663F4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2B9A41-0279-42AC-804A-6836420368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D6D953-E1C0-4611-82B6-F9CF99A847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1305CF-2382-4F8E-8F84-55CEAA0A5BC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78F1CC3-1C51-472E-8454-B8552C2E63D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803A4A5-1401-4653-9E47-171B8CDE36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98119C7-6454-41EB-8742-73372E5DB7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32D5CB2-3CEE-43B4-BDAA-801BA844BB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4637A5E-DFEF-4E95-A814-FB987CE90C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2E33975-8048-4AC6-AB53-8F29125D07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0966BF7-49B1-467E-B106-4CF855A168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8DD4C6C-0992-44C3-B216-1441147E00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2221A58-FF35-495C-B50E-AF16D46F26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44A03D6-5BF0-4226-9753-F55C98502B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DE1BFE4-DA1C-4FC4-805D-4525F23BEC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618C96E-C08B-471A-8061-1FB83F0528F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C162266-FDE3-401E-B912-06224D436BE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916920" y="6451560"/>
            <a:ext cx="102240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8182039-263A-4BA3-99AA-858372080FA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916920" y="6451560"/>
            <a:ext cx="102240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EAF1BE2-475C-4109-B43F-F991F213C27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object 3"/>
          <p:cNvGrpSpPr/>
          <p:nvPr/>
        </p:nvGrpSpPr>
        <p:grpSpPr>
          <a:xfrm>
            <a:off x="2477880" y="3080160"/>
            <a:ext cx="7282440" cy="848160"/>
            <a:chOff x="2477880" y="3080160"/>
            <a:chExt cx="7282440" cy="848160"/>
          </a:xfrm>
        </p:grpSpPr>
        <p:pic>
          <p:nvPicPr>
            <p:cNvPr id="83" name="object 4" descr=""/>
            <p:cNvPicPr/>
            <p:nvPr/>
          </p:nvPicPr>
          <p:blipFill>
            <a:blip r:embed="rId1"/>
            <a:stretch/>
          </p:blipFill>
          <p:spPr>
            <a:xfrm>
              <a:off x="2592360" y="3159000"/>
              <a:ext cx="7057080" cy="598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4" name="object 5" descr=""/>
            <p:cNvPicPr/>
            <p:nvPr/>
          </p:nvPicPr>
          <p:blipFill>
            <a:blip r:embed="rId2"/>
            <a:stretch/>
          </p:blipFill>
          <p:spPr>
            <a:xfrm>
              <a:off x="2477880" y="3080160"/>
              <a:ext cx="7282440" cy="8481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2608920" y="3166920"/>
            <a:ext cx="6973560" cy="1168200"/>
          </a:xfrm>
          <a:prstGeom prst="rect">
            <a:avLst/>
          </a:prstGeom>
          <a:solidFill>
            <a:srgbClr val="e1221a"/>
          </a:solidFill>
          <a:ln w="0">
            <a:noFill/>
          </a:ln>
        </p:spPr>
        <p:txBody>
          <a:bodyPr lIns="0" rIns="0" tIns="23400" bIns="0" anchor="t">
            <a:noAutofit/>
          </a:bodyPr>
          <a:p>
            <a:pPr marL="108720">
              <a:lnSpc>
                <a:spcPct val="100000"/>
              </a:lnSpc>
              <a:spcBef>
                <a:spcPts val="184"/>
              </a:spcBef>
              <a:buNone/>
            </a:pP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05-</a:t>
            </a:r>
            <a:r>
              <a:rPr b="0" lang="en-US" sz="2800" spc="1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Summarizing</a:t>
            </a:r>
            <a:r>
              <a:rPr b="0" lang="en-US" sz="2800" spc="29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ffffff"/>
                </a:solidFill>
                <a:latin typeface="Calibri"/>
              </a:rPr>
              <a:t>Basic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ffffff"/>
                </a:solidFill>
                <a:latin typeface="Calibri"/>
              </a:rPr>
              <a:t>Cryptographic</a:t>
            </a:r>
            <a:r>
              <a:rPr b="0" lang="en-US" sz="2800" spc="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Concepts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86" name="object 7" descr=""/>
          <p:cNvPicPr/>
          <p:nvPr/>
        </p:nvPicPr>
        <p:blipFill>
          <a:blip r:embed="rId3"/>
          <a:stretch/>
        </p:blipFill>
        <p:spPr>
          <a:xfrm>
            <a:off x="5041440" y="339480"/>
            <a:ext cx="2101320" cy="1930320"/>
          </a:xfrm>
          <a:prstGeom prst="rect">
            <a:avLst/>
          </a:prstGeom>
          <a:ln w="0">
            <a:noFill/>
          </a:ln>
        </p:spPr>
      </p:pic>
      <p:sp>
        <p:nvSpPr>
          <p:cNvPr id="87" name="object 2"/>
          <p:cNvSpPr/>
          <p:nvPr/>
        </p:nvSpPr>
        <p:spPr>
          <a:xfrm>
            <a:off x="6172200" y="5725800"/>
            <a:ext cx="588204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1800" spc="-7" strike="noStrike">
                <a:solidFill>
                  <a:srgbClr val="001f5f"/>
                </a:solidFill>
                <a:latin typeface="Calibri"/>
                <a:ea typeface="DejaVu Sans"/>
              </a:rPr>
              <a:t>Ehab Fahmi </a:t>
            </a:r>
            <a:r>
              <a:rPr b="1" lang="en-US" sz="1800" spc="-1" strike="noStrike">
                <a:solidFill>
                  <a:srgbClr val="001f5f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Senior Cyber Security Consultant -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Instructor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09184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CRYPTOGRAPHIC</a:t>
            </a:r>
            <a:r>
              <a:rPr b="0" lang="en-US" sz="3600" spc="-14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CONCEPTS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9" name="object 3"/>
          <p:cNvSpPr/>
          <p:nvPr/>
        </p:nvSpPr>
        <p:spPr>
          <a:xfrm>
            <a:off x="916920" y="1758960"/>
            <a:ext cx="9859680" cy="38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c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5" strike="noStrike">
                <a:solidFill>
                  <a:srgbClr val="c00000"/>
                </a:solidFill>
                <a:latin typeface="Calibri"/>
                <a:ea typeface="DejaVu Sans"/>
              </a:rPr>
              <a:t>Cryptography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(literally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meaning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"secret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writing")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has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been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around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thousands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years.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the art of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making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secure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encoding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through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obsecurity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keeping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something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secret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hiding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it.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generally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acknowledged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impossible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(or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least,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high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risk)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sort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computer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2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cryptography,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matter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third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parties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know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existence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secret,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because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never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know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what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without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obtaining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appropriate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credential.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PlaceHolder 2"/>
          <p:cNvSpPr>
            <a:spLocks noGrp="1"/>
          </p:cNvSpPr>
          <p:nvPr>
            <p:ph type="ftr" idx="7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dt" idx="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sldNum" idx="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43DEA8C-AF78-4628-AD73-51646002AE9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36840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CRYPTOGRAPHIC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CONCEPTS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5" name="object 3"/>
          <p:cNvSpPr/>
          <p:nvPr/>
        </p:nvSpPr>
        <p:spPr>
          <a:xfrm>
            <a:off x="916920" y="1773720"/>
            <a:ext cx="10322640" cy="45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following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terminology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used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discuss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cryptography: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40"/>
              </a:spcBef>
              <a:buClr>
                <a:srgbClr val="ba2709"/>
              </a:buClr>
              <a:buFont typeface="Wingdings" charset="2"/>
              <a:buChar char="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ba2709"/>
                </a:solidFill>
                <a:latin typeface="Calibri"/>
                <a:ea typeface="DejaVu Sans"/>
              </a:rPr>
              <a:t>Plaintext</a:t>
            </a:r>
            <a:r>
              <a:rPr b="0" lang="en-US" sz="2000" spc="29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(or cleartext)—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unencrypted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message.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11"/>
              </a:spcBef>
              <a:buClr>
                <a:srgbClr val="ba2709"/>
              </a:buClr>
              <a:buFont typeface="Wingdings" charset="2"/>
              <a:buChar char="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Ciphertext—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encrypted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message.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"/>
              </a:spcBef>
              <a:buClr>
                <a:srgbClr val="ba2709"/>
              </a:buClr>
              <a:buFont typeface="Wingdings" charset="2"/>
              <a:buChar char="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Cipher—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(or algorithm)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encrypt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decrypt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message.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"/>
              </a:spcBef>
              <a:buClr>
                <a:srgbClr val="ba2709"/>
              </a:buClr>
              <a:buFont typeface="Wingdings" charset="2"/>
              <a:buChar char="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Cryptanalysis—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art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cracking cryptographic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699120"/>
              </a:tabLst>
            </a:pPr>
            <a:endParaRPr b="0" lang="en-US" sz="2300" spc="-1" strike="noStrike">
              <a:latin typeface="Arial"/>
            </a:endParaRPr>
          </a:p>
          <a:p>
            <a:pPr marL="241200" indent="-229320">
              <a:lnSpc>
                <a:spcPts val="2310"/>
              </a:lnSpc>
              <a:spcBef>
                <a:spcPts val="145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discussing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cryptography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against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encryption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customary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cast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characters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describe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actors involved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attack,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main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characters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are: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51"/>
              </a:spcBef>
              <a:buClr>
                <a:srgbClr val="ba2709"/>
              </a:buClr>
              <a:buFont typeface="Wingdings" charset="2"/>
              <a:buChar char="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Alice—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sender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genuine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message.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0"/>
              </a:spcBef>
              <a:buClr>
                <a:srgbClr val="ba2709"/>
              </a:buClr>
              <a:buFont typeface="Wingdings" charset="2"/>
              <a:buChar char="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Bob—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intended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recipient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message.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14"/>
              </a:spcBef>
              <a:buClr>
                <a:srgbClr val="ba2709"/>
              </a:buClr>
              <a:buFont typeface="Wingdings" charset="2"/>
              <a:buChar char="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Mallory—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malicious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attempting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subvert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message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way.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PlaceHolder 2"/>
          <p:cNvSpPr>
            <a:spLocks noGrp="1"/>
          </p:cNvSpPr>
          <p:nvPr>
            <p:ph type="ftr" idx="10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1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sldNum" idx="1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E23368B-041D-4556-99C8-35A88B2DD71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2544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HASHING</a:t>
            </a:r>
            <a:r>
              <a:rPr b="0" lang="en-US" sz="3600" spc="-16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ALGORITHMS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1" name="object 3"/>
          <p:cNvSpPr/>
          <p:nvPr/>
        </p:nvSpPr>
        <p:spPr>
          <a:xfrm>
            <a:off x="916920" y="1711080"/>
            <a:ext cx="10343520" cy="35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 algn="just">
              <a:lnSpc>
                <a:spcPct val="100000"/>
              </a:lnSpc>
              <a:spcBef>
                <a:spcPts val="819"/>
              </a:spcBef>
              <a:buClr>
                <a:srgbClr val="c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c00000"/>
                </a:solidFill>
                <a:latin typeface="Calibri"/>
                <a:ea typeface="DejaVu Sans"/>
              </a:rPr>
              <a:t>Hashing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simplest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cryptographic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operation.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ts val="2735"/>
              </a:lnSpc>
              <a:spcBef>
                <a:spcPts val="7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cryptographic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hashing algorithm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produces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fixed</a:t>
            </a:r>
            <a:r>
              <a:rPr b="1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length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string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from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input</a:t>
            </a:r>
            <a:endParaRPr b="0" lang="en-US" sz="2400" spc="-1" strike="noStrike">
              <a:latin typeface="Arial"/>
            </a:endParaRPr>
          </a:p>
          <a:p>
            <a:pPr marL="241200" algn="just">
              <a:lnSpc>
                <a:spcPts val="2735"/>
              </a:lnSpc>
              <a:buNone/>
              <a:tabLst>
                <a:tab algn="l" pos="241920"/>
              </a:tabLst>
            </a:pP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plaintext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length.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output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referred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a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checksum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message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digest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hash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function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designed so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impossible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recover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plaintext data from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digest (one-way)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inputs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unlikely 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produce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same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output (a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collision).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PlaceHolder 2"/>
          <p:cNvSpPr>
            <a:spLocks noGrp="1"/>
          </p:cNvSpPr>
          <p:nvPr>
            <p:ph type="ftr" idx="13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dt" idx="1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sldNum" idx="1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CC7898F-FA57-4F22-B1DE-0ABFF9E5786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5306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HASHING</a:t>
            </a:r>
            <a:r>
              <a:rPr b="0" lang="en-US" sz="3600" spc="-13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ALGORITHMS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7" name="object 3"/>
          <p:cNvSpPr/>
          <p:nvPr/>
        </p:nvSpPr>
        <p:spPr>
          <a:xfrm>
            <a:off x="916920" y="1711080"/>
            <a:ext cx="10218960" cy="351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hashing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algorithm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prove</a:t>
            </a:r>
            <a:r>
              <a:rPr b="0" lang="en-US" sz="24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integrity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For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Example: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c00000"/>
                </a:solidFill>
                <a:latin typeface="Calibri"/>
                <a:ea typeface="DejaVu Sans"/>
              </a:rPr>
              <a:t>Bob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" strike="noStrike">
                <a:solidFill>
                  <a:srgbClr val="c00000"/>
                </a:solidFill>
                <a:latin typeface="Calibri"/>
                <a:ea typeface="DejaVu Sans"/>
              </a:rPr>
              <a:t>Alice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compare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values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the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following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way: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Bob</a:t>
            </a:r>
            <a:r>
              <a:rPr b="0" lang="en-US" sz="2000" spc="-21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already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has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digest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calculated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Alice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's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plaintext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Bob</a:t>
            </a:r>
            <a:r>
              <a:rPr b="0" lang="en-US" sz="2000" spc="-21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cannot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recover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plaintext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value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from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hash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Alice</a:t>
            </a:r>
            <a:r>
              <a:rPr b="0" lang="en-US" sz="2000" spc="9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needs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authenticate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Bob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she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types her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password,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converts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6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hash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sends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digest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Bob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Bob</a:t>
            </a:r>
            <a:r>
              <a:rPr b="0" lang="en-US" sz="2000" spc="-21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compares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Alice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's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digest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hash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value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has 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they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match,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sure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Alice</a:t>
            </a:r>
            <a:r>
              <a:rPr b="0" lang="en-US" sz="2000" spc="15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same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PlaceHolder 2"/>
          <p:cNvSpPr>
            <a:spLocks noGrp="1"/>
          </p:cNvSpPr>
          <p:nvPr>
            <p:ph type="ftr" idx="16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dt" idx="1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sldNum" idx="1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663CF79-3FE1-438D-A4A3-A970C65DA56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5306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HASHING</a:t>
            </a:r>
            <a:r>
              <a:rPr b="0" lang="en-US" sz="3600" spc="-13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ALGORITHMS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3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4" name="object 4" descr=""/>
          <p:cNvPicPr/>
          <p:nvPr/>
        </p:nvPicPr>
        <p:blipFill>
          <a:blip r:embed="rId1"/>
          <a:stretch/>
        </p:blipFill>
        <p:spPr>
          <a:xfrm>
            <a:off x="2301120" y="2232720"/>
            <a:ext cx="7538400" cy="3741840"/>
          </a:xfrm>
          <a:prstGeom prst="rect">
            <a:avLst/>
          </a:prstGeom>
          <a:ln w="0">
            <a:noFill/>
          </a:ln>
        </p:spPr>
      </p:pic>
      <p:sp>
        <p:nvSpPr>
          <p:cNvPr id="115" name="PlaceHolder 2"/>
          <p:cNvSpPr>
            <a:spLocks noGrp="1"/>
          </p:cNvSpPr>
          <p:nvPr>
            <p:ph type="ftr" idx="19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2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sldNum" idx="2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3A11867-08D7-462D-AA95-E49ADF528DE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5306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HASHING</a:t>
            </a:r>
            <a:r>
              <a:rPr b="0" lang="en-US" sz="3600" spc="-13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ALGORITHMS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9" name="object 3"/>
          <p:cNvSpPr/>
          <p:nvPr/>
        </p:nvSpPr>
        <p:spPr>
          <a:xfrm>
            <a:off x="916920" y="1802520"/>
            <a:ext cx="10036800" cy="457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well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comparing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values,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hash 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verify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integrity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after 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transfer.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55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Alice</a:t>
            </a:r>
            <a:r>
              <a:rPr b="0" lang="en-US" sz="2000" spc="7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runs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hash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function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setup.exe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product.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58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publishes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digest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her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website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download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link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1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Bob</a:t>
            </a:r>
            <a:r>
              <a:rPr b="0" lang="en-US" sz="2000" spc="-26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downloads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setup.exe</a:t>
            </a:r>
            <a:r>
              <a:rPr b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makes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copy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digest.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41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Bob</a:t>
            </a:r>
            <a:r>
              <a:rPr b="0" lang="en-US" sz="2000" spc="-2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runs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same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function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downloaded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setup.exe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compares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reference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value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published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Alice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1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matches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value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published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website,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integrity</a:t>
            </a:r>
            <a:r>
              <a:rPr b="0" lang="en-US" sz="2000" spc="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assumed.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Consider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Mallory</a:t>
            </a:r>
            <a:r>
              <a:rPr b="0" lang="en-US" sz="2000" spc="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might be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able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substitute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download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malicious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1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Mallory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cannot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change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reference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hash,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however.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time,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Bob</a:t>
            </a:r>
            <a:r>
              <a:rPr b="0" lang="en-US" sz="20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computes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hash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match,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leading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him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suspect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been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tampered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with.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PlaceHolder 2"/>
          <p:cNvSpPr>
            <a:spLocks noGrp="1"/>
          </p:cNvSpPr>
          <p:nvPr>
            <p:ph type="ftr" idx="22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dt" idx="23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sldNum" idx="2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F0050B1-FC4A-47C6-9F0D-2664559709C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5306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HASHING</a:t>
            </a:r>
            <a:r>
              <a:rPr b="0" lang="en-US" sz="3600" spc="-13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ALGORITHMS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5" name="object 3"/>
          <p:cNvSpPr/>
          <p:nvPr/>
        </p:nvSpPr>
        <p:spPr>
          <a:xfrm>
            <a:off x="916920" y="1767600"/>
            <a:ext cx="10095840" cy="40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7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two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popular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implementations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hash algorithms: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4"/>
              </a:spcBef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Secure</a:t>
            </a: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Hash Algorithm</a:t>
            </a: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 (SHA)</a:t>
            </a:r>
            <a:endParaRPr b="0" lang="en-US" sz="2200" spc="-1" strike="noStrike">
              <a:latin typeface="Arial"/>
            </a:endParaRPr>
          </a:p>
          <a:p>
            <a:pPr lvl="2" marL="1155600" indent="-229320">
              <a:lnSpc>
                <a:spcPct val="100000"/>
              </a:lnSpc>
              <a:spcBef>
                <a:spcPts val="275"/>
              </a:spcBef>
              <a:buClr>
                <a:srgbClr val="000000"/>
              </a:buClr>
              <a:buFont typeface="Wingdings" charset="2"/>
              <a:buChar char=""/>
              <a:tabLst>
                <a:tab algn="l" pos="11563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Considered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strongest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algorithm.</a:t>
            </a:r>
            <a:endParaRPr b="0" lang="en-US" sz="2000" spc="-1" strike="noStrike">
              <a:latin typeface="Arial"/>
            </a:endParaRPr>
          </a:p>
          <a:p>
            <a:pPr lvl="2" marL="1155600" indent="-228600">
              <a:lnSpc>
                <a:spcPts val="2160"/>
              </a:lnSpc>
              <a:spcBef>
                <a:spcPts val="541"/>
              </a:spcBef>
              <a:buClr>
                <a:srgbClr val="000000"/>
              </a:buClr>
              <a:buFont typeface="Wingdings" charset="2"/>
              <a:buChar char=""/>
              <a:tabLst>
                <a:tab algn="l" pos="11563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variants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produce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different-sized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outputs, with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longer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digests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considered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secure.</a:t>
            </a:r>
            <a:endParaRPr b="0" lang="en-US" sz="2000" spc="-1" strike="noStrike">
              <a:latin typeface="Arial"/>
            </a:endParaRPr>
          </a:p>
          <a:p>
            <a:pPr lvl="2" marL="1155600" indent="-229320">
              <a:lnSpc>
                <a:spcPct val="100000"/>
              </a:lnSpc>
              <a:spcBef>
                <a:spcPts val="23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11563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popular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variant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SHA-256,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which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produces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256-bit</a:t>
            </a:r>
            <a:r>
              <a:rPr b="1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digest.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1156320"/>
              </a:tabLst>
            </a:pPr>
            <a:endParaRPr b="0" lang="en-US" sz="235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Message</a:t>
            </a:r>
            <a:r>
              <a:rPr b="0" lang="en-US" sz="2200" spc="7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Digest</a:t>
            </a:r>
            <a:r>
              <a:rPr b="0" lang="en-US" sz="2200" spc="7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Algorithm</a:t>
            </a: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ba2709"/>
                </a:solidFill>
                <a:latin typeface="Calibri"/>
                <a:ea typeface="DejaVu Sans"/>
              </a:rPr>
              <a:t>#5</a:t>
            </a:r>
            <a:r>
              <a:rPr b="0" lang="en-US" sz="2200" spc="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(MD5)</a:t>
            </a:r>
            <a:endParaRPr b="0" lang="en-US" sz="2200" spc="-1" strike="noStrike">
              <a:latin typeface="Arial"/>
            </a:endParaRPr>
          </a:p>
          <a:p>
            <a:pPr lvl="2" marL="1155600" indent="-229320">
              <a:lnSpc>
                <a:spcPct val="100000"/>
              </a:lnSpc>
              <a:spcBef>
                <a:spcPts val="275"/>
              </a:spcBef>
              <a:buClr>
                <a:srgbClr val="000000"/>
              </a:buClr>
              <a:buFont typeface="Wingdings" charset="2"/>
              <a:buChar char=""/>
              <a:tabLst>
                <a:tab algn="l" pos="11563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Produces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128-bit</a:t>
            </a:r>
            <a:r>
              <a:rPr b="1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digest.</a:t>
            </a:r>
            <a:endParaRPr b="0" lang="en-US" sz="2000" spc="-1" strike="noStrike">
              <a:latin typeface="Arial"/>
            </a:endParaRPr>
          </a:p>
          <a:p>
            <a:pPr lvl="2" marL="11556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"/>
              <a:tabLst>
                <a:tab algn="l" pos="11563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MD5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considered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quite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safe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SHA-256,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required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compatibility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between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products.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PlaceHolder 2"/>
          <p:cNvSpPr>
            <a:spLocks noGrp="1"/>
          </p:cNvSpPr>
          <p:nvPr>
            <p:ph type="ftr" idx="25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26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sldNum" idx="2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BFEEF12-6EF5-487A-963A-59C9E2E0FC3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8399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ENCRYPTION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CIPHERS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KEYS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1" name="object 3"/>
          <p:cNvSpPr/>
          <p:nvPr/>
        </p:nvSpPr>
        <p:spPr>
          <a:xfrm>
            <a:off x="916920" y="1802520"/>
            <a:ext cx="10089360" cy="273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While 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hash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prove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integrity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cannot be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transmit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plaintext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cannot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recovered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digest.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encryption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algorithm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 type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cryptographic process that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encodes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recovered,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decrypted.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use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the encryption cipher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ensures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decryption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only be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performed by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authorized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persons.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PlaceHolder 2"/>
          <p:cNvSpPr>
            <a:spLocks noGrp="1"/>
          </p:cNvSpPr>
          <p:nvPr>
            <p:ph type="ftr" idx="28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dt" idx="29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sldNum" idx="3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013E04D-494D-4096-A44E-D8A89068F8B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456120"/>
            <a:ext cx="91414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SYMMETRIC</a:t>
            </a:r>
            <a:r>
              <a:rPr b="0" lang="en-US" sz="3600" spc="-17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ENCRYPTION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7" name="object 3"/>
          <p:cNvSpPr/>
          <p:nvPr/>
        </p:nvSpPr>
        <p:spPr>
          <a:xfrm>
            <a:off x="412920" y="1089720"/>
            <a:ext cx="11017080" cy="50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3880" bIns="0" anchor="t">
            <a:spAutoFit/>
          </a:bodyPr>
          <a:p>
            <a:pPr marL="241200" indent="-229320">
              <a:lnSpc>
                <a:spcPts val="2299"/>
              </a:lnSpc>
              <a:spcBef>
                <a:spcPts val="66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symmetric </a:t>
            </a:r>
            <a:r>
              <a:rPr b="0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cipher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one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which encryption 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decryption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both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performed by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secret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secret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so-called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because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kept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secret.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lost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stolen,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breached.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Symmetric</a:t>
            </a:r>
            <a:r>
              <a:rPr b="0" lang="en-US" sz="2400" spc="-6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encryption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used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confidentiality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example,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Alice</a:t>
            </a:r>
            <a:r>
              <a:rPr b="0" lang="en-US" sz="2400" spc="-1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Bob</a:t>
            </a:r>
            <a:r>
              <a:rPr b="0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share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confidential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following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way: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34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Alice</a:t>
            </a:r>
            <a:r>
              <a:rPr b="0" lang="en-US" sz="2000" spc="9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Bob</a:t>
            </a:r>
            <a:r>
              <a:rPr b="0" lang="en-US" sz="2000" spc="-2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meet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agree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which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cipher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secret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1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value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3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both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record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value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secret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5" strike="noStrike">
                <a:solidFill>
                  <a:srgbClr val="000000"/>
                </a:solidFill>
                <a:latin typeface="Calibri"/>
                <a:ea typeface="DejaVu Sans"/>
              </a:rPr>
              <a:t>key,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making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sure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no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one else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discover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11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Alice</a:t>
            </a:r>
            <a:r>
              <a:rPr b="0" lang="en-US" sz="2000" spc="7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encrypts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cipher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key.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sends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only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ciphertext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Bob</a:t>
            </a:r>
            <a:r>
              <a:rPr b="0" lang="en-US" sz="2000" spc="-1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160"/>
              </a:lnSpc>
              <a:spcBef>
                <a:spcPts val="26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Bob</a:t>
            </a:r>
            <a:r>
              <a:rPr b="0" lang="en-US" sz="2000" spc="-2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receives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ciphertext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able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decrypt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applying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cipher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his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160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copy</a:t>
            </a:r>
            <a:r>
              <a:rPr b="0" lang="en-US" sz="2000" spc="-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secret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key.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PlaceHolder 2"/>
          <p:cNvSpPr>
            <a:spLocks noGrp="1"/>
          </p:cNvSpPr>
          <p:nvPr>
            <p:ph type="ftr" idx="31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dt" idx="32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sldNum" idx="33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EE09DC8-12E1-40A7-9E0C-A5DBDE352AA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9295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SYMMETRIC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ENCRYPTION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3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4" name="object 4" descr=""/>
          <p:cNvPicPr/>
          <p:nvPr/>
        </p:nvPicPr>
        <p:blipFill>
          <a:blip r:embed="rId1"/>
          <a:stretch/>
        </p:blipFill>
        <p:spPr>
          <a:xfrm>
            <a:off x="2440080" y="2063520"/>
            <a:ext cx="7315920" cy="3921840"/>
          </a:xfrm>
          <a:prstGeom prst="rect">
            <a:avLst/>
          </a:prstGeom>
          <a:ln w="0">
            <a:noFill/>
          </a:ln>
        </p:spPr>
      </p:pic>
      <p:sp>
        <p:nvSpPr>
          <p:cNvPr id="145" name="PlaceHolder 2"/>
          <p:cNvSpPr>
            <a:spLocks noGrp="1"/>
          </p:cNvSpPr>
          <p:nvPr>
            <p:ph type="ftr" idx="34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dt" idx="35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sldNum" idx="36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23DDFFD-00F5-4F65-BBCF-C4162DC6461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7698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SYMMETRIC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ENCRYPTION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9" name="object 3"/>
          <p:cNvSpPr/>
          <p:nvPr/>
        </p:nvSpPr>
        <p:spPr>
          <a:xfrm>
            <a:off x="736920" y="1514520"/>
            <a:ext cx="10970280" cy="43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ac172b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Symmetric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encryption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also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referred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single </a:t>
            </a:r>
            <a:r>
              <a:rPr b="1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key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private </a:t>
            </a:r>
            <a:r>
              <a:rPr b="1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shared </a:t>
            </a:r>
            <a:r>
              <a:rPr b="1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secret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ac172b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Symmetric</a:t>
            </a:r>
            <a:r>
              <a:rPr b="0" lang="en-US" sz="2400" spc="-5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encryption</a:t>
            </a:r>
            <a:r>
              <a:rPr b="0" lang="en-US" sz="2400" spc="-26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very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fast.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used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bulk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encryption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large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amounts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The</a:t>
            </a:r>
            <a:r>
              <a:rPr b="0" lang="en-US" sz="2400" spc="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main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problem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distribution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storage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66" strike="noStrike">
                <a:solidFill>
                  <a:srgbClr val="000000"/>
                </a:solidFill>
                <a:latin typeface="Calibri"/>
                <a:ea typeface="DejaVu Sans"/>
              </a:rPr>
              <a:t>key,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exact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which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Alice</a:t>
            </a: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Bob</a:t>
            </a:r>
            <a:r>
              <a:rPr b="0" lang="en-US" sz="2400" spc="-2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"meet"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agree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60" strike="noStrike">
                <a:solidFill>
                  <a:srgbClr val="000000"/>
                </a:solidFill>
                <a:latin typeface="Calibri"/>
                <a:ea typeface="DejaVu Sans"/>
              </a:rPr>
              <a:t>key.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ct val="100000"/>
              </a:lnSpc>
              <a:spcBef>
                <a:spcPts val="68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Mallory</a:t>
            </a: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intercepts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obtains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ciphertext,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broken.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Note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symmetric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encryption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cannot be used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authentication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integrity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because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Alice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Bob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able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create exactly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same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secrets,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because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they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both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know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60" strike="noStrike">
                <a:solidFill>
                  <a:srgbClr val="000000"/>
                </a:solidFill>
                <a:latin typeface="Calibri"/>
                <a:ea typeface="DejaVu Sans"/>
              </a:rPr>
              <a:t>key.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PlaceHolder 2"/>
          <p:cNvSpPr>
            <a:spLocks noGrp="1"/>
          </p:cNvSpPr>
          <p:nvPr>
            <p:ph type="ftr" idx="37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dt" idx="3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sldNum" idx="3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D906880-5314-4ECD-B56C-247AB54B561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7698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ASYMMETRIC</a:t>
            </a:r>
            <a:r>
              <a:rPr b="0" lang="en-US" sz="3600" spc="-14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ENCRYPTION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5" name="object 3"/>
          <p:cNvSpPr/>
          <p:nvPr/>
        </p:nvSpPr>
        <p:spPr>
          <a:xfrm>
            <a:off x="916920" y="1802520"/>
            <a:ext cx="10274760" cy="38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a </a:t>
            </a:r>
            <a:r>
              <a:rPr b="0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symmetric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encryption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cipher,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same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secret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both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encryption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decryption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operations.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asymmetric</a:t>
            </a:r>
            <a:r>
              <a:rPr b="0" lang="en-US" sz="2400" spc="-26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ac172b"/>
                </a:solidFill>
                <a:latin typeface="Calibri"/>
                <a:ea typeface="DejaVu Sans"/>
              </a:rPr>
              <a:t>cipher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operations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two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1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related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public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private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keys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55" strike="noStrike">
                <a:solidFill>
                  <a:srgbClr val="000000"/>
                </a:solidFill>
                <a:latin typeface="Calibri"/>
                <a:ea typeface="DejaVu Sans"/>
              </a:rPr>
              <a:t>pair.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capable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reversing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operation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55" strike="noStrike">
                <a:solidFill>
                  <a:srgbClr val="000000"/>
                </a:solidFill>
                <a:latin typeface="Calibri"/>
                <a:ea typeface="DejaVu Sans"/>
              </a:rPr>
              <a:t>pair.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For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Example: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 the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public 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key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encrypt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message, only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paired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private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decrypt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ciphertext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produced.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public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cannot be used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decrypt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ciphertext,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even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though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encrypt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PlaceHolder 2"/>
          <p:cNvSpPr>
            <a:spLocks noGrp="1"/>
          </p:cNvSpPr>
          <p:nvPr>
            <p:ph type="ftr" idx="40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dt" idx="4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sldNum" idx="4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838AAB6-DC04-4EA5-9014-CC9717BD8DB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1815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ASYMMETRIC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ENCRYPTION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1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2" name="object 4" descr=""/>
          <p:cNvPicPr/>
          <p:nvPr/>
        </p:nvPicPr>
        <p:blipFill>
          <a:blip r:embed="rId1"/>
          <a:stretch/>
        </p:blipFill>
        <p:spPr>
          <a:xfrm>
            <a:off x="3040200" y="1912680"/>
            <a:ext cx="6110640" cy="4333320"/>
          </a:xfrm>
          <a:prstGeom prst="rect">
            <a:avLst/>
          </a:prstGeom>
          <a:ln w="0">
            <a:noFill/>
          </a:ln>
        </p:spPr>
      </p:pic>
      <p:sp>
        <p:nvSpPr>
          <p:cNvPr id="163" name="PlaceHolder 2"/>
          <p:cNvSpPr>
            <a:spLocks noGrp="1"/>
          </p:cNvSpPr>
          <p:nvPr>
            <p:ph type="ftr" idx="43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dt" idx="4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sldNum" idx="4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A883656-6E78-45DC-8268-CBEAF290C4E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520920" y="216720"/>
            <a:ext cx="82270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ASYMMETRIC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ENCRYPTION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7" name="object 3"/>
          <p:cNvSpPr/>
          <p:nvPr/>
        </p:nvSpPr>
        <p:spPr>
          <a:xfrm>
            <a:off x="426240" y="1143000"/>
            <a:ext cx="10317960" cy="49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5880" bIns="0" anchor="t">
            <a:spAutoFit/>
          </a:bodyPr>
          <a:p>
            <a:pPr marL="469800" indent="-457920">
              <a:lnSpc>
                <a:spcPct val="100000"/>
              </a:lnSpc>
              <a:spcBef>
                <a:spcPts val="519"/>
              </a:spcBef>
              <a:buClr>
                <a:srgbClr val="ac172b"/>
              </a:buClr>
              <a:buFont typeface="StarSymbol"/>
              <a:buAutoNum type="arabicPeriod"/>
              <a:tabLst>
                <a:tab algn="l" pos="469800"/>
                <a:tab algn="l" pos="470520"/>
              </a:tabLst>
            </a:pP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Bob</a:t>
            </a:r>
            <a:r>
              <a:rPr b="0" lang="en-US" sz="2400" spc="-1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generates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pair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keeps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private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secret.</a:t>
            </a:r>
            <a:endParaRPr b="0" lang="en-US" sz="2400" spc="-1" strike="noStrike">
              <a:latin typeface="Arial"/>
            </a:endParaRPr>
          </a:p>
          <a:p>
            <a:pPr marL="469800" indent="-457920">
              <a:lnSpc>
                <a:spcPct val="100000"/>
              </a:lnSpc>
              <a:spcBef>
                <a:spcPts val="420"/>
              </a:spcBef>
              <a:buClr>
                <a:srgbClr val="ac172b"/>
              </a:buClr>
              <a:buFont typeface="StarSymbol"/>
              <a:buAutoNum type="arabicPeriod"/>
              <a:tabLst>
                <a:tab algn="l" pos="469800"/>
                <a:tab algn="l" pos="470520"/>
              </a:tabLst>
            </a:pP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Bob</a:t>
            </a:r>
            <a:r>
              <a:rPr b="0" lang="en-US" sz="2400" spc="-3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publishes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60" strike="noStrike">
                <a:solidFill>
                  <a:srgbClr val="000000"/>
                </a:solidFill>
                <a:latin typeface="Calibri"/>
                <a:ea typeface="DejaVu Sans"/>
              </a:rPr>
              <a:t>key.</a:t>
            </a:r>
            <a:endParaRPr b="0" lang="en-US" sz="2400" spc="-1" strike="noStrike">
              <a:latin typeface="Arial"/>
            </a:endParaRPr>
          </a:p>
          <a:p>
            <a:pPr marL="469800" indent="-457920">
              <a:lnSpc>
                <a:spcPts val="2594"/>
              </a:lnSpc>
              <a:spcBef>
                <a:spcPts val="431"/>
              </a:spcBef>
              <a:buClr>
                <a:srgbClr val="ac172b"/>
              </a:buClr>
              <a:buFont typeface="StarSymbol"/>
              <a:buAutoNum type="arabicPeriod"/>
              <a:tabLst>
                <a:tab algn="l" pos="469800"/>
                <a:tab algn="l" pos="470520"/>
              </a:tabLst>
            </a:pP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Alice</a:t>
            </a:r>
            <a:r>
              <a:rPr b="0" lang="en-US" sz="2400" spc="-2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wants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send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Bob</a:t>
            </a:r>
            <a:r>
              <a:rPr b="0" lang="en-US" sz="2400" spc="-26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confidential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message,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 she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takes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copy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Bob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's</a:t>
            </a:r>
            <a:endParaRPr b="0" lang="en-US" sz="2400" spc="-1" strike="noStrike">
              <a:latin typeface="Arial"/>
            </a:endParaRPr>
          </a:p>
          <a:p>
            <a:pPr marL="469800">
              <a:lnSpc>
                <a:spcPts val="2594"/>
              </a:lnSpc>
              <a:buNone/>
              <a:tabLst>
                <a:tab algn="l" pos="469800"/>
                <a:tab algn="l" pos="4705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0" lang="en-US" sz="2400" spc="-5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60" strike="noStrike">
                <a:solidFill>
                  <a:srgbClr val="000000"/>
                </a:solidFill>
                <a:latin typeface="Calibri"/>
                <a:ea typeface="DejaVu Sans"/>
              </a:rPr>
              <a:t>key.</a:t>
            </a:r>
            <a:endParaRPr b="0" lang="en-US" sz="2400" spc="-1" strike="noStrike">
              <a:latin typeface="Arial"/>
            </a:endParaRPr>
          </a:p>
          <a:p>
            <a:pPr marL="469800" indent="-457920">
              <a:lnSpc>
                <a:spcPct val="100000"/>
              </a:lnSpc>
              <a:spcBef>
                <a:spcPts val="420"/>
              </a:spcBef>
              <a:buClr>
                <a:srgbClr val="ac172b"/>
              </a:buClr>
              <a:buFont typeface="StarSymbol"/>
              <a:buAutoNum type="arabicPeriod" startAt="4"/>
              <a:tabLst>
                <a:tab algn="l" pos="469800"/>
                <a:tab algn="l" pos="470520"/>
              </a:tabLst>
            </a:pP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Alice</a:t>
            </a:r>
            <a:r>
              <a:rPr b="0" lang="en-US" sz="2400" spc="-2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Bob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's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encrypt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message.</a:t>
            </a:r>
            <a:endParaRPr b="0" lang="en-US" sz="2400" spc="-1" strike="noStrike">
              <a:latin typeface="Arial"/>
            </a:endParaRPr>
          </a:p>
          <a:p>
            <a:pPr marL="469800" indent="-457920">
              <a:lnSpc>
                <a:spcPct val="100000"/>
              </a:lnSpc>
              <a:spcBef>
                <a:spcPts val="420"/>
              </a:spcBef>
              <a:buClr>
                <a:srgbClr val="ac172b"/>
              </a:buClr>
              <a:buFont typeface="StarSymbol"/>
              <a:buAutoNum type="arabicPeriod" startAt="4"/>
              <a:tabLst>
                <a:tab algn="l" pos="469800"/>
                <a:tab algn="l" pos="470520"/>
              </a:tabLst>
            </a:pP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Alice</a:t>
            </a:r>
            <a:r>
              <a:rPr b="0" lang="en-US" sz="2400" spc="-26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sends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ciphertext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Bob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469800" indent="-457920">
              <a:lnSpc>
                <a:spcPct val="100000"/>
              </a:lnSpc>
              <a:spcBef>
                <a:spcPts val="431"/>
              </a:spcBef>
              <a:buClr>
                <a:srgbClr val="ac172b"/>
              </a:buClr>
              <a:buFont typeface="StarSymbol"/>
              <a:buAutoNum type="arabicPeriod" startAt="4"/>
              <a:tabLst>
                <a:tab algn="l" pos="469800"/>
                <a:tab algn="l" pos="470520"/>
              </a:tabLst>
            </a:pP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Bob</a:t>
            </a:r>
            <a:r>
              <a:rPr b="0" lang="en-US" sz="2400" spc="-1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receives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message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is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able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decrypt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 his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private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60" strike="noStrike">
                <a:solidFill>
                  <a:srgbClr val="000000"/>
                </a:solidFill>
                <a:latin typeface="Calibri"/>
                <a:ea typeface="DejaVu Sans"/>
              </a:rPr>
              <a:t>key.</a:t>
            </a:r>
            <a:endParaRPr b="0" lang="en-US" sz="2400" spc="-1" strike="noStrike">
              <a:latin typeface="Arial"/>
            </a:endParaRPr>
          </a:p>
          <a:p>
            <a:pPr marL="469800" indent="-457920">
              <a:lnSpc>
                <a:spcPct val="80000"/>
              </a:lnSpc>
              <a:spcBef>
                <a:spcPts val="1001"/>
              </a:spcBef>
              <a:buClr>
                <a:srgbClr val="000000"/>
              </a:buClr>
              <a:buFont typeface="StarSymbol"/>
              <a:buAutoNum type="arabicPeriod" startAt="4"/>
              <a:tabLst>
                <a:tab algn="l" pos="469800"/>
                <a:tab algn="l" pos="4705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Mallory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 been snooping, 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intercept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both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message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public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60" strike="noStrike">
                <a:solidFill>
                  <a:srgbClr val="000000"/>
                </a:solidFill>
                <a:latin typeface="Calibri"/>
                <a:ea typeface="DejaVu Sans"/>
              </a:rPr>
              <a:t>key.</a:t>
            </a:r>
            <a:endParaRPr b="0" lang="en-US" sz="2400" spc="-1" strike="noStrike">
              <a:latin typeface="Arial"/>
            </a:endParaRPr>
          </a:p>
          <a:p>
            <a:pPr marL="469800" indent="-457920">
              <a:lnSpc>
                <a:spcPts val="2299"/>
              </a:lnSpc>
              <a:spcBef>
                <a:spcPts val="981"/>
              </a:spcBef>
              <a:buClr>
                <a:srgbClr val="000000"/>
              </a:buClr>
              <a:buFont typeface="StarSymbol"/>
              <a:buAutoNum type="arabicPeriod" startAt="4"/>
              <a:tabLst>
                <a:tab algn="l" pos="469800"/>
                <a:tab algn="l" pos="470520"/>
              </a:tabLst>
            </a:pP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However,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Mallory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cannot 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public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decrypt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message, so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remains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secure.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PlaceHolder 2"/>
          <p:cNvSpPr>
            <a:spLocks noGrp="1"/>
          </p:cNvSpPr>
          <p:nvPr>
            <p:ph type="ftr" idx="46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dt" idx="4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sldNum" idx="4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DB8294D-F54E-4D53-A819-F4941932D69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57200" y="456120"/>
            <a:ext cx="98272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PUBLIC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KEY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CRYPTOGRAPHY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ALGORITHMS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3" name="object 3"/>
          <p:cNvSpPr/>
          <p:nvPr/>
        </p:nvSpPr>
        <p:spPr>
          <a:xfrm>
            <a:off x="457200" y="1135080"/>
            <a:ext cx="11201400" cy="47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Asymmetric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encryption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often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referred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1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cryptography.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Many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cryptography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products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based 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RSA</a:t>
            </a:r>
            <a:r>
              <a:rPr b="1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algorithm.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RSA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algorithm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mathematical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properties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deriving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pairs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encryption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decryption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operations.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99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algorithm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called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trapdoor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function, because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easy to perform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66" strike="noStrike">
                <a:solidFill>
                  <a:srgbClr val="000000"/>
                </a:solidFill>
                <a:latin typeface="Calibri"/>
                <a:ea typeface="DejaVu Sans"/>
              </a:rPr>
              <a:t>key,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difficult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reverse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without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knowing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private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60" strike="noStrike">
                <a:solidFill>
                  <a:srgbClr val="000000"/>
                </a:solidFill>
                <a:latin typeface="Calibri"/>
                <a:ea typeface="DejaVu Sans"/>
              </a:rPr>
              <a:t>key.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Elliptic curve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cryptography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(ECC)</a:t>
            </a:r>
            <a:r>
              <a:rPr b="1" lang="en-US" sz="24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another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trapdoor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public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cryptography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ciphers.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ECC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size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256 bits</a:t>
            </a:r>
            <a:r>
              <a:rPr b="1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very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approximately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comparable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RSA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size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2048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bits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PlaceHolder 2"/>
          <p:cNvSpPr>
            <a:spLocks noGrp="1"/>
          </p:cNvSpPr>
          <p:nvPr>
            <p:ph type="ftr" idx="49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dt" idx="5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sldNum" idx="5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890DCBF-E652-4D48-9B93-E117E424264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2023-09-02T17:15:29Z</dcterms:created>
  <dc:creator>Ahmed Sultan</dc:creator>
  <dc:description/>
  <dc:language>en-US</dc:language>
  <cp:lastModifiedBy/>
  <dcterms:modified xsi:type="dcterms:W3CDTF">2023-09-04T02:56:45Z</dcterms:modified>
  <cp:revision>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2021-09-09T00:00:00Z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2023-09-02T00:00:00Z</vt:filetime>
  </property>
  <property fmtid="{D5CDD505-2E9C-101B-9397-08002B2CF9AE}" pid="5" name="PresentationFormat">
    <vt:lpwstr>On-screen Show (4:3)</vt:lpwstr>
  </property>
</Properties>
</file>