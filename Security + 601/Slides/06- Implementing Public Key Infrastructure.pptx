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_rels/presentation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6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media/image1.png" ContentType="image/png"/>
  <Override PartName="/ppt/media/image3.jpeg" ContentType="image/jpeg"/>
  <Override PartName="/ppt/media/image2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8.xml.rels" ContentType="application/vnd.openxmlformats-package.relationships+xml"/>
  <Override PartName="/ppt/slides/_rels/slide18.xml.rels" ContentType="application/vnd.openxmlformats-package.relationships+xml"/>
  <Override PartName="/ppt/slides/_rels/slide17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38D1597-E787-47FC-83A7-2AE739A7A52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4AB7BB4-EECB-4514-8ED2-FF53C45AF2C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0681585-33CA-4C22-B97F-242CA7CB7B6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B57B2DF-8C26-4B76-909B-FD655405276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731DAF3-ABA1-4295-8696-D9EDA06619C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EA7FD51-CCC1-462C-8826-BE57D8A264A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495A899-BA45-40A3-994B-C707B56EB8B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BA63A57-AB8D-45EF-A975-D4759C29890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D846F66-2DD5-450E-A068-16EAD8C46BC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E65BA9F-4279-4584-BEA3-1105E1DBC3B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C6A6BF6-87EC-4C2E-A6C5-5FCC62BB35F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E0BE116-C910-4408-85C2-E6B79E4D760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CC4137E-7580-434D-ACC6-9E707F40ADC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765598F-4D85-4A09-87EA-508F0359E75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E56AECC-16D6-423E-BC4C-1496B91287B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6837DD1-95BA-4373-8A43-70585B4DE4B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50C83E3-5BB0-4D83-8F41-6242F5D7970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CA7AFAE-43AE-4558-B1FF-EB1F26DA0C0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4D2B92D-B58E-4D6C-8695-B6D34AF4371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58D337E-DAED-401A-AB40-B4582826AFB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8C6FAC8-FE72-446C-948E-71281DB6747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057E604-8578-49CE-95E4-B5A6F93017E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EE7F33F-7297-41EF-BD4B-DE54A5E9326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2411A82-9D36-4272-ADB6-444EA0ECD0D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F5206A1F-AEF1-4AC7-B302-6704092657F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65A5F88-43C2-4EF4-8E57-9BE6BC016E2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5A0227F-58C3-4ADB-9C02-8C9CBD4F156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2BE2C0F-50A2-4756-B142-B83E82E2C21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E606D9C-F399-4109-ACC7-B800E133002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4943073-A5D4-43B8-BB5D-14BB2AB69AB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5F626BC7-3EB1-49D8-A186-D4BBC95CAB8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4A2D118A-E5FC-4FC8-A978-B672F6DF6D9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E7259151-D51D-4660-8217-3635911BE30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C607B58-8F3E-40CB-B344-77E791A56B1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48FEEED0-FA53-4AD5-9A52-0B604CE7FE3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3EE05C9-6B6B-4BA3-BD6D-3339966B9EC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916920" y="6451560"/>
            <a:ext cx="102240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 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11098440" y="6451200"/>
            <a:ext cx="20376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3EBBC3D8-BAC7-41C0-A202-BE4CB071EDA1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17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5492520" y="6451560"/>
            <a:ext cx="112248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 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4"/>
          </p:nvPr>
        </p:nvSpPr>
        <p:spPr>
          <a:xfrm>
            <a:off x="916920" y="6451560"/>
            <a:ext cx="102240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&lt;footer&gt;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5"/>
          </p:nvPr>
        </p:nvSpPr>
        <p:spPr>
          <a:xfrm>
            <a:off x="11098440" y="6451200"/>
            <a:ext cx="20376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8D02F5FA-964A-42F5-8562-8644F5A3BA0B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6"/>
          </p:nvPr>
        </p:nvSpPr>
        <p:spPr>
          <a:xfrm>
            <a:off x="5492520" y="6451560"/>
            <a:ext cx="112248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ftr" idx="7"/>
          </p:nvPr>
        </p:nvSpPr>
        <p:spPr>
          <a:xfrm>
            <a:off x="916920" y="6451560"/>
            <a:ext cx="102240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&lt;footer&gt;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ldNum" idx="8"/>
          </p:nvPr>
        </p:nvSpPr>
        <p:spPr>
          <a:xfrm>
            <a:off x="11098440" y="6451200"/>
            <a:ext cx="20376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5B0D3655-CD42-4FFB-9235-B799A4F662D8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dt" idx="9"/>
          </p:nvPr>
        </p:nvSpPr>
        <p:spPr>
          <a:xfrm>
            <a:off x="5492520" y="6451560"/>
            <a:ext cx="112248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jpeg"/><Relationship Id="rId4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5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hyperlink" Target="https://tools.ietf.org/html/rfc5280" TargetMode="External"/><Relationship Id="rId2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" name="object 3"/>
          <p:cNvGrpSpPr/>
          <p:nvPr/>
        </p:nvGrpSpPr>
        <p:grpSpPr>
          <a:xfrm>
            <a:off x="2766240" y="3080160"/>
            <a:ext cx="6706440" cy="848160"/>
            <a:chOff x="2766240" y="3080160"/>
            <a:chExt cx="6706440" cy="848160"/>
          </a:xfrm>
        </p:grpSpPr>
        <p:pic>
          <p:nvPicPr>
            <p:cNvPr id="124" name="object 4" descr=""/>
            <p:cNvPicPr/>
            <p:nvPr/>
          </p:nvPicPr>
          <p:blipFill>
            <a:blip r:embed="rId1"/>
            <a:stretch/>
          </p:blipFill>
          <p:spPr>
            <a:xfrm>
              <a:off x="2865240" y="3159000"/>
              <a:ext cx="6511320" cy="5983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25" name="object 5" descr=""/>
            <p:cNvPicPr/>
            <p:nvPr/>
          </p:nvPicPr>
          <p:blipFill>
            <a:blip r:embed="rId2"/>
            <a:stretch/>
          </p:blipFill>
          <p:spPr>
            <a:xfrm>
              <a:off x="2766240" y="3080160"/>
              <a:ext cx="6706440" cy="84816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2881800" y="3166920"/>
            <a:ext cx="6428160" cy="1168200"/>
          </a:xfrm>
          <a:prstGeom prst="rect">
            <a:avLst/>
          </a:prstGeom>
          <a:solidFill>
            <a:srgbClr val="e1221a"/>
          </a:solidFill>
          <a:ln w="0">
            <a:noFill/>
          </a:ln>
        </p:spPr>
        <p:txBody>
          <a:bodyPr lIns="0" rIns="0" tIns="23400" bIns="0" anchor="t">
            <a:noAutofit/>
          </a:bodyPr>
          <a:p>
            <a:pPr marL="124560">
              <a:lnSpc>
                <a:spcPct val="100000"/>
              </a:lnSpc>
              <a:spcBef>
                <a:spcPts val="184"/>
              </a:spcBef>
              <a:buNone/>
            </a:pPr>
            <a:r>
              <a:rPr b="0" lang="en-US" sz="2800" spc="-12" strike="noStrike">
                <a:solidFill>
                  <a:srgbClr val="ffffff"/>
                </a:solidFill>
                <a:latin typeface="Calibri"/>
              </a:rPr>
              <a:t>06-</a:t>
            </a:r>
            <a:r>
              <a:rPr b="0" lang="en-US" sz="2800" spc="1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2800" spc="-12" strike="noStrike">
                <a:solidFill>
                  <a:srgbClr val="ffffff"/>
                </a:solidFill>
                <a:latin typeface="Calibri"/>
              </a:rPr>
              <a:t>Implementing</a:t>
            </a:r>
            <a:r>
              <a:rPr b="0" lang="en-US" sz="2800" spc="2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2800" spc="-12" strike="noStrike">
                <a:solidFill>
                  <a:srgbClr val="ffffff"/>
                </a:solidFill>
                <a:latin typeface="Calibri"/>
              </a:rPr>
              <a:t>Public</a:t>
            </a:r>
            <a:r>
              <a:rPr b="0" lang="en-US" sz="2800" spc="29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2800" spc="-26" strike="noStrike">
                <a:solidFill>
                  <a:srgbClr val="ffffff"/>
                </a:solidFill>
                <a:latin typeface="Calibri"/>
              </a:rPr>
              <a:t>Key</a:t>
            </a:r>
            <a:r>
              <a:rPr b="0" lang="en-US" sz="2800" spc="-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2800" spc="-15" strike="noStrike">
                <a:solidFill>
                  <a:srgbClr val="ffffff"/>
                </a:solidFill>
                <a:latin typeface="Calibri"/>
              </a:rPr>
              <a:t>Infrastructure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127" name="object 7" descr=""/>
          <p:cNvPicPr/>
          <p:nvPr/>
        </p:nvPicPr>
        <p:blipFill>
          <a:blip r:embed="rId3"/>
          <a:stretch/>
        </p:blipFill>
        <p:spPr>
          <a:xfrm>
            <a:off x="5041440" y="339480"/>
            <a:ext cx="2101320" cy="1930320"/>
          </a:xfrm>
          <a:prstGeom prst="rect">
            <a:avLst/>
          </a:prstGeom>
          <a:ln w="0">
            <a:noFill/>
          </a:ln>
        </p:spPr>
      </p:pic>
      <p:sp>
        <p:nvSpPr>
          <p:cNvPr id="128" name="object 1"/>
          <p:cNvSpPr/>
          <p:nvPr/>
        </p:nvSpPr>
        <p:spPr>
          <a:xfrm>
            <a:off x="6172200" y="5761800"/>
            <a:ext cx="5881680" cy="57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8160" indent="56196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1" lang="en-US" sz="1800" spc="-7" strike="noStrike">
                <a:solidFill>
                  <a:srgbClr val="001f5f"/>
                </a:solidFill>
                <a:latin typeface="Calibri"/>
                <a:ea typeface="DejaVu Sans"/>
              </a:rPr>
              <a:t>Ehab Fahmi </a:t>
            </a:r>
            <a:r>
              <a:rPr b="1" lang="en-US" sz="1800" spc="-1" strike="noStrike">
                <a:solidFill>
                  <a:srgbClr val="001f5f"/>
                </a:solidFill>
                <a:latin typeface="Calibri"/>
                <a:ea typeface="DejaVu Sans"/>
              </a:rPr>
              <a:t> </a:t>
            </a:r>
            <a:endParaRPr b="0" lang="en-US" sz="1800" spc="-1" strike="noStrike">
              <a:latin typeface="Arial"/>
            </a:endParaRPr>
          </a:p>
          <a:p>
            <a:pPr marL="38160" indent="56196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Senior Cyber Security Consultant - </a:t>
            </a:r>
            <a:r>
              <a:rPr b="0" lang="en-US" sz="18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Instructor 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274032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Outlines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30" name="object 3"/>
          <p:cNvSpPr/>
          <p:nvPr/>
        </p:nvSpPr>
        <p:spPr>
          <a:xfrm>
            <a:off x="916920" y="1715040"/>
            <a:ext cx="6156720" cy="162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27000"/>
              </a:lnSpc>
              <a:spcBef>
                <a:spcPts val="99"/>
              </a:spcBef>
              <a:buNone/>
            </a:pPr>
            <a:r>
              <a:rPr b="0" lang="en-US" sz="2200" spc="-7" strike="noStrike">
                <a:solidFill>
                  <a:srgbClr val="ba2709"/>
                </a:solidFill>
                <a:latin typeface="Calibri"/>
                <a:ea typeface="DejaVu Sans"/>
              </a:rPr>
              <a:t>6.1-</a:t>
            </a:r>
            <a:r>
              <a:rPr b="0" lang="en-US" sz="2200" spc="-1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Implement</a:t>
            </a:r>
            <a:r>
              <a:rPr b="0" lang="en-US" sz="2200" spc="4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Certificates</a:t>
            </a:r>
            <a:r>
              <a:rPr b="0" lang="en-US" sz="2200" spc="2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Certificate</a:t>
            </a:r>
            <a:r>
              <a:rPr b="0" lang="en-US" sz="22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Authorities </a:t>
            </a:r>
            <a:r>
              <a:rPr b="0" lang="en-US" sz="2200" spc="-48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ba2709"/>
                </a:solidFill>
                <a:latin typeface="Calibri"/>
                <a:ea typeface="DejaVu Sans"/>
              </a:rPr>
              <a:t>6.2-</a:t>
            </a:r>
            <a:r>
              <a:rPr b="0" lang="en-US" sz="2200" spc="-15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Implement</a:t>
            </a:r>
            <a:r>
              <a:rPr b="0" lang="en-US" sz="2200" spc="2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PKI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Management</a:t>
            </a:r>
            <a:endParaRPr b="0" lang="en-US" sz="2200" spc="-1" strike="noStrike">
              <a:latin typeface="Arial"/>
            </a:endParaRPr>
          </a:p>
          <a:p>
            <a:pPr marL="12600">
              <a:lnSpc>
                <a:spcPct val="100000"/>
              </a:lnSpc>
              <a:buNone/>
            </a:pPr>
            <a:endParaRPr b="0" lang="en-US" sz="2200" spc="-1" strike="noStrike">
              <a:latin typeface="Arial"/>
            </a:endParaRPr>
          </a:p>
        </p:txBody>
      </p:sp>
      <p:sp>
        <p:nvSpPr>
          <p:cNvPr id="131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2" name="PlaceHolder 2"/>
          <p:cNvSpPr>
            <a:spLocks noGrp="1"/>
          </p:cNvSpPr>
          <p:nvPr>
            <p:ph type="ftr" idx="10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dt" idx="11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34" name="PlaceHolder 4"/>
          <p:cNvSpPr>
            <a:spLocks noGrp="1"/>
          </p:cNvSpPr>
          <p:nvPr>
            <p:ph type="sldNum" idx="12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0AD0EAA5-EC1B-43E0-8CC8-67F86635E3B0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object 2"/>
          <p:cNvSpPr/>
          <p:nvPr/>
        </p:nvSpPr>
        <p:spPr>
          <a:xfrm>
            <a:off x="916920" y="1082520"/>
            <a:ext cx="6866640" cy="74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1" lang="en-US" sz="2400" spc="-7" strike="noStrike">
                <a:solidFill>
                  <a:srgbClr val="ba2709"/>
                </a:solidFill>
                <a:latin typeface="Calibri"/>
                <a:ea typeface="DejaVu Sans"/>
              </a:rPr>
              <a:t>6.1-</a:t>
            </a:r>
            <a:r>
              <a:rPr b="1" lang="en-US" sz="2400" spc="-21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ba2709"/>
                </a:solidFill>
                <a:latin typeface="Calibri"/>
                <a:ea typeface="DejaVu Sans"/>
              </a:rPr>
              <a:t>Implement </a:t>
            </a:r>
            <a:r>
              <a:rPr b="1" lang="en-US" sz="2400" spc="-12" strike="noStrike">
                <a:solidFill>
                  <a:srgbClr val="ba2709"/>
                </a:solidFill>
                <a:latin typeface="Calibri"/>
                <a:ea typeface="DejaVu Sans"/>
              </a:rPr>
              <a:t>Certificates</a:t>
            </a:r>
            <a:r>
              <a:rPr b="1" lang="en-US" sz="2400" spc="1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1" lang="en-US" sz="2400" spc="-1" strike="noStrike">
                <a:solidFill>
                  <a:srgbClr val="ba2709"/>
                </a:solidFill>
                <a:latin typeface="Calibri"/>
                <a:ea typeface="DejaVu Sans"/>
              </a:rPr>
              <a:t>and</a:t>
            </a:r>
            <a:r>
              <a:rPr b="1" lang="en-US" sz="2400" spc="-21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1" lang="en-US" sz="2400" spc="-12" strike="noStrike">
                <a:solidFill>
                  <a:srgbClr val="ba2709"/>
                </a:solidFill>
                <a:latin typeface="Calibri"/>
                <a:ea typeface="DejaVu Sans"/>
              </a:rPr>
              <a:t>Certificate</a:t>
            </a:r>
            <a:r>
              <a:rPr b="1" lang="en-US" sz="2400" spc="-1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ba2709"/>
                </a:solidFill>
                <a:latin typeface="Calibri"/>
                <a:ea typeface="DejaVu Sans"/>
              </a:rPr>
              <a:t>Authorities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36" name="object 3"/>
          <p:cNvSpPr/>
          <p:nvPr/>
        </p:nvSpPr>
        <p:spPr>
          <a:xfrm>
            <a:off x="916920" y="2264400"/>
            <a:ext cx="5712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6.2-</a:t>
            </a:r>
            <a:r>
              <a:rPr b="0" lang="en-US" sz="22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Implement</a:t>
            </a:r>
            <a:r>
              <a:rPr b="0" lang="en-US" sz="22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PKI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 Management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37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PlaceHolder 1"/>
          <p:cNvSpPr>
            <a:spLocks noGrp="1"/>
          </p:cNvSpPr>
          <p:nvPr>
            <p:ph type="ftr" idx="13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 type="dt" idx="14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sldNum" idx="15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6EEB58B7-B8C6-465A-BF1E-B5837ACB14BE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7998120" cy="91512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PUBLIC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AND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PRIVATE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KEY</a:t>
            </a:r>
            <a:r>
              <a:rPr b="0" lang="en-US" sz="36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USAGE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42" name="object 3"/>
          <p:cNvSpPr/>
          <p:nvPr/>
        </p:nvSpPr>
        <p:spPr>
          <a:xfrm>
            <a:off x="916920" y="1802520"/>
            <a:ext cx="10185840" cy="441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Public </a:t>
            </a:r>
            <a:r>
              <a:rPr b="0" lang="en-US" sz="2400" spc="-26" strike="noStrike">
                <a:solidFill>
                  <a:srgbClr val="006fc0"/>
                </a:solidFill>
                <a:latin typeface="Calibri"/>
                <a:ea typeface="DejaVu Sans"/>
              </a:rPr>
              <a:t>key 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cryptography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solves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problem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distributing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encryption 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keys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when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you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want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communicate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securely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others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authenticate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message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you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send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others.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1"/>
              </a:spcBef>
              <a:buNone/>
              <a:tabLst>
                <a:tab algn="l" pos="241920"/>
              </a:tabLst>
            </a:pPr>
            <a:endParaRPr b="0" lang="en-US" sz="335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6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When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you</a:t>
            </a:r>
            <a:r>
              <a:rPr b="0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want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others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send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you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7" strike="noStrike">
                <a:solidFill>
                  <a:srgbClr val="c00000"/>
                </a:solidFill>
                <a:latin typeface="Calibri"/>
                <a:ea typeface="DejaVu Sans"/>
              </a:rPr>
              <a:t>confidential</a:t>
            </a:r>
            <a:r>
              <a:rPr b="1" lang="en-US" sz="2000" spc="-26" strike="noStrike">
                <a:solidFill>
                  <a:srgbClr val="c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messages,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you give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them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your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public</a:t>
            </a:r>
            <a:r>
              <a:rPr b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key</a:t>
            </a:r>
            <a:r>
              <a:rPr b="1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encrypt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message,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 message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then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only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 decrypted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your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private</a:t>
            </a:r>
            <a:r>
              <a:rPr b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key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,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which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you</a:t>
            </a:r>
            <a:r>
              <a:rPr b="0" lang="en-US" sz="20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keep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known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only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yourself.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None/>
              <a:tabLst>
                <a:tab algn="l" pos="699120"/>
              </a:tabLst>
            </a:pPr>
            <a:endParaRPr b="0" lang="en-US" sz="255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6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When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you</a:t>
            </a:r>
            <a:r>
              <a:rPr b="0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want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12" strike="noStrike">
                <a:solidFill>
                  <a:srgbClr val="ac172b"/>
                </a:solidFill>
                <a:latin typeface="Calibri"/>
                <a:ea typeface="DejaVu Sans"/>
              </a:rPr>
              <a:t>authenticate</a:t>
            </a:r>
            <a:r>
              <a:rPr b="1" lang="en-US" sz="2000" spc="-21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yourself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others,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you</a:t>
            </a:r>
            <a:r>
              <a:rPr b="0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create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signature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sign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it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by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encrypting</a:t>
            </a:r>
            <a:r>
              <a:rPr b="0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signature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your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private</a:t>
            </a:r>
            <a:r>
              <a:rPr b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key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52" strike="noStrike">
                <a:solidFill>
                  <a:srgbClr val="000000"/>
                </a:solidFill>
                <a:latin typeface="Calibri"/>
                <a:ea typeface="DejaVu Sans"/>
              </a:rPr>
              <a:t>You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give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others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your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public</a:t>
            </a:r>
            <a:r>
              <a:rPr b="1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key</a:t>
            </a:r>
            <a:r>
              <a:rPr b="1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use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decrypt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signature,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only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you</a:t>
            </a:r>
            <a:r>
              <a:rPr b="0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know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private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55" strike="noStrike">
                <a:solidFill>
                  <a:srgbClr val="000000"/>
                </a:solidFill>
                <a:latin typeface="Calibri"/>
                <a:ea typeface="DejaVu Sans"/>
              </a:rPr>
              <a:t>key,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everyone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assured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only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you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could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have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created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the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signature.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43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4" name="PlaceHolder 2"/>
          <p:cNvSpPr>
            <a:spLocks noGrp="1"/>
          </p:cNvSpPr>
          <p:nvPr>
            <p:ph type="ftr" idx="16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dt" idx="17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46" name="PlaceHolder 4"/>
          <p:cNvSpPr>
            <a:spLocks noGrp="1"/>
          </p:cNvSpPr>
          <p:nvPr>
            <p:ph type="sldNum" idx="18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A9CBCDF6-F74A-4709-9C69-0009E5632BA5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717336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PUBLIC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AND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PRIVATE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KEY</a:t>
            </a:r>
            <a:r>
              <a:rPr b="0" lang="en-US" sz="3600" spc="-8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USAGE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48" name="object 3"/>
          <p:cNvSpPr/>
          <p:nvPr/>
        </p:nvSpPr>
        <p:spPr>
          <a:xfrm>
            <a:off x="916920" y="1802520"/>
            <a:ext cx="10119960" cy="319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 basic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problem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with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public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key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cryptography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 you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may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not really know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whom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you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communicating.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68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system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is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vulnerable</a:t>
            </a:r>
            <a:r>
              <a:rPr b="0" lang="en-US" sz="24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man-in-the-middle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attacks.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70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problem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particularly</a:t>
            </a:r>
            <a:r>
              <a:rPr b="0" lang="en-US" sz="2400" spc="-4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evident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e-commerce.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3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How can you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sure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that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shopping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site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 banking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service is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really maintained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whom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claims?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1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fact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that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site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distributing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public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keys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secure communications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no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guarantee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actual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identity.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49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0" name="PlaceHolder 2"/>
          <p:cNvSpPr>
            <a:spLocks noGrp="1"/>
          </p:cNvSpPr>
          <p:nvPr>
            <p:ph type="ftr" idx="19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dt" idx="20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52" name="PlaceHolder 4"/>
          <p:cNvSpPr>
            <a:spLocks noGrp="1"/>
          </p:cNvSpPr>
          <p:nvPr>
            <p:ph type="sldNum" idx="21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F4CB860D-89CF-4C72-B800-E194A1975FD3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717336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PUBLIC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AND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PRIVATE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KEY</a:t>
            </a:r>
            <a:r>
              <a:rPr b="0" lang="en-US" sz="3600" spc="-8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USAGE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54" name="object 3"/>
          <p:cNvSpPr/>
          <p:nvPr/>
        </p:nvSpPr>
        <p:spPr>
          <a:xfrm>
            <a:off x="916920" y="1802520"/>
            <a:ext cx="10314360" cy="37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How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do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you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know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 you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are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corresponding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directly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with 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site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using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its 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certificate?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How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you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sure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there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isn't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man-in-the-middle</a:t>
            </a:r>
            <a:r>
              <a:rPr b="0" lang="en-US" sz="24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intercepting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modifying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what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you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think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legitimate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server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is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sending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you?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various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models.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20"/>
              </a:spcBef>
              <a:buClr>
                <a:srgbClr val="ac172b"/>
              </a:buClr>
              <a:buFont typeface="Arial MT"/>
              <a:buChar char="•"/>
              <a:tabLst>
                <a:tab algn="l" pos="241920"/>
              </a:tabLst>
            </a:pPr>
            <a:r>
              <a:rPr b="1" lang="en-US" sz="2400" spc="-7" strike="noStrike">
                <a:solidFill>
                  <a:srgbClr val="ac172b"/>
                </a:solidFill>
                <a:latin typeface="Calibri"/>
                <a:ea typeface="DejaVu Sans"/>
              </a:rPr>
              <a:t>Public</a:t>
            </a:r>
            <a:r>
              <a:rPr b="1" lang="en-US" sz="2400" spc="-1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1" lang="en-US" sz="2400" spc="-32" strike="noStrike">
                <a:solidFill>
                  <a:srgbClr val="ac172b"/>
                </a:solidFill>
                <a:latin typeface="Calibri"/>
                <a:ea typeface="DejaVu Sans"/>
              </a:rPr>
              <a:t>key</a:t>
            </a:r>
            <a:r>
              <a:rPr b="1" lang="en-US" sz="2400" spc="-12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1" lang="en-US" sz="2400" spc="-15" strike="noStrike">
                <a:solidFill>
                  <a:srgbClr val="ac172b"/>
                </a:solidFill>
                <a:latin typeface="Calibri"/>
                <a:ea typeface="DejaVu Sans"/>
              </a:rPr>
              <a:t>infrastructure</a:t>
            </a:r>
            <a:r>
              <a:rPr b="1" lang="en-US" sz="2400" spc="1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ac172b"/>
                </a:solidFill>
                <a:latin typeface="Calibri"/>
                <a:ea typeface="DejaVu Sans"/>
              </a:rPr>
              <a:t>(PKI)</a:t>
            </a:r>
            <a:r>
              <a:rPr b="1" lang="en-US" sz="2400" spc="7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aims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prove</a:t>
            </a:r>
            <a:r>
              <a:rPr b="0" lang="en-US" sz="24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owners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public 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keys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are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who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they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say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they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are.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66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Under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12" strike="noStrike">
                <a:solidFill>
                  <a:srgbClr val="ac172b"/>
                </a:solidFill>
                <a:latin typeface="Calibri"/>
                <a:ea typeface="DejaVu Sans"/>
              </a:rPr>
              <a:t>PKI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anyone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issuing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public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keys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should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obtain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12" strike="noStrike">
                <a:solidFill>
                  <a:srgbClr val="ac172b"/>
                </a:solidFill>
                <a:latin typeface="Calibri"/>
                <a:ea typeface="DejaVu Sans"/>
              </a:rPr>
              <a:t>digital</a:t>
            </a:r>
            <a:r>
              <a:rPr b="1" lang="en-US" sz="2400" spc="1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1" lang="en-US" sz="2400" spc="-12" strike="noStrike">
                <a:solidFill>
                  <a:srgbClr val="ac172b"/>
                </a:solidFill>
                <a:latin typeface="Calibri"/>
                <a:ea typeface="DejaVu Sans"/>
              </a:rPr>
              <a:t>certificate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70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validity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certificate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guaranteed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12" strike="noStrike">
                <a:solidFill>
                  <a:srgbClr val="ac172b"/>
                </a:solidFill>
                <a:latin typeface="Calibri"/>
                <a:ea typeface="DejaVu Sans"/>
              </a:rPr>
              <a:t>certificate</a:t>
            </a:r>
            <a:r>
              <a:rPr b="1" lang="en-US" sz="2400" spc="-7" strike="noStrike">
                <a:solidFill>
                  <a:srgbClr val="ac172b"/>
                </a:solidFill>
                <a:latin typeface="Calibri"/>
                <a:ea typeface="DejaVu Sans"/>
              </a:rPr>
              <a:t> authority</a:t>
            </a:r>
            <a:r>
              <a:rPr b="1" lang="en-US" sz="2400" spc="7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ac172b"/>
                </a:solidFill>
                <a:latin typeface="Calibri"/>
                <a:ea typeface="DejaVu Sans"/>
              </a:rPr>
              <a:t>(CA).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55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6" name="PlaceHolder 2"/>
          <p:cNvSpPr>
            <a:spLocks noGrp="1"/>
          </p:cNvSpPr>
          <p:nvPr>
            <p:ph type="ftr" idx="22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dt" idx="23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58" name="PlaceHolder 4"/>
          <p:cNvSpPr>
            <a:spLocks noGrp="1"/>
          </p:cNvSpPr>
          <p:nvPr>
            <p:ph type="sldNum" idx="24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2BBEE314-8A71-4F13-86A5-7C5CB6D9E763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477972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60" strike="noStrike">
                <a:solidFill>
                  <a:srgbClr val="c00000"/>
                </a:solidFill>
                <a:latin typeface="Calibri Light"/>
              </a:rPr>
              <a:t>CERTIFICATE</a:t>
            </a:r>
            <a:r>
              <a:rPr b="0" lang="en-US" sz="3600" spc="-13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AUTHORITIES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60" name="object 3"/>
          <p:cNvSpPr/>
          <p:nvPr/>
        </p:nvSpPr>
        <p:spPr>
          <a:xfrm>
            <a:off x="916920" y="1802520"/>
            <a:ext cx="10094040" cy="389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12" strike="noStrike">
                <a:solidFill>
                  <a:srgbClr val="ac172b"/>
                </a:solidFill>
                <a:latin typeface="Calibri"/>
                <a:ea typeface="DejaVu Sans"/>
              </a:rPr>
              <a:t>Certificate</a:t>
            </a:r>
            <a:r>
              <a:rPr b="1" lang="en-US" sz="2400" spc="-1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ac172b"/>
                </a:solidFill>
                <a:latin typeface="Calibri"/>
                <a:ea typeface="DejaVu Sans"/>
              </a:rPr>
              <a:t>Authority (CA)</a:t>
            </a:r>
            <a:r>
              <a:rPr b="1" lang="en-US" sz="2400" spc="7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entity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responsible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issuing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guaranteeing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certificates.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68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1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Private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CAs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set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up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within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organization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internal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communications.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40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Most network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operating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systems,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including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Windows 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Server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have</a:t>
            </a:r>
            <a:r>
              <a:rPr b="0" lang="en-US" sz="24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certificate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services.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01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public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 business-to-business</a:t>
            </a:r>
            <a:r>
              <a:rPr b="0" lang="en-US" sz="24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communications, </a:t>
            </a:r>
            <a:r>
              <a:rPr b="0" lang="en-US" sz="2400" spc="-41" strike="noStrike">
                <a:solidFill>
                  <a:srgbClr val="000000"/>
                </a:solidFill>
                <a:latin typeface="Calibri"/>
                <a:ea typeface="DejaVu Sans"/>
              </a:rPr>
              <a:t>however,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CA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must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trusted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each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party.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1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Third-party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CA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services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include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IdenTrust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lang="en-US" sz="24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Digicert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Sectigo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/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Comodo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GoDaddy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,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GlobalSign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61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2" name="PlaceHolder 2"/>
          <p:cNvSpPr>
            <a:spLocks noGrp="1"/>
          </p:cNvSpPr>
          <p:nvPr>
            <p:ph type="ftr" idx="25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dt" idx="26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64" name="PlaceHolder 4"/>
          <p:cNvSpPr>
            <a:spLocks noGrp="1"/>
          </p:cNvSpPr>
          <p:nvPr>
            <p:ph type="sldNum" idx="27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DF89F9A7-125E-4F97-B79E-C4214282EEFE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605520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60" strike="noStrike">
                <a:solidFill>
                  <a:srgbClr val="c00000"/>
                </a:solidFill>
                <a:latin typeface="Calibri Light"/>
              </a:rPr>
              <a:t>CERTIFICATE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AUTHORITIES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66" name="object 3"/>
          <p:cNvSpPr/>
          <p:nvPr/>
        </p:nvSpPr>
        <p:spPr>
          <a:xfrm>
            <a:off x="916920" y="1758960"/>
            <a:ext cx="10303920" cy="23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652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44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functions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CA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as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follows: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89"/>
              </a:spcBef>
              <a:buClr>
                <a:srgbClr val="ac172b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Provide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range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 certificate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services</a:t>
            </a:r>
            <a:r>
              <a:rPr b="0" lang="en-US" sz="20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useful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community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users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serviced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CA.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49"/>
              </a:spcBef>
              <a:buClr>
                <a:srgbClr val="ac172b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Ensure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validity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certificates</a:t>
            </a:r>
            <a:r>
              <a:rPr b="0" lang="en-US" sz="20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identity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those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applying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them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(registration).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41"/>
              </a:spcBef>
              <a:buClr>
                <a:srgbClr val="ac172b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Establish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trust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users</a:t>
            </a:r>
            <a:r>
              <a:rPr b="0" lang="en-US" sz="20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government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regulatory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authorities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enterprises,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such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as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financial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institutions.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67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68" name="object 5" descr=""/>
          <p:cNvPicPr/>
          <p:nvPr/>
        </p:nvPicPr>
        <p:blipFill>
          <a:blip r:embed="rId1"/>
          <a:stretch/>
        </p:blipFill>
        <p:spPr>
          <a:xfrm>
            <a:off x="3063240" y="3666600"/>
            <a:ext cx="6064920" cy="2509200"/>
          </a:xfrm>
          <a:prstGeom prst="rect">
            <a:avLst/>
          </a:prstGeom>
          <a:ln w="0">
            <a:noFill/>
          </a:ln>
        </p:spPr>
      </p:pic>
      <p:sp>
        <p:nvSpPr>
          <p:cNvPr id="169" name="PlaceHolder 2"/>
          <p:cNvSpPr>
            <a:spLocks noGrp="1"/>
          </p:cNvSpPr>
          <p:nvPr>
            <p:ph type="ftr" idx="28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dt" idx="29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71" name="PlaceHolder 4"/>
          <p:cNvSpPr>
            <a:spLocks noGrp="1"/>
          </p:cNvSpPr>
          <p:nvPr>
            <p:ph type="sldNum" idx="30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0517DD30-DBD3-4B9C-9F41-FC757D7BABAC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5941080" cy="6868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12" strike="noStrike">
                <a:solidFill>
                  <a:srgbClr val="c00000"/>
                </a:solidFill>
                <a:latin typeface="Calibri Light"/>
              </a:rPr>
              <a:t>PKI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TRUST</a:t>
            </a:r>
            <a:r>
              <a:rPr b="0" lang="en-US" sz="3600" spc="-12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MODELS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73" name="object 3"/>
          <p:cNvSpPr/>
          <p:nvPr/>
        </p:nvSpPr>
        <p:spPr>
          <a:xfrm>
            <a:off x="916920" y="1802520"/>
            <a:ext cx="10207440" cy="320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 trust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model is 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critical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PKI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concept,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shows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how users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different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CAs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able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trust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one 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another.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"/>
              </a:spcBef>
              <a:buNone/>
              <a:tabLst>
                <a:tab algn="l" pos="241920"/>
              </a:tabLst>
            </a:pPr>
            <a:endParaRPr b="0" lang="en-US" sz="35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buClr>
                <a:srgbClr val="ac172b"/>
              </a:buClr>
              <a:buFont typeface="Wingdings" charset="2"/>
              <a:buChar char=""/>
              <a:tabLst>
                <a:tab algn="l" pos="241920"/>
              </a:tabLst>
            </a:pPr>
            <a:r>
              <a:rPr b="1" lang="en-US" sz="2400" spc="-1" strike="noStrike">
                <a:solidFill>
                  <a:srgbClr val="ac172b"/>
                </a:solidFill>
                <a:latin typeface="Calibri"/>
                <a:ea typeface="DejaVu Sans"/>
              </a:rPr>
              <a:t>Single</a:t>
            </a:r>
            <a:r>
              <a:rPr b="1" lang="en-US" sz="2400" spc="-46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ac172b"/>
                </a:solidFill>
                <a:latin typeface="Calibri"/>
                <a:ea typeface="DejaVu Sans"/>
              </a:rPr>
              <a:t>CA</a:t>
            </a:r>
            <a:endParaRPr b="0" lang="en-US" sz="24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50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simple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model,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single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 issues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certificates</a:t>
            </a:r>
            <a:r>
              <a:rPr b="0" lang="en-US" sz="2000" spc="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users;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users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trust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certificates</a:t>
            </a:r>
            <a:r>
              <a:rPr b="0" lang="en-US" sz="2000" spc="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issued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by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 CA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no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41" strike="noStrike">
                <a:solidFill>
                  <a:srgbClr val="000000"/>
                </a:solidFill>
                <a:latin typeface="Calibri"/>
                <a:ea typeface="DejaVu Sans"/>
              </a:rPr>
              <a:t>other.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35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problem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with this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approach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single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CA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server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very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exposed.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64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If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it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compromised,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whole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PKI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collapses.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74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5" name="PlaceHolder 2"/>
          <p:cNvSpPr>
            <a:spLocks noGrp="1"/>
          </p:cNvSpPr>
          <p:nvPr>
            <p:ph type="ftr" idx="31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 type="dt" idx="32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77" name="PlaceHolder 4"/>
          <p:cNvSpPr>
            <a:spLocks noGrp="1"/>
          </p:cNvSpPr>
          <p:nvPr>
            <p:ph type="sldNum" idx="33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37FC6AD0-0FB5-4EE5-8D3A-3A071464E66A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479412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12" strike="noStrike">
                <a:solidFill>
                  <a:srgbClr val="c00000"/>
                </a:solidFill>
                <a:latin typeface="Calibri Light"/>
              </a:rPr>
              <a:t>PKI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TRUST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MODELS</a:t>
            </a:r>
            <a:r>
              <a:rPr b="0" lang="en-US" sz="3600" spc="-11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79" name="object 3"/>
          <p:cNvSpPr/>
          <p:nvPr/>
        </p:nvSpPr>
        <p:spPr>
          <a:xfrm>
            <a:off x="916920" y="1758960"/>
            <a:ext cx="10252800" cy="454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652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445"/>
              </a:spcBef>
              <a:buClr>
                <a:srgbClr val="ac172b"/>
              </a:buClr>
              <a:buFont typeface="Wingdings" charset="2"/>
              <a:buChar char=""/>
              <a:tabLst>
                <a:tab algn="l" pos="241920"/>
              </a:tabLst>
            </a:pPr>
            <a:r>
              <a:rPr b="1" lang="en-US" sz="2400" spc="-12" strike="noStrike">
                <a:solidFill>
                  <a:srgbClr val="ac172b"/>
                </a:solidFill>
                <a:latin typeface="Calibri"/>
                <a:ea typeface="DejaVu Sans"/>
              </a:rPr>
              <a:t>Hierarchical</a:t>
            </a:r>
            <a:r>
              <a:rPr b="1" lang="en-US" sz="2400" spc="-41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1" lang="en-US" sz="2400" spc="-15" strike="noStrike">
                <a:solidFill>
                  <a:srgbClr val="ac172b"/>
                </a:solidFill>
                <a:latin typeface="Calibri"/>
                <a:ea typeface="DejaVu Sans"/>
              </a:rPr>
              <a:t>(Intermediate</a:t>
            </a:r>
            <a:r>
              <a:rPr b="1" lang="en-US" sz="2400" spc="-12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ac172b"/>
                </a:solidFill>
                <a:latin typeface="Calibri"/>
                <a:ea typeface="DejaVu Sans"/>
              </a:rPr>
              <a:t>CA)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8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 the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hierarchical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model,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single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 (called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root)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issues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certificates</a:t>
            </a:r>
            <a:r>
              <a:rPr b="0" lang="en-US" sz="2000" spc="2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several</a:t>
            </a:r>
            <a:endParaRPr b="0" lang="en-US" sz="2000" spc="-1" strike="noStrike">
              <a:latin typeface="Arial"/>
            </a:endParaRPr>
          </a:p>
          <a:p>
            <a:pPr marL="698400">
              <a:lnSpc>
                <a:spcPts val="2279"/>
              </a:lnSpc>
              <a:buNone/>
              <a:tabLst>
                <a:tab algn="l" pos="699120"/>
              </a:tabLst>
            </a:pP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intermediate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CAs.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55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intermediate</a:t>
            </a:r>
            <a:r>
              <a:rPr b="0" lang="en-US" sz="2000" spc="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CAs issue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certificates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subjects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(leaf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end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entities).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36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model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has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advantage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different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intermediate</a:t>
            </a:r>
            <a:r>
              <a:rPr b="0" lang="en-US" sz="2000" spc="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CAs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set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up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different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certificate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policies,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enabling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users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perceive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clearly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what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particular certificate</a:t>
            </a:r>
            <a:r>
              <a:rPr b="0" lang="en-US" sz="2000" spc="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designed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66" strike="noStrike">
                <a:solidFill>
                  <a:srgbClr val="000000"/>
                </a:solidFill>
                <a:latin typeface="Calibri"/>
                <a:ea typeface="DejaVu Sans"/>
              </a:rPr>
              <a:t>for.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35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Each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leaf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certificate</a:t>
            </a:r>
            <a:r>
              <a:rPr b="0" lang="en-US" sz="2000" spc="4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traced back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root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CA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along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certification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path.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4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also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referred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as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</a:t>
            </a:r>
            <a:r>
              <a:rPr b="1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ertificate</a:t>
            </a:r>
            <a:r>
              <a:rPr b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chaining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chain</a:t>
            </a:r>
            <a:r>
              <a:rPr b="1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1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trust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64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root's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certificate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self-signed.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64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 the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hierarchical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model,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root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is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still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single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point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failure.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55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If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root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damaged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compromised,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whole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structure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collapses.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80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1" name="PlaceHolder 2"/>
          <p:cNvSpPr>
            <a:spLocks noGrp="1"/>
          </p:cNvSpPr>
          <p:nvPr>
            <p:ph type="ftr" idx="34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 type="dt" idx="35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83" name="PlaceHolder 4"/>
          <p:cNvSpPr>
            <a:spLocks noGrp="1"/>
          </p:cNvSpPr>
          <p:nvPr>
            <p:ph type="sldNum" idx="36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8EA4AA32-9C0C-4840-AF1D-5BB018A79ACB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479412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12" strike="noStrike">
                <a:solidFill>
                  <a:srgbClr val="c00000"/>
                </a:solidFill>
                <a:latin typeface="Calibri Light"/>
              </a:rPr>
              <a:t>PKI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TRUST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MODELS</a:t>
            </a:r>
            <a:r>
              <a:rPr b="0" lang="en-US" sz="3600" spc="-11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85" name="object 3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86" name="object 4" descr=""/>
          <p:cNvPicPr/>
          <p:nvPr/>
        </p:nvPicPr>
        <p:blipFill>
          <a:blip r:embed="rId1"/>
          <a:stretch/>
        </p:blipFill>
        <p:spPr>
          <a:xfrm>
            <a:off x="4041720" y="1690200"/>
            <a:ext cx="4107960" cy="4435560"/>
          </a:xfrm>
          <a:prstGeom prst="rect">
            <a:avLst/>
          </a:prstGeom>
          <a:ln w="0">
            <a:noFill/>
          </a:ln>
        </p:spPr>
      </p:pic>
      <p:sp>
        <p:nvSpPr>
          <p:cNvPr id="187" name="PlaceHolder 2"/>
          <p:cNvSpPr>
            <a:spLocks noGrp="1"/>
          </p:cNvSpPr>
          <p:nvPr>
            <p:ph type="ftr" idx="37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 type="dt" idx="38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89" name="PlaceHolder 4"/>
          <p:cNvSpPr>
            <a:spLocks noGrp="1"/>
          </p:cNvSpPr>
          <p:nvPr>
            <p:ph type="sldNum" idx="39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7DEDC593-BA53-4253-9A9F-DAB9AAA9C42D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479412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12" strike="noStrike">
                <a:solidFill>
                  <a:srgbClr val="c00000"/>
                </a:solidFill>
                <a:latin typeface="Calibri Light"/>
              </a:rPr>
              <a:t>PKI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TRUST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MODELS</a:t>
            </a:r>
            <a:r>
              <a:rPr b="0" lang="en-US" sz="3600" spc="-11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91" name="object 3"/>
          <p:cNvSpPr/>
          <p:nvPr/>
        </p:nvSpPr>
        <p:spPr>
          <a:xfrm>
            <a:off x="916920" y="1758960"/>
            <a:ext cx="10204200" cy="348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652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445"/>
              </a:spcBef>
              <a:buClr>
                <a:srgbClr val="ac172b"/>
              </a:buClr>
              <a:buFont typeface="Arial MT"/>
              <a:buChar char="•"/>
              <a:tabLst>
                <a:tab algn="l" pos="241920"/>
              </a:tabLst>
            </a:pPr>
            <a:r>
              <a:rPr b="1" lang="en-US" sz="2400" spc="-7" strike="noStrike">
                <a:solidFill>
                  <a:srgbClr val="ac172b"/>
                </a:solidFill>
                <a:latin typeface="Calibri"/>
                <a:ea typeface="DejaVu Sans"/>
              </a:rPr>
              <a:t>Online</a:t>
            </a:r>
            <a:r>
              <a:rPr b="1" lang="en-US" sz="2400" spc="-21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ac172b"/>
                </a:solidFill>
                <a:latin typeface="Calibri"/>
                <a:ea typeface="DejaVu Sans"/>
              </a:rPr>
              <a:t>vs.</a:t>
            </a:r>
            <a:r>
              <a:rPr b="1" lang="en-US" sz="2400" spc="-32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ac172b"/>
                </a:solidFill>
                <a:latin typeface="Calibri"/>
                <a:ea typeface="DejaVu Sans"/>
              </a:rPr>
              <a:t>Offline CAs</a:t>
            </a:r>
            <a:endParaRPr b="0" lang="en-US" sz="2400" spc="-1" strike="noStrike">
              <a:latin typeface="Arial"/>
            </a:endParaRPr>
          </a:p>
          <a:p>
            <a:pPr lvl="1" marL="698400" indent="-699120">
              <a:lnSpc>
                <a:spcPts val="2279"/>
              </a:lnSpc>
              <a:spcBef>
                <a:spcPts val="28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online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one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available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accept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process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certificate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signing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requests,</a:t>
            </a:r>
            <a:endParaRPr b="0" lang="en-US" sz="2000" spc="-1" strike="noStrike">
              <a:latin typeface="Arial"/>
            </a:endParaRPr>
          </a:p>
          <a:p>
            <a:pPr algn="ctr">
              <a:lnSpc>
                <a:spcPts val="2279"/>
              </a:lnSpc>
              <a:buNone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publish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certificate</a:t>
            </a:r>
            <a:r>
              <a:rPr b="0" lang="en-US" sz="2000" spc="4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revocation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lists,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perform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other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certificate</a:t>
            </a:r>
            <a:r>
              <a:rPr b="0" lang="en-US" sz="2000" spc="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management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tasks.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24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Because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high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risk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posed by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compromising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root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CA,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secure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configuration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involves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making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root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offline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CA.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05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means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disconnected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from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any network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and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usually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kept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powered-down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state.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35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root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CA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will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need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brought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online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add or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update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intermediate</a:t>
            </a:r>
            <a:r>
              <a:rPr b="0" lang="en-US" sz="2000" spc="4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CAs.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92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3" name="PlaceHolder 2"/>
          <p:cNvSpPr>
            <a:spLocks noGrp="1"/>
          </p:cNvSpPr>
          <p:nvPr>
            <p:ph type="ftr" idx="40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 type="dt" idx="41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95" name="PlaceHolder 4"/>
          <p:cNvSpPr>
            <a:spLocks noGrp="1"/>
          </p:cNvSpPr>
          <p:nvPr>
            <p:ph type="sldNum" idx="42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F23A0475-215D-45C9-9E73-AF0DC0C3BF7B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9370080" cy="9154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60" strike="noStrike">
                <a:solidFill>
                  <a:srgbClr val="c00000"/>
                </a:solidFill>
                <a:latin typeface="Calibri Light"/>
              </a:rPr>
              <a:t>REGISTRATION</a:t>
            </a:r>
            <a:r>
              <a:rPr b="0" lang="en-US" sz="3600" spc="-114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AUTHORITIES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AND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CSRS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97" name="object 3"/>
          <p:cNvSpPr/>
          <p:nvPr/>
        </p:nvSpPr>
        <p:spPr>
          <a:xfrm>
            <a:off x="736920" y="1298520"/>
            <a:ext cx="10321200" cy="453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Registration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process by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which end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users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create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account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with 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CA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become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authorized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request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certificates.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741"/>
              </a:lnSpc>
              <a:spcBef>
                <a:spcPts val="68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exact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processes by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which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users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authorized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and their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identity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proven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endParaRPr b="0" lang="en-US" sz="2400" spc="-1" strike="noStrike">
              <a:latin typeface="Arial"/>
            </a:endParaRPr>
          </a:p>
          <a:p>
            <a:pPr marL="241200">
              <a:lnSpc>
                <a:spcPts val="2741"/>
              </a:lnSpc>
              <a:buNone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determined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by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CA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implementation.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3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1" lang="en-US" sz="24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For </a:t>
            </a:r>
            <a:r>
              <a:rPr b="1" lang="en-US" sz="2400" spc="-7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Example: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 a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Windows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Active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Directory network, users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devices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 often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auto-enroll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CA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just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authenticating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Active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Directory.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735"/>
              </a:lnSpc>
              <a:spcBef>
                <a:spcPts val="67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Commercial</a:t>
            </a:r>
            <a:r>
              <a:rPr b="0" lang="en-US" sz="2400" spc="-4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CAs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might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perform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range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of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tests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ensure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subject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who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he or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she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claims</a:t>
            </a:r>
            <a:r>
              <a:rPr b="0" lang="en-US" sz="2400" spc="-4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4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 is in 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CA's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interest to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ensure that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only issues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certificates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legitimate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users, or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reputation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will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52" strike="noStrike">
                <a:solidFill>
                  <a:srgbClr val="000000"/>
                </a:solidFill>
                <a:latin typeface="Calibri"/>
                <a:ea typeface="DejaVu Sans"/>
              </a:rPr>
              <a:t>suffer.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98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9" name="PlaceHolder 2"/>
          <p:cNvSpPr>
            <a:spLocks noGrp="1"/>
          </p:cNvSpPr>
          <p:nvPr>
            <p:ph type="ftr" idx="43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dt" idx="44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01" name="PlaceHolder 4"/>
          <p:cNvSpPr>
            <a:spLocks noGrp="1"/>
          </p:cNvSpPr>
          <p:nvPr>
            <p:ph type="sldNum" idx="45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FF550EC2-48C8-41F4-B742-3B00CB342FD8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412920" y="288720"/>
            <a:ext cx="10741320" cy="5612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60" strike="noStrike">
                <a:solidFill>
                  <a:srgbClr val="c00000"/>
                </a:solidFill>
                <a:latin typeface="Calibri Light"/>
              </a:rPr>
              <a:t>REGISTRATION</a:t>
            </a:r>
            <a:r>
              <a:rPr b="0" lang="en-US" sz="3600" spc="-11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AUTHORITIES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AND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CSRS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03" name="object 3"/>
          <p:cNvSpPr/>
          <p:nvPr/>
        </p:nvSpPr>
        <p:spPr>
          <a:xfrm>
            <a:off x="520920" y="1010520"/>
            <a:ext cx="11137320" cy="489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When 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subject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wants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obtain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certificate,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completes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1" lang="en-US" sz="2400" spc="-12" strike="noStrike">
                <a:solidFill>
                  <a:srgbClr val="ac172b"/>
                </a:solidFill>
                <a:latin typeface="Calibri"/>
                <a:ea typeface="DejaVu Sans"/>
              </a:rPr>
              <a:t>certificate </a:t>
            </a:r>
            <a:r>
              <a:rPr b="1" lang="en-US" sz="2400" spc="-7" strike="noStrike">
                <a:solidFill>
                  <a:srgbClr val="ac172b"/>
                </a:solidFill>
                <a:latin typeface="Calibri"/>
                <a:ea typeface="DejaVu Sans"/>
              </a:rPr>
              <a:t>signing </a:t>
            </a:r>
            <a:r>
              <a:rPr b="1" lang="en-US" sz="2400" spc="-531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1" lang="en-US" sz="2400" spc="-15" strike="noStrike">
                <a:solidFill>
                  <a:srgbClr val="ac172b"/>
                </a:solidFill>
                <a:latin typeface="Calibri"/>
                <a:ea typeface="DejaVu Sans"/>
              </a:rPr>
              <a:t>request</a:t>
            </a:r>
            <a:r>
              <a:rPr b="1" lang="en-US" sz="2400" spc="-7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1" lang="en-US" sz="2400" spc="-1" strike="noStrike">
                <a:solidFill>
                  <a:srgbClr val="ac172b"/>
                </a:solidFill>
                <a:latin typeface="Calibri"/>
                <a:ea typeface="DejaVu Sans"/>
              </a:rPr>
              <a:t>(CSR)</a:t>
            </a:r>
            <a:r>
              <a:rPr b="1" lang="en-US" sz="2400" spc="-7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submits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CA.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741"/>
              </a:lnSpc>
              <a:spcBef>
                <a:spcPts val="68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ac172b"/>
                </a:solidFill>
                <a:latin typeface="Calibri"/>
                <a:ea typeface="DejaVu Sans"/>
              </a:rPr>
              <a:t>CSR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a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Base64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ASCII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file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containing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information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subject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wants</a:t>
            </a:r>
            <a:endParaRPr b="0" lang="en-US" sz="2400" spc="-1" strike="noStrike">
              <a:latin typeface="Arial"/>
            </a:endParaRPr>
          </a:p>
          <a:p>
            <a:pPr marL="241200">
              <a:lnSpc>
                <a:spcPts val="2741"/>
              </a:lnSpc>
              <a:buNone/>
              <a:tabLst>
                <a:tab algn="l" pos="241920"/>
              </a:tabLst>
            </a:pP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 the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certificate,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including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public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60" strike="noStrike">
                <a:solidFill>
                  <a:srgbClr val="000000"/>
                </a:solidFill>
                <a:latin typeface="Calibri"/>
                <a:ea typeface="DejaVu Sans"/>
              </a:rPr>
              <a:t>key.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70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CA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reviews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certificate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checks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information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valid.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90000"/>
              </a:lnSpc>
              <a:spcBef>
                <a:spcPts val="99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For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web 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server,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this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may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simply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mean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verifying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subject name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fully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qualified domain name (FQDN)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are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identical,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verifying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CSR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was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initiated by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person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administratively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responsible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domain,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as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identified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domain's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WHOIS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records.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720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If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request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is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accepted,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CA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signs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certificate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sends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subject.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04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5" name="PlaceHolder 2"/>
          <p:cNvSpPr>
            <a:spLocks noGrp="1"/>
          </p:cNvSpPr>
          <p:nvPr>
            <p:ph type="ftr" idx="46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dt" idx="47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07" name="PlaceHolder 4"/>
          <p:cNvSpPr>
            <a:spLocks noGrp="1"/>
          </p:cNvSpPr>
          <p:nvPr>
            <p:ph type="sldNum" idx="48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8090A278-3BF2-4593-A263-BE51EADE6F47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395928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66" strike="noStrike">
                <a:solidFill>
                  <a:srgbClr val="c00000"/>
                </a:solidFill>
                <a:latin typeface="Calibri Light"/>
              </a:rPr>
              <a:t>DIGITAL</a:t>
            </a:r>
            <a:r>
              <a:rPr b="0" lang="en-US" sz="3600" spc="-12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60" strike="noStrike">
                <a:solidFill>
                  <a:srgbClr val="c00000"/>
                </a:solidFill>
                <a:latin typeface="Calibri Light"/>
              </a:rPr>
              <a:t>CERTIFICATES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09" name="object 3"/>
          <p:cNvSpPr/>
          <p:nvPr/>
        </p:nvSpPr>
        <p:spPr>
          <a:xfrm>
            <a:off x="916920" y="1711080"/>
            <a:ext cx="9857160" cy="38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404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81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12" strike="noStrike">
                <a:solidFill>
                  <a:srgbClr val="ac172b"/>
                </a:solidFill>
                <a:latin typeface="Calibri"/>
                <a:ea typeface="DejaVu Sans"/>
              </a:rPr>
              <a:t>Digital</a:t>
            </a:r>
            <a:r>
              <a:rPr b="1" lang="en-US" sz="2400" spc="1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1" lang="en-US" sz="2400" spc="-12" strike="noStrike">
                <a:solidFill>
                  <a:srgbClr val="ac172b"/>
                </a:solidFill>
                <a:latin typeface="Calibri"/>
                <a:ea typeface="DejaVu Sans"/>
              </a:rPr>
              <a:t>Certificate</a:t>
            </a:r>
            <a:r>
              <a:rPr b="1" lang="en-US" sz="2400" spc="21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essentially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wrapper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subject's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public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60" strike="noStrike">
                <a:solidFill>
                  <a:srgbClr val="000000"/>
                </a:solidFill>
                <a:latin typeface="Calibri"/>
                <a:ea typeface="DejaVu Sans"/>
              </a:rPr>
              <a:t>key.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4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well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 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public </a:t>
            </a:r>
            <a:r>
              <a:rPr b="0" lang="en-US" sz="2400" spc="-60" strike="noStrike">
                <a:solidFill>
                  <a:srgbClr val="000000"/>
                </a:solidFill>
                <a:latin typeface="Calibri"/>
                <a:ea typeface="DejaVu Sans"/>
              </a:rPr>
              <a:t>key,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contains information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about 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subject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the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certificate's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issuer or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guarantor.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0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certificate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digitally signed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prove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was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issued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subject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by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particular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CA.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01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 subject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could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human user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(for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certificates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allowing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signing of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messages,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for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instance) or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computer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server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(for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web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server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hosting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confidential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transactions,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instance).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10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1" name="PlaceHolder 2"/>
          <p:cNvSpPr>
            <a:spLocks noGrp="1"/>
          </p:cNvSpPr>
          <p:nvPr>
            <p:ph type="ftr" idx="49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 type="dt" idx="50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13" name="PlaceHolder 4"/>
          <p:cNvSpPr>
            <a:spLocks noGrp="1"/>
          </p:cNvSpPr>
          <p:nvPr>
            <p:ph type="sldNum" idx="51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5513318E-0088-436F-B239-A3C7D0B328DE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523476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66" strike="noStrike">
                <a:solidFill>
                  <a:srgbClr val="c00000"/>
                </a:solidFill>
                <a:latin typeface="Calibri Light"/>
              </a:rPr>
              <a:t>DIGITAL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60" strike="noStrike">
                <a:solidFill>
                  <a:srgbClr val="c00000"/>
                </a:solidFill>
                <a:latin typeface="Calibri Light"/>
              </a:rPr>
              <a:t>CERTIFICATES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15" name="object 3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16" name="object 4" descr=""/>
          <p:cNvPicPr/>
          <p:nvPr/>
        </p:nvPicPr>
        <p:blipFill>
          <a:blip r:embed="rId1"/>
          <a:stretch/>
        </p:blipFill>
        <p:spPr>
          <a:xfrm>
            <a:off x="4361760" y="1690200"/>
            <a:ext cx="3467880" cy="4409640"/>
          </a:xfrm>
          <a:prstGeom prst="rect">
            <a:avLst/>
          </a:prstGeom>
          <a:ln w="0">
            <a:noFill/>
          </a:ln>
        </p:spPr>
      </p:pic>
      <p:sp>
        <p:nvSpPr>
          <p:cNvPr id="217" name="PlaceHolder 2"/>
          <p:cNvSpPr>
            <a:spLocks noGrp="1"/>
          </p:cNvSpPr>
          <p:nvPr>
            <p:ph type="ftr" idx="52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dt" idx="53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19" name="PlaceHolder 4"/>
          <p:cNvSpPr>
            <a:spLocks noGrp="1"/>
          </p:cNvSpPr>
          <p:nvPr>
            <p:ph type="sldNum" idx="54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238F8649-BA15-4768-8D0C-6CD5A13703A2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523476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66" strike="noStrike">
                <a:solidFill>
                  <a:srgbClr val="c00000"/>
                </a:solidFill>
                <a:latin typeface="Calibri Light"/>
              </a:rPr>
              <a:t>DIGITAL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60" strike="noStrike">
                <a:solidFill>
                  <a:srgbClr val="c00000"/>
                </a:solidFill>
                <a:latin typeface="Calibri Light"/>
              </a:rPr>
              <a:t>CERTIFICATES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21" name="object 3"/>
          <p:cNvSpPr/>
          <p:nvPr/>
        </p:nvSpPr>
        <p:spPr>
          <a:xfrm>
            <a:off x="916920" y="1802520"/>
            <a:ext cx="10159920" cy="327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Digital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certificates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based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on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ac172b"/>
                </a:solidFill>
                <a:latin typeface="Calibri"/>
                <a:ea typeface="DejaVu Sans"/>
              </a:rPr>
              <a:t>X.509</a:t>
            </a:r>
            <a:r>
              <a:rPr b="1" lang="en-US" sz="2400" spc="-12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standard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approved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International</a:t>
            </a:r>
            <a:r>
              <a:rPr b="1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Telecommunications 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Union</a:t>
            </a:r>
            <a:r>
              <a:rPr b="1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standardized</a:t>
            </a:r>
            <a:r>
              <a:rPr b="1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1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1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Internet </a:t>
            </a:r>
            <a:r>
              <a:rPr b="1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Engineering </a:t>
            </a:r>
            <a:r>
              <a:rPr b="1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Taskforce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(</a:t>
            </a:r>
            <a:r>
              <a:rPr b="0" lang="en-US" sz="2400" spc="-15" strike="noStrike" u="heavy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ea typeface="DejaVu Sans"/>
                <a:hlinkClick r:id="rId1"/>
              </a:rPr>
              <a:t>tools.ietf.org/html/rfc5280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).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20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Public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Key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Infrastructure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(PKIX)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working group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manages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development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these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standards.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01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1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RSA</a:t>
            </a:r>
            <a:r>
              <a:rPr b="1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also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created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standards,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referred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Public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Key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Cryptography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Standards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(PKCS),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promote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public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key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infrastructure.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22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3" name="PlaceHolder 2"/>
          <p:cNvSpPr>
            <a:spLocks noGrp="1"/>
          </p:cNvSpPr>
          <p:nvPr>
            <p:ph type="ftr" idx="55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 type="dt" idx="56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25" name="PlaceHolder 4"/>
          <p:cNvSpPr>
            <a:spLocks noGrp="1"/>
          </p:cNvSpPr>
          <p:nvPr>
            <p:ph type="sldNum" idx="57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FB88D282-2082-47AF-8E7B-A2CB61E0832E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453132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60" strike="noStrike">
                <a:solidFill>
                  <a:srgbClr val="c00000"/>
                </a:solidFill>
                <a:latin typeface="Calibri Light"/>
              </a:rPr>
              <a:t>CERTIFICATE</a:t>
            </a:r>
            <a:r>
              <a:rPr b="0" lang="en-US" sz="3600" spc="-13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55" strike="noStrike">
                <a:solidFill>
                  <a:srgbClr val="c00000"/>
                </a:solidFill>
                <a:latin typeface="Calibri Light"/>
              </a:rPr>
              <a:t>ATTRIBUTES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27" name="object 3"/>
          <p:cNvSpPr/>
          <p:nvPr/>
        </p:nvSpPr>
        <p:spPr>
          <a:xfrm>
            <a:off x="916920" y="1802520"/>
            <a:ext cx="9890640" cy="7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ac172b"/>
                </a:solidFill>
                <a:latin typeface="Calibri"/>
                <a:ea typeface="DejaVu Sans"/>
              </a:rPr>
              <a:t>X.509</a:t>
            </a:r>
            <a:r>
              <a:rPr b="1" lang="en-US" sz="2400" spc="-12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standard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defines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fields or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attributes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 must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present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certificate.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28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29" name="object 5" descr=""/>
          <p:cNvPicPr/>
          <p:nvPr/>
        </p:nvPicPr>
        <p:blipFill>
          <a:blip r:embed="rId1"/>
          <a:stretch/>
        </p:blipFill>
        <p:spPr>
          <a:xfrm>
            <a:off x="2914200" y="2493720"/>
            <a:ext cx="6363360" cy="371484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230" name="object 6"/>
          <p:cNvGraphicFramePr/>
          <p:nvPr/>
        </p:nvGraphicFramePr>
        <p:xfrm>
          <a:off x="2910960" y="2490480"/>
          <a:ext cx="6363360" cy="3814200"/>
        </p:xfrm>
        <a:graphic>
          <a:graphicData uri="http://schemas.openxmlformats.org/drawingml/2006/table">
            <a:tbl>
              <a:tblPr/>
              <a:tblGrid>
                <a:gridCol w="2132640"/>
                <a:gridCol w="4231080"/>
              </a:tblGrid>
              <a:tr h="26856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130"/>
                        </a:spcBef>
                        <a:buNone/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Field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c7c30"/>
                      </a:solidFill>
                    </a:lnL>
                    <a:lnR w="6480">
                      <a:solidFill>
                        <a:srgbClr val="ec7c30"/>
                      </a:solidFill>
                    </a:lnR>
                    <a:lnT w="6480">
                      <a:solidFill>
                        <a:srgbClr val="ec7c30"/>
                      </a:solidFill>
                    </a:lnT>
                    <a:lnB w="6480">
                      <a:solidFill>
                        <a:srgbClr val="ec7c30"/>
                      </a:solidFill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130"/>
                        </a:spcBef>
                        <a:buNone/>
                      </a:pPr>
                      <a:r>
                        <a:rPr b="1" lang="en-US" sz="1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Usage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c7c30"/>
                      </a:solidFill>
                    </a:lnL>
                    <a:lnR w="6480">
                      <a:solidFill>
                        <a:srgbClr val="ec7c30"/>
                      </a:solidFill>
                    </a:lnR>
                    <a:lnT w="6480">
                      <a:solidFill>
                        <a:srgbClr val="ec7c30"/>
                      </a:solidFill>
                    </a:lnT>
                    <a:lnB w="6480">
                      <a:solidFill>
                        <a:srgbClr val="ec7c30"/>
                      </a:solidFill>
                    </a:lnB>
                    <a:solidFill>
                      <a:srgbClr val="0d0d0d"/>
                    </a:solidFill>
                  </a:tcPr>
                </a:tc>
              </a:tr>
              <a:tr h="390240">
                <a:tc>
                  <a:txBody>
                    <a:bodyPr anchor="t">
                      <a:noAutofit/>
                    </a:bodyPr>
                    <a:p>
                      <a:pPr marL="55800">
                        <a:lnSpc>
                          <a:spcPct val="100000"/>
                        </a:lnSpc>
                        <a:spcBef>
                          <a:spcPts val="816"/>
                        </a:spcBef>
                        <a:buNone/>
                      </a:pPr>
                      <a:r>
                        <a:rPr b="1" lang="en-US" sz="11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Serial</a:t>
                      </a:r>
                      <a:r>
                        <a:rPr b="1" lang="en-US" sz="1100" spc="-41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1" lang="en-US" sz="11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number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c7c30"/>
                      </a:solidFill>
                    </a:lnL>
                    <a:lnR w="6480">
                      <a:solidFill>
                        <a:srgbClr val="ec7c30"/>
                      </a:solidFill>
                    </a:lnR>
                    <a:lnT w="6480">
                      <a:solidFill>
                        <a:srgbClr val="ec7c30"/>
                      </a:solidFill>
                    </a:lnT>
                    <a:lnB w="6480">
                      <a:solidFill>
                        <a:srgbClr val="ec7c30"/>
                      </a:solidFill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marL="55800">
                        <a:lnSpc>
                          <a:spcPct val="100000"/>
                        </a:lnSpc>
                        <a:spcBef>
                          <a:spcPts val="150"/>
                        </a:spcBef>
                        <a:buNone/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A </a:t>
                      </a:r>
                      <a:r>
                        <a:rPr b="0" lang="en-US" sz="11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number uniquely</a:t>
                      </a:r>
                      <a:r>
                        <a:rPr b="0" lang="en-US" sz="1100" spc="-21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identifying</a:t>
                      </a:r>
                      <a:r>
                        <a:rPr b="0" lang="en-US" sz="1100" spc="-21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the</a:t>
                      </a:r>
                      <a:r>
                        <a:rPr b="0" lang="en-US" sz="1100" spc="-12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certificate</a:t>
                      </a:r>
                      <a:r>
                        <a:rPr b="0" lang="en-US" sz="1100" spc="-26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within</a:t>
                      </a:r>
                      <a:r>
                        <a:rPr b="0" lang="en-US" sz="1100" spc="-32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the</a:t>
                      </a:r>
                      <a:r>
                        <a:rPr b="0" lang="en-US" sz="1100" spc="-21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domain</a:t>
                      </a:r>
                      <a:r>
                        <a:rPr b="0" lang="en-US" sz="1100" spc="-32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of</a:t>
                      </a:r>
                      <a:r>
                        <a:rPr b="0" lang="en-US" sz="1100" spc="-21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its </a:t>
                      </a:r>
                      <a:r>
                        <a:rPr b="0" lang="en-US" sz="1100" spc="-236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en-US" sz="11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CA.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c7c30"/>
                      </a:solidFill>
                    </a:lnL>
                    <a:lnR w="6480">
                      <a:solidFill>
                        <a:srgbClr val="ec7c30"/>
                      </a:solidFill>
                    </a:lnR>
                    <a:lnT w="6480">
                      <a:solidFill>
                        <a:srgbClr val="ec7c30"/>
                      </a:solidFill>
                    </a:lnT>
                    <a:lnB w="6480">
                      <a:solidFill>
                        <a:srgbClr val="ec7c30"/>
                      </a:solidFill>
                    </a:lnB>
                    <a:noFill/>
                  </a:tcPr>
                </a:tc>
              </a:tr>
              <a:tr h="222840">
                <a:tc>
                  <a:txBody>
                    <a:bodyPr anchor="t">
                      <a:noAutofit/>
                    </a:bodyPr>
                    <a:p>
                      <a:pPr marL="55800">
                        <a:lnSpc>
                          <a:spcPct val="100000"/>
                        </a:lnSpc>
                        <a:spcBef>
                          <a:spcPts val="156"/>
                        </a:spcBef>
                        <a:buNone/>
                      </a:pPr>
                      <a:r>
                        <a:rPr b="1" lang="en-US" sz="11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Signature</a:t>
                      </a:r>
                      <a:r>
                        <a:rPr b="1" lang="en-US" sz="1100" spc="-32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1" lang="en-US" sz="11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algorithm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c7c30"/>
                      </a:solidFill>
                    </a:lnL>
                    <a:lnR w="6480">
                      <a:solidFill>
                        <a:srgbClr val="ec7c30"/>
                      </a:solidFill>
                    </a:lnR>
                    <a:lnT w="6480">
                      <a:solidFill>
                        <a:srgbClr val="ec7c30"/>
                      </a:solidFill>
                    </a:lnT>
                    <a:lnB w="6480">
                      <a:solidFill>
                        <a:srgbClr val="ec7c30"/>
                      </a:solidFill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marL="55800">
                        <a:lnSpc>
                          <a:spcPct val="100000"/>
                        </a:lnSpc>
                        <a:spcBef>
                          <a:spcPts val="156"/>
                        </a:spcBef>
                        <a:buNone/>
                      </a:pPr>
                      <a:r>
                        <a:rPr b="0" lang="en-US" sz="11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The</a:t>
                      </a:r>
                      <a:r>
                        <a:rPr b="0" lang="en-US" sz="1100" spc="-15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algorithm</a:t>
                      </a:r>
                      <a:r>
                        <a:rPr b="0" lang="en-US" sz="1100" spc="-32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en-US" sz="11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used</a:t>
                      </a:r>
                      <a:r>
                        <a:rPr b="0" lang="en-US" sz="1100" spc="-32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en-US" sz="11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by</a:t>
                      </a: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 the</a:t>
                      </a:r>
                      <a:r>
                        <a:rPr b="0" lang="en-US" sz="1100" spc="-15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en-US" sz="11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CA </a:t>
                      </a: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to</a:t>
                      </a:r>
                      <a:r>
                        <a:rPr b="0" lang="en-US" sz="1100" spc="-21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en-US" sz="11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sign</a:t>
                      </a:r>
                      <a:r>
                        <a:rPr b="0" lang="en-US" sz="1100" spc="-26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the</a:t>
                      </a:r>
                      <a:r>
                        <a:rPr b="0" lang="en-US" sz="1100" spc="-15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certificate.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c7c30"/>
                      </a:solidFill>
                    </a:lnL>
                    <a:lnR w="6480">
                      <a:solidFill>
                        <a:srgbClr val="ec7c30"/>
                      </a:solidFill>
                    </a:lnR>
                    <a:lnT w="6480">
                      <a:solidFill>
                        <a:srgbClr val="ec7c30"/>
                      </a:solidFill>
                    </a:lnT>
                    <a:lnB w="6480">
                      <a:solidFill>
                        <a:srgbClr val="ec7c30"/>
                      </a:solidFill>
                    </a:lnB>
                    <a:noFill/>
                  </a:tcPr>
                </a:tc>
              </a:tr>
              <a:tr h="222840">
                <a:tc>
                  <a:txBody>
                    <a:bodyPr anchor="t">
                      <a:noAutofit/>
                    </a:bodyPr>
                    <a:p>
                      <a:pPr marL="55800">
                        <a:lnSpc>
                          <a:spcPct val="100000"/>
                        </a:lnSpc>
                        <a:spcBef>
                          <a:spcPts val="156"/>
                        </a:spcBef>
                        <a:buNone/>
                      </a:pPr>
                      <a:r>
                        <a:rPr b="1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Issuer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c7c30"/>
                      </a:solidFill>
                    </a:lnL>
                    <a:lnR w="6480">
                      <a:solidFill>
                        <a:srgbClr val="ec7c30"/>
                      </a:solidFill>
                    </a:lnR>
                    <a:lnT w="6480">
                      <a:solidFill>
                        <a:srgbClr val="ec7c30"/>
                      </a:solidFill>
                    </a:lnT>
                    <a:lnB w="6480">
                      <a:solidFill>
                        <a:srgbClr val="ec7c30"/>
                      </a:solidFill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marL="55800">
                        <a:lnSpc>
                          <a:spcPct val="100000"/>
                        </a:lnSpc>
                        <a:spcBef>
                          <a:spcPts val="156"/>
                        </a:spcBef>
                        <a:buNone/>
                      </a:pPr>
                      <a:r>
                        <a:rPr b="0" lang="en-US" sz="11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The</a:t>
                      </a:r>
                      <a:r>
                        <a:rPr b="0" lang="en-US" sz="1100" spc="-26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name</a:t>
                      </a:r>
                      <a:r>
                        <a:rPr b="0" lang="en-US" sz="1100" spc="-21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of</a:t>
                      </a:r>
                      <a:r>
                        <a:rPr b="0" lang="en-US" sz="1100" spc="-35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the</a:t>
                      </a:r>
                      <a:r>
                        <a:rPr b="0" lang="en-US" sz="1100" spc="-21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en-US" sz="11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CA.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c7c30"/>
                      </a:solidFill>
                    </a:lnL>
                    <a:lnR w="6480">
                      <a:solidFill>
                        <a:srgbClr val="ec7c30"/>
                      </a:solidFill>
                    </a:lnR>
                    <a:lnT w="6480">
                      <a:solidFill>
                        <a:srgbClr val="ec7c30"/>
                      </a:solidFill>
                    </a:lnT>
                    <a:lnB w="6480">
                      <a:solidFill>
                        <a:srgbClr val="ec7c30"/>
                      </a:solidFill>
                    </a:lnB>
                    <a:noFill/>
                  </a:tcPr>
                </a:tc>
              </a:tr>
              <a:tr h="222840">
                <a:tc>
                  <a:txBody>
                    <a:bodyPr anchor="t">
                      <a:noAutofit/>
                    </a:bodyPr>
                    <a:p>
                      <a:pPr marL="55800">
                        <a:lnSpc>
                          <a:spcPct val="100000"/>
                        </a:lnSpc>
                        <a:spcBef>
                          <a:spcPts val="156"/>
                        </a:spcBef>
                        <a:buNone/>
                      </a:pPr>
                      <a:r>
                        <a:rPr b="1" lang="en-US" sz="11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Valid</a:t>
                      </a:r>
                      <a:r>
                        <a:rPr b="1" lang="en-US" sz="1100" spc="-26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1" lang="en-US" sz="11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from/to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c7c30"/>
                      </a:solidFill>
                    </a:lnL>
                    <a:lnR w="6480">
                      <a:solidFill>
                        <a:srgbClr val="ec7c30"/>
                      </a:solidFill>
                    </a:lnR>
                    <a:lnT w="6480">
                      <a:solidFill>
                        <a:srgbClr val="ec7c30"/>
                      </a:solidFill>
                    </a:lnT>
                    <a:lnB w="6480">
                      <a:solidFill>
                        <a:srgbClr val="ec7c30"/>
                      </a:solidFill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marL="55800">
                        <a:lnSpc>
                          <a:spcPct val="100000"/>
                        </a:lnSpc>
                        <a:spcBef>
                          <a:spcPts val="156"/>
                        </a:spcBef>
                        <a:buNone/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Date</a:t>
                      </a:r>
                      <a:r>
                        <a:rPr b="0" lang="en-US" sz="1100" spc="-26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and</a:t>
                      </a:r>
                      <a:r>
                        <a:rPr b="0" lang="en-US" sz="1100" spc="-15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time</a:t>
                      </a:r>
                      <a:r>
                        <a:rPr b="0" lang="en-US" sz="1100" spc="-21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en-US" sz="11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during</a:t>
                      </a:r>
                      <a:r>
                        <a:rPr b="0" lang="en-US" sz="1100" spc="-15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which</a:t>
                      </a:r>
                      <a:r>
                        <a:rPr b="0" lang="en-US" sz="1100" spc="-15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the</a:t>
                      </a:r>
                      <a:r>
                        <a:rPr b="0" lang="en-US" sz="1100" spc="-12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certificate</a:t>
                      </a:r>
                      <a:r>
                        <a:rPr b="0" lang="en-US" sz="1100" spc="-32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is</a:t>
                      </a:r>
                      <a:r>
                        <a:rPr b="0" lang="en-US" sz="1100" spc="-12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en-US" sz="11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valid.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c7c30"/>
                      </a:solidFill>
                    </a:lnL>
                    <a:lnR w="6480">
                      <a:solidFill>
                        <a:srgbClr val="ec7c30"/>
                      </a:solidFill>
                    </a:lnR>
                    <a:lnT w="6480">
                      <a:solidFill>
                        <a:srgbClr val="ec7c30"/>
                      </a:solidFill>
                    </a:lnT>
                    <a:lnB w="6480">
                      <a:solidFill>
                        <a:srgbClr val="ec7c30"/>
                      </a:solidFill>
                    </a:lnB>
                    <a:noFill/>
                  </a:tcPr>
                </a:tc>
              </a:tr>
              <a:tr h="9374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b="0" lang="en-US" sz="11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"/>
                        </a:spcBef>
                        <a:buNone/>
                      </a:pPr>
                      <a:endParaRPr b="0" lang="en-US" sz="1300" spc="-1" strike="noStrike">
                        <a:latin typeface="Arial"/>
                      </a:endParaRPr>
                    </a:p>
                    <a:p>
                      <a:pPr marL="55800"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Subject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c7c30"/>
                      </a:solidFill>
                    </a:lnL>
                    <a:lnR w="6480">
                      <a:solidFill>
                        <a:srgbClr val="ec7c30"/>
                      </a:solidFill>
                    </a:lnR>
                    <a:lnT w="6480">
                      <a:solidFill>
                        <a:srgbClr val="ec7c30"/>
                      </a:solidFill>
                    </a:lnT>
                    <a:lnB w="6480">
                      <a:solidFill>
                        <a:srgbClr val="ec7c30"/>
                      </a:solidFill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marL="55800">
                        <a:lnSpc>
                          <a:spcPct val="100000"/>
                        </a:lnSpc>
                        <a:spcBef>
                          <a:spcPts val="791"/>
                        </a:spcBef>
                        <a:buNone/>
                      </a:pPr>
                      <a:r>
                        <a:rPr b="0" lang="en-US" sz="11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The</a:t>
                      </a:r>
                      <a:r>
                        <a:rPr b="0" lang="en-US" sz="1100" spc="-12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name</a:t>
                      </a:r>
                      <a:r>
                        <a:rPr b="0" lang="en-US" sz="1100" spc="-12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of</a:t>
                      </a:r>
                      <a:r>
                        <a:rPr b="0" lang="en-US" sz="1100" spc="-26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the</a:t>
                      </a:r>
                      <a:r>
                        <a:rPr b="0" lang="en-US" sz="1100" spc="-12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certificate</a:t>
                      </a:r>
                      <a:r>
                        <a:rPr b="0" lang="en-US" sz="1100" spc="-32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holder,</a:t>
                      </a:r>
                      <a:r>
                        <a:rPr b="0" lang="en-US" sz="1100" spc="-12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expressed</a:t>
                      </a:r>
                      <a:r>
                        <a:rPr b="0" lang="en-US" sz="1100" spc="-41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as</a:t>
                      </a:r>
                      <a:r>
                        <a:rPr b="0" lang="en-US" sz="1100" spc="-12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a </a:t>
                      </a:r>
                      <a:r>
                        <a:rPr b="0" lang="en-US" sz="11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distinguished</a:t>
                      </a:r>
                      <a:r>
                        <a:rPr b="0" lang="en-US" sz="1100" spc="-35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name </a:t>
                      </a:r>
                      <a:r>
                        <a:rPr b="0" lang="en-US" sz="1100" spc="-231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en-US" sz="11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(DN). </a:t>
                      </a: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Within </a:t>
                      </a:r>
                      <a:r>
                        <a:rPr b="0" lang="en-US" sz="11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this, </a:t>
                      </a: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the common name </a:t>
                      </a:r>
                      <a:r>
                        <a:rPr b="0" lang="en-US" sz="11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(CN) </a:t>
                      </a: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part </a:t>
                      </a:r>
                      <a:r>
                        <a:rPr b="0" lang="en-US" sz="11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should usually </a:t>
                      </a: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match </a:t>
                      </a:r>
                      <a:r>
                        <a:rPr b="0" lang="en-US" sz="1100" spc="1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either the </a:t>
                      </a:r>
                      <a:r>
                        <a:rPr b="0" lang="en-US" sz="11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fully qualified </a:t>
                      </a: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domain name </a:t>
                      </a:r>
                      <a:r>
                        <a:rPr b="0" lang="en-US" sz="11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(FQDN) </a:t>
                      </a: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of the server or a </a:t>
                      </a:r>
                      <a:r>
                        <a:rPr b="0" lang="en-US" sz="11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user </a:t>
                      </a: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 email</a:t>
                      </a:r>
                      <a:r>
                        <a:rPr b="0" lang="en-US" sz="1100" spc="-32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address.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c7c30"/>
                      </a:solidFill>
                    </a:lnL>
                    <a:lnR w="6480">
                      <a:solidFill>
                        <a:srgbClr val="ec7c30"/>
                      </a:solidFill>
                    </a:lnR>
                    <a:lnT w="6480">
                      <a:solidFill>
                        <a:srgbClr val="ec7c30"/>
                      </a:solidFill>
                    </a:lnT>
                    <a:lnB w="6480">
                      <a:solidFill>
                        <a:srgbClr val="ec7c30"/>
                      </a:solidFill>
                    </a:lnB>
                    <a:noFill/>
                  </a:tcPr>
                </a:tc>
              </a:tr>
              <a:tr h="387720">
                <a:tc>
                  <a:txBody>
                    <a:bodyPr anchor="t">
                      <a:noAutofit/>
                    </a:bodyPr>
                    <a:p>
                      <a:pPr marL="55800">
                        <a:lnSpc>
                          <a:spcPct val="100000"/>
                        </a:lnSpc>
                        <a:spcBef>
                          <a:spcPts val="805"/>
                        </a:spcBef>
                        <a:buNone/>
                      </a:pPr>
                      <a:r>
                        <a:rPr b="1" lang="en-US" sz="11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Public</a:t>
                      </a:r>
                      <a:r>
                        <a:rPr b="1" lang="en-US" sz="1100" spc="-35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1" lang="en-US" sz="11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key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c7c30"/>
                      </a:solidFill>
                    </a:lnL>
                    <a:lnR w="6480">
                      <a:solidFill>
                        <a:srgbClr val="ec7c30"/>
                      </a:solidFill>
                    </a:lnR>
                    <a:lnT w="6480">
                      <a:solidFill>
                        <a:srgbClr val="ec7c30"/>
                      </a:solidFill>
                    </a:lnT>
                    <a:lnB w="6480">
                      <a:solidFill>
                        <a:srgbClr val="ec7c30"/>
                      </a:solidFill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marL="55800">
                        <a:lnSpc>
                          <a:spcPct val="100000"/>
                        </a:lnSpc>
                        <a:spcBef>
                          <a:spcPts val="805"/>
                        </a:spcBef>
                        <a:buNone/>
                      </a:pPr>
                      <a:r>
                        <a:rPr b="0" lang="en-US" sz="11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Public</a:t>
                      </a:r>
                      <a:r>
                        <a:rPr b="0" lang="en-US" sz="1100" spc="-26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key</a:t>
                      </a:r>
                      <a:r>
                        <a:rPr b="0" lang="en-US" sz="1100" spc="-12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and</a:t>
                      </a:r>
                      <a:r>
                        <a:rPr b="0" lang="en-US" sz="1100" spc="-21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algorithm</a:t>
                      </a:r>
                      <a:r>
                        <a:rPr b="0" lang="en-US" sz="1100" spc="-41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en-US" sz="11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used</a:t>
                      </a:r>
                      <a:r>
                        <a:rPr b="0" lang="en-US" sz="1100" spc="-21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en-US" sz="11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by</a:t>
                      </a: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 the</a:t>
                      </a:r>
                      <a:r>
                        <a:rPr b="0" lang="en-US" sz="1100" spc="-15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certificate</a:t>
                      </a:r>
                      <a:r>
                        <a:rPr b="0" lang="en-US" sz="1100" spc="-46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holder.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c7c30"/>
                      </a:solidFill>
                    </a:lnL>
                    <a:lnR w="6480">
                      <a:solidFill>
                        <a:srgbClr val="ec7c30"/>
                      </a:solidFill>
                    </a:lnR>
                    <a:lnT w="6480">
                      <a:solidFill>
                        <a:srgbClr val="ec7c30"/>
                      </a:solidFill>
                    </a:lnT>
                    <a:lnB w="6480">
                      <a:solidFill>
                        <a:srgbClr val="ec7c30"/>
                      </a:solidFill>
                    </a:lnB>
                    <a:noFill/>
                  </a:tcPr>
                </a:tc>
              </a:tr>
              <a:tr h="5580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  <a:buNone/>
                      </a:pPr>
                      <a:endParaRPr b="0" lang="en-US" sz="1250" spc="-1" strike="noStrike">
                        <a:latin typeface="Arial"/>
                      </a:endParaRPr>
                    </a:p>
                    <a:p>
                      <a:pPr marL="55800"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Extensions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c7c30"/>
                      </a:solidFill>
                    </a:lnL>
                    <a:lnR w="6480">
                      <a:solidFill>
                        <a:srgbClr val="ec7c30"/>
                      </a:solidFill>
                    </a:lnR>
                    <a:lnT w="6480">
                      <a:solidFill>
                        <a:srgbClr val="ec7c30"/>
                      </a:solidFill>
                    </a:lnT>
                    <a:lnB w="6480">
                      <a:solidFill>
                        <a:srgbClr val="ec7c30"/>
                      </a:solidFill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marL="55800">
                        <a:lnSpc>
                          <a:spcPct val="100000"/>
                        </a:lnSpc>
                        <a:spcBef>
                          <a:spcPts val="156"/>
                        </a:spcBef>
                        <a:buNone/>
                      </a:pPr>
                      <a:r>
                        <a:rPr b="0" lang="en-US" sz="11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V3</a:t>
                      </a:r>
                      <a:r>
                        <a:rPr b="0" lang="en-US" sz="1100" spc="7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certificates</a:t>
                      </a:r>
                      <a:r>
                        <a:rPr b="0" lang="en-US" sz="1100" spc="-41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can</a:t>
                      </a:r>
                      <a:r>
                        <a:rPr b="0" lang="en-US" sz="1100" spc="-12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en-US" sz="11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be</a:t>
                      </a:r>
                      <a:r>
                        <a:rPr b="0" lang="en-US" sz="1100" spc="7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defined</a:t>
                      </a:r>
                      <a:r>
                        <a:rPr b="0" lang="en-US" sz="11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with</a:t>
                      </a:r>
                      <a:r>
                        <a:rPr b="0" lang="en-US" sz="1100" spc="-21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extended</a:t>
                      </a:r>
                      <a:r>
                        <a:rPr b="0" lang="en-US" sz="1100" spc="-21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en-US" sz="11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attributes,</a:t>
                      </a:r>
                      <a:r>
                        <a:rPr b="0" lang="en-US" sz="1100" spc="-32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en-US" sz="11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such</a:t>
                      </a:r>
                      <a:r>
                        <a:rPr b="0" lang="en-US" sz="1100" spc="-32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as </a:t>
                      </a:r>
                      <a:r>
                        <a:rPr b="0" lang="en-US" sz="11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friendly </a:t>
                      </a:r>
                      <a:r>
                        <a:rPr b="0" lang="en-US" sz="1100" spc="-236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en-US" sz="11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subject </a:t>
                      </a: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or issuer names, contact email addresses, and intended key </a:t>
                      </a:r>
                      <a:r>
                        <a:rPr b="0" lang="en-US" sz="1100" spc="1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en-US" sz="11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usage.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c7c30"/>
                      </a:solidFill>
                    </a:lnL>
                    <a:lnR w="6480">
                      <a:solidFill>
                        <a:srgbClr val="ec7c30"/>
                      </a:solidFill>
                    </a:lnR>
                    <a:lnT w="6480">
                      <a:solidFill>
                        <a:srgbClr val="ec7c30"/>
                      </a:solidFill>
                    </a:lnT>
                    <a:lnB w="6480">
                      <a:solidFill>
                        <a:srgbClr val="ec7c30"/>
                      </a:solidFill>
                    </a:lnB>
                    <a:noFill/>
                  </a:tcPr>
                </a:tc>
              </a:tr>
              <a:tr h="6040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26"/>
                        </a:spcBef>
                        <a:buNone/>
                      </a:pPr>
                      <a:endParaRPr b="0" lang="en-US" sz="1250" spc="-1" strike="noStrike">
                        <a:latin typeface="Arial"/>
                      </a:endParaRPr>
                    </a:p>
                    <a:p>
                      <a:pPr marL="55800"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Subject</a:t>
                      </a:r>
                      <a:r>
                        <a:rPr b="1" lang="en-US" sz="1100" spc="-15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1" lang="en-US" sz="11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alternative</a:t>
                      </a:r>
                      <a:r>
                        <a:rPr b="1" lang="en-US" sz="1100" spc="-15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1" lang="en-US" sz="11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name</a:t>
                      </a:r>
                      <a:r>
                        <a:rPr b="1" lang="en-US" sz="1100" spc="-15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1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(SAN)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c7c30"/>
                      </a:solidFill>
                    </a:lnL>
                    <a:lnR w="6480">
                      <a:solidFill>
                        <a:srgbClr val="ec7c30"/>
                      </a:solidFill>
                    </a:lnR>
                    <a:lnT w="6480">
                      <a:solidFill>
                        <a:srgbClr val="ec7c30"/>
                      </a:solidFill>
                    </a:lnT>
                    <a:lnB w="6480">
                      <a:solidFill>
                        <a:srgbClr val="ec7c30"/>
                      </a:solidFill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marL="55800">
                        <a:lnSpc>
                          <a:spcPct val="100000"/>
                        </a:lnSpc>
                        <a:spcBef>
                          <a:spcPts val="799"/>
                        </a:spcBef>
                        <a:buNone/>
                      </a:pPr>
                      <a:r>
                        <a:rPr b="0" lang="en-US" sz="11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This</a:t>
                      </a:r>
                      <a:r>
                        <a:rPr b="0" lang="en-US" sz="1100" spc="-15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en-US" sz="11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extension</a:t>
                      </a:r>
                      <a:r>
                        <a:rPr b="0" lang="en-US" sz="1100" spc="-41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en-US" sz="11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field</a:t>
                      </a:r>
                      <a:r>
                        <a:rPr b="0" lang="en-US" sz="1100" spc="-15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is the</a:t>
                      </a:r>
                      <a:r>
                        <a:rPr b="0" lang="en-US" sz="1100" spc="-21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preferred</a:t>
                      </a:r>
                      <a:r>
                        <a:rPr b="0" lang="en-US" sz="1100" spc="9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mechanism</a:t>
                      </a:r>
                      <a:r>
                        <a:rPr b="0" lang="en-US" sz="1100" spc="-55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to</a:t>
                      </a:r>
                      <a:r>
                        <a:rPr b="0" lang="en-US" sz="1100" spc="-15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identify</a:t>
                      </a:r>
                      <a:r>
                        <a:rPr b="0" lang="en-US" sz="1100" spc="-12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the</a:t>
                      </a:r>
                      <a:r>
                        <a:rPr b="0" lang="en-US" sz="1100" spc="-26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DNS </a:t>
                      </a:r>
                      <a:r>
                        <a:rPr b="0" lang="en-US" sz="1100" spc="-231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name</a:t>
                      </a:r>
                      <a:r>
                        <a:rPr b="0" lang="en-US" sz="1100" spc="-26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or</a:t>
                      </a:r>
                      <a:r>
                        <a:rPr b="0" lang="en-US" sz="1100" spc="-12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names</a:t>
                      </a:r>
                      <a:r>
                        <a:rPr b="0" lang="en-US" sz="1100" spc="-21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en-US" sz="11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by</a:t>
                      </a:r>
                      <a:r>
                        <a:rPr b="0" lang="en-US" sz="1100" spc="-12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which</a:t>
                      </a:r>
                      <a:r>
                        <a:rPr b="0" lang="en-US" sz="1100" spc="-15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a </a:t>
                      </a:r>
                      <a:r>
                        <a:rPr b="0" lang="en-US" sz="11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host</a:t>
                      </a:r>
                      <a:r>
                        <a:rPr b="0" lang="en-US" sz="1100" spc="-35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is</a:t>
                      </a:r>
                      <a:r>
                        <a:rPr b="0" lang="en-US" sz="1100" spc="-15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identified.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c7c30"/>
                      </a:solidFill>
                    </a:lnL>
                    <a:lnR w="6480">
                      <a:solidFill>
                        <a:srgbClr val="ec7c30"/>
                      </a:solidFill>
                    </a:lnR>
                    <a:lnT w="6480">
                      <a:solidFill>
                        <a:srgbClr val="ec7c30"/>
                      </a:solidFill>
                    </a:lnT>
                    <a:lnB w="6480">
                      <a:solidFill>
                        <a:srgbClr val="ec7c3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31" name="PlaceHolder 2"/>
          <p:cNvSpPr>
            <a:spLocks noGrp="1"/>
          </p:cNvSpPr>
          <p:nvPr>
            <p:ph type="ftr" idx="58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dt" idx="59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33" name="PlaceHolder 4"/>
          <p:cNvSpPr>
            <a:spLocks noGrp="1"/>
          </p:cNvSpPr>
          <p:nvPr>
            <p:ph type="sldNum" idx="60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CD30BB97-96F1-4F86-9D31-3967A069F0C9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2023-09-02T17:16:33Z</dcterms:created>
  <dc:creator>Ahmed Sultan</dc:creator>
  <dc:description/>
  <dc:language>en-US</dc:language>
  <cp:lastModifiedBy/>
  <dcterms:modified xsi:type="dcterms:W3CDTF">2023-09-04T21:11:06Z</dcterms:modified>
  <cp:revision>4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2021-09-09T00:00:00Z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2023-09-02T00:00:00Z</vt:filetime>
  </property>
  <property fmtid="{D5CDD505-2E9C-101B-9397-08002B2CF9AE}" pid="5" name="PresentationFormat">
    <vt:lpwstr>On-screen Show (4:3)</vt:lpwstr>
  </property>
</Properties>
</file>