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28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52C51E-8914-4478-800C-AADAC3E37A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A1E04D-90CF-416F-8D0F-145A70240B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122278-3F6D-4CAA-80F3-F1CEA450A5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B47CDD-6835-4B2C-9DB4-A0F7ED7DE3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39E36B-64BF-4BF2-8632-A42557A291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165303-1D2E-464F-9130-2762F1819E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4B4C60-F3FE-41CA-A268-A71B82532E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9AC1F4-86F1-42CF-B2F4-0668F84660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9EDB06-7206-4021-A2A0-367C7A219A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9A97D9-5D50-4C2D-BD3D-951F2B5482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83D225-E3E5-4344-AE78-001F4AF51C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2C8936-0BEC-4CEB-91A1-07A044F9E0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2BD0FE-7A9F-4968-B474-FC870F2F4C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820FEC0-9DA3-4454-8322-7142F8ADDE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779ABCE-A7D0-4E96-913F-4780C7E3EA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2C6D9E-794A-4C82-9411-823F880CE1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952B1E-A88F-4D21-B9A8-B1C2051FEE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D1BF42-9231-47A0-B299-192598C81E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DC3F4F-9868-43D0-85AC-1C3448A672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B169CC-33B5-40A2-A296-EABDACD58C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0552CD-2216-4ABA-8B02-8D7F0B8644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8E30389-F952-4360-B568-59A151FEAD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F12F17-0945-4353-A623-53493D33DA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9FB6965-ED08-49AB-95EB-9FC10DE0AE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6AF6376-856F-4C9A-BF16-3094628F54A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29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FD34859-5641-49A8-B6DD-23166D01A97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docs.microsoft.com/en-us/windows-server/security/windows-authentication/credentials-processes-in-windows-authentication" TargetMode="External"/><Relationship Id="rId2" Type="http://schemas.openxmlformats.org/officeDocument/2006/relationships/hyperlink" Target="https://docs.microsoft.com/en-us/windows-server/security/windows-authentication/credentials-processes-in-windows-authentication" TargetMode="External"/><Relationship Id="rId3" Type="http://schemas.openxmlformats.org/officeDocument/2006/relationships/hyperlink" Target="https://docs.microsoft.com/en-us/windows-server/security/windows-authentication/credentials-processes-in-windows-authentication" TargetMode="External"/><Relationship Id="rId4" Type="http://schemas.openxmlformats.org/officeDocument/2006/relationships/hyperlink" Target="https://docs.microsoft.com/en-us/windows-server/security/windows-authentication/credentials-processes-in-windows-authentication" TargetMode="External"/><Relationship Id="rId5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haveibeenpwned.com/" TargetMode="External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hyperlink" Target="https://www.l0phtcrack.com/" TargetMode="External"/><Relationship Id="rId2" Type="http://schemas.openxmlformats.org/officeDocument/2006/relationships/hyperlink" Target="https://hashcat.net/hashcat/" TargetMode="External"/><Relationship Id="rId3" Type="http://schemas.openxmlformats.org/officeDocument/2006/relationships/hyperlink" Target="https://hashcat.net/wiki/doku.php?id=example_hashes" TargetMode="External"/><Relationship Id="rId4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814840" y="3080160"/>
            <a:ext cx="6610320" cy="848160"/>
            <a:chOff x="2814840" y="3080160"/>
            <a:chExt cx="661032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935080" y="3159000"/>
              <a:ext cx="637128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814840" y="3080160"/>
              <a:ext cx="661032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952000" y="3166920"/>
            <a:ext cx="628776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0224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07-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Authentication</a:t>
            </a:r>
            <a:r>
              <a:rPr b="0" lang="en-US" sz="2800" spc="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Controls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5800"/>
            <a:ext cx="588168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111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1715040"/>
            <a:ext cx="9598320" cy="16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7.1-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Design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7.2-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Knowledge-Based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34"/>
              </a:spcBef>
              <a:buNone/>
            </a:pP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7.3-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Biometrics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5A0FB28-7A22-4D9A-BE6D-41F55152424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1697760"/>
            <a:ext cx="10055520" cy="2127960"/>
          </a:xfrm>
          <a:prstGeom prst="rect">
            <a:avLst/>
          </a:prstGeom>
          <a:noFill/>
          <a:ln w="0">
            <a:noFill/>
          </a:ln>
        </p:spPr>
        <p:txBody>
          <a:bodyPr lIns="0" rIns="0" tIns="117360" bIns="0" anchor="t">
            <a:noAutofit/>
          </a:bodyPr>
          <a:p>
            <a:pPr marL="12600">
              <a:lnSpc>
                <a:spcPct val="100000"/>
              </a:lnSpc>
              <a:spcBef>
                <a:spcPts val="924"/>
              </a:spcBef>
              <a:buNone/>
            </a:pPr>
            <a:r>
              <a:rPr b="1" lang="en-US" sz="2400" spc="-7" strike="noStrike">
                <a:solidFill>
                  <a:srgbClr val="ac172b"/>
                </a:solidFill>
                <a:latin typeface="Calibri"/>
              </a:rPr>
              <a:t>7.1-</a:t>
            </a:r>
            <a:r>
              <a:rPr b="1" lang="en-US" sz="2400" spc="-2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</a:rPr>
              <a:t>Summarize</a:t>
            </a:r>
            <a:r>
              <a:rPr b="1" lang="en-US" sz="2400" spc="-2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ac172b"/>
                </a:solidFill>
                <a:latin typeface="Calibri"/>
              </a:rPr>
              <a:t>Authentication</a:t>
            </a:r>
            <a:r>
              <a:rPr b="1" lang="en-US" sz="2400" spc="-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</a:rPr>
              <a:t>Design</a:t>
            </a:r>
            <a:r>
              <a:rPr b="1" lang="en-US" sz="2400" spc="-1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ac172b"/>
                </a:solidFill>
                <a:latin typeface="Calibri"/>
              </a:rPr>
              <a:t>Concepts</a:t>
            </a:r>
            <a:endParaRPr b="0" lang="en-US" sz="24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20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</a:rPr>
              <a:t>7.2-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Implement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Knowledge-Based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Authentication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 </a:t>
            </a:r>
            <a:br>
              <a:rPr sz="2200"/>
            </a:br>
            <a:r>
              <a:rPr b="0" lang="en-US" sz="2200" spc="-7" strike="noStrike">
                <a:solidFill>
                  <a:srgbClr val="ac172b"/>
                </a:solidFill>
                <a:latin typeface="Calibri"/>
              </a:rPr>
              <a:t>7.3-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Summarize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Biometrics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Authentication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Concepts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BF29BF9-C765-4E08-9350-23D7AF0E73D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83920" cy="9151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IDENTITY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0" name="object 3"/>
          <p:cNvSpPr/>
          <p:nvPr/>
        </p:nvSpPr>
        <p:spPr>
          <a:xfrm>
            <a:off x="916920" y="1802520"/>
            <a:ext cx="10281960" cy="29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735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access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control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system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technical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govern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subjects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objects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Subjects</a:t>
            </a:r>
            <a:r>
              <a:rPr b="1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sense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users,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 anything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else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granted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Objects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resources;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files,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84A4357-C42F-47E3-A0D5-AADC5290D98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512720" cy="9151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IDENTITY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6" name="object 3"/>
          <p:cNvSpPr/>
          <p:nvPr/>
        </p:nvSpPr>
        <p:spPr>
          <a:xfrm>
            <a:off x="916920" y="1802520"/>
            <a:ext cx="10348560" cy="31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identity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 access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management (IAM)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 described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terms of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four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55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Identification—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creating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account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uniquely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represents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user,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Authentication—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proving 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subject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who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claims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 when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Authorization—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rights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subjects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resource,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enforcing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those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rights.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Accounting—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tracking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usage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use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rights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subject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alerting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unauthorized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detected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attempted.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C9B7D03-A518-4AF9-81B5-AB0FF51C490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191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IDENTITY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2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3" name="object 4" descr=""/>
          <p:cNvPicPr/>
          <p:nvPr/>
        </p:nvPicPr>
        <p:blipFill>
          <a:blip r:embed="rId1"/>
          <a:stretch/>
        </p:blipFill>
        <p:spPr>
          <a:xfrm>
            <a:off x="6858000" y="1600200"/>
            <a:ext cx="4539240" cy="4537800"/>
          </a:xfrm>
          <a:prstGeom prst="rect">
            <a:avLst/>
          </a:prstGeom>
          <a:ln w="0">
            <a:noFill/>
          </a:ln>
        </p:spPr>
      </p:pic>
      <p:sp>
        <p:nvSpPr>
          <p:cNvPr id="114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232CDAD-DC8D-41BC-BE6F-C96BE9E9745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3126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EN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8" name="object 3"/>
          <p:cNvSpPr/>
          <p:nvPr/>
        </p:nvSpPr>
        <p:spPr>
          <a:xfrm>
            <a:off x="916920" y="1802520"/>
            <a:ext cx="10176480" cy="38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241200" indent="-229320">
              <a:lnSpc>
                <a:spcPct val="90000"/>
              </a:lnSpc>
              <a:spcBef>
                <a:spcPts val="3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Assuming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been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securely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identity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holder has been verified),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verifies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holder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only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holders.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holder supplies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authenticators)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compared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stored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match,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technologies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defining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credentials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categorized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factors.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B344D23-CE1A-4204-84D7-231B8A61D36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240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AUTHENTICATION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FACTORS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4" name="object 3"/>
          <p:cNvSpPr/>
          <p:nvPr/>
        </p:nvSpPr>
        <p:spPr>
          <a:xfrm>
            <a:off x="916920" y="1758960"/>
            <a:ext cx="10167480" cy="31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Something</a:t>
            </a:r>
            <a:r>
              <a:rPr b="0" lang="en-US" sz="2400" spc="-52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66" strike="noStrike">
                <a:solidFill>
                  <a:srgbClr val="c00000"/>
                </a:solidFill>
                <a:latin typeface="Calibri"/>
                <a:ea typeface="DejaVu Sans"/>
              </a:rPr>
              <a:t>You</a:t>
            </a:r>
            <a:r>
              <a:rPr b="0" lang="en-US" sz="2400" spc="-26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Know</a:t>
            </a:r>
            <a:r>
              <a:rPr b="0" lang="en-US" sz="24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Authentication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typical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knowledge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factor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logon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composed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username</a:t>
            </a:r>
            <a:r>
              <a:rPr b="0" lang="en-US" sz="2000" spc="9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password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username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(although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published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openly),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 known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holder.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personal</a:t>
            </a:r>
            <a:r>
              <a:rPr b="0" lang="en-US" sz="20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identification</a:t>
            </a:r>
            <a:r>
              <a:rPr b="0" lang="en-US" sz="2000" spc="9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number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(PIN)</a:t>
            </a:r>
            <a:r>
              <a:rPr b="0" lang="en-US" sz="2000" spc="9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know,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although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codes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remember,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short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0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Swipe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patterns</a:t>
            </a:r>
            <a:r>
              <a:rPr b="0" lang="en-US" sz="2000" spc="9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touch-based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79AB693-7A61-4851-8A6B-C9A34EBD7AD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240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AUTHENTICATION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FACTORS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758960"/>
            <a:ext cx="10240560" cy="31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Something</a:t>
            </a:r>
            <a:r>
              <a:rPr b="0" lang="en-US" sz="2400" spc="-52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66" strike="noStrike">
                <a:solidFill>
                  <a:srgbClr val="c00000"/>
                </a:solidFill>
                <a:latin typeface="Calibri"/>
                <a:ea typeface="DejaVu Sans"/>
              </a:rPr>
              <a:t>You</a:t>
            </a:r>
            <a:r>
              <a:rPr b="0" lang="en-US" sz="2400" spc="-26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Have</a:t>
            </a:r>
            <a:r>
              <a:rPr b="0" lang="en-US" sz="24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Authentication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ownership factor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means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holder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possesses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else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smart</a:t>
            </a:r>
            <a:r>
              <a:rPr b="0" lang="en-US" sz="20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card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fob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wristband</a:t>
            </a:r>
            <a:r>
              <a:rPr b="0" lang="en-US" sz="2000" spc="9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programmed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unique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certificate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number.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ownership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factors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described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hard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tokens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smartphone 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used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receive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uniquely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generated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soft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token.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Unlike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tokens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valid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within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brief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window.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2F514BB-93EE-465A-A2E9-013350BF754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240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AUTHENTICATION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FACTORS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6" name="object 3"/>
          <p:cNvSpPr/>
          <p:nvPr/>
        </p:nvSpPr>
        <p:spPr>
          <a:xfrm>
            <a:off x="916920" y="1758960"/>
            <a:ext cx="9947160" cy="23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Something</a:t>
            </a:r>
            <a:r>
              <a:rPr b="0" lang="en-US" sz="2400" spc="-5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66" strike="noStrike">
                <a:solidFill>
                  <a:srgbClr val="c00000"/>
                </a:solidFill>
                <a:latin typeface="Calibri"/>
                <a:ea typeface="DejaVu Sans"/>
              </a:rPr>
              <a:t>You</a:t>
            </a:r>
            <a:r>
              <a:rPr b="0" lang="en-US" sz="2400" spc="-26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Are/Do</a:t>
            </a:r>
            <a:r>
              <a:rPr b="0" lang="en-US" sz="24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Authentication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biometric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either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physiological identifiers,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fingerprint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behavioral identifiers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someone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 moves</a:t>
            </a:r>
            <a:r>
              <a:rPr b="0" lang="en-US" sz="20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(gait).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identifiers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scanned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recorded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template.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authenticates,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taken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template.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0DC2934-BE56-4D2D-80C6-0759B817805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97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EN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2" name="object 3"/>
          <p:cNvSpPr/>
          <p:nvPr/>
        </p:nvSpPr>
        <p:spPr>
          <a:xfrm>
            <a:off x="916920" y="1802520"/>
            <a:ext cx="10176480" cy="315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selecting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technology that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meets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requirements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confidentiality,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integrity,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availability: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96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Confidentiality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terms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authentication,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leaked,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actors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impersonate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holder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whatever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rights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have.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Integrity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authentication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mechanism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reliable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easy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actors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bypass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trick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counterfeit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Availability</a:t>
            </a:r>
            <a:r>
              <a:rPr b="0" lang="en-US" sz="2000" spc="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taken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impede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workflows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easy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enough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operate.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BE7FB54-D84D-40E6-B04B-CC4A9DAE4A4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520" cy="9151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28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31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8" name="object 3"/>
          <p:cNvSpPr/>
          <p:nvPr/>
        </p:nvSpPr>
        <p:spPr>
          <a:xfrm>
            <a:off x="916920" y="1802520"/>
            <a:ext cx="10309680" cy="36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technology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strong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combines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knowledge,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ownership,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biometric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factor,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called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multifactor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(MFA).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Single-factor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quite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easily 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compromised: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 down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shared,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smart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card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stolen,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biometric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could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subject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high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error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rates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spoofing.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735"/>
              </a:lnSpc>
              <a:spcBef>
                <a:spcPts val="669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Two-Factor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(2FA)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combines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either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ownership-based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smart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card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biometric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identifier</a:t>
            </a:r>
            <a:r>
              <a:rPr b="1" lang="en-US" sz="24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know,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F8A3B0A-5060-48BD-B856-6E31767F1F6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826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MULTIFACTOR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AUTHENTICATION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4" name="object 3"/>
          <p:cNvSpPr/>
          <p:nvPr/>
        </p:nvSpPr>
        <p:spPr>
          <a:xfrm>
            <a:off x="916920" y="1802520"/>
            <a:ext cx="10247040" cy="21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Three-factor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combines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technologies, 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incorporates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additional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location;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smart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card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integrated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fingerprint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reader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possess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user's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fingerprint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match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template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card,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input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8A2256D-6303-480C-85FA-01A393E4DBA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16920" y="1904400"/>
            <a:ext cx="891252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</a:rPr>
              <a:t>7.1-</a:t>
            </a:r>
            <a:r>
              <a:rPr b="0" lang="en-US" sz="2200" spc="-12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</a:rPr>
              <a:t>Summarize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Authentication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</a:rPr>
              <a:t>Design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</a:rPr>
              <a:t>Concepts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0" name="object 3"/>
          <p:cNvSpPr/>
          <p:nvPr/>
        </p:nvSpPr>
        <p:spPr>
          <a:xfrm>
            <a:off x="916920" y="2221200"/>
            <a:ext cx="10284120" cy="9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6280" bIns="0" anchor="t">
            <a:spAutoFit/>
          </a:bodyPr>
          <a:p>
            <a:pPr marL="12600">
              <a:lnSpc>
                <a:spcPct val="100000"/>
              </a:lnSpc>
              <a:spcBef>
                <a:spcPts val="916"/>
              </a:spcBef>
              <a:buNone/>
            </a:pPr>
            <a:r>
              <a:rPr b="1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7.2-</a:t>
            </a:r>
            <a:r>
              <a:rPr b="1" lang="en-US" sz="24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Implement Knowledge-Based</a:t>
            </a:r>
            <a:r>
              <a:rPr b="1" lang="en-US" sz="2400" spc="-12" strike="noStrike">
                <a:solidFill>
                  <a:srgbClr val="c00000"/>
                </a:solidFill>
                <a:latin typeface="Calibri"/>
                <a:ea typeface="DejaVu Sans"/>
              </a:rPr>
              <a:t> Authentication</a:t>
            </a:r>
            <a:endParaRPr b="0" lang="en-US" sz="24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7.3-</a:t>
            </a:r>
            <a:r>
              <a:rPr b="0" lang="en-US" sz="2200" spc="-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Biometrics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2D99CD5-96FB-4BE9-A4AA-FD8EF4CC9A9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4400" y="684720"/>
            <a:ext cx="107438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200" spc="-35" strike="noStrike">
                <a:solidFill>
                  <a:srgbClr val="c00000"/>
                </a:solidFill>
                <a:latin typeface="Calibri Light"/>
              </a:rPr>
              <a:t>LOCAL,</a:t>
            </a:r>
            <a:r>
              <a:rPr b="0" lang="en-US" sz="32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41" strike="noStrike">
                <a:solidFill>
                  <a:srgbClr val="c00000"/>
                </a:solidFill>
                <a:latin typeface="Calibri Light"/>
              </a:rPr>
              <a:t>NETWORK,</a:t>
            </a:r>
            <a:r>
              <a:rPr b="0" lang="en-US" sz="32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2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46" strike="noStrike">
                <a:solidFill>
                  <a:srgbClr val="c00000"/>
                </a:solidFill>
                <a:latin typeface="Calibri Light"/>
              </a:rPr>
              <a:t>REMOTE</a:t>
            </a:r>
            <a:r>
              <a:rPr b="0" lang="en-US" sz="32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55" strike="noStrike">
                <a:solidFill>
                  <a:srgbClr val="c00000"/>
                </a:solidFill>
                <a:latin typeface="Calibri Light"/>
              </a:rPr>
              <a:t>AUTHENTICATION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6" name="object 3"/>
          <p:cNvSpPr/>
          <p:nvPr/>
        </p:nvSpPr>
        <p:spPr>
          <a:xfrm>
            <a:off x="916920" y="1600200"/>
            <a:ext cx="10188000" cy="33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important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provider,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which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architecture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underpins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which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before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starting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shell.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login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(Linux)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logon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sign-in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(Microsoft)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Knowledge-based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(PIN)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default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3FFED72-EEE0-4B64-9D56-4F846812BE1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66265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Windows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Authentication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2" name="object 3"/>
          <p:cNvSpPr/>
          <p:nvPr/>
        </p:nvSpPr>
        <p:spPr>
          <a:xfrm>
            <a:off x="680400" y="914400"/>
            <a:ext cx="10749240" cy="46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241200" indent="-229320">
              <a:lnSpc>
                <a:spcPct val="90000"/>
              </a:lnSpc>
              <a:spcBef>
                <a:spcPts val="3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involves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complex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architecture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components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docs.microsoft.com/en-us/windows-server/security/windows- </a:t>
            </a:r>
            <a:r>
              <a:rPr b="0" lang="en-US" sz="24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 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4"/>
              </a:rPr>
              <a:t>authentication/credentials-processes-in-windows-authentication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),</a:t>
            </a:r>
            <a:r>
              <a:rPr b="0" lang="en-US" sz="2400" spc="6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400" spc="6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scenarios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6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local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sign-in—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 Security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Authority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(LSA)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compares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submitted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Accounts Manager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(SAM) database,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 is part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registry.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0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26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sign-in—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LSA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preferred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based on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Kerberos,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legacy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applications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(NTLM)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0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Remote</a:t>
            </a:r>
            <a:r>
              <a:rPr b="0" lang="en-US" sz="2000" spc="7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sign-in—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user's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network,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place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over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virtual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(VPN)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 web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portal.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455D2B8-0B03-423B-B6C8-2D902953B86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7468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Linux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Authentication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8" name="object 3"/>
          <p:cNvSpPr/>
          <p:nvPr/>
        </p:nvSpPr>
        <p:spPr>
          <a:xfrm>
            <a:off x="916920" y="1711080"/>
            <a:ext cx="10183320" cy="28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Linux, local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/etc/passwd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logs in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interactive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shell,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checked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/etc/shadow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Interactive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login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accomplished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Shell </a:t>
            </a:r>
            <a:r>
              <a:rPr b="1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(SSH)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SSH,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cryptographic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keys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instead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06F9B51-D3C0-4386-B70C-EFEA76134FA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69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Single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Sign-On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(SSO)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4" name="object 3"/>
          <p:cNvSpPr/>
          <p:nvPr/>
        </p:nvSpPr>
        <p:spPr>
          <a:xfrm>
            <a:off x="916920" y="1802520"/>
            <a:ext cx="10192320" cy="14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single sign-on (SSO)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allows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once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compatible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having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enter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again.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Kerberos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PlaceHolder 2"/>
          <p:cNvSpPr>
            <a:spLocks noGrp="1"/>
          </p:cNvSpPr>
          <p:nvPr>
            <p:ph type="ftr" idx="5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5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sldNum" idx="5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82CA77D-11AC-4011-A800-1EECBDBC116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KERBEROS</a:t>
            </a:r>
            <a:r>
              <a:rPr b="0" lang="en-US" sz="3600" spc="-15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AUTHENTICATION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0" name="object 3"/>
          <p:cNvSpPr/>
          <p:nvPr/>
        </p:nvSpPr>
        <p:spPr>
          <a:xfrm>
            <a:off x="916920" y="1802520"/>
            <a:ext cx="102013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Kerberos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single sign-on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authorization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notably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Microsoft's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Active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Directory </a:t>
            </a:r>
            <a:r>
              <a:rPr b="0" lang="en-US" sz="2400" spc="-52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(AD)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Kerberos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was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named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after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three-headed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guard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dog of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Hades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(Cerberus)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consists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object 5" descr=""/>
          <p:cNvPicPr/>
          <p:nvPr/>
        </p:nvPicPr>
        <p:blipFill>
          <a:blip r:embed="rId1"/>
          <a:stretch/>
        </p:blipFill>
        <p:spPr>
          <a:xfrm>
            <a:off x="3652920" y="3852720"/>
            <a:ext cx="4880520" cy="2190600"/>
          </a:xfrm>
          <a:prstGeom prst="rect">
            <a:avLst/>
          </a:prstGeom>
          <a:ln w="0">
            <a:noFill/>
          </a:ln>
        </p:spPr>
      </p:pic>
      <p:sp>
        <p:nvSpPr>
          <p:cNvPr id="193" name="PlaceHolder 2"/>
          <p:cNvSpPr>
            <a:spLocks noGrp="1"/>
          </p:cNvSpPr>
          <p:nvPr>
            <p:ph type="ftr" idx="5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5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sldNum" idx="6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B7FC2BE-F75C-41F2-BE60-7D99A804E9A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92920" y="324720"/>
            <a:ext cx="93697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KERBEROS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AUTHENTICATION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7" name="object 3"/>
          <p:cNvSpPr/>
          <p:nvPr/>
        </p:nvSpPr>
        <p:spPr>
          <a:xfrm>
            <a:off x="628920" y="1082520"/>
            <a:ext cx="10140840" cy="49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469800" indent="-4579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client sends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authentication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service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(AS)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Ticket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Granting </a:t>
            </a:r>
            <a:r>
              <a:rPr b="0" lang="en-US" sz="2400" spc="-53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Ticket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(TGT),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composed 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encrypting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time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user's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the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checks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present, 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decode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matching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user's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Active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Directory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expired,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If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valid,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AS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responds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data: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Ticket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Granting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Ticket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(TGT)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—this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contains information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client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(name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plus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timestamp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validity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period,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encrypted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KDC's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secret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006fc0"/>
                </a:solidFill>
                <a:latin typeface="Calibri"/>
                <a:ea typeface="DejaVu Sans"/>
              </a:rPr>
              <a:t>TGS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session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communications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client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Ticket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Granting </a:t>
            </a:r>
            <a:r>
              <a:rPr b="0" lang="en-US" sz="2000" spc="-4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Service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(TGS)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encrypted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user's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PlaceHolder 2"/>
          <p:cNvSpPr>
            <a:spLocks noGrp="1"/>
          </p:cNvSpPr>
          <p:nvPr>
            <p:ph type="ftr" idx="61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dt" idx="6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sldNum" idx="6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71F0CE7-8FEE-4D51-B00A-4C4CCB27878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96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3" name="object 3"/>
          <p:cNvSpPr/>
          <p:nvPr/>
        </p:nvSpPr>
        <p:spPr>
          <a:xfrm>
            <a:off x="916920" y="1802520"/>
            <a:ext cx="9858240" cy="21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chooses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converted 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 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cryptographic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function, such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MD5</a:t>
            </a:r>
            <a:r>
              <a:rPr b="0" lang="en-US" sz="2400" spc="-12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c00000"/>
                </a:solidFill>
                <a:latin typeface="Calibri"/>
                <a:ea typeface="DejaVu Sans"/>
              </a:rPr>
              <a:t>SHA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that,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theory,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 one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except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(not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even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administrator) knows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 not be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recoverable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0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PlaceHolder 2"/>
          <p:cNvSpPr>
            <a:spLocks noGrp="1"/>
          </p:cNvSpPr>
          <p:nvPr>
            <p:ph type="ftr" idx="64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dt" idx="6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sldNum" idx="6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F623411-B86E-4525-B4D7-E2F5236CBE0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855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96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9" name="object 3"/>
          <p:cNvSpPr/>
          <p:nvPr/>
        </p:nvSpPr>
        <p:spPr>
          <a:xfrm>
            <a:off x="916920" y="1758960"/>
            <a:ext cx="10227960" cy="32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Plaintext/Unencrypted</a:t>
            </a:r>
            <a:r>
              <a:rPr b="0" lang="en-US" sz="2400" spc="-6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Attacks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plaintext/unencrypted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include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PAP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HTTP/FTP</a:t>
            </a:r>
            <a:r>
              <a:rPr b="1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Telnet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protocols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saved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unmanaged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credential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breaches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embedded in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code that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subsequently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uploaded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repository.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PlaceHolder 2"/>
          <p:cNvSpPr>
            <a:spLocks noGrp="1"/>
          </p:cNvSpPr>
          <p:nvPr>
            <p:ph type="ftr" idx="6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dt" idx="6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sldNum" idx="6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FA63945-1A2A-4411-BA2E-9E9853C45F0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996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96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5" name="object 3"/>
          <p:cNvSpPr/>
          <p:nvPr/>
        </p:nvSpPr>
        <p:spPr>
          <a:xfrm>
            <a:off x="916920" y="1758960"/>
            <a:ext cx="10288080" cy="40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Online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Attacks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online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interacts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directly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—a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login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form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VPN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gateway,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submits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either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variations)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passwords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cracked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offline.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Also,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aware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username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password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/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1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hash </a:t>
            </a:r>
            <a:r>
              <a:rPr b="1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combinations</a:t>
            </a:r>
            <a:r>
              <a:rPr b="1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across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Internet.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details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derive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successful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hacks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various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companies'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systems.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searched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26" strike="noStrike">
                <a:solidFill>
                  <a:srgbClr val="0462c1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haveibeenpwned.com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PlaceHolder 2"/>
          <p:cNvSpPr>
            <a:spLocks noGrp="1"/>
          </p:cNvSpPr>
          <p:nvPr>
            <p:ph type="ftr" idx="7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dt" idx="7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sldNum" idx="7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3A34A83-B892-4709-83F3-AB11CA7E55D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996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96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1" name="object 3"/>
          <p:cNvSpPr/>
          <p:nvPr/>
        </p:nvSpPr>
        <p:spPr>
          <a:xfrm>
            <a:off x="916920" y="1758960"/>
            <a:ext cx="10136520" cy="30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Offline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Attacks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offline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obtain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hashes,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%SystemRoot%\System32\config\SAM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%SystemRoot%\NTDS\NTDS.DIT </a:t>
            </a:r>
            <a:r>
              <a:rPr b="1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Active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Directory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store),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/etc/shadow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Once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been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obtained,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cracker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(other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misuse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successful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attack)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audit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PlaceHolder 2"/>
          <p:cNvSpPr>
            <a:spLocks noGrp="1"/>
          </p:cNvSpPr>
          <p:nvPr>
            <p:ph type="ftr" idx="7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dt" idx="7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sldNum" idx="7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6FC2AF0-F667-4311-816F-EA589C7056C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69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BRUTE-FORCE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DICTIONARY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7" name="object 3"/>
          <p:cNvSpPr/>
          <p:nvPr/>
        </p:nvSpPr>
        <p:spPr>
          <a:xfrm>
            <a:off x="916920" y="1711080"/>
            <a:ext cx="10172160" cy="30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weak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chosen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Others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For</a:t>
            </a:r>
            <a:r>
              <a:rPr b="0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Example: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store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compatibility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older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(LM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NTLMv1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hashes).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legacy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cryptographically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weak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highly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cracking.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PlaceHolder 2"/>
          <p:cNvSpPr>
            <a:spLocks noGrp="1"/>
          </p:cNvSpPr>
          <p:nvPr>
            <p:ph type="ftr" idx="7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dt" idx="7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sldNum" idx="7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0C6C6F8-D788-4CE3-ADF5-966080636E0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6397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Brute-Force</a:t>
            </a:r>
            <a:r>
              <a:rPr b="0" lang="en-US" sz="3600" spc="-15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Attack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3" name="object 3"/>
          <p:cNvSpPr/>
          <p:nvPr/>
        </p:nvSpPr>
        <p:spPr>
          <a:xfrm>
            <a:off x="637920" y="930240"/>
            <a:ext cx="10334520" cy="50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brute-force</a:t>
            </a:r>
            <a:r>
              <a:rPr b="0" lang="en-US" sz="24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attack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possible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combination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output space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order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match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captured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guess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generated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4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output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space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number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bits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algorithm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594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128-bit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MD5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256-bit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SHA256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80000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larger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output space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 characters that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were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 password,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 difficult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possible hash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match.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Brute-force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heavily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constrained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therefore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cracking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short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98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However,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brute-force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distributed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across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components,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like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cluster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high-end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graphics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cards,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successful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cracking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longer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PlaceHolder 2"/>
          <p:cNvSpPr>
            <a:spLocks noGrp="1"/>
          </p:cNvSpPr>
          <p:nvPr>
            <p:ph type="ftr" idx="7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dt" idx="8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sldNum" idx="8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302ED83-994D-401D-8970-118F2658532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48920" y="228600"/>
            <a:ext cx="91411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Dictionary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Rainbow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Table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Attacks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9" name="object 3"/>
          <p:cNvSpPr/>
          <p:nvPr/>
        </p:nvSpPr>
        <p:spPr>
          <a:xfrm>
            <a:off x="448920" y="858960"/>
            <a:ext cx="10344240" cy="51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Dictionary</a:t>
            </a:r>
            <a:r>
              <a:rPr b="0" lang="en-US" sz="2400" spc="-5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attack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 where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good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chance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guessing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plaintext,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non-complex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generates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dictionary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captured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0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Rainbow</a:t>
            </a:r>
            <a:r>
              <a:rPr b="0" lang="en-US" sz="2400" spc="-5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table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precomputed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lookup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their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matching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Not all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possible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much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memory.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Values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chains,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first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last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looked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corresponding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PlaceHolder 2"/>
          <p:cNvSpPr>
            <a:spLocks noGrp="1"/>
          </p:cNvSpPr>
          <p:nvPr>
            <p:ph type="ftr" idx="8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dt" idx="8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 type="sldNum" idx="8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EC0850E-3A97-4B95-9F72-822714100F7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035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Dictionary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Rainbow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Table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Attacks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5" name="object 3"/>
          <p:cNvSpPr/>
          <p:nvPr/>
        </p:nvSpPr>
        <p:spPr>
          <a:xfrm>
            <a:off x="916920" y="1802520"/>
            <a:ext cx="10283040" cy="41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salt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add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random value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plaintext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helps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slow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down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rainbow table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tables cannot 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created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advance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recreated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combination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salt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value.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Rainbow tables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impractical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trying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discover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(more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than about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14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characters).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UNIX</a:t>
            </a:r>
            <a:r>
              <a:rPr b="0" lang="en-US" sz="24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and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Linux </a:t>
            </a:r>
            <a:r>
              <a:rPr b="0" lang="en-US" sz="24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password</a:t>
            </a:r>
            <a:r>
              <a:rPr b="0" lang="en-US" sz="24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2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storage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mechanisms</a:t>
            </a:r>
            <a:r>
              <a:rPr b="0" lang="en-US" sz="2400" spc="-3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use </a:t>
            </a:r>
            <a:r>
              <a:rPr b="0" lang="en-US" sz="24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salt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but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Windows</a:t>
            </a:r>
            <a:r>
              <a:rPr b="0" lang="en-US" sz="2400" spc="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does not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Consequently,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even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enforce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strong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PlaceHolder 2"/>
          <p:cNvSpPr>
            <a:spLocks noGrp="1"/>
          </p:cNvSpPr>
          <p:nvPr>
            <p:ph type="ftr" idx="8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8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sldNum" idx="8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075AD31-EC1C-4136-873A-92925C48A2E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97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96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1" name="object 3"/>
          <p:cNvSpPr/>
          <p:nvPr/>
        </p:nvSpPr>
        <p:spPr>
          <a:xfrm>
            <a:off x="700920" y="1406520"/>
            <a:ext cx="10351080" cy="44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Although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 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 tools,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infamous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L0phtcrack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l0phtcrack.com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crackers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primarily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Linux.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Hashcat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hashcat.net/hashcat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general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syntax:</a:t>
            </a:r>
            <a:endParaRPr b="0" lang="en-US" sz="2400" spc="-1" strike="noStrike">
              <a:latin typeface="Arial"/>
            </a:endParaRPr>
          </a:p>
          <a:p>
            <a:pPr marL="5760" algn="ctr">
              <a:lnSpc>
                <a:spcPct val="100000"/>
              </a:lnSpc>
              <a:spcBef>
                <a:spcPts val="831"/>
              </a:spcBef>
              <a:buNone/>
              <a:tabLst>
                <a:tab algn="l" pos="241920"/>
              </a:tabLst>
            </a:pPr>
            <a:r>
              <a:rPr b="0" lang="en-US" sz="1800" spc="-7" strike="noStrike">
                <a:solidFill>
                  <a:srgbClr val="757575"/>
                </a:solidFill>
                <a:latin typeface="Consolas"/>
                <a:ea typeface="DejaVu Sans"/>
              </a:rPr>
              <a:t>hashcat -m</a:t>
            </a:r>
            <a:r>
              <a:rPr b="0" lang="en-US" sz="1800" spc="-15" strike="noStrike">
                <a:solidFill>
                  <a:srgbClr val="757575"/>
                </a:solidFill>
                <a:latin typeface="Consolas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757575"/>
                </a:solidFill>
                <a:latin typeface="Consolas"/>
                <a:ea typeface="DejaVu Sans"/>
              </a:rPr>
              <a:t>HashType</a:t>
            </a:r>
            <a:r>
              <a:rPr b="0" i="1" lang="en-US" sz="1800" spc="-1" strike="noStrike">
                <a:solidFill>
                  <a:srgbClr val="757575"/>
                </a:solidFill>
                <a:latin typeface="Consolas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757575"/>
                </a:solidFill>
                <a:latin typeface="Consolas"/>
                <a:ea typeface="DejaVu Sans"/>
              </a:rPr>
              <a:t>-a</a:t>
            </a:r>
            <a:r>
              <a:rPr b="0" lang="en-US" sz="1800" spc="-21" strike="noStrike">
                <a:solidFill>
                  <a:srgbClr val="757575"/>
                </a:solidFill>
                <a:latin typeface="Consolas"/>
                <a:ea typeface="DejaVu Sans"/>
              </a:rPr>
              <a:t> </a:t>
            </a:r>
            <a:r>
              <a:rPr b="0" i="1" lang="en-US" sz="1800" spc="-7" strike="noStrike">
                <a:solidFill>
                  <a:srgbClr val="757575"/>
                </a:solidFill>
                <a:latin typeface="Consolas"/>
                <a:ea typeface="DejaVu Sans"/>
              </a:rPr>
              <a:t>AttackMode</a:t>
            </a:r>
            <a:r>
              <a:rPr b="0" i="1" lang="en-US" sz="1800" spc="-12" strike="noStrike">
                <a:solidFill>
                  <a:srgbClr val="757575"/>
                </a:solidFill>
                <a:latin typeface="Consolas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757575"/>
                </a:solidFill>
                <a:latin typeface="Consolas"/>
                <a:ea typeface="DejaVu Sans"/>
              </a:rPr>
              <a:t>-o </a:t>
            </a:r>
            <a:r>
              <a:rPr b="0" i="1" lang="en-US" sz="1800" spc="-7" strike="noStrike">
                <a:solidFill>
                  <a:srgbClr val="757575"/>
                </a:solidFill>
                <a:latin typeface="Consolas"/>
                <a:ea typeface="DejaVu Sans"/>
              </a:rPr>
              <a:t>OutputFile InputHashFile</a:t>
            </a:r>
            <a:endParaRPr b="0" lang="en-US" sz="18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984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input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should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contain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hashes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format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3"/>
              </a:rPr>
              <a:t>hashcat.net/wiki/doku.php?id=example_hashes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Hashcat 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single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word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list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(dictionary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 </a:t>
            </a:r>
            <a:r>
              <a:rPr b="0" lang="en-US" sz="1800" spc="-7" strike="noStrike">
                <a:solidFill>
                  <a:srgbClr val="7e7e7e"/>
                </a:solidFill>
                <a:latin typeface="Consolas"/>
                <a:ea typeface="DejaVu Sans"/>
              </a:rPr>
              <a:t>-a 0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) 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word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lists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(combinator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7e7e7e"/>
                </a:solidFill>
                <a:latin typeface="Consolas"/>
                <a:ea typeface="DejaVu Sans"/>
              </a:rPr>
              <a:t>-a</a:t>
            </a:r>
            <a:r>
              <a:rPr b="0" lang="en-US" sz="1800" spc="-1" strike="noStrike">
                <a:solidFill>
                  <a:srgbClr val="7e7e7e"/>
                </a:solidFill>
                <a:latin typeface="Consolas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7e7e7e"/>
                </a:solidFill>
                <a:latin typeface="Consolas"/>
                <a:ea typeface="DejaVu Sans"/>
              </a:rPr>
              <a:t>1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PlaceHolder 2"/>
          <p:cNvSpPr>
            <a:spLocks noGrp="1"/>
          </p:cNvSpPr>
          <p:nvPr>
            <p:ph type="ftr" idx="8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dt" idx="8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sldNum" idx="9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917AF30-68CA-4097-807A-AE6CF4F9AB4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3067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PASSWORD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CRACKERS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7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8" name="object 4" descr=""/>
          <p:cNvPicPr/>
          <p:nvPr/>
        </p:nvPicPr>
        <p:blipFill>
          <a:blip r:embed="rId1"/>
          <a:stretch/>
        </p:blipFill>
        <p:spPr>
          <a:xfrm>
            <a:off x="2277000" y="2092680"/>
            <a:ext cx="7542360" cy="3933000"/>
          </a:xfrm>
          <a:prstGeom prst="rect">
            <a:avLst/>
          </a:prstGeom>
          <a:ln w="0">
            <a:noFill/>
          </a:ln>
        </p:spPr>
      </p:pic>
      <p:sp>
        <p:nvSpPr>
          <p:cNvPr id="259" name="PlaceHolder 2"/>
          <p:cNvSpPr>
            <a:spLocks noGrp="1"/>
          </p:cNvSpPr>
          <p:nvPr>
            <p:ph type="ftr" idx="91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dt" idx="9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 type="sldNum" idx="9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9960B19-B4F3-40A0-AB56-02B70475FEF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2023-09-02T17:17:09Z</dcterms:created>
  <dc:creator>Ahmed Sultan</dc:creator>
  <dc:description/>
  <dc:language>en-US</dc:language>
  <cp:lastModifiedBy/>
  <dcterms:modified xsi:type="dcterms:W3CDTF">2023-09-04T21:49:49Z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