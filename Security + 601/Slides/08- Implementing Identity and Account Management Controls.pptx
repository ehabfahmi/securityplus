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media/image4.jpeg" ContentType="image/jpeg"/>
  <Override PartName="/ppt/media/image5.jpeg" ContentType="image/jpeg"/>
  <Override PartName="/ppt/media/image6.jpeg" ContentType="image/jpe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3A9BE5-EF27-4BC1-834E-8B434C305BE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24F37FD-7F33-45A1-AA62-43EA993017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B1F099-4DBF-46F6-874D-755323EA39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11B0B32-4089-44CD-935D-456C846EA0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D69CB4F-7E84-425E-83C3-FD3D80D6C86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FAFC94D-50C2-444E-988E-9FED6C0CED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45AF53E-2369-44F9-805A-E120A40D8ED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522D791-1A9B-4605-973A-56F3C2D42A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DAD579-1C04-490B-B5DD-0D5994BFEAF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0C98FE6-2393-4D35-92B0-5B42ACBA597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A3FB5DB-3C31-4123-A7D5-57AEC8BE88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301B281-5B01-4E86-8202-F422D6E6415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E0C49D3-EB6E-4BBD-93F6-A18FB4EB76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94EEDC-5E4D-46FD-8F35-89661DA04A5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E19F60B-A1A4-4996-A514-4EDC277DCB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43A5D7C-6145-4839-926E-0BAD218829F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C65DEB-764A-436E-9881-17A68A339A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B18D6C9-714F-484C-A92A-AB5F0A7E9F1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B2E0904-CA1B-4237-91A2-546C00B7A36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48E6E9A7-49F8-4793-B8BC-8DC5DD7445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37236A-B63C-47F6-A7B6-6A909450537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BB5AE15-DC39-4461-884B-57819C2646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693DF30-A8A0-4BBC-B770-468C97C3049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E31EEB2-9B36-42E9-9CBB-EF672214066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60E11CC0-0026-4CA2-953D-9EDBC69CB1C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916920" y="6451560"/>
            <a:ext cx="102240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1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1" strike="noStrike">
                <a:solidFill>
                  <a:srgbClr val="ffffff"/>
                </a:solidFill>
                <a:latin typeface="Calibri"/>
              </a:rPr>
              <a:t>&lt;footer&gt;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11098440" y="6451200"/>
            <a:ext cx="20376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1DA99C8-2CE4-4454-B95A-2C197BEFEED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5492520" y="6451560"/>
            <a:ext cx="1122480" cy="151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jpe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object 3"/>
          <p:cNvGrpSpPr/>
          <p:nvPr/>
        </p:nvGrpSpPr>
        <p:grpSpPr>
          <a:xfrm>
            <a:off x="1379160" y="3080160"/>
            <a:ext cx="9481680" cy="848160"/>
            <a:chOff x="1379160" y="3080160"/>
            <a:chExt cx="9481680" cy="848160"/>
          </a:xfrm>
        </p:grpSpPr>
        <p:pic>
          <p:nvPicPr>
            <p:cNvPr id="83" name="object 4" descr=""/>
            <p:cNvPicPr/>
            <p:nvPr/>
          </p:nvPicPr>
          <p:blipFill>
            <a:blip r:embed="rId1"/>
            <a:stretch/>
          </p:blipFill>
          <p:spPr>
            <a:xfrm>
              <a:off x="1490400" y="3159000"/>
              <a:ext cx="9260640" cy="598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84" name="object 5" descr=""/>
            <p:cNvPicPr/>
            <p:nvPr/>
          </p:nvPicPr>
          <p:blipFill>
            <a:blip r:embed="rId2"/>
            <a:stretch/>
          </p:blipFill>
          <p:spPr>
            <a:xfrm>
              <a:off x="1379160" y="3080160"/>
              <a:ext cx="9481680" cy="8481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1507320" y="3166920"/>
            <a:ext cx="9176760" cy="1168200"/>
          </a:xfrm>
          <a:prstGeom prst="rect">
            <a:avLst/>
          </a:prstGeom>
          <a:solidFill>
            <a:srgbClr val="e1221a"/>
          </a:solidFill>
          <a:ln w="0">
            <a:noFill/>
          </a:ln>
        </p:spPr>
        <p:txBody>
          <a:bodyPr lIns="0" rIns="0" tIns="23400" bIns="0" anchor="t">
            <a:noAutofit/>
          </a:bodyPr>
          <a:p>
            <a:pPr marL="111600">
              <a:lnSpc>
                <a:spcPct val="100000"/>
              </a:lnSpc>
              <a:spcBef>
                <a:spcPts val="184"/>
              </a:spcBef>
              <a:buNone/>
            </a:pP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08-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Implementing</a:t>
            </a:r>
            <a:r>
              <a:rPr b="0" lang="en-US" sz="2800" spc="2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Identity</a:t>
            </a:r>
            <a:r>
              <a:rPr b="0" lang="en-US" sz="2800" spc="21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7" strike="noStrike">
                <a:solidFill>
                  <a:srgbClr val="ffffff"/>
                </a:solidFill>
                <a:latin typeface="Calibri"/>
              </a:rPr>
              <a:t>and</a:t>
            </a:r>
            <a:r>
              <a:rPr b="0" lang="en-US" sz="2800" spc="1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Account</a:t>
            </a:r>
            <a:r>
              <a:rPr b="0" lang="en-US" sz="2800" spc="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12" strike="noStrike">
                <a:solidFill>
                  <a:srgbClr val="ffffff"/>
                </a:solidFill>
                <a:latin typeface="Calibri"/>
              </a:rPr>
              <a:t>Management</a:t>
            </a:r>
            <a:r>
              <a:rPr b="0" lang="en-US" sz="2800" spc="9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2800" spc="-21" strike="noStrike">
                <a:solidFill>
                  <a:srgbClr val="ffffff"/>
                </a:solidFill>
                <a:latin typeface="Calibri"/>
              </a:rPr>
              <a:t>Controls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86" name="object 7" descr=""/>
          <p:cNvPicPr/>
          <p:nvPr/>
        </p:nvPicPr>
        <p:blipFill>
          <a:blip r:embed="rId3"/>
          <a:stretch/>
        </p:blipFill>
        <p:spPr>
          <a:xfrm>
            <a:off x="5041440" y="339480"/>
            <a:ext cx="2101320" cy="1930320"/>
          </a:xfrm>
          <a:prstGeom prst="rect">
            <a:avLst/>
          </a:prstGeom>
          <a:ln w="0">
            <a:noFill/>
          </a:ln>
        </p:spPr>
      </p:pic>
      <p:sp>
        <p:nvSpPr>
          <p:cNvPr id="87" name="object 1"/>
          <p:cNvSpPr/>
          <p:nvPr/>
        </p:nvSpPr>
        <p:spPr>
          <a:xfrm>
            <a:off x="6172200" y="5725800"/>
            <a:ext cx="5881680" cy="57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US" sz="1800" spc="-7" strike="noStrike">
                <a:solidFill>
                  <a:srgbClr val="001f5f"/>
                </a:solidFill>
                <a:latin typeface="Calibri"/>
                <a:ea typeface="DejaVu Sans"/>
              </a:rPr>
              <a:t>Ehab Fahmi </a:t>
            </a:r>
            <a:r>
              <a:rPr b="1" lang="en-US" sz="1800" spc="-1" strike="noStrike">
                <a:solidFill>
                  <a:srgbClr val="001f5f"/>
                </a:solidFill>
                <a:latin typeface="Calibri"/>
                <a:ea typeface="DejaVu Sans"/>
              </a:rPr>
              <a:t> </a:t>
            </a:r>
            <a:endParaRPr b="0" lang="en-US" sz="1800" spc="-1" strike="noStrike">
              <a:latin typeface="Arial"/>
            </a:endParaRPr>
          </a:p>
          <a:p>
            <a:pPr marL="38160" indent="561960">
              <a:lnSpc>
                <a:spcPct val="100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0" lang="en-US" sz="1800" spc="-7" strike="noStrike">
                <a:solidFill>
                  <a:srgbClr val="000000"/>
                </a:solidFill>
                <a:latin typeface="Calibri"/>
                <a:ea typeface="DejaVu Sans"/>
              </a:rPr>
              <a:t>Senior Cyber Security Consultant - </a:t>
            </a:r>
            <a:r>
              <a:rPr b="0" lang="en-US" sz="18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1800" spc="-12" strike="noStrike">
                <a:solidFill>
                  <a:srgbClr val="000000"/>
                </a:solidFill>
                <a:latin typeface="Calibri"/>
                <a:ea typeface="DejaVu Sans"/>
              </a:rPr>
              <a:t>Instructor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15346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26" strike="noStrike">
                <a:solidFill>
                  <a:srgbClr val="c00000"/>
                </a:solidFill>
                <a:latin typeface="Calibri Light"/>
              </a:rPr>
              <a:t>Outlines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89" name="object 3"/>
          <p:cNvSpPr/>
          <p:nvPr/>
        </p:nvSpPr>
        <p:spPr>
          <a:xfrm>
            <a:off x="916920" y="1715040"/>
            <a:ext cx="708372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8.1-</a:t>
            </a:r>
            <a:r>
              <a:rPr b="0" lang="en-US" sz="2000" spc="-12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000" spc="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Types </a:t>
            </a:r>
            <a:r>
              <a:rPr b="0" lang="en-US" sz="2000" spc="-48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endParaRPr b="0" lang="en-US" sz="2000" spc="-1" strike="noStrike">
              <a:latin typeface="Arial"/>
            </a:endParaRPr>
          </a:p>
          <a:p>
            <a:pPr marL="12600">
              <a:lnSpc>
                <a:spcPct val="127000"/>
              </a:lnSpc>
              <a:spcBef>
                <a:spcPts val="99"/>
              </a:spcBef>
              <a:buNone/>
            </a:pPr>
            <a:r>
              <a:rPr b="0" lang="en-US" sz="2000" spc="-7" strike="noStrike">
                <a:solidFill>
                  <a:srgbClr val="ba2709"/>
                </a:solidFill>
                <a:latin typeface="Calibri"/>
                <a:ea typeface="DejaVu Sans"/>
              </a:rPr>
              <a:t>8.2-</a:t>
            </a:r>
            <a:r>
              <a:rPr b="0" lang="en-US" sz="2000" spc="-15" strike="noStrike">
                <a:solidFill>
                  <a:srgbClr val="ba2709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Implement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90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1" name="PlaceHolder 2"/>
          <p:cNvSpPr>
            <a:spLocks noGrp="1"/>
          </p:cNvSpPr>
          <p:nvPr>
            <p:ph type="ftr" idx="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dt" idx="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sldNum" idx="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B29CA5D2-8893-4E2E-96A6-FF9E9BBA3CD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6603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2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CONTROLS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95" name="object 3"/>
          <p:cNvSpPr/>
          <p:nvPr/>
        </p:nvSpPr>
        <p:spPr>
          <a:xfrm>
            <a:off x="916920" y="1802520"/>
            <a:ext cx="10279800" cy="372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Identity</a:t>
            </a:r>
            <a:r>
              <a:rPr b="1" lang="en-US" sz="24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access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(IAM)</a:t>
            </a:r>
            <a:r>
              <a:rPr b="1" lang="en-US" sz="24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involves</a:t>
            </a:r>
            <a:r>
              <a:rPr b="0" lang="en-US" sz="24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both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IT/security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technologies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Human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(HR)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background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check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determines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person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who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say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concealing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criminal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activity,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bankruptcy,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connections that would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make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unsuitable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risky.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some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jobs,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especially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federal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jobs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requiring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clearance,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background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mandatory.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background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checks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internally,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whereas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others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done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external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party.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96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PlaceHolder 2"/>
          <p:cNvSpPr>
            <a:spLocks noGrp="1"/>
          </p:cNvSpPr>
          <p:nvPr>
            <p:ph type="ftr" idx="1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1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1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21C3CC6-71A7-416B-8B9B-31145F07659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914400" y="684720"/>
            <a:ext cx="1028700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CONTROLS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1" name="object 3"/>
          <p:cNvSpPr/>
          <p:nvPr/>
        </p:nvSpPr>
        <p:spPr>
          <a:xfrm>
            <a:off x="844920" y="1514520"/>
            <a:ext cx="10337040" cy="326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Onboarding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HR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level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welcoming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new employee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organization.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part 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onboarding,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IT and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HR function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combine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create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access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computer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assign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appropriate privileges,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are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known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only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valid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55" strike="noStrike">
                <a:solidFill>
                  <a:srgbClr val="000000"/>
                </a:solidFill>
                <a:latin typeface="Calibri"/>
                <a:ea typeface="DejaVu Sans"/>
              </a:rPr>
              <a:t>user.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90000"/>
              </a:lnSpc>
              <a:spcBef>
                <a:spcPts val="99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functions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integrated,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avoid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creating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accidental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configuration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vulnerabilities, such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IT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creating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for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who 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never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actually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hired.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2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PlaceHolder 2"/>
          <p:cNvSpPr>
            <a:spLocks noGrp="1"/>
          </p:cNvSpPr>
          <p:nvPr>
            <p:ph type="ftr" idx="1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1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sldNum" idx="1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9E8CC3DF-1472-4337-9E77-7B616CE7C7B6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8789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26" strike="noStrike">
                <a:solidFill>
                  <a:srgbClr val="c00000"/>
                </a:solidFill>
                <a:latin typeface="Calibri Light"/>
              </a:rPr>
              <a:t>IDENTITY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r>
              <a:rPr b="0" lang="en-US" sz="36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CONTROLS</a:t>
            </a:r>
            <a:r>
              <a:rPr b="0" lang="en-US" sz="3600" spc="-10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07" name="object 3"/>
          <p:cNvSpPr/>
          <p:nvPr/>
        </p:nvSpPr>
        <p:spPr>
          <a:xfrm>
            <a:off x="916920" y="1802520"/>
            <a:ext cx="10078560" cy="21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NonDisclosure</a:t>
            </a:r>
            <a:r>
              <a:rPr b="1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Agreement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(NDA)</a:t>
            </a:r>
            <a:r>
              <a:rPr b="1" lang="en-US" sz="2400" spc="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might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incorporated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within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employee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contract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could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separate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document.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contractor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signs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NDA,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asserting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will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share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confidential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third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party.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08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9" name="object 5" descr=""/>
          <p:cNvPicPr/>
          <p:nvPr/>
        </p:nvPicPr>
        <p:blipFill>
          <a:blip r:embed="rId1"/>
          <a:stretch/>
        </p:blipFill>
        <p:spPr>
          <a:xfrm>
            <a:off x="4097880" y="3607200"/>
            <a:ext cx="3995280" cy="256860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2"/>
          <p:cNvSpPr>
            <a:spLocks noGrp="1"/>
          </p:cNvSpPr>
          <p:nvPr>
            <p:ph type="ftr" idx="1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1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2" name="PlaceHolder 4"/>
          <p:cNvSpPr>
            <a:spLocks noGrp="1"/>
          </p:cNvSpPr>
          <p:nvPr>
            <p:ph type="sldNum" idx="1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84270AA-5F99-4397-8B32-593A757EC5E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96634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PERSONNEL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POLICIES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FOR</a:t>
            </a:r>
            <a:r>
              <a:rPr b="0" lang="en-US" sz="36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PRIVILEGE</a:t>
            </a:r>
            <a:r>
              <a:rPr b="0" lang="en-US" sz="3600" spc="-8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MANAGEMENTs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14" name="object 3"/>
          <p:cNvSpPr/>
          <p:nvPr/>
        </p:nvSpPr>
        <p:spPr>
          <a:xfrm>
            <a:off x="916920" y="1711080"/>
            <a:ext cx="10313640" cy="435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404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81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collaborate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effective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aim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insider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minimized.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buNone/>
              <a:tabLst>
                <a:tab algn="l" pos="241920"/>
              </a:tabLst>
            </a:pPr>
            <a:endParaRPr b="0" lang="en-US" sz="35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Separation</a:t>
            </a:r>
            <a:r>
              <a:rPr b="1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of</a:t>
            </a:r>
            <a:r>
              <a:rPr b="1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Duties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6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Separation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duties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establishing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checks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balances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against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possibility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critical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procedures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compromised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insider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threats.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Duties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responsibilities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divided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among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ethical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conflicts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abuse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powers.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1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PlaceHolder 2"/>
          <p:cNvSpPr>
            <a:spLocks noGrp="1"/>
          </p:cNvSpPr>
          <p:nvPr>
            <p:ph type="ftr" idx="1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dt" idx="2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18" name="PlaceHolder 4"/>
          <p:cNvSpPr>
            <a:spLocks noGrp="1"/>
          </p:cNvSpPr>
          <p:nvPr>
            <p:ph type="sldNum" idx="2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522FEBA-ED09-4698-9CE4-26245EBFF19A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916920" y="437760"/>
            <a:ext cx="10741320" cy="157644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3200" spc="-41" strike="noStrike">
                <a:solidFill>
                  <a:srgbClr val="c00000"/>
                </a:solidFill>
                <a:latin typeface="Calibri Light"/>
              </a:rPr>
              <a:t>PERSONNEL</a:t>
            </a:r>
            <a:r>
              <a:rPr b="0" lang="en-US" sz="3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2" strike="noStrike">
                <a:solidFill>
                  <a:srgbClr val="c00000"/>
                </a:solidFill>
                <a:latin typeface="Calibri Light"/>
              </a:rPr>
              <a:t>POLICIES</a:t>
            </a:r>
            <a:r>
              <a:rPr b="0" lang="en-US" sz="32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2" strike="noStrike">
                <a:solidFill>
                  <a:srgbClr val="c00000"/>
                </a:solidFill>
                <a:latin typeface="Calibri Light"/>
              </a:rPr>
              <a:t>FOR</a:t>
            </a:r>
            <a:r>
              <a:rPr b="0" lang="en-US" sz="3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32" strike="noStrike">
                <a:solidFill>
                  <a:srgbClr val="c00000"/>
                </a:solidFill>
                <a:latin typeface="Calibri Light"/>
              </a:rPr>
              <a:t>PRIVILEGE</a:t>
            </a:r>
            <a:r>
              <a:rPr b="0" lang="en-US" sz="32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2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endParaRPr b="0" lang="en-US" sz="3200" spc="-1" strike="noStrike">
              <a:latin typeface="Arial"/>
            </a:endParaRPr>
          </a:p>
          <a:p>
            <a:pPr marL="12600">
              <a:lnSpc>
                <a:spcPts val="4105"/>
              </a:lnSpc>
              <a:buNone/>
            </a:pPr>
            <a:r>
              <a:rPr b="0" lang="en-US" sz="32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20" name="object 3"/>
          <p:cNvSpPr/>
          <p:nvPr/>
        </p:nvSpPr>
        <p:spPr>
          <a:xfrm>
            <a:off x="916920" y="1758960"/>
            <a:ext cx="10189080" cy="28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Least</a:t>
            </a:r>
            <a:r>
              <a:rPr b="1" lang="en-US" sz="2400" spc="-3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Privilege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granted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sufficient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rights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job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no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This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mitigates</a:t>
            </a:r>
            <a:r>
              <a:rPr b="0" lang="en-US" sz="2000" spc="2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risk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if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account should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compromised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fall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under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control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of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threat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1" strike="noStrike">
                <a:solidFill>
                  <a:srgbClr val="000000"/>
                </a:solidFill>
                <a:latin typeface="Calibri"/>
                <a:ea typeface="DejaVu Sans"/>
              </a:rPr>
              <a:t>actor.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should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closely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analyzing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business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workflows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assess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what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required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regular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audits.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PlaceHolder 2"/>
          <p:cNvSpPr>
            <a:spLocks noGrp="1"/>
          </p:cNvSpPr>
          <p:nvPr>
            <p:ph type="ftr" idx="22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23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 type="sldNum" idx="24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35E69DF8-AA11-4A38-A437-71783675CC54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16920" y="437760"/>
            <a:ext cx="95241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PERSONNEL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POLICIES</a:t>
            </a:r>
            <a:r>
              <a:rPr b="0" lang="en-US" sz="28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FOR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PRIVILEGE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endParaRPr b="0" lang="en-US" sz="2800" spc="-1" strike="noStrike">
              <a:latin typeface="Arial"/>
            </a:endParaRPr>
          </a:p>
          <a:p>
            <a:pPr marL="12600">
              <a:lnSpc>
                <a:spcPts val="4105"/>
              </a:lnSpc>
              <a:buNone/>
            </a:pP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26" name="object 3"/>
          <p:cNvSpPr/>
          <p:nvPr/>
        </p:nvSpPr>
        <p:spPr>
          <a:xfrm>
            <a:off x="916920" y="1758960"/>
            <a:ext cx="10236600" cy="399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Job</a:t>
            </a:r>
            <a:r>
              <a:rPr b="1" lang="en-US" sz="2400" spc="-41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Rotation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Job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rotation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(or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rotation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duties)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permitted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remain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job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extended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period.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example,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managers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moved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different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departments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periodically,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perform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more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than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job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role,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switching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between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throughout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year.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Rotating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into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out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roles,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such 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firewall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administrator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control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specialist,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helps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organization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firmly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individual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because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vital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institutional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knowledge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spread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among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trusted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Job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rotation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helps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prevent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abuse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power,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reduces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boredom,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enhances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individuals'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professional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skills.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27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PlaceHolder 2"/>
          <p:cNvSpPr>
            <a:spLocks noGrp="1"/>
          </p:cNvSpPr>
          <p:nvPr>
            <p:ph type="ftr" idx="25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26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27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4A3967BE-18CD-4B8B-96D6-C587A997A649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16920" y="437760"/>
            <a:ext cx="952416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ts val="4105"/>
              </a:lnSpc>
              <a:spcBef>
                <a:spcPts val="99"/>
              </a:spcBef>
              <a:buNone/>
            </a:pP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PERSONNEL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POLICIES</a:t>
            </a:r>
            <a:r>
              <a:rPr b="0" lang="en-US" sz="2800" spc="-9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FOR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PRIVILEGE</a:t>
            </a:r>
            <a:r>
              <a:rPr b="0" lang="en-US" sz="2800" spc="-92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endParaRPr b="0" lang="en-US" sz="2800" spc="-1" strike="noStrike">
              <a:latin typeface="Arial"/>
            </a:endParaRPr>
          </a:p>
          <a:p>
            <a:pPr marL="12600">
              <a:lnSpc>
                <a:spcPts val="4105"/>
              </a:lnSpc>
              <a:buNone/>
            </a:pP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2" name="object 3"/>
          <p:cNvSpPr/>
          <p:nvPr/>
        </p:nvSpPr>
        <p:spPr>
          <a:xfrm>
            <a:off x="916920" y="1758960"/>
            <a:ext cx="10161360" cy="282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6520" bIns="0" anchor="t">
            <a:spAutoFit/>
          </a:bodyPr>
          <a:p>
            <a:pPr marL="241200" indent="-229320">
              <a:lnSpc>
                <a:spcPct val="100000"/>
              </a:lnSpc>
              <a:spcBef>
                <a:spcPts val="44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Mandatory</a:t>
            </a:r>
            <a:r>
              <a:rPr b="1" lang="en-US" sz="2400" spc="-26" strike="noStrike">
                <a:solidFill>
                  <a:srgbClr val="006fc0"/>
                </a:solidFill>
                <a:latin typeface="Calibri"/>
                <a:ea typeface="DejaVu Sans"/>
              </a:rPr>
              <a:t> Vacation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89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Mandatory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vacation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means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forced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vacation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during</a:t>
            </a:r>
            <a:endParaRPr b="0" lang="en-US" sz="2000" spc="-1" strike="noStrike">
              <a:latin typeface="Arial"/>
            </a:endParaRPr>
          </a:p>
          <a:p>
            <a:pPr marL="698400">
              <a:lnSpc>
                <a:spcPts val="2279"/>
              </a:lnSpc>
              <a:buNone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which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someone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else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fulfills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their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duties.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typical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mandatory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vacation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policy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requires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take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one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vacation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year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 a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full-week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increment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away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from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work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for at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least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five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days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52" strike="noStrike">
                <a:solidFill>
                  <a:srgbClr val="000000"/>
                </a:solidFill>
                <a:latin typeface="Calibri"/>
                <a:ea typeface="DejaVu Sans"/>
              </a:rPr>
              <a:t>row.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During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corporate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audit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time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investigate</a:t>
            </a:r>
            <a:r>
              <a:rPr b="0" lang="en-US" sz="2000" spc="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discover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discrepancies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activity.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PlaceHolder 2"/>
          <p:cNvSpPr>
            <a:spLocks noGrp="1"/>
          </p:cNvSpPr>
          <p:nvPr>
            <p:ph type="ftr" idx="28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dt" idx="29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sldNum" idx="30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1495C167-CCD9-4DBF-BFCF-8C63BDBC863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28920" y="228600"/>
            <a:ext cx="4399920" cy="4579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2800" spc="-35" strike="noStrike">
                <a:solidFill>
                  <a:srgbClr val="c00000"/>
                </a:solidFill>
                <a:latin typeface="Calibri Light"/>
              </a:rPr>
              <a:t>OFFBOARDING</a:t>
            </a:r>
            <a:r>
              <a:rPr b="0" lang="en-US" sz="2800" spc="-16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POLICIES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38" name="object 3"/>
          <p:cNvSpPr/>
          <p:nvPr/>
        </p:nvSpPr>
        <p:spPr>
          <a:xfrm>
            <a:off x="556920" y="866520"/>
            <a:ext cx="11329920" cy="47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1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Offboarding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ensuring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employee leaves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company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gracefully,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 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 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project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contractors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third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parties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ends.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terms of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security,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there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must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completed: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56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management—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disable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Ensure 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 information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assets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managed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owned by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company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accessible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(in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terms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encryption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keys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password-protected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files).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ct val="90000"/>
              </a:lnSpc>
              <a:spcBef>
                <a:spcPts val="471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Company</a:t>
            </a:r>
            <a:r>
              <a:rPr b="0" lang="en-US" sz="2000" spc="-26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assets—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retrieve</a:t>
            </a:r>
            <a:r>
              <a:rPr b="0" lang="en-US" sz="2000" spc="4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mobile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keys,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smart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cards,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USB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media,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 on,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need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confirm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(and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in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cases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prove)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retained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copies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assets.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24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Personal</a:t>
            </a:r>
            <a:r>
              <a:rPr b="0" lang="en-US" sz="2000" spc="7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assets—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wipe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employee-owned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devices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corporate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data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applications,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employee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may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be allowed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retain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assets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(such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personal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emails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contact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information),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depending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policies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force.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3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0" name="PlaceHolder 2"/>
          <p:cNvSpPr>
            <a:spLocks noGrp="1"/>
          </p:cNvSpPr>
          <p:nvPr>
            <p:ph type="ftr" idx="31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dt" idx="32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33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D6BF49E-CFA8-47F2-AE77-A2A5233B38C5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0741320" cy="704880"/>
          </a:xfrm>
          <a:prstGeom prst="rect">
            <a:avLst/>
          </a:prstGeom>
          <a:noFill/>
          <a:ln w="0">
            <a:noFill/>
          </a:ln>
        </p:spPr>
        <p:txBody>
          <a:bodyPr lIns="0" rIns="0" tIns="74160" bIns="0" anchor="t">
            <a:noAutofit/>
          </a:bodyPr>
          <a:p>
            <a:pPr marL="12600">
              <a:lnSpc>
                <a:spcPts val="3889"/>
              </a:lnSpc>
              <a:spcBef>
                <a:spcPts val="584"/>
              </a:spcBef>
              <a:buNone/>
            </a:pP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28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ACCOUNT</a:t>
            </a:r>
            <a:r>
              <a:rPr b="0" lang="en-US" sz="28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6" strike="noStrike">
                <a:solidFill>
                  <a:srgbClr val="c00000"/>
                </a:solidFill>
                <a:latin typeface="Calibri Light"/>
              </a:rPr>
              <a:t>TYPES</a:t>
            </a:r>
            <a:r>
              <a:rPr b="0" lang="en-US" sz="28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21" strike="noStrike">
                <a:solidFill>
                  <a:srgbClr val="c00000"/>
                </a:solidFill>
                <a:latin typeface="Calibri Light"/>
              </a:rPr>
              <a:t>AND</a:t>
            </a:r>
            <a:r>
              <a:rPr b="0" lang="en-US" sz="28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32" strike="noStrike">
                <a:solidFill>
                  <a:srgbClr val="c00000"/>
                </a:solidFill>
                <a:latin typeface="Calibri Light"/>
              </a:rPr>
              <a:t>CREDENTIAL </a:t>
            </a:r>
            <a:r>
              <a:rPr b="0" lang="en-US" sz="2800" spc="-8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2800" spc="-41" strike="noStrike">
                <a:solidFill>
                  <a:srgbClr val="c00000"/>
                </a:solidFill>
                <a:latin typeface="Calibri Light"/>
              </a:rPr>
              <a:t>MANAGEMENT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144" name="object 3"/>
          <p:cNvSpPr/>
          <p:nvPr/>
        </p:nvSpPr>
        <p:spPr>
          <a:xfrm>
            <a:off x="664920" y="1190520"/>
            <a:ext cx="10099440" cy="418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systems,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appliances, 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directory products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some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basis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privilege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management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include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administrative</a:t>
            </a:r>
            <a:r>
              <a:rPr b="1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r>
              <a:rPr b="1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group</a:t>
            </a:r>
            <a:r>
              <a:rPr b="1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and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</a:t>
            </a:r>
            <a:r>
              <a:rPr b="1" lang="en-US" sz="2400" spc="-9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Guest</a:t>
            </a:r>
            <a:r>
              <a:rPr b="0" lang="en-US" sz="2400" spc="-7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Accounts</a:t>
            </a:r>
            <a:endParaRPr b="0" lang="en-US" sz="24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guest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special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shared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with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no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password.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ct val="100000"/>
              </a:lnSpc>
              <a:spcBef>
                <a:spcPts val="26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allows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anonymous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unauthenticated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access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resource.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41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 Windows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guest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user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group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installed,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guest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disabled</a:t>
            </a:r>
            <a:r>
              <a:rPr b="1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default.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490"/>
              </a:spcBef>
              <a:buClr>
                <a:srgbClr val="0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Guest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0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installing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services,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web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servers</a:t>
            </a:r>
            <a:r>
              <a:rPr b="0" lang="en-US" sz="2000" spc="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allow </a:t>
            </a:r>
            <a:r>
              <a:rPr b="0" lang="en-US" sz="2000" spc="-440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unauthenticated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45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PlaceHolder 2"/>
          <p:cNvSpPr>
            <a:spLocks noGrp="1"/>
          </p:cNvSpPr>
          <p:nvPr>
            <p:ph type="ftr" idx="34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dt" idx="35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 type="sldNum" idx="36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A7C4BBDF-7EA3-439B-BC99-9F6C6BF852B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85800" y="442440"/>
            <a:ext cx="891540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GROUP-BASED</a:t>
            </a:r>
            <a:r>
              <a:rPr b="0" lang="en-US" sz="3600" spc="-114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PRIVILEGES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0" name="object 3"/>
          <p:cNvSpPr/>
          <p:nvPr/>
        </p:nvSpPr>
        <p:spPr>
          <a:xfrm>
            <a:off x="916920" y="1802520"/>
            <a:ext cx="10120680" cy="345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concept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Security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Group Account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simplifies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centralizes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administrative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of assigning rights.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741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Rather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than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assigning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rights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directly,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owner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assigns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them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security</a:t>
            </a:r>
            <a:endParaRPr b="0" lang="en-US" sz="2400" spc="-1" strike="noStrike">
              <a:latin typeface="Arial"/>
            </a:endParaRPr>
          </a:p>
          <a:p>
            <a:pPr marL="241200">
              <a:lnSpc>
                <a:spcPts val="2741"/>
              </a:lnSpc>
              <a:buNone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group</a:t>
            </a:r>
            <a:r>
              <a:rPr b="0" lang="en-US" sz="2400" spc="-4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gain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rights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being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made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member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security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group.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35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member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multiple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groups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therefore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receive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rights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permissions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from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sources.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51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PlaceHolder 2"/>
          <p:cNvSpPr>
            <a:spLocks noGrp="1"/>
          </p:cNvSpPr>
          <p:nvPr>
            <p:ph type="ftr" idx="37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dt" idx="38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9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3038D65-C067-4D7F-BC98-1AC4F0F77F77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791208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SECURITY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GROUP-BASED</a:t>
            </a:r>
            <a:r>
              <a:rPr b="0" lang="en-US" sz="3600" spc="-11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5" strike="noStrike">
                <a:solidFill>
                  <a:srgbClr val="c00000"/>
                </a:solidFill>
                <a:latin typeface="Calibri Light"/>
              </a:rPr>
              <a:t>PRIVILEGES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56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57" name="object 4" descr=""/>
          <p:cNvPicPr/>
          <p:nvPr/>
        </p:nvPicPr>
        <p:blipFill>
          <a:blip r:embed="rId1"/>
          <a:stretch/>
        </p:blipFill>
        <p:spPr>
          <a:xfrm>
            <a:off x="3261240" y="1832040"/>
            <a:ext cx="5672880" cy="4284720"/>
          </a:xfrm>
          <a:prstGeom prst="rect">
            <a:avLst/>
          </a:prstGeom>
          <a:ln w="0">
            <a:noFill/>
          </a:ln>
        </p:spPr>
      </p:pic>
      <p:sp>
        <p:nvSpPr>
          <p:cNvPr id="158" name="PlaceHolder 2"/>
          <p:cNvSpPr>
            <a:spLocks noGrp="1"/>
          </p:cNvSpPr>
          <p:nvPr>
            <p:ph type="ftr" idx="40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dt" idx="41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sldNum" idx="42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854D4A08-CF8F-47CB-9058-8CDBD268BF38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8912880" cy="6868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66" strike="noStrike">
                <a:solidFill>
                  <a:srgbClr val="c00000"/>
                </a:solidFill>
                <a:latin typeface="Calibri Light"/>
              </a:rPr>
              <a:t>ADMINISTRATOR / ROOT</a:t>
            </a:r>
            <a:r>
              <a:rPr b="0" lang="en-US" sz="3600" spc="-100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6" strike="noStrike">
                <a:solidFill>
                  <a:srgbClr val="c00000"/>
                </a:solidFill>
                <a:latin typeface="Calibri Light"/>
              </a:rPr>
              <a:t>ACCOUNTS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2" name="object 3"/>
          <p:cNvSpPr/>
          <p:nvPr/>
        </p:nvSpPr>
        <p:spPr>
          <a:xfrm>
            <a:off x="916920" y="1802520"/>
            <a:ext cx="9876600" cy="43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 algn="just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Administrative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</a:t>
            </a:r>
            <a:r>
              <a:rPr b="0" lang="en-US" sz="2400" spc="-7" strike="noStrike">
                <a:solidFill>
                  <a:srgbClr val="006fc0"/>
                </a:solidFill>
                <a:latin typeface="Calibri"/>
                <a:ea typeface="DejaVu Sans"/>
              </a:rPr>
              <a:t>privileged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accounts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are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able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remove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apps and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device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drivers,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change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system-level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settings,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access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any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object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the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file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practice,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very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hard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eliminate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presence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4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administrator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01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default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account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one that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 by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operating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system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or application </a:t>
            </a:r>
            <a:r>
              <a:rPr b="0" lang="en-US" sz="2400" spc="-53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when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installed.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6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has every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permission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available.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2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Windows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Administrator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;</a:t>
            </a:r>
            <a:r>
              <a:rPr b="0" lang="en-US" sz="24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 u="heavy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ea typeface="DejaVu Sans"/>
              </a:rPr>
              <a:t>Linux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,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it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called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root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709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This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of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is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also</a:t>
            </a:r>
            <a:r>
              <a:rPr b="0" lang="en-US" sz="2400" spc="-26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21" strike="noStrike">
                <a:solidFill>
                  <a:srgbClr val="000000"/>
                </a:solidFill>
                <a:latin typeface="Calibri"/>
                <a:ea typeface="DejaVu Sans"/>
              </a:rPr>
              <a:t>referred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1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superuser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.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163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PlaceHolder 2"/>
          <p:cNvSpPr>
            <a:spLocks noGrp="1"/>
          </p:cNvSpPr>
          <p:nvPr>
            <p:ph type="ftr" idx="43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dt" idx="44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 type="sldNum" idx="45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FB52BC91-8A18-4E5C-8E6A-D831BF8DEA6D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5712120" cy="68652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77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ACCOUNTS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68" name="object 3"/>
          <p:cNvSpPr/>
          <p:nvPr/>
        </p:nvSpPr>
        <p:spPr>
          <a:xfrm>
            <a:off x="700920" y="1334520"/>
            <a:ext cx="10302840" cy="46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54000" bIns="0" anchor="t">
            <a:spAutoFit/>
          </a:bodyPr>
          <a:p>
            <a:pPr marL="241200" indent="-229320">
              <a:lnSpc>
                <a:spcPts val="2591"/>
              </a:lnSpc>
              <a:spcBef>
                <a:spcPts val="425"/>
              </a:spcBef>
              <a:buClr>
                <a:srgbClr val="006fc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" strike="noStrike">
                <a:solidFill>
                  <a:srgbClr val="006fc0"/>
                </a:solidFill>
                <a:latin typeface="Calibri"/>
                <a:ea typeface="DejaVu Sans"/>
              </a:rPr>
              <a:t>Service</a:t>
            </a:r>
            <a:r>
              <a:rPr b="0" lang="en-US" sz="2400" spc="-12" strike="noStrike">
                <a:solidFill>
                  <a:srgbClr val="006fc0"/>
                </a:solidFill>
                <a:latin typeface="Calibri"/>
                <a:ea typeface="DejaVu Sans"/>
              </a:rPr>
              <a:t> Accounts</a:t>
            </a:r>
            <a:r>
              <a:rPr b="0" lang="en-US" sz="2400" spc="-15" strike="noStrike">
                <a:solidFill>
                  <a:srgbClr val="006fc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are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by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scheduled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application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server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software,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such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databases.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ct val="100000"/>
              </a:lnSpc>
              <a:spcBef>
                <a:spcPts val="686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has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several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default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service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account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types.</a:t>
            </a:r>
            <a:endParaRPr b="0" lang="en-US" sz="2400" spc="-1" strike="noStrike">
              <a:latin typeface="Arial"/>
            </a:endParaRPr>
          </a:p>
          <a:p>
            <a:pPr marL="241200" indent="-229320">
              <a:lnSpc>
                <a:spcPts val="2591"/>
              </a:lnSpc>
              <a:spcBef>
                <a:spcPts val="1040"/>
              </a:spcBef>
              <a:buClr>
                <a:srgbClr val="000000"/>
              </a:buClr>
              <a:buFont typeface="Arial MT"/>
              <a:buChar char="•"/>
              <a:tabLst>
                <a:tab algn="l" pos="241920"/>
              </a:tabLst>
            </a:pP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These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do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not accept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interactive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logons but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can 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be used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5" strike="noStrike">
                <a:solidFill>
                  <a:srgbClr val="000000"/>
                </a:solidFill>
                <a:latin typeface="Calibri"/>
                <a:ea typeface="DejaVu Sans"/>
              </a:rPr>
              <a:t>to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run</a:t>
            </a:r>
            <a:r>
              <a:rPr b="0" lang="en-US" sz="24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</a:t>
            </a:r>
            <a:r>
              <a:rPr b="0" lang="en-US" sz="24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and </a:t>
            </a:r>
            <a:r>
              <a:rPr b="0" lang="en-US" sz="2400" spc="-52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2" strike="noStrike">
                <a:solidFill>
                  <a:srgbClr val="000000"/>
                </a:solidFill>
                <a:latin typeface="Calibri"/>
                <a:ea typeface="DejaVu Sans"/>
              </a:rPr>
              <a:t>background</a:t>
            </a:r>
            <a:r>
              <a:rPr b="0" lang="en-US" sz="2400" spc="-3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400" spc="-1" strike="noStrike">
                <a:solidFill>
                  <a:srgbClr val="000000"/>
                </a:solidFill>
                <a:latin typeface="Calibri"/>
                <a:ea typeface="DejaVu Sans"/>
              </a:rPr>
              <a:t>services:</a:t>
            </a:r>
            <a:endParaRPr b="0" lang="en-US" sz="24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16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System—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most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of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Windows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account,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creates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host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processes</a:t>
            </a:r>
            <a:r>
              <a:rPr b="0" lang="en-US" sz="2000" spc="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that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start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Windows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before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logs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on,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Any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process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created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using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system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will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have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full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over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local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32" strike="noStrike">
                <a:solidFill>
                  <a:srgbClr val="000000"/>
                </a:solidFill>
                <a:latin typeface="Calibri"/>
                <a:ea typeface="DejaVu Sans"/>
              </a:rPr>
              <a:t>computer.</a:t>
            </a:r>
            <a:endParaRPr b="0" lang="en-US" sz="2000" spc="-1" strike="noStrike">
              <a:latin typeface="Arial"/>
            </a:endParaRPr>
          </a:p>
          <a:p>
            <a:pPr lvl="1" marL="698400" indent="-228600">
              <a:lnSpc>
                <a:spcPts val="2160"/>
              </a:lnSpc>
              <a:spcBef>
                <a:spcPts val="50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7" strike="noStrike">
                <a:solidFill>
                  <a:srgbClr val="c00000"/>
                </a:solidFill>
                <a:latin typeface="Calibri"/>
                <a:ea typeface="DejaVu Sans"/>
              </a:rPr>
              <a:t>Local</a:t>
            </a:r>
            <a:r>
              <a:rPr b="0" lang="en-US" sz="2000" spc="-15" strike="noStrike">
                <a:solidFill>
                  <a:srgbClr val="c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Service—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same</a:t>
            </a:r>
            <a:r>
              <a:rPr b="0" lang="en-US" sz="2000" spc="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account,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It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only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 </a:t>
            </a:r>
            <a:r>
              <a:rPr b="0" lang="en-US" sz="2000" spc="-4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resources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 as an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anonymous</a:t>
            </a:r>
            <a:r>
              <a:rPr b="0" lang="en-US" sz="2000" spc="-3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46" strike="noStrike">
                <a:solidFill>
                  <a:srgbClr val="000000"/>
                </a:solidFill>
                <a:latin typeface="Calibri"/>
                <a:ea typeface="DejaVu Sans"/>
              </a:rPr>
              <a:t>user.</a:t>
            </a:r>
            <a:endParaRPr b="0" lang="en-US" sz="2000" spc="-1" strike="noStrike">
              <a:latin typeface="Arial"/>
            </a:endParaRPr>
          </a:p>
          <a:p>
            <a:pPr lvl="1" marL="698400" indent="-229320">
              <a:lnSpc>
                <a:spcPts val="2279"/>
              </a:lnSpc>
              <a:spcBef>
                <a:spcPts val="235"/>
              </a:spcBef>
              <a:buClr>
                <a:srgbClr val="c00000"/>
              </a:buClr>
              <a:buFont typeface="Wingdings" charset="2"/>
              <a:buChar char=""/>
              <a:tabLst>
                <a:tab algn="l" pos="699120"/>
              </a:tabLst>
            </a:pPr>
            <a:r>
              <a:rPr b="0" lang="en-US" sz="2000" spc="-12" strike="noStrike">
                <a:solidFill>
                  <a:srgbClr val="c00000"/>
                </a:solidFill>
                <a:latin typeface="Calibri"/>
                <a:ea typeface="DejaVu Sans"/>
              </a:rPr>
              <a:t>Network</a:t>
            </a:r>
            <a:r>
              <a:rPr b="0" lang="en-US" sz="2000" spc="-1" strike="noStrike">
                <a:solidFill>
                  <a:srgbClr val="c00000"/>
                </a:solidFill>
                <a:latin typeface="Calibri"/>
                <a:ea typeface="DejaVu Sans"/>
              </a:rPr>
              <a:t> Service—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has 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same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privileges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as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standard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user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but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 can</a:t>
            </a:r>
            <a:r>
              <a:rPr b="0" lang="en-US" sz="2000" spc="-15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present</a:t>
            </a:r>
            <a:r>
              <a:rPr b="0" lang="en-US" sz="2000" spc="9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the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computer's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account</a:t>
            </a:r>
            <a:r>
              <a:rPr b="0" lang="en-US" sz="2000" spc="-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credentials</a:t>
            </a:r>
            <a:r>
              <a:rPr b="0" lang="en-US" sz="2000" spc="2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7" strike="noStrike">
                <a:solidFill>
                  <a:srgbClr val="000000"/>
                </a:solidFill>
                <a:latin typeface="Calibri"/>
                <a:ea typeface="DejaVu Sans"/>
              </a:rPr>
              <a:t>when </a:t>
            </a:r>
            <a:r>
              <a:rPr b="0" lang="en-US" sz="2000" spc="-1" strike="noStrike">
                <a:solidFill>
                  <a:srgbClr val="000000"/>
                </a:solidFill>
                <a:latin typeface="Calibri"/>
                <a:ea typeface="DejaVu Sans"/>
              </a:rPr>
              <a:t>accessing</a:t>
            </a:r>
            <a:r>
              <a:rPr b="0" lang="en-US" sz="2000" spc="1" strike="noStrike">
                <a:solidFill>
                  <a:srgbClr val="000000"/>
                </a:solidFill>
                <a:latin typeface="Calibri"/>
                <a:ea typeface="DejaVu Sans"/>
              </a:rPr>
              <a:t> </a:t>
            </a:r>
            <a:r>
              <a:rPr b="0" lang="en-US" sz="2000" spc="-12" strike="noStrike">
                <a:solidFill>
                  <a:srgbClr val="000000"/>
                </a:solidFill>
                <a:latin typeface="Calibri"/>
                <a:ea typeface="DejaVu Sans"/>
              </a:rPr>
              <a:t>network resources.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169" name="object 4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PlaceHolder 2"/>
          <p:cNvSpPr>
            <a:spLocks noGrp="1"/>
          </p:cNvSpPr>
          <p:nvPr>
            <p:ph type="ftr" idx="46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dt" idx="47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48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C7B42F53-C3A4-424D-8F64-A894878D881E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916920" y="684720"/>
            <a:ext cx="4893120" cy="1157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SERVICE</a:t>
            </a:r>
            <a:r>
              <a:rPr b="0" lang="en-US" sz="3600" spc="-131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41" strike="noStrike">
                <a:solidFill>
                  <a:srgbClr val="c00000"/>
                </a:solidFill>
                <a:latin typeface="Calibri Light"/>
              </a:rPr>
              <a:t>ACCOUNTS</a:t>
            </a:r>
            <a:r>
              <a:rPr b="0" lang="en-US" sz="3600" spc="-126" strike="noStrike">
                <a:solidFill>
                  <a:srgbClr val="c00000"/>
                </a:solidFill>
                <a:latin typeface="Calibri Light"/>
              </a:rPr>
              <a:t> </a:t>
            </a:r>
            <a:r>
              <a:rPr b="0" lang="en-US" sz="3600" spc="-32" strike="noStrike">
                <a:solidFill>
                  <a:srgbClr val="c00000"/>
                </a:solidFill>
                <a:latin typeface="Calibri Light"/>
              </a:rPr>
              <a:t>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174" name="object 3"/>
          <p:cNvSpPr/>
          <p:nvPr/>
        </p:nvSpPr>
        <p:spPr>
          <a:xfrm>
            <a:off x="838080" y="6400800"/>
            <a:ext cx="10514880" cy="227880"/>
          </a:xfrm>
          <a:custGeom>
            <a:avLst/>
            <a:gdLst/>
            <a:ahLst/>
            <a:rect l="l" t="t" r="r" b="b"/>
            <a:pathLst>
              <a:path w="10515600" h="228600">
                <a:moveTo>
                  <a:pt x="10515600" y="0"/>
                </a:moveTo>
                <a:lnTo>
                  <a:pt x="0" y="0"/>
                </a:lnTo>
                <a:lnTo>
                  <a:pt x="0" y="228600"/>
                </a:lnTo>
                <a:lnTo>
                  <a:pt x="10515600" y="228600"/>
                </a:lnTo>
                <a:lnTo>
                  <a:pt x="10515600" y="0"/>
                </a:lnTo>
                <a:close/>
              </a:path>
            </a:pathLst>
          </a:custGeom>
          <a:solidFill>
            <a:srgbClr val="c00000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75" name="object 4" descr=""/>
          <p:cNvPicPr/>
          <p:nvPr/>
        </p:nvPicPr>
        <p:blipFill>
          <a:blip r:embed="rId1"/>
          <a:stretch/>
        </p:blipFill>
        <p:spPr>
          <a:xfrm>
            <a:off x="2514600" y="2192400"/>
            <a:ext cx="7570440" cy="3065400"/>
          </a:xfrm>
          <a:prstGeom prst="rect">
            <a:avLst/>
          </a:prstGeom>
          <a:ln w="0">
            <a:noFill/>
          </a:ln>
        </p:spPr>
      </p:pic>
      <p:sp>
        <p:nvSpPr>
          <p:cNvPr id="176" name="PlaceHolder 2"/>
          <p:cNvSpPr>
            <a:spLocks noGrp="1"/>
          </p:cNvSpPr>
          <p:nvPr>
            <p:ph type="ftr" idx="49"/>
          </p:nvPr>
        </p:nvSpPr>
        <p:spPr>
          <a:xfrm>
            <a:off x="916920" y="6451560"/>
            <a:ext cx="10224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Security+</a:t>
            </a:r>
            <a:r>
              <a:rPr b="0" lang="en-US" sz="1000" spc="-26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12" strike="noStrike">
                <a:solidFill>
                  <a:srgbClr val="ffffff"/>
                </a:solidFill>
                <a:latin typeface="Calibri"/>
              </a:rPr>
              <a:t>(SY0-601)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50"/>
          </p:nvPr>
        </p:nvSpPr>
        <p:spPr>
          <a:xfrm>
            <a:off x="5492520" y="6451560"/>
            <a:ext cx="11224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260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12600">
              <a:lnSpc>
                <a:spcPts val="1046"/>
              </a:lnSpc>
              <a:buNone/>
            </a:pP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©</a:t>
            </a:r>
            <a:r>
              <a:rPr b="0" lang="en-US" sz="1000" spc="-35" strike="noStrike">
                <a:solidFill>
                  <a:srgbClr val="ffffff"/>
                </a:solidFill>
                <a:latin typeface="Calibri"/>
              </a:rPr>
              <a:t> </a:t>
            </a:r>
            <a:r>
              <a:rPr b="0" lang="en-US" sz="1000" spc="-7" strike="noStrike">
                <a:solidFill>
                  <a:srgbClr val="ffffff"/>
                </a:solidFill>
                <a:latin typeface="Calibri"/>
              </a:rPr>
              <a:t>netriders.academy</a:t>
            </a:r>
            <a:endParaRPr b="0" lang="en-US" sz="1000" spc="-1" strike="noStrike"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sldNum" idx="51"/>
          </p:nvPr>
        </p:nvSpPr>
        <p:spPr>
          <a:xfrm>
            <a:off x="11098440" y="6451200"/>
            <a:ext cx="20376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38160">
              <a:lnSpc>
                <a:spcPts val="1046"/>
              </a:lnSpc>
              <a:buNone/>
              <a:defRPr b="0" lang="en-US" sz="1000" spc="-7" strike="noStrike">
                <a:solidFill>
                  <a:srgbClr val="ffffff"/>
                </a:solidFill>
                <a:latin typeface="Calibri"/>
              </a:defRPr>
            </a:lvl1pPr>
          </a:lstStyle>
          <a:p>
            <a:pPr marL="38160">
              <a:lnSpc>
                <a:spcPts val="1046"/>
              </a:lnSpc>
              <a:buNone/>
            </a:pPr>
            <a:fld id="{D1352A6D-D9DE-4B31-B52A-B080F4E585CF}" type="slidenum">
              <a:rPr b="0" lang="en-US" sz="1000" spc="-7" strike="noStrike">
                <a:solidFill>
                  <a:srgbClr val="ffffff"/>
                </a:solidFill>
                <a:latin typeface="Calibri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2023-09-02T17:17:44Z</dcterms:created>
  <dc:creator>Ahmed Sultan</dc:creator>
  <dc:description/>
  <dc:language>en-US</dc:language>
  <cp:lastModifiedBy/>
  <dcterms:modified xsi:type="dcterms:W3CDTF">2023-09-04T22:10:01Z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2021-10-26T00:00:00Z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2023-09-02T00:00:00Z</vt:filetime>
  </property>
  <property fmtid="{D5CDD505-2E9C-101B-9397-08002B2CF9AE}" pid="5" name="PresentationFormat">
    <vt:lpwstr>On-screen Show (4:3)</vt:lpwstr>
  </property>
</Properties>
</file>