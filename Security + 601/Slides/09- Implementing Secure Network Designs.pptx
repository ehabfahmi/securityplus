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png" ContentType="image/png"/>
  <Override PartName="/ppt/media/image6.png" ContentType="image/png"/>
  <Override PartName="/ppt/media/image7.png" ContentType="image/png"/>
  <Override PartName="/ppt/media/image8.jpeg" ContentType="image/jpeg"/>
  <Override PartName="/ppt/media/image9.png" ContentType="image/png"/>
  <Override PartName="/ppt/media/image10.jpeg" ContentType="image/jpe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4C251C-6C65-485E-AD47-415658344D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3BD107-A6ED-405A-9704-D67A622D93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79B5BA-E6B9-4938-BCF7-55A02A7BF9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2064A1-234F-4D96-9623-0336A34ABC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8B3435-5AA4-4879-8A28-0BD0536AF8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8A7488-D9FB-4752-9D79-11970D09CC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BF748D-420F-4EEE-BA07-5AFBC7B06E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14AB6B-0DD5-4768-8E2E-990A5DB8A8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2F77C6-131E-4A5D-97A4-FF32466566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2A153B-DD89-4CC9-8878-85C6BE46CC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A353FD-A027-4B2E-8A16-CF88F051DD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4B7176-BBB2-49BB-A52A-B7B9D3420A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37B276-859A-4DD7-8AB7-70FCFBAC76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CD6807-E628-48CE-91E5-3D74AF8650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9D8949-8C5D-4382-AC47-D3613F76B5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EF959A-4B23-4071-988B-F13044BAA5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E908EF-AD24-46FD-8B56-79165F4652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1A45D90-E8EB-4483-96A7-AB9B2A1FCE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78F6C9-98A9-4487-ADC5-2B002B0DB0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03D2C4-D1A8-423F-BB5A-7FC7BB009D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34BFCF-5A04-4992-A213-86E79A43A5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3224DD-C68C-4461-BAA4-974D781F66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698935-B650-414F-A761-D32B0E46A6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61E7A9-8091-4CF8-ABB3-6E2F196DF5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0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0009CB5-A382-4822-8D97-F7A23C04E4D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0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B27406F-7ACB-4892-B888-224F519CC47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www.cisco.com/c/en/us/td/docs/ios/lanswitch/command/reference/lsw_book/lsw_m1.html" TargetMode="External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786040" y="3080160"/>
            <a:ext cx="6666480" cy="847800"/>
            <a:chOff x="2786040" y="3080160"/>
            <a:chExt cx="6666480" cy="84780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886480" y="3159000"/>
              <a:ext cx="6468480" cy="597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786040" y="3080160"/>
              <a:ext cx="6666480" cy="847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674800" y="3166920"/>
            <a:ext cx="7840800" cy="94788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2312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09-</a:t>
            </a:r>
            <a:r>
              <a:rPr b="0" lang="en-US" sz="2800" spc="12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18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Secure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Network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Designs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0960" cy="192996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5800"/>
            <a:ext cx="588132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5343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1715040"/>
            <a:ext cx="9826560" cy="17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5480" bIns="0" anchor="t">
            <a:spAutoFit/>
          </a:bodyPr>
          <a:p>
            <a:pPr marL="12600">
              <a:lnSpc>
                <a:spcPct val="100000"/>
              </a:lnSpc>
              <a:spcBef>
                <a:spcPts val="831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9.1-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Designs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ts val="3379"/>
              </a:lnSpc>
              <a:spcBef>
                <a:spcPts val="230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9.2-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Switching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Routing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ts val="3379"/>
              </a:lnSpc>
              <a:spcBef>
                <a:spcPts val="230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  <a:ea typeface="DejaVu Sans"/>
              </a:rPr>
              <a:t>9.3-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Infrastructure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  <a:ea typeface="DejaVu Sans"/>
              </a:rPr>
              <a:t>9.4-</a:t>
            </a:r>
            <a:r>
              <a:rPr b="0" lang="en-US" sz="22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Load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Balancers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990E0A1-9B84-4AC7-AC07-EAAA4CAA759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8040" y="565200"/>
            <a:ext cx="668376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SECURE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DESIGNS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685800" y="1359000"/>
            <a:ext cx="10744200" cy="41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Weaknesses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architecture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susceptible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undetected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catastrophic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failures.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Typical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weaknesses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Single points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failure—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"pinch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point" relying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single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channel.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9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Lack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of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documentation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and change 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control—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segments,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appliances, and services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added without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proper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change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leading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lack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visibility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constituted.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0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Overdependence</a:t>
            </a: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perimeter</a:t>
            </a:r>
            <a:r>
              <a:rPr b="0" lang="en-US" sz="2000" spc="24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security—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architecture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flat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contact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other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host),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penetrating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edge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gives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freedom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movement.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9ED5704-BB5C-4B67-8AC4-19E604DC404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5800"/>
            <a:ext cx="731268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APPLIANCES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916920" y="1802520"/>
            <a:ext cx="10136160" cy="40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appliances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architecture: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buNone/>
              <a:tabLst>
                <a:tab algn="l" pos="241920"/>
              </a:tabLst>
            </a:pPr>
            <a:endParaRPr b="0" lang="en-US" sz="335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Switches—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forward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frames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nodes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cabled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Switches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</a:t>
            </a:r>
            <a:r>
              <a:rPr b="0" lang="en-US" sz="20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OSI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forwarding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decisions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based 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Media Access 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(MAC)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attached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nodes, Switches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establish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segments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either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directly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underlying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cabling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segments,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virtual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LANs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VLANs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699120"/>
              </a:tabLst>
            </a:pPr>
            <a:endParaRPr b="0" lang="en-US" sz="255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Wireless</a:t>
            </a:r>
            <a:r>
              <a:rPr b="0" lang="en-US" sz="20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access</a:t>
            </a:r>
            <a:r>
              <a:rPr b="0" lang="en-US" sz="2000" spc="4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points—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bridge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cabled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stations,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OSI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model.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CED15F3-1214-4A30-A8BD-09EC0407E29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44920" y="468720"/>
            <a:ext cx="8455680" cy="661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APPLIANCES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772920" y="1478520"/>
            <a:ext cx="10275840" cy="47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appliances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architecture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buNone/>
              <a:tabLst>
                <a:tab algn="l" pos="241920"/>
              </a:tabLst>
            </a:pPr>
            <a:endParaRPr b="0" lang="en-US" sz="335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Routers—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packets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around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internetwork,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forwarding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decisions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Routers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3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OSI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model,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Routers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logical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subnet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segments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within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699120"/>
              </a:tabLst>
            </a:pPr>
            <a:endParaRPr b="0" lang="en-US" sz="235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Firewalls—</a:t>
            </a:r>
            <a:r>
              <a:rPr b="0" lang="en-US" sz="2000" spc="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(ACL)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filter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segment,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OSI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higher.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26"/>
              </a:spcBef>
              <a:buNone/>
              <a:tabLst>
                <a:tab algn="l" pos="699120"/>
              </a:tabLst>
            </a:pPr>
            <a:endParaRPr b="0" lang="en-US" sz="26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6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Load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balancers—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distribute</a:t>
            </a:r>
            <a:r>
              <a:rPr b="0" lang="en-US" sz="20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segments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optimize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performance,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Load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balancers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OSI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higher.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1527B2B-E52D-4452-A71D-8DDAF20201A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871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APPLIANCES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4" name="object 4" descr=""/>
          <p:cNvPicPr/>
          <p:nvPr/>
        </p:nvPicPr>
        <p:blipFill>
          <a:blip r:embed="rId1"/>
          <a:stretch/>
        </p:blipFill>
        <p:spPr>
          <a:xfrm>
            <a:off x="2740320" y="1758600"/>
            <a:ext cx="6710760" cy="4508280"/>
          </a:xfrm>
          <a:prstGeom prst="rect">
            <a:avLst/>
          </a:prstGeom>
          <a:ln w="0">
            <a:noFill/>
          </a:ln>
        </p:spPr>
      </p:pic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F66854B-6737-40D8-AEA0-42ADA275E2A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14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ROUTING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SWITCHING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PROTOCOLS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916920" y="1711080"/>
            <a:ext cx="10256760" cy="43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 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forward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node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another.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routing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switching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forwarding.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takes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place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layers: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19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Layer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2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forwarding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occurs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nodes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segment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all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broadcast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domain,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2, a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broadcast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domain 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either all the nodes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connected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physical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unmanaged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 the nodes within a virtual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LAN (VLAN)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 one 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switches,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2, each node 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identified 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interface's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Media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1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(MAC)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48-bit</a:t>
            </a:r>
            <a:r>
              <a:rPr b="0" lang="en-US" sz="20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value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hexadecimal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notation,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00-15-5D-F4-83-48.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25CD134-6D26-4255-B1ED-D3E8D641091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40204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ROUTING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SWITCHING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PROTOCOLS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916920" y="1758960"/>
            <a:ext cx="10090440" cy="22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takes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 two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layers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Layer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3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forwarding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routing,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occurs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both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logically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physically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defined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single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divided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multiple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broadcast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domains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said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subnetted,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joined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routers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form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internetwork,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0" lang="en-US" sz="20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nodes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(IP)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CA9C6E3-D823-4D85-85FF-F7CADE5157F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7416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ROUTING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SWITCHING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PROTOCOLS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916920" y="1758960"/>
            <a:ext cx="10138680" cy="22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Address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Resolution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Protocol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(ARP)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Resolution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(ARP)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maps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interface's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(MAC)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Normally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needs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send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IP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does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know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receiving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device's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MAC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address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broadcasts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ARP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packet,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with 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matching IP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responds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 ARP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Reply.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3" name="object 5" descr=""/>
          <p:cNvPicPr/>
          <p:nvPr/>
        </p:nvPicPr>
        <p:blipFill>
          <a:blip r:embed="rId1"/>
          <a:stretch/>
        </p:blipFill>
        <p:spPr>
          <a:xfrm>
            <a:off x="7613640" y="4114800"/>
            <a:ext cx="3587760" cy="2281680"/>
          </a:xfrm>
          <a:prstGeom prst="rect">
            <a:avLst/>
          </a:prstGeom>
          <a:ln w="0">
            <a:noFill/>
          </a:ln>
        </p:spPr>
      </p:pic>
      <p:sp>
        <p:nvSpPr>
          <p:cNvPr id="134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C9E6A6F-B8F5-4C65-BB65-A6787D68391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2837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ROUTING</a:t>
            </a:r>
            <a:r>
              <a:rPr b="0" lang="en-US" sz="28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SWITCHING</a:t>
            </a:r>
            <a:r>
              <a:rPr b="0" lang="en-US" sz="28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66" strike="noStrike">
                <a:solidFill>
                  <a:srgbClr val="c00000"/>
                </a:solidFill>
                <a:latin typeface="Calibri Light"/>
              </a:rPr>
              <a:t>PROTOCOLS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8" name="object 3"/>
          <p:cNvSpPr/>
          <p:nvPr/>
        </p:nvSpPr>
        <p:spPr>
          <a:xfrm>
            <a:off x="772920" y="1290960"/>
            <a:ext cx="10220400" cy="47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Internet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Protocol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(IP)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mechanism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subnets.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32-bit</a:t>
            </a:r>
            <a:r>
              <a:rPr b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IPv4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dotted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decimal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notation,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with either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suffix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subnet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mask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divide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address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host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portions.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 example,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172.16.1.101/16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/16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suffix</a:t>
            </a:r>
            <a:r>
              <a:rPr b="0" lang="en-US" sz="2000" spc="4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first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half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(172.16.0.0)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ID,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remainder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uniquely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/16</a:t>
            </a:r>
            <a:r>
              <a:rPr b="0" lang="en-US" sz="20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suffix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subnet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mask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form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255.255.0.0.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128-bit</a:t>
            </a:r>
            <a:r>
              <a:rPr b="1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IPv6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addressing.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IPv6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hex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notation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format: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2001:db8::abc:0:def0:1234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IPv6,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last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64-bits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fixed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host's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ID.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first</a:t>
            </a:r>
            <a:r>
              <a:rPr b="0" lang="en-US" sz="2000" spc="43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64-bits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contain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information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hierarchy.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C72D12C-EFBD-4183-A20D-2ACB00C249E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4549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TOPOLOGY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ZONES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4" name="object 3"/>
          <p:cNvSpPr/>
          <p:nvPr/>
        </p:nvSpPr>
        <p:spPr>
          <a:xfrm>
            <a:off x="916920" y="1802520"/>
            <a:ext cx="10342440" cy="38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topology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description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 network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logically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topology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ensure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goals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confidentiality,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integrity,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availability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met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main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building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block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topology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zone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7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zone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area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zones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strictly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controlled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9BF09E2-2860-4451-91C7-85BB1A2DE72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5123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TOPOLOGY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ZONES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0" name="object 3"/>
          <p:cNvSpPr/>
          <p:nvPr/>
        </p:nvSpPr>
        <p:spPr>
          <a:xfrm>
            <a:off x="916920" y="1802520"/>
            <a:ext cx="10287360" cy="41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Dividing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campus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center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 zones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implies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zone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main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zones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follows: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Intranet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(private</a:t>
            </a:r>
            <a:r>
              <a:rPr b="0" lang="en-US" sz="2000" spc="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network)—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controlled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Within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intranet,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sub-zones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groups,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workstations,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VoIP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handsets,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management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workstations.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Extranet—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semi-trusted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representing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partners, suppliers,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customers,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join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extranet.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0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Internet/guest—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zone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permitting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anonymous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perhaps 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mix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anonymous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authenticated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untrusted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Internet.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E759BF0-105C-4EEF-AE3C-7D5374CD799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7409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TOPOLOGY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ZONES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6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7" name="object 4" descr=""/>
          <p:cNvPicPr/>
          <p:nvPr/>
        </p:nvPicPr>
        <p:blipFill>
          <a:blip r:embed="rId1"/>
          <a:stretch/>
        </p:blipFill>
        <p:spPr>
          <a:xfrm>
            <a:off x="3807000" y="1740600"/>
            <a:ext cx="4577040" cy="4383360"/>
          </a:xfrm>
          <a:prstGeom prst="rect">
            <a:avLst/>
          </a:prstGeom>
          <a:ln w="0">
            <a:noFill/>
          </a:ln>
        </p:spPr>
      </p:pic>
      <p:sp>
        <p:nvSpPr>
          <p:cNvPr id="158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FE3C671-1DE0-4F04-8DB8-BF2D9FDF371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91116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DEMILITARIZED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ZONES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(DMZ)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2" name="object 3"/>
          <p:cNvSpPr/>
          <p:nvPr/>
        </p:nvSpPr>
        <p:spPr>
          <a:xfrm>
            <a:off x="520920" y="739080"/>
            <a:ext cx="10049040" cy="55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DMZ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also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perimeter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edge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principle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DMZ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directly through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DMZ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enables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external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without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internal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whole.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 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either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side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DMZ,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DMZ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proxy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intranet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proxy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DMZ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takes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request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checks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valid,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retransmits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destination.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External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idea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(if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anything)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behind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DMZ.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08828A4-1369-4CAC-AC6D-A52C8FEA07E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1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DEMILITARIZED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ZONES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(DMZ)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8" name="object 3"/>
          <p:cNvSpPr/>
          <p:nvPr/>
        </p:nvSpPr>
        <p:spPr>
          <a:xfrm>
            <a:off x="844920" y="1370520"/>
            <a:ext cx="10306800" cy="18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DMZ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established using one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router/firewall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 with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DMZ,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LAN.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0" name="object 5" descr=""/>
          <p:cNvPicPr/>
          <p:nvPr/>
        </p:nvPicPr>
        <p:blipFill>
          <a:blip r:embed="rId1"/>
          <a:stretch/>
        </p:blipFill>
        <p:spPr>
          <a:xfrm>
            <a:off x="3630240" y="3066480"/>
            <a:ext cx="4811400" cy="3058920"/>
          </a:xfrm>
          <a:prstGeom prst="rect">
            <a:avLst/>
          </a:prstGeom>
          <a:ln w="0">
            <a:noFill/>
          </a:ln>
        </p:spPr>
      </p:pic>
      <p:sp>
        <p:nvSpPr>
          <p:cNvPr id="171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F7D8EC6-471F-42E8-9B61-46E3EDCD3D0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05148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MAN-IN-THE-MIDDLE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LAYER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2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5" name="object 3"/>
          <p:cNvSpPr/>
          <p:nvPr/>
        </p:nvSpPr>
        <p:spPr>
          <a:xfrm>
            <a:off x="457200" y="988200"/>
            <a:ext cx="10268280" cy="49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Man-in-the-Middle/On-Path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Attacks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advantage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lack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security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low-level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link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protocols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man-in-the-middle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(MitM)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MitM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on-path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attack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gains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position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hosts,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transparently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captures,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monitors,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relays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communication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hosts.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on-path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attack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covertly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modify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MitM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workstation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spoofed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form,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try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capture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on-path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spoofs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responses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DNS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queries,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redirecting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spoofed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On-path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attacks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defeated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mutual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hosts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exchange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always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put these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place.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B03E2CF-369A-4C1E-9E88-7D5A1A30F06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5130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MAN-IN-THE-MIDDLE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LAYER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2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1" name="object 3"/>
          <p:cNvSpPr/>
          <p:nvPr/>
        </p:nvSpPr>
        <p:spPr>
          <a:xfrm>
            <a:off x="916920" y="1758960"/>
            <a:ext cx="10126440" cy="337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MAC</a:t>
            </a:r>
            <a:r>
              <a:rPr b="0" lang="en-US" sz="2400" spc="-6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Cloning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MAC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cloning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MAC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address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spoofing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changes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configured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adapter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interface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asserts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arbitrary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MAC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unique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assigned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vendor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factory,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simple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override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commands,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alterations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driver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configuration,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using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crafting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 lead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variety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issues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investigating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incidents 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depending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 MAC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 a security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reliable.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6A54B9B-2AD2-4DF9-8CFC-24367734CD4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25164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MAN-IN-THE-MIDDLE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LAYER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2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7" name="object 3"/>
          <p:cNvSpPr/>
          <p:nvPr/>
        </p:nvSpPr>
        <p:spPr>
          <a:xfrm>
            <a:off x="916920" y="1758960"/>
            <a:ext cx="10156320" cy="32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MAC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Flooding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Attacks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MAC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flooding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attack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switch.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intention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exhaust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memory used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store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switch's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MAC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table.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MAC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table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unicast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correct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destination.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Overwhelming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table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cause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stop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trying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MAC-based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flood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unicast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working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hub.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makes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sniffing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easier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actor.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PlaceHolder 2"/>
          <p:cNvSpPr>
            <a:spLocks noGrp="1"/>
          </p:cNvSpPr>
          <p:nvPr>
            <p:ph type="ftr" idx="55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dt" idx="56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sldNum" idx="5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CE731E3-CDC2-4274-89A7-3BA36110272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64400" y="228600"/>
            <a:ext cx="107362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PHYSICAL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PORT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MAC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FILTERING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3" name="object 3"/>
          <p:cNvSpPr/>
          <p:nvPr/>
        </p:nvSpPr>
        <p:spPr>
          <a:xfrm>
            <a:off x="228600" y="1244880"/>
            <a:ext cx="116586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risks,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switch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switch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restricted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staff,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secure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and/or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lockable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cabinets.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MAC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Filtering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MAC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Limiting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Configuring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filtering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switch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defining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 MAC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particular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creating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valid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MAC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specifying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limit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permitted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 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enabled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maximum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MAC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first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two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connect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drop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machines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try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connect.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12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cisco.com/c/en/us/td/docs/ios/lanswitch/command/reference/lsw_book/lsw_m1.html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PlaceHolder 2"/>
          <p:cNvSpPr>
            <a:spLocks noGrp="1"/>
          </p:cNvSpPr>
          <p:nvPr>
            <p:ph type="ftr" idx="58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dt" idx="59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sldNum" idx="6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7F69BEE-5877-47DB-8040-EC2BC2E43F3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2288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9" name="object 3"/>
          <p:cNvSpPr/>
          <p:nvPr/>
        </p:nvSpPr>
        <p:spPr>
          <a:xfrm>
            <a:off x="644760" y="1252800"/>
            <a:ext cx="10472040" cy="42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Endpoint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set of security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technologies designed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restrict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device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level.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Endpoint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contrasts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focus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perimeter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established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topologies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such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DMZ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technologies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firewalls.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Endpoint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replace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adds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defense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depth.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IEEE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802.1X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defines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port-based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access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control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(PNAC) </a:t>
            </a:r>
            <a:r>
              <a:rPr b="0" lang="en-US" sz="2400" spc="-52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PNAC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switch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AAA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attached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before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activating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PlaceHolder 2"/>
          <p:cNvSpPr>
            <a:spLocks noGrp="1"/>
          </p:cNvSpPr>
          <p:nvPr>
            <p:ph type="ftr" idx="61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dt" idx="62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sldNum" idx="6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876FA86-DACB-48D9-A6D9-07A394F85B5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0833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ROUTE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SECURITY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5" name="object 3"/>
          <p:cNvSpPr/>
          <p:nvPr/>
        </p:nvSpPr>
        <p:spPr>
          <a:xfrm>
            <a:off x="844920" y="1298520"/>
            <a:ext cx="10294200" cy="45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successful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 enables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redirect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intended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destination.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actor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herd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spoofed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networks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subnets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manually,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routers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automatically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discover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other.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Dynamic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routers exchange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routing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traffic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channels 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PlaceHolder 2"/>
          <p:cNvSpPr>
            <a:spLocks noGrp="1"/>
          </p:cNvSpPr>
          <p:nvPr>
            <p:ph type="ftr" idx="64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65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sldNum" idx="6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A3CD44B-24A2-4469-8ED7-419283A14AD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07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WIRELESS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INSTALLATION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1" name="object 3"/>
          <p:cNvSpPr/>
          <p:nvPr/>
        </p:nvSpPr>
        <p:spPr>
          <a:xfrm>
            <a:off x="916920" y="1802520"/>
            <a:ext cx="10290240" cy="42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organizations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employees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move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their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facilities.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infrastructure-based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comprises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each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connected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wired 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forward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traffic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switched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1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WAP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MAC address,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its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basic service set </a:t>
            </a:r>
            <a:r>
              <a:rPr b="1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identifier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(BSSID)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its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identifier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(SSID)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PlaceHolder 2"/>
          <p:cNvSpPr>
            <a:spLocks noGrp="1"/>
          </p:cNvSpPr>
          <p:nvPr>
            <p:ph type="ftr" idx="67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6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sldNum" idx="6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CC55D18-4BB3-4DD5-B949-DF740F8E4EC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313920" y="228600"/>
            <a:ext cx="1111536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WIRELESS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INSTALLATION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7" name="object 3"/>
          <p:cNvSpPr/>
          <p:nvPr/>
        </p:nvSpPr>
        <p:spPr>
          <a:xfrm>
            <a:off x="376920" y="991080"/>
            <a:ext cx="11053080" cy="50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either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2.4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GHz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5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GHz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radio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band.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Each radio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band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divided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number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channels,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WAP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channel.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Site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Surveys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Heat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Maps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coverage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interference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factors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WAPs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positioned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whole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covered,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but 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overlap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little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site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survey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measure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strength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channel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usage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throughout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area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cover.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survey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starts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architectural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map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cause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background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interference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marked.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5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solid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walls,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reflective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surfaces,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motors,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microwave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ovens,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 on.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survey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with a Wi-Fi-enabled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laptop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mobile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Wi-Fi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installed.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PlaceHolder 2"/>
          <p:cNvSpPr>
            <a:spLocks noGrp="1"/>
          </p:cNvSpPr>
          <p:nvPr>
            <p:ph type="ftr" idx="70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dt" idx="7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sldNum" idx="7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4A5F14E-F15E-427A-AD74-D84FA4F3318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442440"/>
            <a:ext cx="8457480" cy="6998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CONTROLLER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POINT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3" name="object 10"/>
          <p:cNvSpPr/>
          <p:nvPr/>
        </p:nvSpPr>
        <p:spPr>
          <a:xfrm>
            <a:off x="448920" y="1082520"/>
            <a:ext cx="11208960" cy="51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survey ensures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availability,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confidentiality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integrity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properties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ensured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configuring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encryption.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settings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manually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WAP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but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this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would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be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onerous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in an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enterprise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network</a:t>
            </a:r>
            <a:r>
              <a:rPr b="0" lang="en-US" sz="2400" spc="-2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with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tens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or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hundreds</a:t>
            </a:r>
            <a:r>
              <a:rPr b="0" lang="en-US" sz="2400" spc="4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of </a:t>
            </a:r>
            <a:r>
              <a:rPr b="0" lang="en-US" sz="2400" spc="-100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WAP</a:t>
            </a:r>
            <a:r>
              <a:rPr b="0" lang="en-US" sz="2400" spc="-100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individually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lead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errors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difficult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gain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view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deployment.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Rather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device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individually,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enterprise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solutions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Wireless</a:t>
            </a:r>
            <a:r>
              <a:rPr b="1" lang="en-US" sz="24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Controllers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centralized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monitoring.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controller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4" name="object 11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PlaceHolder 2"/>
          <p:cNvSpPr>
            <a:spLocks noGrp="1"/>
          </p:cNvSpPr>
          <p:nvPr>
            <p:ph type="ftr" idx="73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dt" idx="74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sldNum" idx="7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925EA1C-57BA-4106-9E83-9B2F7E6ED24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442440"/>
            <a:ext cx="10514880" cy="6998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ROGUE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POINTS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EVIL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TWINS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9" name="object 3"/>
          <p:cNvSpPr/>
          <p:nvPr/>
        </p:nvSpPr>
        <p:spPr>
          <a:xfrm>
            <a:off x="685800" y="1370520"/>
            <a:ext cx="10972080" cy="45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rogue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that has been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authorization,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whether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vital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periodically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survey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rogue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WAPs.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malicious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set up 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access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basic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smartphone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tethering capabilities,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non-malicious 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enable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accident.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LAN without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security,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unauthorized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WAP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creates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backdoor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rogue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WAP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capture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logon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man-in- </a:t>
            </a:r>
            <a:r>
              <a:rPr b="1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the-middle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allow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private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PlaceHolder 2"/>
          <p:cNvSpPr>
            <a:spLocks noGrp="1"/>
          </p:cNvSpPr>
          <p:nvPr>
            <p:ph type="ftr" idx="76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77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sldNum" idx="7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675EFAB-99A4-4A65-B71F-62CD189D1E7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058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ROGUE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POINTS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EVIL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TWINS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5" name="object 3"/>
          <p:cNvSpPr/>
          <p:nvPr/>
        </p:nvSpPr>
        <p:spPr>
          <a:xfrm>
            <a:off x="916920" y="1711080"/>
            <a:ext cx="10161000" cy="38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rogue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WAP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masquerading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called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evil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twin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twin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just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similar name (SSID)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 one, 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DoS technique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overcome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legitimate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06" strike="noStrike">
                <a:solidFill>
                  <a:srgbClr val="000000"/>
                </a:solidFill>
                <a:latin typeface="Calibri"/>
                <a:ea typeface="DejaVu Sans"/>
              </a:rPr>
              <a:t>WAP.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succeed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security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enabled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06" strike="noStrike">
                <a:solidFill>
                  <a:srgbClr val="000000"/>
                </a:solidFill>
                <a:latin typeface="Calibri"/>
                <a:ea typeface="DejaVu Sans"/>
              </a:rPr>
              <a:t>WAP,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unless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knows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details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method.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However,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twin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 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harvest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users entering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mistake.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PlaceHolder 2"/>
          <p:cNvSpPr>
            <a:spLocks noGrp="1"/>
          </p:cNvSpPr>
          <p:nvPr>
            <p:ph type="ftr" idx="79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dt" idx="80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sldNum" idx="8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CE0120F-C1F4-43F8-A78E-257463BCD55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058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ROGUE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POINTS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EVIL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TWINS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1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2" name="object 4" descr=""/>
          <p:cNvPicPr/>
          <p:nvPr/>
        </p:nvPicPr>
        <p:blipFill>
          <a:blip r:embed="rId1"/>
          <a:stretch/>
        </p:blipFill>
        <p:spPr>
          <a:xfrm>
            <a:off x="5020560" y="1510560"/>
            <a:ext cx="4808520" cy="4660920"/>
          </a:xfrm>
          <a:prstGeom prst="rect">
            <a:avLst/>
          </a:prstGeom>
          <a:ln w="0">
            <a:noFill/>
          </a:ln>
        </p:spPr>
      </p:pic>
      <p:sp>
        <p:nvSpPr>
          <p:cNvPr id="243" name="PlaceHolder 2"/>
          <p:cNvSpPr>
            <a:spLocks noGrp="1"/>
          </p:cNvSpPr>
          <p:nvPr>
            <p:ph type="ftr" idx="82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dt" idx="83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sldNum" idx="8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BC746AC-E019-4D32-8396-DB0D5D7AB6F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916920" y="1715040"/>
            <a:ext cx="9826560" cy="2557080"/>
          </a:xfrm>
          <a:prstGeom prst="rect">
            <a:avLst/>
          </a:prstGeom>
          <a:noFill/>
          <a:ln w="0">
            <a:noFill/>
          </a:ln>
        </p:spPr>
        <p:txBody>
          <a:bodyPr lIns="0" rIns="0" tIns="105480" bIns="0" anchor="t">
            <a:noAutofit/>
          </a:bodyPr>
          <a:p>
            <a:pPr marL="12600">
              <a:lnSpc>
                <a:spcPct val="100000"/>
              </a:lnSpc>
              <a:spcBef>
                <a:spcPts val="831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</a:rPr>
              <a:t>9.1-</a:t>
            </a:r>
            <a:r>
              <a:rPr b="0" lang="en-US" sz="2200" spc="-12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Implement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Secure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Network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Designs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14"/>
              </a:spcBef>
              <a:buNone/>
            </a:pPr>
            <a:r>
              <a:rPr b="0" lang="en-US" sz="2200" spc="-7" strike="noStrike">
                <a:solidFill>
                  <a:srgbClr val="ac172b"/>
                </a:solidFill>
                <a:latin typeface="Calibri"/>
              </a:rPr>
              <a:t>9.2-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Implement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Secure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Switching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Routing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 </a:t>
            </a:r>
            <a:br>
              <a:rPr sz="2200"/>
            </a:br>
            <a:r>
              <a:rPr b="0" lang="en-US" sz="2200" spc="-7" strike="noStrike">
                <a:solidFill>
                  <a:srgbClr val="ac172b"/>
                </a:solidFill>
                <a:latin typeface="Calibri"/>
              </a:rPr>
              <a:t>9.3-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Implement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Secure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Wireless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Infrastructure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</a:rPr>
              <a:t> </a:t>
            </a:r>
            <a:br>
              <a:rPr sz="2200"/>
            </a:br>
            <a:r>
              <a:rPr b="0" lang="en-US" sz="2200" spc="-7" strike="noStrike">
                <a:solidFill>
                  <a:srgbClr val="ac172b"/>
                </a:solidFill>
                <a:latin typeface="Calibri"/>
              </a:rPr>
              <a:t>9.4-</a:t>
            </a:r>
            <a:r>
              <a:rPr b="0" lang="en-US" sz="2200" spc="-15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Implement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Load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Balancers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7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PlaceHolder 2"/>
          <p:cNvSpPr>
            <a:spLocks noGrp="1"/>
          </p:cNvSpPr>
          <p:nvPr>
            <p:ph type="ftr" idx="85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dt" idx="86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ldNum" idx="8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C537026-37DF-44E5-8E88-5A8BAD213AF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8272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DISTRIBUTED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6" strike="noStrike">
                <a:solidFill>
                  <a:srgbClr val="c00000"/>
                </a:solidFill>
                <a:latin typeface="Calibri Light"/>
              </a:rPr>
              <a:t>DENIAL</a:t>
            </a:r>
            <a:r>
              <a:rPr b="0" lang="en-US" sz="28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28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28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r>
              <a:rPr b="0" lang="en-US" sz="28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(DDoS)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52" name="object 3"/>
          <p:cNvSpPr/>
          <p:nvPr/>
        </p:nvSpPr>
        <p:spPr>
          <a:xfrm>
            <a:off x="916920" y="1802520"/>
            <a:ext cx="10281600" cy="42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denial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of</a:t>
            </a:r>
            <a:r>
              <a:rPr b="0" lang="en-US" sz="2400" spc="4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service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(DoS)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websites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gateways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distributed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DoS (DDoS).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means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attack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launched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simultaneously.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Typically,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machines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handlers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handlers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hundreds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thousands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millions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(bots)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forming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botnet.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DDoS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simply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aim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consume network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bandwidth,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denying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overwhelming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numbers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bots.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PlaceHolder 2"/>
          <p:cNvSpPr>
            <a:spLocks noGrp="1"/>
          </p:cNvSpPr>
          <p:nvPr>
            <p:ph type="ftr" idx="88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89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sldNum" idx="9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33D2D78-A65E-4A4B-922A-7CBFD0190F4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916920" y="914400"/>
            <a:ext cx="7998480" cy="9273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DD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24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8" name="object 3"/>
          <p:cNvSpPr/>
          <p:nvPr/>
        </p:nvSpPr>
        <p:spPr>
          <a:xfrm>
            <a:off x="916920" y="1802520"/>
            <a:ext cx="10202760" cy="29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DDoS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diagnosed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spikes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 legitimate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explanation,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 only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counteracted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high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availability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such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load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balancing.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cases,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stateful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 can detect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DDoS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automatically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block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source.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However,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 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DDoS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source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randomly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spoofed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launched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difficult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PlaceHolder 2"/>
          <p:cNvSpPr>
            <a:spLocks noGrp="1"/>
          </p:cNvSpPr>
          <p:nvPr>
            <p:ph type="ftr" idx="91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dt" idx="92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sldNum" idx="9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BE1439E-F797-4605-AABD-0FBBB8BA3BF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07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DD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24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4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5" name="object 4" descr=""/>
          <p:cNvPicPr/>
          <p:nvPr/>
        </p:nvPicPr>
        <p:blipFill>
          <a:blip r:embed="rId1"/>
          <a:stretch/>
        </p:blipFill>
        <p:spPr>
          <a:xfrm>
            <a:off x="3079800" y="1576800"/>
            <a:ext cx="6195600" cy="4464360"/>
          </a:xfrm>
          <a:prstGeom prst="rect">
            <a:avLst/>
          </a:prstGeom>
          <a:ln w="0">
            <a:noFill/>
          </a:ln>
        </p:spPr>
      </p:pic>
      <p:sp>
        <p:nvSpPr>
          <p:cNvPr id="266" name="PlaceHolder 2"/>
          <p:cNvSpPr>
            <a:spLocks noGrp="1"/>
          </p:cNvSpPr>
          <p:nvPr>
            <p:ph type="ftr" idx="94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dt" idx="95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sldNum" idx="9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A4CF7BF-E42D-4E97-83E5-97848D82995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03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ANC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0" name="object 3"/>
          <p:cNvSpPr/>
          <p:nvPr/>
        </p:nvSpPr>
        <p:spPr>
          <a:xfrm>
            <a:off x="457200" y="1410120"/>
            <a:ext cx="10261080" cy="453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load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balancer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distributes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requests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across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nodes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farm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pool.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provision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services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scale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light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heavy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loads,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mitigation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DDoS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load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balancer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fault tolerance.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 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 available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farm,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single name/IP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via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load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balancer,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then if 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single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fails,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routed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farm.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 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load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balancer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situation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multiple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servers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PlaceHolder 2"/>
          <p:cNvSpPr>
            <a:spLocks noGrp="1"/>
          </p:cNvSpPr>
          <p:nvPr>
            <p:ph type="ftr" idx="97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dt" idx="9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 type="sldNum" idx="9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FF72BA9-8797-4129-9B74-1F382A4C682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53204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LOAD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BALANCING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6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77" name="object 4" descr=""/>
          <p:cNvPicPr/>
          <p:nvPr/>
        </p:nvPicPr>
        <p:blipFill>
          <a:blip r:embed="rId1"/>
          <a:stretch/>
        </p:blipFill>
        <p:spPr>
          <a:xfrm>
            <a:off x="1792080" y="1758600"/>
            <a:ext cx="8606520" cy="4328640"/>
          </a:xfrm>
          <a:prstGeom prst="rect">
            <a:avLst/>
          </a:prstGeom>
          <a:ln w="0">
            <a:noFill/>
          </a:ln>
        </p:spPr>
      </p:pic>
      <p:sp>
        <p:nvSpPr>
          <p:cNvPr id="278" name="PlaceHolder 2"/>
          <p:cNvSpPr>
            <a:spLocks noGrp="1"/>
          </p:cNvSpPr>
          <p:nvPr>
            <p:ph type="ftr" idx="100"/>
          </p:nvPr>
        </p:nvSpPr>
        <p:spPr>
          <a:xfrm>
            <a:off x="916920" y="6451560"/>
            <a:ext cx="10220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dt" idx="10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sldNum" idx="10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730ABA5-9497-40EE-96CC-61EEE0520C4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2023-09-02T17:18:25Z</dcterms:created>
  <dc:creator>Ahmed Sultan</dc:creator>
  <dc:description/>
  <dc:language>en-US</dc:language>
  <cp:lastModifiedBy/>
  <dcterms:modified xsi:type="dcterms:W3CDTF">2023-09-05T19:50:17Z</dcterms:modified>
  <cp:revision>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