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png" ContentType="image/png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14DAA6-E168-4FCC-A52E-E6CC158971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EBB8A8-51D0-4C3D-8208-80B634A2FB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0F9FDE-7B5F-47A0-A409-3D1B51373D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C47EE6-A4BE-4451-BC65-4019F4DE4F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168CC2-1DAD-4D52-B7BF-FE7F09A815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DA6E0E-F8DC-45A5-A35E-3A2E8AF8A3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B2EC7A-8D89-4C93-BA5E-45B8FB4B00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1DAF2E-7236-46A0-BAC5-79D00D1E8D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C5DE71-F3F6-4DE8-B08C-EA03D81DA3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66FEB8-4560-40CB-AC49-A4E9CA53FB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573360-0804-40DC-AF8B-0D504084E4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7DC3AF-83B7-43AE-BC8F-632681CD74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4AB18ED-DA1B-4666-91B9-76A2AC7AFE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74E174D-3FFF-455B-AE96-67A06F423A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06A88AB-8469-487A-93FE-21CCEA9C0A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BC78DEC-EC1E-40AB-85BA-4CF9AB4C15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6EAC05-A909-4011-A06E-05B0620E46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CFF6EF-732D-424E-ADB9-6751A7A34F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C3F70E2-FF46-4E30-8A32-9D9B31BC68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20846A-7D94-426A-8839-2B46C45F90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8FD249B-B3D8-4997-AFAA-F1FD23487C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FC822C-6B05-4892-BE6F-74219F22BF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8F6A16-FA9A-4BD8-A359-BFBD7C0219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2E54CBC-3901-41D1-8FC9-1FBBC4C1EC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 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58ADF85-7F46-4F90-A0E7-F78370C1CB0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13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B0C4C53-D556-469E-9DB7-79F513F361A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2464200" y="3080160"/>
            <a:ext cx="7311600" cy="848160"/>
            <a:chOff x="2464200" y="3080160"/>
            <a:chExt cx="7311600" cy="84816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2563200" y="3159000"/>
              <a:ext cx="711468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2464200" y="3080160"/>
              <a:ext cx="731160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580120" y="3166920"/>
            <a:ext cx="703116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2456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10-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Implementing</a:t>
            </a:r>
            <a:r>
              <a:rPr b="0" lang="en-US" sz="2800" spc="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Network</a:t>
            </a:r>
            <a:r>
              <a:rPr b="0" lang="en-US" sz="2800" spc="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Security</a:t>
            </a:r>
            <a:r>
              <a:rPr b="0" lang="en-US" sz="2800" spc="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Appliances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  <p:sp>
        <p:nvSpPr>
          <p:cNvPr id="87" name="object 1"/>
          <p:cNvSpPr/>
          <p:nvPr/>
        </p:nvSpPr>
        <p:spPr>
          <a:xfrm>
            <a:off x="6172200" y="5725800"/>
            <a:ext cx="588168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534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916920" y="1715040"/>
            <a:ext cx="9369720" cy="16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27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10.1-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Firewalls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Proxy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10.2-</a:t>
            </a:r>
            <a:r>
              <a:rPr b="0" lang="en-US" sz="22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Monitoring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  <a:ea typeface="DejaVu Sans"/>
              </a:rPr>
              <a:t>10.3-</a:t>
            </a:r>
            <a:r>
              <a:rPr b="0" lang="en-US" sz="22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Summarize</a:t>
            </a:r>
            <a:r>
              <a:rPr b="0" lang="en-US" sz="22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 Use</a:t>
            </a:r>
            <a:r>
              <a:rPr b="0" lang="en-US" sz="22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SIEM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F332E69-B990-4154-B78F-1960E3546A2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543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PAC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KET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FILT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ERI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NG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WAL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592920" y="1089720"/>
            <a:ext cx="10305360" cy="46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99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Access</a:t>
            </a:r>
            <a:r>
              <a:rPr b="0" lang="en-US" sz="2400" spc="-4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Control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Lists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(ACLs)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4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filtering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configured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specifying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group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rules,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called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list</a:t>
            </a:r>
            <a:r>
              <a:rPr b="1" lang="en-US" sz="2000" spc="-6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(ACL)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47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rule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defines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appropriate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packet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matches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rule.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4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either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deny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(block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drop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packet,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optionally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event)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160"/>
              </a:lnSpc>
              <a:buNone/>
              <a:tabLst>
                <a:tab algn="l" pos="69912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accept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(let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packet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pass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firewall).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filtering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inspect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headers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packets.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1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means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rules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found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those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headers:</a:t>
            </a:r>
            <a:endParaRPr b="0" lang="en-US" sz="2000" spc="-1" strike="noStrike">
              <a:latin typeface="Arial"/>
            </a:endParaRPr>
          </a:p>
          <a:p>
            <a:pPr lvl="2" marL="1155600" indent="-228600">
              <a:lnSpc>
                <a:spcPct val="80000"/>
              </a:lnSpc>
              <a:spcBef>
                <a:spcPts val="505"/>
              </a:spcBef>
              <a:buClr>
                <a:srgbClr val="006fc0"/>
              </a:buClr>
              <a:buFont typeface="Wingdings" charset="2"/>
              <a:buChar char=""/>
              <a:tabLst>
                <a:tab algn="l" pos="1156320"/>
              </a:tabLst>
            </a:pP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IP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filtering—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accepting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denying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basis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source and/or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destination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address.</a:t>
            </a:r>
            <a:endParaRPr b="0" lang="en-US" sz="20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26"/>
              </a:spcBef>
              <a:buClr>
                <a:srgbClr val="006fc0"/>
              </a:buClr>
              <a:buFont typeface="Wingdings" charset="2"/>
              <a:buChar char=""/>
              <a:tabLst>
                <a:tab algn="l" pos="1156320"/>
              </a:tabLst>
            </a:pP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Protocol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6fc0"/>
                </a:solidFill>
                <a:latin typeface="Calibri"/>
                <a:ea typeface="DejaVu Sans"/>
              </a:rPr>
              <a:t>ID/type—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(TCP, </a:t>
            </a:r>
            <a:r>
              <a:rPr b="0" lang="en-US" sz="2000" spc="-66" strike="noStrike">
                <a:solidFill>
                  <a:srgbClr val="000000"/>
                </a:solidFill>
                <a:latin typeface="Calibri"/>
                <a:ea typeface="DejaVu Sans"/>
              </a:rPr>
              <a:t>UDP,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ICMP,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routing protocols,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on).</a:t>
            </a:r>
            <a:endParaRPr b="0" lang="en-US" sz="2000" spc="-1" strike="noStrike">
              <a:latin typeface="Arial"/>
            </a:endParaRPr>
          </a:p>
          <a:p>
            <a:pPr lvl="2" marL="1155600" indent="-229320">
              <a:lnSpc>
                <a:spcPts val="2160"/>
              </a:lnSpc>
              <a:spcBef>
                <a:spcPts val="11"/>
              </a:spcBef>
              <a:buClr>
                <a:srgbClr val="006fc0"/>
              </a:buClr>
              <a:buFont typeface="Wingdings" charset="2"/>
              <a:buChar char=""/>
              <a:tabLst>
                <a:tab algn="l" pos="1156320"/>
              </a:tabLst>
            </a:pP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Port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filtering/security—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accepting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denying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basis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source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destination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numbers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(TCP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UDP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D37B09C-0977-4664-AAA0-8A27D18C726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3697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PACKET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FILTERING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808920" y="1370520"/>
            <a:ext cx="10113480" cy="45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additional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functionality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products,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the ability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block some types of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ICMP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(ping)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 not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others, 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ability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filter by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MAC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Another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distinction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made 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whether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 can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only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inbound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both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inbound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outbound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also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ingress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egress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filtering.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Controlling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outbound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useful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because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block applications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defeat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backdoors.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Ingress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egress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filtered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ACLs.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1AAE38C-2986-42CA-A484-1722F52F75A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9128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PACKET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FILTERING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916920" y="1758960"/>
            <a:ext cx="10121760" cy="32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Stateless</a:t>
            </a:r>
            <a:r>
              <a:rPr b="0" lang="en-US" sz="2400" spc="-7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Operation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basic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packet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filtering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stateless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does not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preserve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about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sessions.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analyzed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independently,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with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record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previously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packets.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type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filtering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least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effort,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vulnerable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spread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sequence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packets.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stateless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introduce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problems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flow,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especially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load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balancing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being used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clients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dynamically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assigned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C8A93D9-D68B-4907-8783-7F764347572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4556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SP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205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LL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916920" y="1802520"/>
            <a:ext cx="10263960" cy="42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stateful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inspection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firewall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problems by tracking information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about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session established between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two hosts, 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blocking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start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bogus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session.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vast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majority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firewalls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now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incorporate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level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stateful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inspection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capability.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Session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data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stored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state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table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a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arrives,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firewall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checks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confirm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whether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belongs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existing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it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does not,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applies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ordinary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packet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filtering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rules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 whether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BA1AC2D-CDA2-4E11-A772-D0976AD0C47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39944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STATEFUL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INSPECTION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9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0" name="object 4" descr=""/>
          <p:cNvPicPr/>
          <p:nvPr/>
        </p:nvPicPr>
        <p:blipFill>
          <a:blip r:embed="rId1"/>
          <a:stretch/>
        </p:blipFill>
        <p:spPr>
          <a:xfrm>
            <a:off x="4761720" y="1433160"/>
            <a:ext cx="6211080" cy="4510440"/>
          </a:xfrm>
          <a:prstGeom prst="rect">
            <a:avLst/>
          </a:prstGeom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19590BD-4D2E-4D26-A021-41A267A4C8C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2841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STATEFUL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INSPECTION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5" name="object 3"/>
          <p:cNvSpPr/>
          <p:nvPr/>
        </p:nvSpPr>
        <p:spPr>
          <a:xfrm>
            <a:off x="268920" y="1243080"/>
            <a:ext cx="11160720" cy="43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Stateful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inspection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occur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two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layers: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transport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application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Transport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Layer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(OSI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Layer</a:t>
            </a:r>
            <a:r>
              <a:rPr b="0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4)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transport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layer,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examines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TCP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three-way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handshake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distinguish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new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established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connections.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legitimate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TCP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connection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follow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SYN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&gt;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SYN/ACK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&gt;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ACK sequence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establish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session,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tracked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sequence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numbers.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2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Deviations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SYN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without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sequence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number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anomalies,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dropped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flooding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session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hijacking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attempts.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configured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such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blocking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source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throttling sessions.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track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UDP connections,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though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harder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UDP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connectionless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protocol.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detect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header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ICMP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anomalies.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AC3560A-3AD7-4236-9AFC-CFCFCB4D2E0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9699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STATEFUL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INSPECTION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1" name="object 3"/>
          <p:cNvSpPr/>
          <p:nvPr/>
        </p:nvSpPr>
        <p:spPr>
          <a:xfrm>
            <a:off x="268920" y="1290960"/>
            <a:ext cx="11617920" cy="49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Application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Layer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(OSI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Layer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7)</a:t>
            </a:r>
            <a:endParaRPr b="0" lang="en-US" sz="2400" spc="-1" strike="noStrike">
              <a:latin typeface="Arial"/>
            </a:endParaRPr>
          </a:p>
          <a:p>
            <a:pPr lvl="1" marL="698400" indent="-229320" algn="just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application-aware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inspect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contents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packets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layer.</a:t>
            </a:r>
            <a:endParaRPr b="0" lang="en-US" sz="2000" spc="-1" strike="noStrike">
              <a:latin typeface="Arial"/>
            </a:endParaRPr>
          </a:p>
          <a:p>
            <a:pPr lvl="1" marL="698400" indent="-229320" algn="just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feature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verify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matches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port;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verify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isn't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sending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raw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TCP 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80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just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because port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80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open,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instance.</a:t>
            </a:r>
            <a:endParaRPr b="0" lang="en-US" sz="2000" spc="-1" strike="noStrike">
              <a:latin typeface="Arial"/>
            </a:endParaRPr>
          </a:p>
          <a:p>
            <a:pPr lvl="1" marL="698400" indent="-228600" algn="just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another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web application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analyze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HTTP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headers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HTML code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present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HTTP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packets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try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 code that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matches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pattern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its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database.</a:t>
            </a:r>
            <a:endParaRPr b="0" lang="en-US" sz="2000" spc="-1" strike="noStrike">
              <a:latin typeface="Arial"/>
            </a:endParaRPr>
          </a:p>
          <a:p>
            <a:pPr lvl="1" marL="698400" indent="-229320" algn="just">
              <a:lnSpc>
                <a:spcPts val="2279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Application-aware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many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application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layer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gateway,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stateful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multilayer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inspection,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deep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inspection.</a:t>
            </a:r>
            <a:endParaRPr b="0" lang="en-US" sz="2000" spc="-1" strike="noStrike">
              <a:latin typeface="Arial"/>
            </a:endParaRPr>
          </a:p>
          <a:p>
            <a:pPr lvl="1" marL="698400" indent="-228600" algn="just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aware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devices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 filters 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each type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(HTTP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HTTPS,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SMTP/POP/IMAP,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2" strike="noStrike">
                <a:solidFill>
                  <a:srgbClr val="000000"/>
                </a:solidFill>
                <a:latin typeface="Calibri"/>
                <a:ea typeface="DejaVu Sans"/>
              </a:rPr>
              <a:t>FTP,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on).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cannot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examine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encrypted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packets,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unless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SSL/TLS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inspector.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13BBD03-65DF-4255-AF6D-D9FF0EEF44A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2270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IMPLEMENTATION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" name="object 3"/>
          <p:cNvSpPr/>
          <p:nvPr/>
        </p:nvSpPr>
        <p:spPr>
          <a:xfrm>
            <a:off x="916920" y="1758960"/>
            <a:ext cx="10317240" cy="375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Firewall</a:t>
            </a:r>
            <a:r>
              <a:rPr b="0" lang="en-US" sz="2400" spc="-6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Appliances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stand-alone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hardware firewall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deployed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monitor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passing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zone.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deployed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two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ways:</a:t>
            </a:r>
            <a:endParaRPr b="0" lang="en-US" sz="2000" spc="-1" strike="noStrike">
              <a:latin typeface="Arial"/>
            </a:endParaRPr>
          </a:p>
          <a:p>
            <a:pPr lvl="2" marL="1155600" indent="-228600">
              <a:lnSpc>
                <a:spcPts val="1729"/>
              </a:lnSpc>
              <a:spcBef>
                <a:spcPts val="556"/>
              </a:spcBef>
              <a:buClr>
                <a:srgbClr val="ac172b"/>
              </a:buClr>
              <a:buFont typeface="Wingdings" charset="2"/>
              <a:buChar char=""/>
              <a:tabLst>
                <a:tab algn="l" pos="1156320"/>
              </a:tabLst>
            </a:pPr>
            <a:r>
              <a:rPr b="0" lang="en-US" sz="1600" spc="-15" strike="noStrike">
                <a:solidFill>
                  <a:srgbClr val="ac172b"/>
                </a:solidFill>
                <a:latin typeface="Calibri"/>
                <a:ea typeface="DejaVu Sans"/>
              </a:rPr>
              <a:t>Routed</a:t>
            </a:r>
            <a:r>
              <a:rPr b="0" lang="en-US" sz="1600" spc="26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ac172b"/>
                </a:solidFill>
                <a:latin typeface="Calibri"/>
                <a:ea typeface="DejaVu Sans"/>
              </a:rPr>
              <a:t>(layer</a:t>
            </a:r>
            <a:r>
              <a:rPr b="0" lang="en-US" sz="1600" spc="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ac172b"/>
                </a:solidFill>
                <a:latin typeface="Calibri"/>
                <a:ea typeface="DejaVu Sans"/>
              </a:rPr>
              <a:t>3)—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performs</a:t>
            </a:r>
            <a:r>
              <a:rPr b="0" lang="en-US" sz="1600" spc="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forwarding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16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subnets,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connects</a:t>
            </a:r>
            <a:r>
              <a:rPr b="0" lang="en-US" sz="16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1600" spc="-34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subnet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 represents</a:t>
            </a:r>
            <a:r>
              <a:rPr b="0" lang="en-US" sz="16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 security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zone.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buNone/>
              <a:tabLst>
                <a:tab algn="l" pos="1156320"/>
              </a:tabLst>
            </a:pPr>
            <a:endParaRPr b="0" lang="en-US" sz="2200" spc="-1" strike="noStrike">
              <a:latin typeface="Arial"/>
            </a:endParaRPr>
          </a:p>
          <a:p>
            <a:pPr lvl="2" marL="1155600" indent="-228600">
              <a:lnSpc>
                <a:spcPct val="90000"/>
              </a:lnSpc>
              <a:buClr>
                <a:srgbClr val="ac172b"/>
              </a:buClr>
              <a:buFont typeface="Wingdings" charset="2"/>
              <a:buChar char=""/>
              <a:tabLst>
                <a:tab algn="l" pos="1156320"/>
              </a:tabLst>
            </a:pPr>
            <a:r>
              <a:rPr b="0" lang="en-US" sz="1600" spc="-12" strike="noStrike">
                <a:solidFill>
                  <a:srgbClr val="ac172b"/>
                </a:solidFill>
                <a:latin typeface="Calibri"/>
                <a:ea typeface="DejaVu Sans"/>
              </a:rPr>
              <a:t>Bridged</a:t>
            </a:r>
            <a:r>
              <a:rPr b="0" lang="en-US" sz="1600" spc="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ac172b"/>
                </a:solidFill>
                <a:latin typeface="Calibri"/>
                <a:ea typeface="DejaVu Sans"/>
              </a:rPr>
              <a:t>(layer</a:t>
            </a:r>
            <a:r>
              <a:rPr b="0" lang="en-US" sz="1600" spc="9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ac172b"/>
                </a:solidFill>
                <a:latin typeface="Calibri"/>
                <a:ea typeface="DejaVu Sans"/>
              </a:rPr>
              <a:t>2)—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inspects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passing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16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two</a:t>
            </a:r>
            <a:r>
              <a:rPr b="0" lang="en-US" sz="16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nodes,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as a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router</a:t>
            </a:r>
            <a:r>
              <a:rPr b="0" lang="en-US" sz="16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and a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switch,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This is </a:t>
            </a:r>
            <a:r>
              <a:rPr b="0" lang="en-US" sz="1600" spc="-34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also </a:t>
            </a:r>
            <a:r>
              <a:rPr b="0" lang="en-US" sz="16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16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transparent</a:t>
            </a:r>
            <a:r>
              <a:rPr b="0" lang="en-US" sz="16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mode,</a:t>
            </a:r>
            <a:r>
              <a:rPr b="0" lang="en-US" sz="16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does</a:t>
            </a:r>
            <a:r>
              <a:rPr b="0" lang="en-US" sz="16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(except</a:t>
            </a:r>
            <a:r>
              <a:rPr b="0" lang="en-US" sz="16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 management),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 bridges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Ethernet</a:t>
            </a:r>
            <a:r>
              <a:rPr b="0" lang="en-US" sz="16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interfaces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16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two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nodes,</a:t>
            </a:r>
            <a:r>
              <a:rPr b="0" lang="en-US" sz="16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Despite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performing</a:t>
            </a:r>
            <a:r>
              <a:rPr b="0" lang="en-US" sz="16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forwarding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at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layer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2,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still</a:t>
            </a:r>
            <a:r>
              <a:rPr b="0" lang="en-US" sz="16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inspect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filter</a:t>
            </a:r>
            <a:r>
              <a:rPr b="0" lang="en-US" sz="16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16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basis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full</a:t>
            </a:r>
            <a:r>
              <a:rPr b="0" lang="en-US" sz="16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range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headers,</a:t>
            </a:r>
            <a:r>
              <a:rPr b="0" lang="en-US" sz="16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typical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case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transparent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deploy</a:t>
            </a:r>
            <a:r>
              <a:rPr b="0" lang="en-US" sz="16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having</a:t>
            </a:r>
            <a:r>
              <a:rPr b="0" lang="en-US" sz="16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5" strike="noStrike">
                <a:solidFill>
                  <a:srgbClr val="000000"/>
                </a:solidFill>
                <a:latin typeface="Calibri"/>
                <a:ea typeface="DejaVu Sans"/>
              </a:rPr>
              <a:t>reconfigure</a:t>
            </a:r>
            <a:r>
              <a:rPr b="0" lang="en-US" sz="16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subnets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reassign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12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16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16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16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600" spc="-7" strike="noStrike">
                <a:solidFill>
                  <a:srgbClr val="000000"/>
                </a:solidFill>
                <a:latin typeface="Calibri"/>
                <a:ea typeface="DejaVu Sans"/>
              </a:rPr>
              <a:t>devices.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3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EA5BDED-28E9-4C00-BFC2-0A83A22737A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5016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IMPLEMENTATION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3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4" name="object 4" descr=""/>
          <p:cNvPicPr/>
          <p:nvPr/>
        </p:nvPicPr>
        <p:blipFill>
          <a:blip r:embed="rId1"/>
          <a:stretch/>
        </p:blipFill>
        <p:spPr>
          <a:xfrm>
            <a:off x="2971800" y="1690200"/>
            <a:ext cx="6247800" cy="4411440"/>
          </a:xfrm>
          <a:prstGeom prst="rect">
            <a:avLst/>
          </a:prstGeom>
          <a:ln w="0">
            <a:noFill/>
          </a:ln>
        </p:spPr>
      </p:pic>
      <p:sp>
        <p:nvSpPr>
          <p:cNvPr id="145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E8BBE89-7FCA-4D1C-9A85-199A1FCE039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5016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IMPLEMENTATION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9" name="object 3"/>
          <p:cNvSpPr/>
          <p:nvPr/>
        </p:nvSpPr>
        <p:spPr>
          <a:xfrm>
            <a:off x="916920" y="1802520"/>
            <a:ext cx="10219680" cy="23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router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firewall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firewall router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implements filtering functionality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firmware.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difference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router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primarily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routing,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secondary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feature.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SOHO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Internet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router/modems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built-in,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example.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92A44C6-B2F4-4559-A825-DFF64865637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62652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VIRTUAL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5" name="object 3"/>
          <p:cNvSpPr/>
          <p:nvPr/>
        </p:nvSpPr>
        <p:spPr>
          <a:xfrm>
            <a:off x="772920" y="1459080"/>
            <a:ext cx="10352160" cy="453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Virtual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deployed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within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data centers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cloud services.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virtual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 implemented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ways: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19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Hypervisor-based—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filtering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functionality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built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hypervisor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cloud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provisioning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cloud's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web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programming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(API)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write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lists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(ACLs)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arriving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leaving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virtual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virtual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4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Virtual</a:t>
            </a:r>
            <a:r>
              <a:rPr b="0" lang="en-US" sz="20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appliance—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refers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deploying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vendor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instance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virtualization,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way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 deploy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guest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OS..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Multiple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context—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refers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virtual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running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hardware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firewall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context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distinct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filtering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role.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A2143D8-B72A-4C26-BFA6-3F2C5AECCF2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6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2023-09-02T17:18:59Z</dcterms:created>
  <dc:creator>Ahmed Sultan</dc:creator>
  <dc:description/>
  <dc:language>en-US</dc:language>
  <cp:lastModifiedBy/>
  <dcterms:modified xsi:type="dcterms:W3CDTF">2023-09-05T20:52:27Z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2023-09-02T00:00:00Z</vt:filetime>
  </property>
  <property fmtid="{D5CDD505-2E9C-101B-9397-08002B2CF9AE}" pid="5" name="PresentationFormat">
    <vt:lpwstr>On-screen Show (4:3)</vt:lpwstr>
  </property>
</Properties>
</file>