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media/image1.png" ContentType="image/png"/>
  <Override PartName="/ppt/media/image3.jpeg" ContentType="image/jpeg"/>
  <Override PartName="/ppt/media/image2.png" ContentType="image/png"/>
  <Override PartName="/ppt/media/image4.jpeg" ContentType="image/jpeg"/>
  <Override PartName="/ppt/media/image5.jpeg" ContentType="image/jpeg"/>
  <Override PartName="/ppt/presProps.xml" ContentType="application/vnd.openxmlformats-officedocument.presentationml.presProps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9.xml" ContentType="application/vnd.openxmlformats-officedocument.presentationml.slide+xml"/>
  <Override PartName="/ppt/slides/_rels/slide8.xml.rels" ContentType="application/vnd.openxmlformats-package.relationships+xml"/>
  <Override PartName="/ppt/slides/_rels/slide10.xml.rels" ContentType="application/vnd.openxmlformats-package.relationships+xml"/>
  <Override PartName="/ppt/slides/_rels/slide7.xml.rels" ContentType="application/vnd.openxmlformats-package.relationships+xml"/>
  <Override PartName="/ppt/slides/_rels/slide13.xml.rels" ContentType="application/vnd.openxmlformats-package.relationships+xml"/>
  <Override PartName="/ppt/slides/_rels/slide16.xml.rels" ContentType="application/vnd.openxmlformats-package.relationships+xml"/>
  <Override PartName="/ppt/slides/_rels/slide12.xml.rels" ContentType="application/vnd.openxmlformats-package.relationships+xml"/>
  <Override PartName="/ppt/slides/_rels/slide15.xml.rels" ContentType="application/vnd.openxmlformats-package.relationships+xml"/>
  <Override PartName="/ppt/slides/_rels/slide9.xml.rels" ContentType="application/vnd.openxmlformats-package.relationships+xml"/>
  <Override PartName="/ppt/slides/_rels/slide14.xml.rels" ContentType="application/vnd.openxmlformats-package.relationships+xml"/>
  <Override PartName="/ppt/slides/_rels/slide11.xml.rels" ContentType="application/vnd.openxmlformats-package.relationships+xml"/>
  <Override PartName="/ppt/slides/_rels/slide1.xml.rels" ContentType="application/vnd.openxmlformats-package.relationships+xml"/>
  <Override PartName="/ppt/slides/_rels/slide4.xml.rels" ContentType="application/vnd.openxmlformats-package.relationships+xml"/>
  <Override PartName="/ppt/slides/_rels/slide2.xml.rels" ContentType="application/vnd.openxmlformats-package.relationships+xml"/>
  <Override PartName="/ppt/slides/_rels/slide5.xml.rels" ContentType="application/vnd.openxmlformats-package.relationships+xml"/>
  <Override PartName="/ppt/slides/_rels/slide3.xml.rels" ContentType="application/vnd.openxmlformats-package.relationships+xml"/>
  <Override PartName="/ppt/slides/_rels/slide6.xml.rels" ContentType="application/vnd.openxmlformats-package.relationships+xml"/>
  <Override PartName="/ppt/slides/slide16.xml" ContentType="application/vnd.openxmlformats-officedocument.presentationml.slid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slides/slide11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BD34FB84-88BE-4DC5-AB38-922ABADD0C65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8DAE69F0-CFAE-4E9E-A217-FECCC4CCAB16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86F7F7CF-3BC1-416E-B98A-218D349AABAF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F6FAA0C9-D849-4A40-9326-B6E11CC45B04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A48A6330-FE42-4DF2-AD3B-CD349550721E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59F443A0-3213-49EB-95CB-8E77A5096349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F81BED63-5297-4DC9-982F-39500F9D9F0C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64765EBD-8274-446C-BEAC-D236E73B15C9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1C9BCCD7-573B-44E1-B498-38C2EE6B297E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27F07720-E4A4-4DF4-8732-808DE1BE5EB6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25865027-0BD4-4044-AF69-B9051289A5CD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F787651F-36AC-4179-88D6-02AC17D253CD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2109A0AC-5195-486D-808A-2712EA97400D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947EE908-F779-461D-9029-7ED102899E8C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8442DD45-1A7D-44EA-907D-8AAE5C5A6085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2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7DD0C7C1-D9F1-4C97-A45D-B242CF944713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B2F3E483-EA37-4071-A8C2-7DC607AEC28B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2004B329-ED87-483F-BB94-735C0B6B60E9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C0DD217E-A8B6-4D58-B957-128C48EDEDB7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6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1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2" name="PlaceHolder 4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844EC66B-1371-4B23-9545-FBB00BFEA0DB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64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5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6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4B41409D-87D1-43D2-BA4A-F07CC5CE059E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15C536CA-7059-482B-B7DF-DC4DDAA96EF8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71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2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3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4" name="PlaceHolder 5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19D21C49-62F3-4A25-BA35-19E19372B569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9" name="PlaceHolder 5"/>
          <p:cNvSpPr>
            <a:spLocks noGrp="1"/>
          </p:cNvSpPr>
          <p:nvPr>
            <p:ph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80" name="PlaceHolder 6"/>
          <p:cNvSpPr>
            <a:spLocks noGrp="1"/>
          </p:cNvSpPr>
          <p:nvPr>
            <p:ph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81" name="PlaceHolder 7"/>
          <p:cNvSpPr>
            <a:spLocks noGrp="1"/>
          </p:cNvSpPr>
          <p:nvPr>
            <p:ph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FE60413C-2815-40A2-8000-B7E0AADF5A3E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ftr" idx="1"/>
          </p:nvPr>
        </p:nvSpPr>
        <p:spPr>
          <a:xfrm>
            <a:off x="916920" y="6451560"/>
            <a:ext cx="1022760" cy="151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12600">
              <a:lnSpc>
                <a:spcPts val="1046"/>
              </a:lnSpc>
              <a:buNone/>
              <a:defRPr b="0" lang="en-US" sz="1000" spc="-1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12600">
              <a:lnSpc>
                <a:spcPts val="1046"/>
              </a:lnSpc>
              <a:buNone/>
            </a:pPr>
            <a:r>
              <a:rPr b="0" lang="en-US" sz="1000" spc="-1" strike="noStrike">
                <a:solidFill>
                  <a:srgbClr val="ffffff"/>
                </a:solidFill>
                <a:latin typeface="Calibri"/>
              </a:rPr>
              <a:t> </a:t>
            </a:r>
            <a:endParaRPr b="0" lang="en-US" sz="1000" spc="-1" strike="noStrike">
              <a:latin typeface="Times New Roman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sldNum" idx="2"/>
          </p:nvPr>
        </p:nvSpPr>
        <p:spPr>
          <a:xfrm>
            <a:off x="11098440" y="6451200"/>
            <a:ext cx="203760" cy="151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3816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38160">
              <a:lnSpc>
                <a:spcPts val="1046"/>
              </a:lnSpc>
              <a:buNone/>
            </a:pPr>
            <a:fld id="{E525E2D0-F428-4022-A39B-F27A27EA9531}" type="slidenum">
              <a:rPr b="0" lang="en-US" sz="1000" spc="-7" strike="noStrike">
                <a:solidFill>
                  <a:srgbClr val="ffffff"/>
                </a:solidFill>
                <a:latin typeface="Calibri"/>
              </a:rPr>
              <a:t>16</a:t>
            </a:fld>
            <a:endParaRPr b="0" lang="en-US" sz="1000" spc="-1" strike="noStrike"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3"/>
          </p:nvPr>
        </p:nvSpPr>
        <p:spPr>
          <a:xfrm>
            <a:off x="5492520" y="6451560"/>
            <a:ext cx="1122480" cy="151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>
              <a:defRPr b="0" lang="en-US" sz="1400" spc="-1" strike="noStrike">
                <a:latin typeface="Times New Roman"/>
              </a:defRPr>
            </a:lvl1pPr>
          </a:lstStyle>
          <a:p>
            <a:r>
              <a:rPr b="0" lang="en-US" sz="1400" spc="-1" strike="noStrike">
                <a:latin typeface="Times New Roman"/>
              </a:rPr>
              <a:t> 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US" sz="4400" spc="-1" strike="noStrike">
                <a:latin typeface="Arial"/>
              </a:rPr>
              <a:t>Click to edit the title text format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latin typeface="Arial"/>
              </a:rPr>
              <a:t>Click to edit the outline text format</a:t>
            </a:r>
            <a:endParaRPr b="0" lang="en-US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latin typeface="Arial"/>
              </a:rPr>
              <a:t>Second Outline Level</a:t>
            </a:r>
            <a:endParaRPr b="0" lang="en-US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latin typeface="Arial"/>
              </a:rPr>
              <a:t>Third Outline Level</a:t>
            </a:r>
            <a:endParaRPr b="0" lang="en-US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latin typeface="Arial"/>
              </a:rPr>
              <a:t>Fourth Outline Level</a:t>
            </a:r>
            <a:endParaRPr b="0" lang="en-US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Fifth Outline Level</a:t>
            </a:r>
            <a:endParaRPr b="0" lang="en-US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Sixth Outline Level</a:t>
            </a:r>
            <a:endParaRPr b="0" lang="en-US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Seventh Outline Level</a:t>
            </a:r>
            <a:endParaRPr b="0" lang="en-US" sz="20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ftr" idx="4"/>
          </p:nvPr>
        </p:nvSpPr>
        <p:spPr>
          <a:xfrm>
            <a:off x="916920" y="6451560"/>
            <a:ext cx="1022760" cy="151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12600">
              <a:lnSpc>
                <a:spcPts val="1046"/>
              </a:lnSpc>
              <a:buNone/>
              <a:defRPr b="0" lang="en-US" sz="1000" spc="-1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12600">
              <a:lnSpc>
                <a:spcPts val="1046"/>
              </a:lnSpc>
              <a:buNone/>
            </a:pPr>
            <a:r>
              <a:rPr b="0" lang="en-US" sz="1000" spc="-1" strike="noStrike">
                <a:solidFill>
                  <a:srgbClr val="ffffff"/>
                </a:solidFill>
                <a:latin typeface="Calibri"/>
              </a:rPr>
              <a:t>&lt;footer&gt;</a:t>
            </a:r>
            <a:endParaRPr b="0" lang="en-US" sz="1000" spc="-1" strike="noStrike">
              <a:latin typeface="Times New Roman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sldNum" idx="5"/>
          </p:nvPr>
        </p:nvSpPr>
        <p:spPr>
          <a:xfrm>
            <a:off x="11098440" y="6451200"/>
            <a:ext cx="203760" cy="151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3816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38160">
              <a:lnSpc>
                <a:spcPts val="1046"/>
              </a:lnSpc>
              <a:buNone/>
            </a:pPr>
            <a:fld id="{A891BD5F-730E-4BF2-9CAD-470ECD09ECA3}" type="slidenum">
              <a:rPr b="0" lang="en-US" sz="1000" spc="-7" strike="noStrike">
                <a:solidFill>
                  <a:srgbClr val="ffffff"/>
                </a:solidFill>
                <a:latin typeface="Calibri"/>
              </a:rPr>
              <a:t>&lt;number&gt;</a:t>
            </a:fld>
            <a:endParaRPr b="0" lang="en-US" sz="1000" spc="-1" strike="noStrike">
              <a:latin typeface="Times New Roman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dt" idx="6"/>
          </p:nvPr>
        </p:nvSpPr>
        <p:spPr>
          <a:xfrm>
            <a:off x="5492520" y="6451560"/>
            <a:ext cx="1122480" cy="151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>
              <a:defRPr b="0" lang="en-US" sz="1400" spc="-1" strike="noStrike">
                <a:latin typeface="Times New Roman"/>
              </a:defRPr>
            </a:lvl1pPr>
          </a:lstStyle>
          <a:p>
            <a:r>
              <a:rPr b="0" lang="en-US" sz="1400" spc="-1" strike="noStrike">
                <a:latin typeface="Times New Roman"/>
              </a:rPr>
              <a:t>&lt;date/time&gt;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44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US" sz="4400" spc="-1" strike="noStrike">
                <a:latin typeface="Arial"/>
              </a:rPr>
              <a:t>Click to edit the title text format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45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latin typeface="Arial"/>
              </a:rPr>
              <a:t>Click to edit the outline text format</a:t>
            </a:r>
            <a:endParaRPr b="0" lang="en-US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latin typeface="Arial"/>
              </a:rPr>
              <a:t>Second Outline Level</a:t>
            </a:r>
            <a:endParaRPr b="0" lang="en-US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latin typeface="Arial"/>
              </a:rPr>
              <a:t>Third Outline Level</a:t>
            </a:r>
            <a:endParaRPr b="0" lang="en-US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latin typeface="Arial"/>
              </a:rPr>
              <a:t>Fourth Outline Level</a:t>
            </a:r>
            <a:endParaRPr b="0" lang="en-US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Fifth Outline Level</a:t>
            </a:r>
            <a:endParaRPr b="0" lang="en-US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Sixth Outline Level</a:t>
            </a:r>
            <a:endParaRPr b="0" lang="en-US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Seventh Outline Level</a:t>
            </a:r>
            <a:endParaRPr b="0" lang="en-US" sz="20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image" Target="../media/image3.jpeg"/><Relationship Id="rId4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4.jpeg"/><Relationship Id="rId2" Type="http://schemas.openxmlformats.org/officeDocument/2006/relationships/slideLayout" Target="../slideLayouts/slideLayout13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5.jpeg"/><Relationship Id="rId2" Type="http://schemas.openxmlformats.org/officeDocument/2006/relationships/slideLayout" Target="../slideLayouts/slideLayout13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2" name="object 3"/>
          <p:cNvGrpSpPr/>
          <p:nvPr/>
        </p:nvGrpSpPr>
        <p:grpSpPr>
          <a:xfrm>
            <a:off x="2666880" y="3080160"/>
            <a:ext cx="6905880" cy="848160"/>
            <a:chOff x="2666880" y="3080160"/>
            <a:chExt cx="6905880" cy="848160"/>
          </a:xfrm>
        </p:grpSpPr>
        <p:pic>
          <p:nvPicPr>
            <p:cNvPr id="83" name="object 4" descr=""/>
            <p:cNvPicPr/>
            <p:nvPr/>
          </p:nvPicPr>
          <p:blipFill>
            <a:blip r:embed="rId1"/>
            <a:stretch/>
          </p:blipFill>
          <p:spPr>
            <a:xfrm>
              <a:off x="2754000" y="3159000"/>
              <a:ext cx="6733800" cy="598320"/>
            </a:xfrm>
            <a:prstGeom prst="rect">
              <a:avLst/>
            </a:prstGeom>
            <a:ln w="0">
              <a:noFill/>
            </a:ln>
          </p:spPr>
        </p:pic>
        <p:pic>
          <p:nvPicPr>
            <p:cNvPr id="84" name="object 5" descr=""/>
            <p:cNvPicPr/>
            <p:nvPr/>
          </p:nvPicPr>
          <p:blipFill>
            <a:blip r:embed="rId2"/>
            <a:stretch/>
          </p:blipFill>
          <p:spPr>
            <a:xfrm>
              <a:off x="2666880" y="3080160"/>
              <a:ext cx="6905880" cy="848160"/>
            </a:xfrm>
            <a:prstGeom prst="rect">
              <a:avLst/>
            </a:prstGeom>
            <a:ln w="0">
              <a:noFill/>
            </a:ln>
          </p:spPr>
        </p:pic>
      </p:grpSp>
      <p:sp>
        <p:nvSpPr>
          <p:cNvPr id="85" name="PlaceHolder 1"/>
          <p:cNvSpPr>
            <a:spLocks noGrp="1"/>
          </p:cNvSpPr>
          <p:nvPr>
            <p:ph type="title"/>
          </p:nvPr>
        </p:nvSpPr>
        <p:spPr>
          <a:xfrm>
            <a:off x="2770560" y="3166920"/>
            <a:ext cx="6650280" cy="1168200"/>
          </a:xfrm>
          <a:prstGeom prst="rect">
            <a:avLst/>
          </a:prstGeom>
          <a:solidFill>
            <a:srgbClr val="e1221a"/>
          </a:solidFill>
          <a:ln w="0">
            <a:noFill/>
          </a:ln>
        </p:spPr>
        <p:txBody>
          <a:bodyPr lIns="0" rIns="0" tIns="23400" bIns="0" anchor="t">
            <a:noAutofit/>
          </a:bodyPr>
          <a:p>
            <a:pPr marL="135720">
              <a:lnSpc>
                <a:spcPct val="100000"/>
              </a:lnSpc>
              <a:spcBef>
                <a:spcPts val="184"/>
              </a:spcBef>
              <a:buNone/>
            </a:pPr>
            <a:r>
              <a:rPr b="0" lang="en-US" sz="2800" spc="-12" strike="noStrike">
                <a:solidFill>
                  <a:srgbClr val="ffffff"/>
                </a:solidFill>
                <a:latin typeface="Calibri"/>
              </a:rPr>
              <a:t>11-</a:t>
            </a:r>
            <a:r>
              <a:rPr b="0" lang="en-US" sz="2800" spc="15" strike="noStrike">
                <a:solidFill>
                  <a:srgbClr val="ffffff"/>
                </a:solidFill>
                <a:latin typeface="Calibri"/>
              </a:rPr>
              <a:t> </a:t>
            </a:r>
            <a:r>
              <a:rPr b="0" lang="en-US" sz="2800" spc="-12" strike="noStrike">
                <a:solidFill>
                  <a:srgbClr val="ffffff"/>
                </a:solidFill>
                <a:latin typeface="Calibri"/>
              </a:rPr>
              <a:t>Imple</a:t>
            </a:r>
            <a:r>
              <a:rPr b="0" lang="en-US" sz="2800" spc="-12" strike="noStrike">
                <a:solidFill>
                  <a:srgbClr val="ffffff"/>
                </a:solidFill>
                <a:latin typeface="Calibri"/>
              </a:rPr>
              <a:t>ment</a:t>
            </a:r>
            <a:r>
              <a:rPr b="0" lang="en-US" sz="2800" spc="-12" strike="noStrike">
                <a:solidFill>
                  <a:srgbClr val="ffffff"/>
                </a:solidFill>
                <a:latin typeface="Calibri"/>
              </a:rPr>
              <a:t>ing</a:t>
            </a:r>
            <a:r>
              <a:rPr b="0" lang="en-US" sz="2800" spc="21" strike="noStrike">
                <a:solidFill>
                  <a:srgbClr val="ffffff"/>
                </a:solidFill>
                <a:latin typeface="Calibri"/>
              </a:rPr>
              <a:t> </a:t>
            </a:r>
            <a:r>
              <a:rPr b="0" lang="en-US" sz="2800" spc="-15" strike="noStrike">
                <a:solidFill>
                  <a:srgbClr val="ffffff"/>
                </a:solidFill>
                <a:latin typeface="Calibri"/>
              </a:rPr>
              <a:t>Secur</a:t>
            </a:r>
            <a:r>
              <a:rPr b="0" lang="en-US" sz="2800" spc="-15" strike="noStrike">
                <a:solidFill>
                  <a:srgbClr val="ffffff"/>
                </a:solidFill>
                <a:latin typeface="Calibri"/>
              </a:rPr>
              <a:t>e</a:t>
            </a:r>
            <a:r>
              <a:rPr b="0" lang="en-US" sz="2800" spc="15" strike="noStrike">
                <a:solidFill>
                  <a:srgbClr val="ffffff"/>
                </a:solidFill>
                <a:latin typeface="Calibri"/>
              </a:rPr>
              <a:t> </a:t>
            </a:r>
            <a:r>
              <a:rPr b="0" lang="en-US" sz="2800" spc="-12" strike="noStrike">
                <a:solidFill>
                  <a:srgbClr val="ffffff"/>
                </a:solidFill>
                <a:latin typeface="Calibri"/>
              </a:rPr>
              <a:t>Netw</a:t>
            </a:r>
            <a:r>
              <a:rPr b="0" lang="en-US" sz="2800" spc="-12" strike="noStrike">
                <a:solidFill>
                  <a:srgbClr val="ffffff"/>
                </a:solidFill>
                <a:latin typeface="Calibri"/>
              </a:rPr>
              <a:t>ork</a:t>
            </a:r>
            <a:r>
              <a:rPr b="0" lang="en-US" sz="2800" spc="1" strike="noStrike">
                <a:solidFill>
                  <a:srgbClr val="ffffff"/>
                </a:solidFill>
                <a:latin typeface="Calibri"/>
              </a:rPr>
              <a:t> </a:t>
            </a:r>
            <a:r>
              <a:rPr b="0" lang="en-US" sz="2800" spc="-21" strike="noStrike">
                <a:solidFill>
                  <a:srgbClr val="ffffff"/>
                </a:solidFill>
                <a:latin typeface="Calibri"/>
              </a:rPr>
              <a:t>Proto</a:t>
            </a:r>
            <a:r>
              <a:rPr b="0" lang="en-US" sz="2800" spc="-21" strike="noStrike">
                <a:solidFill>
                  <a:srgbClr val="ffffff"/>
                </a:solidFill>
                <a:latin typeface="Calibri"/>
              </a:rPr>
              <a:t>cols</a:t>
            </a:r>
            <a:endParaRPr b="0" lang="en-US" sz="2800" spc="-1" strike="noStrike">
              <a:latin typeface="Arial"/>
            </a:endParaRPr>
          </a:p>
        </p:txBody>
      </p:sp>
      <p:pic>
        <p:nvPicPr>
          <p:cNvPr id="86" name="object 7" descr=""/>
          <p:cNvPicPr/>
          <p:nvPr/>
        </p:nvPicPr>
        <p:blipFill>
          <a:blip r:embed="rId3"/>
          <a:stretch/>
        </p:blipFill>
        <p:spPr>
          <a:xfrm>
            <a:off x="5041440" y="339480"/>
            <a:ext cx="2101320" cy="1930320"/>
          </a:xfrm>
          <a:prstGeom prst="rect">
            <a:avLst/>
          </a:prstGeom>
          <a:ln w="0">
            <a:noFill/>
          </a:ln>
        </p:spPr>
      </p:pic>
      <p:sp>
        <p:nvSpPr>
          <p:cNvPr id="87" name="object 1"/>
          <p:cNvSpPr/>
          <p:nvPr/>
        </p:nvSpPr>
        <p:spPr>
          <a:xfrm>
            <a:off x="6172200" y="5726880"/>
            <a:ext cx="5881320" cy="573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38160" indent="561960">
              <a:lnSpc>
                <a:spcPct val="100000"/>
              </a:lnSpc>
              <a:spcBef>
                <a:spcPts val="99"/>
              </a:spcBef>
              <a:buNone/>
              <a:tabLst>
                <a:tab algn="l" pos="0"/>
              </a:tabLst>
            </a:pPr>
            <a:r>
              <a:rPr b="1" lang="en-US" sz="1800" spc="-7" strike="noStrike">
                <a:solidFill>
                  <a:srgbClr val="001f5f"/>
                </a:solidFill>
                <a:latin typeface="Calibri"/>
                <a:ea typeface="DejaVu Sans"/>
              </a:rPr>
              <a:t>Ehab Fahmi </a:t>
            </a:r>
            <a:r>
              <a:rPr b="1" lang="en-US" sz="1800" spc="-1" strike="noStrike">
                <a:solidFill>
                  <a:srgbClr val="001f5f"/>
                </a:solidFill>
                <a:latin typeface="Calibri"/>
                <a:ea typeface="DejaVu Sans"/>
              </a:rPr>
              <a:t> </a:t>
            </a:r>
            <a:endParaRPr b="0" lang="en-US" sz="1800" spc="-1" strike="noStrike">
              <a:latin typeface="Arial"/>
            </a:endParaRPr>
          </a:p>
          <a:p>
            <a:pPr marL="38160" indent="561960">
              <a:lnSpc>
                <a:spcPct val="100000"/>
              </a:lnSpc>
              <a:spcBef>
                <a:spcPts val="99"/>
              </a:spcBef>
              <a:buNone/>
              <a:tabLst>
                <a:tab algn="l" pos="0"/>
              </a:tabLst>
            </a:pPr>
            <a:r>
              <a:rPr b="0" lang="en-US" sz="1800" spc="-7" strike="noStrike">
                <a:solidFill>
                  <a:srgbClr val="000000"/>
                </a:solidFill>
                <a:latin typeface="Calibri"/>
                <a:ea typeface="DejaVu Sans"/>
              </a:rPr>
              <a:t>Senior Cyber Security Consultant - </a:t>
            </a:r>
            <a:r>
              <a:rPr b="0" lang="en-US" sz="18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1800" spc="-12" strike="noStrike">
                <a:solidFill>
                  <a:srgbClr val="000000"/>
                </a:solidFill>
                <a:latin typeface="Calibri"/>
                <a:ea typeface="DejaVu Sans"/>
              </a:rPr>
              <a:t>Instructor </a:t>
            </a:r>
            <a:endParaRPr b="0" lang="en-US" sz="1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PlaceHolder 1"/>
          <p:cNvSpPr>
            <a:spLocks noGrp="1"/>
          </p:cNvSpPr>
          <p:nvPr>
            <p:ph type="title"/>
          </p:nvPr>
        </p:nvSpPr>
        <p:spPr>
          <a:xfrm>
            <a:off x="916920" y="684720"/>
            <a:ext cx="1534680" cy="1157400"/>
          </a:xfrm>
          <a:prstGeom prst="rect">
            <a:avLst/>
          </a:prstGeom>
          <a:noFill/>
          <a:ln w="0">
            <a:noFill/>
          </a:ln>
        </p:spPr>
        <p:txBody>
          <a:bodyPr lIns="0" rIns="0" tIns="12600" bIns="0" anchor="t">
            <a:noAutofit/>
          </a:bodyPr>
          <a:p>
            <a:pPr marL="12600">
              <a:lnSpc>
                <a:spcPct val="100000"/>
              </a:lnSpc>
              <a:spcBef>
                <a:spcPts val="99"/>
              </a:spcBef>
              <a:buNone/>
            </a:pPr>
            <a:r>
              <a:rPr b="0" lang="en-US" sz="3600" spc="-26" strike="noStrike">
                <a:solidFill>
                  <a:srgbClr val="c00000"/>
                </a:solidFill>
                <a:latin typeface="Calibri Light"/>
              </a:rPr>
              <a:t>Outlines</a:t>
            </a:r>
            <a:endParaRPr b="0" lang="en-US" sz="3600" spc="-1" strike="noStrike">
              <a:latin typeface="Arial"/>
            </a:endParaRPr>
          </a:p>
        </p:txBody>
      </p:sp>
      <p:sp>
        <p:nvSpPr>
          <p:cNvPr id="89" name="object 3"/>
          <p:cNvSpPr/>
          <p:nvPr/>
        </p:nvSpPr>
        <p:spPr>
          <a:xfrm>
            <a:off x="916920" y="1715040"/>
            <a:ext cx="8455320" cy="164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240" bIns="0" anchor="t">
            <a:spAutoFit/>
          </a:bodyPr>
          <a:p>
            <a:pPr marL="12600">
              <a:lnSpc>
                <a:spcPct val="127000"/>
              </a:lnSpc>
              <a:spcBef>
                <a:spcPts val="96"/>
              </a:spcBef>
              <a:buNone/>
            </a:pPr>
            <a:r>
              <a:rPr b="0" lang="en-US" sz="2200" spc="-7" strike="noStrike">
                <a:solidFill>
                  <a:srgbClr val="ba2709"/>
                </a:solidFill>
                <a:latin typeface="Calibri"/>
                <a:ea typeface="DejaVu Sans"/>
              </a:rPr>
              <a:t>11.1-</a:t>
            </a:r>
            <a:r>
              <a:rPr b="0" lang="en-US" sz="2200" spc="9" strike="noStrike">
                <a:solidFill>
                  <a:srgbClr val="ba2709"/>
                </a:solidFill>
                <a:latin typeface="Calibri"/>
                <a:ea typeface="DejaVu Sans"/>
              </a:rPr>
              <a:t> </a:t>
            </a:r>
            <a:r>
              <a:rPr b="0" lang="en-US" sz="2200" spc="-12" strike="noStrike">
                <a:solidFill>
                  <a:srgbClr val="000000"/>
                </a:solidFill>
                <a:latin typeface="Calibri"/>
                <a:ea typeface="DejaVu Sans"/>
              </a:rPr>
              <a:t>Implement</a:t>
            </a:r>
            <a:r>
              <a:rPr b="0" lang="en-US" sz="2200" spc="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5" strike="noStrike">
                <a:solidFill>
                  <a:srgbClr val="000000"/>
                </a:solidFill>
                <a:latin typeface="Calibri"/>
                <a:ea typeface="DejaVu Sans"/>
              </a:rPr>
              <a:t>Secure</a:t>
            </a:r>
            <a:r>
              <a:rPr b="0" lang="en-US" sz="2200" spc="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2" strike="noStrike">
                <a:solidFill>
                  <a:srgbClr val="000000"/>
                </a:solidFill>
                <a:latin typeface="Calibri"/>
                <a:ea typeface="DejaVu Sans"/>
              </a:rPr>
              <a:t>Network</a:t>
            </a:r>
            <a:r>
              <a:rPr b="0" lang="en-US" sz="2200" spc="9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5" strike="noStrike">
                <a:solidFill>
                  <a:srgbClr val="000000"/>
                </a:solidFill>
                <a:latin typeface="Calibri"/>
                <a:ea typeface="DejaVu Sans"/>
              </a:rPr>
              <a:t>Operations </a:t>
            </a:r>
            <a:r>
              <a:rPr b="0" lang="en-US" sz="22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endParaRPr b="0" lang="en-US" sz="2200" spc="-1" strike="noStrike">
              <a:latin typeface="Arial"/>
            </a:endParaRPr>
          </a:p>
          <a:p>
            <a:pPr marL="12600">
              <a:lnSpc>
                <a:spcPct val="127000"/>
              </a:lnSpc>
              <a:spcBef>
                <a:spcPts val="96"/>
              </a:spcBef>
              <a:buNone/>
            </a:pPr>
            <a:r>
              <a:rPr b="0" lang="en-US" sz="2200" spc="-7" strike="noStrike">
                <a:solidFill>
                  <a:srgbClr val="ba2709"/>
                </a:solidFill>
                <a:latin typeface="Calibri"/>
                <a:ea typeface="DejaVu Sans"/>
              </a:rPr>
              <a:t>11.2-</a:t>
            </a:r>
            <a:r>
              <a:rPr b="0" lang="en-US" sz="2200" spc="-12" strike="noStrike">
                <a:solidFill>
                  <a:srgbClr val="ba2709"/>
                </a:solidFill>
                <a:latin typeface="Calibri"/>
                <a:ea typeface="DejaVu Sans"/>
              </a:rPr>
              <a:t> </a:t>
            </a:r>
            <a:r>
              <a:rPr b="0" lang="en-US" sz="2200" spc="-12" strike="noStrike">
                <a:solidFill>
                  <a:srgbClr val="000000"/>
                </a:solidFill>
                <a:latin typeface="Calibri"/>
                <a:ea typeface="DejaVu Sans"/>
              </a:rPr>
              <a:t>Implement</a:t>
            </a:r>
            <a:r>
              <a:rPr b="0" lang="en-US" sz="2200" spc="3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5" strike="noStrike">
                <a:solidFill>
                  <a:srgbClr val="000000"/>
                </a:solidFill>
                <a:latin typeface="Calibri"/>
                <a:ea typeface="DejaVu Sans"/>
              </a:rPr>
              <a:t>Secure</a:t>
            </a:r>
            <a:r>
              <a:rPr b="0" lang="en-US" sz="22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2" strike="noStrike">
                <a:solidFill>
                  <a:srgbClr val="000000"/>
                </a:solidFill>
                <a:latin typeface="Calibri"/>
                <a:ea typeface="DejaVu Sans"/>
              </a:rPr>
              <a:t>Application</a:t>
            </a:r>
            <a:r>
              <a:rPr b="0" lang="en-US" sz="22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5" strike="noStrike">
                <a:solidFill>
                  <a:srgbClr val="000000"/>
                </a:solidFill>
                <a:latin typeface="Calibri"/>
                <a:ea typeface="DejaVu Sans"/>
              </a:rPr>
              <a:t>Protocols </a:t>
            </a:r>
            <a:r>
              <a:rPr b="0" lang="en-US" sz="22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endParaRPr b="0" lang="en-US" sz="2200" spc="-1" strike="noStrike">
              <a:latin typeface="Arial"/>
            </a:endParaRPr>
          </a:p>
          <a:p>
            <a:pPr marL="12600">
              <a:lnSpc>
                <a:spcPct val="127000"/>
              </a:lnSpc>
              <a:spcBef>
                <a:spcPts val="96"/>
              </a:spcBef>
              <a:buNone/>
            </a:pPr>
            <a:r>
              <a:rPr b="0" lang="en-US" sz="2200" spc="-7" strike="noStrike">
                <a:solidFill>
                  <a:srgbClr val="c00000"/>
                </a:solidFill>
                <a:latin typeface="Calibri"/>
                <a:ea typeface="DejaVu Sans"/>
              </a:rPr>
              <a:t>11.3- </a:t>
            </a:r>
            <a:r>
              <a:rPr b="0" lang="en-US" sz="2200" spc="-12" strike="noStrike">
                <a:solidFill>
                  <a:srgbClr val="000000"/>
                </a:solidFill>
                <a:latin typeface="Calibri"/>
                <a:ea typeface="DejaVu Sans"/>
              </a:rPr>
              <a:t>Implement</a:t>
            </a:r>
            <a:r>
              <a:rPr b="0" lang="en-US" sz="2200" spc="3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5" strike="noStrike">
                <a:solidFill>
                  <a:srgbClr val="000000"/>
                </a:solidFill>
                <a:latin typeface="Calibri"/>
                <a:ea typeface="DejaVu Sans"/>
              </a:rPr>
              <a:t>Secure</a:t>
            </a:r>
            <a:r>
              <a:rPr b="0" lang="en-US" sz="22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5" strike="noStrike">
                <a:solidFill>
                  <a:srgbClr val="000000"/>
                </a:solidFill>
                <a:latin typeface="Calibri"/>
                <a:ea typeface="DejaVu Sans"/>
              </a:rPr>
              <a:t>Remote</a:t>
            </a:r>
            <a:r>
              <a:rPr b="0" lang="en-US" sz="2200" spc="46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Access</a:t>
            </a:r>
            <a:r>
              <a:rPr b="0" lang="en-US" sz="2200" spc="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5" strike="noStrike">
                <a:solidFill>
                  <a:srgbClr val="000000"/>
                </a:solidFill>
                <a:latin typeface="Calibri"/>
                <a:ea typeface="DejaVu Sans"/>
              </a:rPr>
              <a:t>Protocols</a:t>
            </a:r>
            <a:endParaRPr b="0" lang="en-US" sz="2200" spc="-1" strike="noStrike">
              <a:latin typeface="Arial"/>
            </a:endParaRPr>
          </a:p>
          <a:p>
            <a:pPr marL="12600">
              <a:lnSpc>
                <a:spcPct val="100000"/>
              </a:lnSpc>
              <a:buNone/>
            </a:pPr>
            <a:endParaRPr b="0" lang="en-US" sz="2200" spc="-1" strike="noStrike">
              <a:latin typeface="Arial"/>
            </a:endParaRPr>
          </a:p>
        </p:txBody>
      </p:sp>
      <p:sp>
        <p:nvSpPr>
          <p:cNvPr id="90" name="object 4"/>
          <p:cNvSpPr/>
          <p:nvPr/>
        </p:nvSpPr>
        <p:spPr>
          <a:xfrm>
            <a:off x="838080" y="6400800"/>
            <a:ext cx="10514880" cy="227880"/>
          </a:xfrm>
          <a:custGeom>
            <a:avLst/>
            <a:gdLst/>
            <a:ahLst/>
            <a:rect l="l" t="t" r="r" b="b"/>
            <a:pathLst>
              <a:path w="10515600" h="228600">
                <a:moveTo>
                  <a:pt x="10515600" y="0"/>
                </a:moveTo>
                <a:lnTo>
                  <a:pt x="0" y="0"/>
                </a:lnTo>
                <a:lnTo>
                  <a:pt x="0" y="228600"/>
                </a:lnTo>
                <a:lnTo>
                  <a:pt x="10515600" y="228600"/>
                </a:lnTo>
                <a:lnTo>
                  <a:pt x="10515600" y="0"/>
                </a:lnTo>
                <a:close/>
              </a:path>
            </a:pathLst>
          </a:custGeom>
          <a:solidFill>
            <a:srgbClr val="c00000">
              <a:alpha val="5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91" name="PlaceHolder 2"/>
          <p:cNvSpPr>
            <a:spLocks noGrp="1"/>
          </p:cNvSpPr>
          <p:nvPr>
            <p:ph type="ftr" idx="7"/>
          </p:nvPr>
        </p:nvSpPr>
        <p:spPr>
          <a:xfrm>
            <a:off x="916920" y="6451560"/>
            <a:ext cx="102276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1260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12600">
              <a:lnSpc>
                <a:spcPts val="1046"/>
              </a:lnSpc>
              <a:buNone/>
            </a:pP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Security+</a:t>
            </a:r>
            <a:r>
              <a:rPr b="0" lang="en-US" sz="1000" spc="-46" strike="noStrike">
                <a:solidFill>
                  <a:srgbClr val="ffffff"/>
                </a:solidFill>
                <a:latin typeface="Calibri"/>
              </a:rPr>
              <a:t> </a:t>
            </a: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(SY0-601)</a:t>
            </a:r>
            <a:endParaRPr b="0" lang="en-US" sz="1000" spc="-1" strike="noStrike">
              <a:latin typeface="Times New Roman"/>
            </a:endParaRPr>
          </a:p>
        </p:txBody>
      </p:sp>
      <p:sp>
        <p:nvSpPr>
          <p:cNvPr id="92" name="PlaceHolder 3"/>
          <p:cNvSpPr>
            <a:spLocks noGrp="1"/>
          </p:cNvSpPr>
          <p:nvPr>
            <p:ph type="dt" idx="8"/>
          </p:nvPr>
        </p:nvSpPr>
        <p:spPr>
          <a:xfrm>
            <a:off x="5492520" y="6451560"/>
            <a:ext cx="11224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1260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12600">
              <a:lnSpc>
                <a:spcPts val="1046"/>
              </a:lnSpc>
              <a:buNone/>
            </a:pP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©</a:t>
            </a:r>
            <a:r>
              <a:rPr b="0" lang="en-US" sz="1000" spc="-41" strike="noStrike">
                <a:solidFill>
                  <a:srgbClr val="ffffff"/>
                </a:solidFill>
                <a:latin typeface="Calibri"/>
              </a:rPr>
              <a:t> </a:t>
            </a: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netriders.academy</a:t>
            </a:r>
            <a:endParaRPr b="0" lang="en-US" sz="1000" spc="-1" strike="noStrike">
              <a:latin typeface="Times New Roman"/>
            </a:endParaRPr>
          </a:p>
        </p:txBody>
      </p:sp>
      <p:sp>
        <p:nvSpPr>
          <p:cNvPr id="93" name="PlaceHolder 4"/>
          <p:cNvSpPr>
            <a:spLocks noGrp="1"/>
          </p:cNvSpPr>
          <p:nvPr>
            <p:ph type="sldNum" idx="9"/>
          </p:nvPr>
        </p:nvSpPr>
        <p:spPr>
          <a:xfrm>
            <a:off x="11098440" y="6451200"/>
            <a:ext cx="20376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3816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38160">
              <a:lnSpc>
                <a:spcPts val="1046"/>
              </a:lnSpc>
              <a:buNone/>
            </a:pPr>
            <a:fld id="{74A4B3BF-096C-475C-9ACD-42B984025B84}" type="slidenum">
              <a:rPr b="0" lang="en-US" sz="1000" spc="-7" strike="noStrike">
                <a:solidFill>
                  <a:srgbClr val="ffffff"/>
                </a:solidFill>
                <a:latin typeface="Calibri"/>
              </a:rPr>
              <a:t>&lt;number&gt;</a:t>
            </a:fld>
            <a:endParaRPr b="0" lang="en-US" sz="1000" spc="-1" strike="noStrike"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916920" y="684720"/>
            <a:ext cx="8227080" cy="915480"/>
          </a:xfrm>
          <a:prstGeom prst="rect">
            <a:avLst/>
          </a:prstGeom>
          <a:noFill/>
          <a:ln w="0">
            <a:noFill/>
          </a:ln>
        </p:spPr>
        <p:txBody>
          <a:bodyPr lIns="0" rIns="0" tIns="12600" bIns="0" anchor="t">
            <a:noAutofit/>
          </a:bodyPr>
          <a:p>
            <a:pPr marL="12600">
              <a:lnSpc>
                <a:spcPct val="100000"/>
              </a:lnSpc>
              <a:spcBef>
                <a:spcPts val="99"/>
              </a:spcBef>
              <a:buNone/>
            </a:pPr>
            <a:r>
              <a:rPr b="0" lang="en-US" sz="3600" spc="-41" strike="noStrike">
                <a:solidFill>
                  <a:srgbClr val="c00000"/>
                </a:solidFill>
                <a:latin typeface="Calibri Light"/>
              </a:rPr>
              <a:t>NETWORK</a:t>
            </a:r>
            <a:r>
              <a:rPr b="0" lang="en-US" sz="3600" spc="-92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35" strike="noStrike">
                <a:solidFill>
                  <a:srgbClr val="c00000"/>
                </a:solidFill>
                <a:latin typeface="Calibri Light"/>
              </a:rPr>
              <a:t>ADDRESS</a:t>
            </a:r>
            <a:r>
              <a:rPr b="0" lang="en-US" sz="3600" spc="-92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72" strike="noStrike">
                <a:solidFill>
                  <a:srgbClr val="c00000"/>
                </a:solidFill>
                <a:latin typeface="Calibri Light"/>
              </a:rPr>
              <a:t>ALLOCATION</a:t>
            </a:r>
            <a:endParaRPr b="0" lang="en-US" sz="3600" spc="-1" strike="noStrike">
              <a:latin typeface="Arial"/>
            </a:endParaRPr>
          </a:p>
        </p:txBody>
      </p:sp>
      <p:sp>
        <p:nvSpPr>
          <p:cNvPr id="95" name="object 3"/>
          <p:cNvSpPr/>
          <p:nvPr/>
        </p:nvSpPr>
        <p:spPr>
          <a:xfrm>
            <a:off x="916920" y="1711080"/>
            <a:ext cx="10236240" cy="398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04040" bIns="0" anchor="t">
            <a:spAutoFit/>
          </a:bodyPr>
          <a:p>
            <a:pPr marL="241200" indent="-229320">
              <a:lnSpc>
                <a:spcPct val="100000"/>
              </a:lnSpc>
              <a:spcBef>
                <a:spcPts val="819"/>
              </a:spcBef>
              <a:buClr>
                <a:srgbClr val="000000"/>
              </a:buClr>
              <a:buFont typeface="Arial MT"/>
              <a:buChar char="•"/>
              <a:tabLst>
                <a:tab algn="l" pos="241920"/>
              </a:tabLst>
            </a:pP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Most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networks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use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mixture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of </a:t>
            </a:r>
            <a:r>
              <a:rPr b="0" lang="en-US" sz="2400" spc="-15" strike="noStrike" u="heavy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Calibri"/>
                <a:ea typeface="DejaVu Sans"/>
              </a:rPr>
              <a:t>static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and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 u="heavy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Calibri"/>
                <a:ea typeface="DejaVu Sans"/>
              </a:rPr>
              <a:t>dynamic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address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allocation.</a:t>
            </a:r>
            <a:endParaRPr b="0" lang="en-US" sz="2400" spc="-1" strike="noStrike">
              <a:latin typeface="Arial"/>
            </a:endParaRPr>
          </a:p>
          <a:p>
            <a:pPr marL="241200" indent="-229320">
              <a:lnSpc>
                <a:spcPts val="2591"/>
              </a:lnSpc>
              <a:spcBef>
                <a:spcPts val="1046"/>
              </a:spcBef>
              <a:buClr>
                <a:srgbClr val="000000"/>
              </a:buClr>
              <a:buFont typeface="Arial MT"/>
              <a:buChar char="•"/>
              <a:tabLst>
                <a:tab algn="l" pos="241920"/>
              </a:tabLst>
            </a:pP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Interface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 addresses</a:t>
            </a:r>
            <a:r>
              <a:rPr b="0" lang="en-US" sz="24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for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routers,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firewalls,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and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some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types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of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servers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are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best </a:t>
            </a:r>
            <a:r>
              <a:rPr b="0" lang="en-US" sz="2400" spc="-52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assigned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and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managed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21" strike="noStrike" u="heavy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Calibri"/>
                <a:ea typeface="DejaVu Sans"/>
              </a:rPr>
              <a:t>manually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.</a:t>
            </a:r>
            <a:endParaRPr b="0" lang="en-US" sz="2400" spc="-1" strike="noStrike">
              <a:latin typeface="Arial"/>
            </a:endParaRPr>
          </a:p>
          <a:p>
            <a:pPr marL="241200" indent="-229320">
              <a:lnSpc>
                <a:spcPts val="2591"/>
              </a:lnSpc>
              <a:spcBef>
                <a:spcPts val="1006"/>
              </a:spcBef>
              <a:buClr>
                <a:srgbClr val="000000"/>
              </a:buClr>
              <a:buFont typeface="Arial MT"/>
              <a:buChar char="•"/>
              <a:tabLst>
                <a:tab algn="l" pos="241920"/>
              </a:tabLst>
            </a:pP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Other server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services and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client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workstations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can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be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assigned </a:t>
            </a:r>
            <a:r>
              <a:rPr b="0" lang="en-US" sz="2400" spc="-7" strike="noStrike" u="heavy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Calibri"/>
                <a:ea typeface="DejaVu Sans"/>
              </a:rPr>
              <a:t>dynamic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 IP </a:t>
            </a:r>
            <a:r>
              <a:rPr b="0" lang="en-US" sz="2400" spc="-53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configurations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and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accessed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using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name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resolution.</a:t>
            </a:r>
            <a:endParaRPr b="0" lang="en-US" sz="2400" spc="-1" strike="noStrike">
              <a:latin typeface="Arial"/>
            </a:endParaRPr>
          </a:p>
          <a:p>
            <a:pPr marL="241200" indent="-229320">
              <a:lnSpc>
                <a:spcPts val="2591"/>
              </a:lnSpc>
              <a:spcBef>
                <a:spcPts val="1001"/>
              </a:spcBef>
              <a:buClr>
                <a:srgbClr val="000000"/>
              </a:buClr>
              <a:buFont typeface="Arial MT"/>
              <a:buChar char="•"/>
              <a:tabLst>
                <a:tab algn="l" pos="241920"/>
              </a:tabLst>
            </a:pP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The </a:t>
            </a:r>
            <a:r>
              <a:rPr b="0" lang="en-US" sz="2400" spc="-7" strike="noStrike">
                <a:solidFill>
                  <a:srgbClr val="006fc0"/>
                </a:solidFill>
                <a:latin typeface="Calibri"/>
                <a:ea typeface="DejaVu Sans"/>
              </a:rPr>
              <a:t>Dynamic </a:t>
            </a:r>
            <a:r>
              <a:rPr b="0" lang="en-US" sz="2400" spc="-12" strike="noStrike">
                <a:solidFill>
                  <a:srgbClr val="006fc0"/>
                </a:solidFill>
                <a:latin typeface="Calibri"/>
                <a:ea typeface="DejaVu Sans"/>
              </a:rPr>
              <a:t>Host Configuration </a:t>
            </a:r>
            <a:r>
              <a:rPr b="0" lang="en-US" sz="2400" spc="-15" strike="noStrike">
                <a:solidFill>
                  <a:srgbClr val="006fc0"/>
                </a:solidFill>
                <a:latin typeface="Calibri"/>
                <a:ea typeface="DejaVu Sans"/>
              </a:rPr>
              <a:t>Protocol </a:t>
            </a:r>
            <a:r>
              <a:rPr b="0" lang="en-US" sz="2400" spc="-7" strike="noStrike">
                <a:solidFill>
                  <a:srgbClr val="006fc0"/>
                </a:solidFill>
                <a:latin typeface="Calibri"/>
                <a:ea typeface="DejaVu Sans"/>
              </a:rPr>
              <a:t>(DHCP)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provides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an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automatic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method </a:t>
            </a:r>
            <a:r>
              <a:rPr b="0" lang="en-US" sz="2400" spc="-53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for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network</a:t>
            </a:r>
            <a:r>
              <a:rPr b="0" lang="en-US" sz="2400" spc="-26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address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allocation.</a:t>
            </a:r>
            <a:endParaRPr b="0" lang="en-US" sz="2400" spc="-1" strike="noStrike">
              <a:latin typeface="Arial"/>
            </a:endParaRPr>
          </a:p>
          <a:p>
            <a:pPr marL="241200" indent="-229320">
              <a:lnSpc>
                <a:spcPts val="2591"/>
              </a:lnSpc>
              <a:spcBef>
                <a:spcPts val="1015"/>
              </a:spcBef>
              <a:buClr>
                <a:srgbClr val="000000"/>
              </a:buClr>
              <a:buFont typeface="Arial MT"/>
              <a:buChar char="•"/>
              <a:tabLst>
                <a:tab algn="l" pos="241920"/>
              </a:tabLst>
            </a:pP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The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26" strike="noStrike">
                <a:solidFill>
                  <a:srgbClr val="000000"/>
                </a:solidFill>
                <a:latin typeface="Calibri"/>
                <a:ea typeface="DejaVu Sans"/>
              </a:rPr>
              <a:t>key</a:t>
            </a:r>
            <a:r>
              <a:rPr b="0" lang="en-US" sz="2400" spc="-3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point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about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DHCP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is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that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only one server</a:t>
            </a:r>
            <a:r>
              <a:rPr b="0" lang="en-US" sz="24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should</a:t>
            </a:r>
            <a:r>
              <a:rPr b="0" lang="en-US" sz="24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be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offering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addresses</a:t>
            </a:r>
            <a:r>
              <a:rPr b="0" lang="en-US" sz="24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to </a:t>
            </a:r>
            <a:r>
              <a:rPr b="0" lang="en-US" sz="2400" spc="-53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any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 one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group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of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hosts.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96" name="object 4"/>
          <p:cNvSpPr/>
          <p:nvPr/>
        </p:nvSpPr>
        <p:spPr>
          <a:xfrm>
            <a:off x="838080" y="6400800"/>
            <a:ext cx="10514880" cy="227880"/>
          </a:xfrm>
          <a:custGeom>
            <a:avLst/>
            <a:gdLst/>
            <a:ahLst/>
            <a:rect l="l" t="t" r="r" b="b"/>
            <a:pathLst>
              <a:path w="10515600" h="228600">
                <a:moveTo>
                  <a:pt x="10515600" y="0"/>
                </a:moveTo>
                <a:lnTo>
                  <a:pt x="0" y="0"/>
                </a:lnTo>
                <a:lnTo>
                  <a:pt x="0" y="228600"/>
                </a:lnTo>
                <a:lnTo>
                  <a:pt x="10515600" y="228600"/>
                </a:lnTo>
                <a:lnTo>
                  <a:pt x="10515600" y="0"/>
                </a:lnTo>
                <a:close/>
              </a:path>
            </a:pathLst>
          </a:custGeom>
          <a:solidFill>
            <a:srgbClr val="c00000">
              <a:alpha val="5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97" name="PlaceHolder 2"/>
          <p:cNvSpPr>
            <a:spLocks noGrp="1"/>
          </p:cNvSpPr>
          <p:nvPr>
            <p:ph type="ftr" idx="10"/>
          </p:nvPr>
        </p:nvSpPr>
        <p:spPr>
          <a:xfrm>
            <a:off x="916920" y="6451560"/>
            <a:ext cx="102276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1260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12600">
              <a:lnSpc>
                <a:spcPts val="1046"/>
              </a:lnSpc>
              <a:buNone/>
            </a:pP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Security+</a:t>
            </a:r>
            <a:r>
              <a:rPr b="0" lang="en-US" sz="1000" spc="-46" strike="noStrike">
                <a:solidFill>
                  <a:srgbClr val="ffffff"/>
                </a:solidFill>
                <a:latin typeface="Calibri"/>
              </a:rPr>
              <a:t> </a:t>
            </a: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(SY0-601)</a:t>
            </a:r>
            <a:endParaRPr b="0" lang="en-US" sz="1000" spc="-1" strike="noStrike">
              <a:latin typeface="Times New Roman"/>
            </a:endParaRPr>
          </a:p>
        </p:txBody>
      </p:sp>
      <p:sp>
        <p:nvSpPr>
          <p:cNvPr id="98" name="PlaceHolder 3"/>
          <p:cNvSpPr>
            <a:spLocks noGrp="1"/>
          </p:cNvSpPr>
          <p:nvPr>
            <p:ph type="dt" idx="11"/>
          </p:nvPr>
        </p:nvSpPr>
        <p:spPr>
          <a:xfrm>
            <a:off x="5492520" y="6451560"/>
            <a:ext cx="11224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1260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12600">
              <a:lnSpc>
                <a:spcPts val="1046"/>
              </a:lnSpc>
              <a:buNone/>
            </a:pP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©</a:t>
            </a:r>
            <a:r>
              <a:rPr b="0" lang="en-US" sz="1000" spc="-41" strike="noStrike">
                <a:solidFill>
                  <a:srgbClr val="ffffff"/>
                </a:solidFill>
                <a:latin typeface="Calibri"/>
              </a:rPr>
              <a:t> </a:t>
            </a: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netriders.academy</a:t>
            </a:r>
            <a:endParaRPr b="0" lang="en-US" sz="1000" spc="-1" strike="noStrike">
              <a:latin typeface="Times New Roman"/>
            </a:endParaRPr>
          </a:p>
        </p:txBody>
      </p:sp>
      <p:sp>
        <p:nvSpPr>
          <p:cNvPr id="99" name="PlaceHolder 4"/>
          <p:cNvSpPr>
            <a:spLocks noGrp="1"/>
          </p:cNvSpPr>
          <p:nvPr>
            <p:ph type="sldNum" idx="12"/>
          </p:nvPr>
        </p:nvSpPr>
        <p:spPr>
          <a:xfrm>
            <a:off x="11098440" y="6451200"/>
            <a:ext cx="20376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3816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38160">
              <a:lnSpc>
                <a:spcPts val="1046"/>
              </a:lnSpc>
              <a:buNone/>
            </a:pPr>
            <a:fld id="{105065A0-2CB7-4F6E-8B0A-DC33BE519EF6}" type="slidenum">
              <a:rPr b="0" lang="en-US" sz="1000" spc="-7" strike="noStrike">
                <a:solidFill>
                  <a:srgbClr val="ffffff"/>
                </a:solidFill>
                <a:latin typeface="Calibri"/>
              </a:rPr>
              <a:t>&lt;number&gt;</a:t>
            </a:fld>
            <a:endParaRPr b="0" lang="en-US" sz="1000" spc="-1" strike="noStrike"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916920" y="684720"/>
            <a:ext cx="10513080" cy="915480"/>
          </a:xfrm>
          <a:prstGeom prst="rect">
            <a:avLst/>
          </a:prstGeom>
          <a:noFill/>
          <a:ln w="0">
            <a:noFill/>
          </a:ln>
        </p:spPr>
        <p:txBody>
          <a:bodyPr lIns="0" rIns="0" tIns="12600" bIns="0" anchor="t">
            <a:noAutofit/>
          </a:bodyPr>
          <a:p>
            <a:pPr marL="12600">
              <a:lnSpc>
                <a:spcPct val="100000"/>
              </a:lnSpc>
              <a:spcBef>
                <a:spcPts val="99"/>
              </a:spcBef>
              <a:buNone/>
            </a:pPr>
            <a:r>
              <a:rPr b="0" lang="en-US" sz="3600" spc="-41" strike="noStrike">
                <a:solidFill>
                  <a:srgbClr val="c00000"/>
                </a:solidFill>
                <a:latin typeface="Calibri Light"/>
              </a:rPr>
              <a:t>NETWORK</a:t>
            </a:r>
            <a:r>
              <a:rPr b="0" lang="en-US" sz="3600" spc="-80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35" strike="noStrike">
                <a:solidFill>
                  <a:srgbClr val="c00000"/>
                </a:solidFill>
                <a:latin typeface="Calibri Light"/>
              </a:rPr>
              <a:t>ADDRESS</a:t>
            </a:r>
            <a:r>
              <a:rPr b="0" lang="en-US" sz="3600" spc="-86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72" strike="noStrike">
                <a:solidFill>
                  <a:srgbClr val="c00000"/>
                </a:solidFill>
                <a:latin typeface="Calibri Light"/>
              </a:rPr>
              <a:t>ALLOCATION</a:t>
            </a:r>
            <a:r>
              <a:rPr b="0" lang="en-US" sz="3600" spc="-106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32" strike="noStrike">
                <a:solidFill>
                  <a:srgbClr val="c00000"/>
                </a:solidFill>
                <a:latin typeface="Calibri Light"/>
              </a:rPr>
              <a:t>(cont.)</a:t>
            </a:r>
            <a:endParaRPr b="0" lang="en-US" sz="3600" spc="-1" strike="noStrike">
              <a:latin typeface="Arial"/>
            </a:endParaRPr>
          </a:p>
        </p:txBody>
      </p:sp>
      <p:sp>
        <p:nvSpPr>
          <p:cNvPr id="101" name="object 3"/>
          <p:cNvSpPr/>
          <p:nvPr/>
        </p:nvSpPr>
        <p:spPr>
          <a:xfrm>
            <a:off x="916920" y="1802520"/>
            <a:ext cx="10351800" cy="3284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54000" bIns="0" anchor="t">
            <a:spAutoFit/>
          </a:bodyPr>
          <a:p>
            <a:pPr marL="241200" indent="-229320">
              <a:lnSpc>
                <a:spcPts val="2591"/>
              </a:lnSpc>
              <a:spcBef>
                <a:spcPts val="425"/>
              </a:spcBef>
              <a:buClr>
                <a:srgbClr val="000000"/>
              </a:buClr>
              <a:buFont typeface="Arial MT"/>
              <a:buChar char="•"/>
              <a:tabLst>
                <a:tab algn="l" pos="24192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If a </a:t>
            </a:r>
            <a:r>
              <a:rPr b="1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rogue DHCP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server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is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set up,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it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can perform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DoS (as client machines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will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obtain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an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incorrect </a:t>
            </a:r>
            <a:r>
              <a:rPr b="0" lang="en-US" sz="2400" spc="-35" strike="noStrike">
                <a:solidFill>
                  <a:srgbClr val="000000"/>
                </a:solidFill>
                <a:latin typeface="Calibri"/>
                <a:ea typeface="DejaVu Sans"/>
              </a:rPr>
              <a:t>TCP/IP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configuration)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or be used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to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snoop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network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information.</a:t>
            </a:r>
            <a:endParaRPr b="0" lang="en-US" sz="2400" spc="-1" strike="noStrike">
              <a:latin typeface="Arial"/>
            </a:endParaRPr>
          </a:p>
          <a:p>
            <a:pPr marL="241200" indent="-229320">
              <a:lnSpc>
                <a:spcPts val="2591"/>
              </a:lnSpc>
              <a:spcBef>
                <a:spcPts val="1020"/>
              </a:spcBef>
              <a:buClr>
                <a:srgbClr val="006fc0"/>
              </a:buClr>
              <a:buFont typeface="Arial MT"/>
              <a:buChar char="•"/>
              <a:tabLst>
                <a:tab algn="l" pos="241920"/>
              </a:tabLst>
            </a:pPr>
            <a:r>
              <a:rPr b="0" lang="en-US" sz="2400" spc="-7" strike="noStrike">
                <a:solidFill>
                  <a:srgbClr val="006fc0"/>
                </a:solidFill>
                <a:latin typeface="Calibri"/>
                <a:ea typeface="DejaVu Sans"/>
              </a:rPr>
              <a:t>DHCP </a:t>
            </a:r>
            <a:r>
              <a:rPr b="0" lang="en-US" sz="2400" spc="-12" strike="noStrike">
                <a:solidFill>
                  <a:srgbClr val="006fc0"/>
                </a:solidFill>
                <a:latin typeface="Calibri"/>
                <a:ea typeface="DejaVu Sans"/>
              </a:rPr>
              <a:t>starvation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is a type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of DoS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attack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where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rogue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client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repeatedly requests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 new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IP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addresses using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spoofed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MAC addresses,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with the aim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of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exhausting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the IP </a:t>
            </a:r>
            <a:r>
              <a:rPr b="0" lang="en-US" sz="2400" spc="-53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address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pool.</a:t>
            </a:r>
            <a:endParaRPr b="0" lang="en-US" sz="2400" spc="-1" strike="noStrike">
              <a:latin typeface="Arial"/>
            </a:endParaRPr>
          </a:p>
          <a:p>
            <a:pPr marL="241200" indent="-229320">
              <a:lnSpc>
                <a:spcPts val="2735"/>
              </a:lnSpc>
              <a:spcBef>
                <a:spcPts val="669"/>
              </a:spcBef>
              <a:buClr>
                <a:srgbClr val="000000"/>
              </a:buClr>
              <a:buFont typeface="Arial MT"/>
              <a:buChar char="•"/>
              <a:tabLst>
                <a:tab algn="l" pos="241920"/>
              </a:tabLst>
            </a:pP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This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makes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it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more</a:t>
            </a:r>
            <a:r>
              <a:rPr b="0" lang="en-US" sz="24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likely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that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clients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seeking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an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 address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lease</a:t>
            </a:r>
            <a:r>
              <a:rPr b="0" lang="en-US" sz="24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will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use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the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 rogue</a:t>
            </a:r>
            <a:endParaRPr b="0" lang="en-US" sz="2400" spc="-1" strike="noStrike">
              <a:latin typeface="Arial"/>
            </a:endParaRPr>
          </a:p>
          <a:p>
            <a:pPr marL="241200">
              <a:lnSpc>
                <a:spcPts val="2735"/>
              </a:lnSpc>
              <a:buNone/>
              <a:tabLst>
                <a:tab algn="l" pos="241920"/>
              </a:tabLst>
            </a:pP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DHCP</a:t>
            </a:r>
            <a:r>
              <a:rPr b="0" lang="en-US" sz="2400" spc="-46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41" strike="noStrike">
                <a:solidFill>
                  <a:srgbClr val="000000"/>
                </a:solidFill>
                <a:latin typeface="Calibri"/>
                <a:ea typeface="DejaVu Sans"/>
              </a:rPr>
              <a:t>server.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102" name="object 4"/>
          <p:cNvSpPr/>
          <p:nvPr/>
        </p:nvSpPr>
        <p:spPr>
          <a:xfrm>
            <a:off x="838080" y="6400800"/>
            <a:ext cx="10514880" cy="227880"/>
          </a:xfrm>
          <a:custGeom>
            <a:avLst/>
            <a:gdLst/>
            <a:ahLst/>
            <a:rect l="l" t="t" r="r" b="b"/>
            <a:pathLst>
              <a:path w="10515600" h="228600">
                <a:moveTo>
                  <a:pt x="10515600" y="0"/>
                </a:moveTo>
                <a:lnTo>
                  <a:pt x="0" y="0"/>
                </a:lnTo>
                <a:lnTo>
                  <a:pt x="0" y="228600"/>
                </a:lnTo>
                <a:lnTo>
                  <a:pt x="10515600" y="228600"/>
                </a:lnTo>
                <a:lnTo>
                  <a:pt x="10515600" y="0"/>
                </a:lnTo>
                <a:close/>
              </a:path>
            </a:pathLst>
          </a:custGeom>
          <a:solidFill>
            <a:srgbClr val="c00000">
              <a:alpha val="5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03" name="PlaceHolder 2"/>
          <p:cNvSpPr>
            <a:spLocks noGrp="1"/>
          </p:cNvSpPr>
          <p:nvPr>
            <p:ph type="ftr" idx="13"/>
          </p:nvPr>
        </p:nvSpPr>
        <p:spPr>
          <a:xfrm>
            <a:off x="916920" y="6451560"/>
            <a:ext cx="102276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1260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12600">
              <a:lnSpc>
                <a:spcPts val="1046"/>
              </a:lnSpc>
              <a:buNone/>
            </a:pP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Security+</a:t>
            </a:r>
            <a:r>
              <a:rPr b="0" lang="en-US" sz="1000" spc="-46" strike="noStrike">
                <a:solidFill>
                  <a:srgbClr val="ffffff"/>
                </a:solidFill>
                <a:latin typeface="Calibri"/>
              </a:rPr>
              <a:t> </a:t>
            </a: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(SY0-601)</a:t>
            </a:r>
            <a:endParaRPr b="0" lang="en-US" sz="1000" spc="-1" strike="noStrike">
              <a:latin typeface="Times New Roman"/>
            </a:endParaRPr>
          </a:p>
        </p:txBody>
      </p:sp>
      <p:sp>
        <p:nvSpPr>
          <p:cNvPr id="104" name="PlaceHolder 3"/>
          <p:cNvSpPr>
            <a:spLocks noGrp="1"/>
          </p:cNvSpPr>
          <p:nvPr>
            <p:ph type="dt" idx="14"/>
          </p:nvPr>
        </p:nvSpPr>
        <p:spPr>
          <a:xfrm>
            <a:off x="5492520" y="6451560"/>
            <a:ext cx="11224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1260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12600">
              <a:lnSpc>
                <a:spcPts val="1046"/>
              </a:lnSpc>
              <a:buNone/>
            </a:pP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©</a:t>
            </a:r>
            <a:r>
              <a:rPr b="0" lang="en-US" sz="1000" spc="-41" strike="noStrike">
                <a:solidFill>
                  <a:srgbClr val="ffffff"/>
                </a:solidFill>
                <a:latin typeface="Calibri"/>
              </a:rPr>
              <a:t> </a:t>
            </a: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netriders.acade</a:t>
            </a: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my</a:t>
            </a:r>
            <a:endParaRPr b="0" lang="en-US" sz="1000" spc="-1" strike="noStrike">
              <a:latin typeface="Times New Roman"/>
            </a:endParaRPr>
          </a:p>
        </p:txBody>
      </p:sp>
      <p:sp>
        <p:nvSpPr>
          <p:cNvPr id="105" name="PlaceHolder 4"/>
          <p:cNvSpPr>
            <a:spLocks noGrp="1"/>
          </p:cNvSpPr>
          <p:nvPr>
            <p:ph type="sldNum" idx="15"/>
          </p:nvPr>
        </p:nvSpPr>
        <p:spPr>
          <a:xfrm>
            <a:off x="11098440" y="6451200"/>
            <a:ext cx="20376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3816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38160">
              <a:lnSpc>
                <a:spcPts val="1046"/>
              </a:lnSpc>
              <a:buNone/>
            </a:pPr>
            <a:fld id="{FD9AEF02-06F8-42D2-9EF3-FC0766F48D12}" type="slidenum">
              <a:rPr b="0" lang="en-US" sz="1000" spc="-7" strike="noStrike">
                <a:solidFill>
                  <a:srgbClr val="ffffff"/>
                </a:solidFill>
                <a:latin typeface="Calibri"/>
              </a:rPr>
              <a:t>&lt;number&gt;</a:t>
            </a:fld>
            <a:endParaRPr b="0" lang="en-US" sz="1000" spc="-1" strike="noStrike"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PlaceHolder 1"/>
          <p:cNvSpPr>
            <a:spLocks noGrp="1"/>
          </p:cNvSpPr>
          <p:nvPr>
            <p:ph type="title"/>
          </p:nvPr>
        </p:nvSpPr>
        <p:spPr>
          <a:xfrm>
            <a:off x="916920" y="684720"/>
            <a:ext cx="9369720" cy="686520"/>
          </a:xfrm>
          <a:prstGeom prst="rect">
            <a:avLst/>
          </a:prstGeom>
          <a:noFill/>
          <a:ln w="0">
            <a:noFill/>
          </a:ln>
        </p:spPr>
        <p:txBody>
          <a:bodyPr lIns="0" rIns="0" tIns="12600" bIns="0" anchor="t">
            <a:noAutofit/>
          </a:bodyPr>
          <a:p>
            <a:pPr marL="12600">
              <a:lnSpc>
                <a:spcPct val="100000"/>
              </a:lnSpc>
              <a:spcBef>
                <a:spcPts val="99"/>
              </a:spcBef>
              <a:buNone/>
            </a:pPr>
            <a:r>
              <a:rPr b="0" lang="en-US" sz="3600" spc="-41" strike="noStrike">
                <a:solidFill>
                  <a:srgbClr val="c00000"/>
                </a:solidFill>
                <a:latin typeface="Calibri Light"/>
              </a:rPr>
              <a:t>NETWORK</a:t>
            </a:r>
            <a:r>
              <a:rPr b="0" lang="en-US" sz="3600" spc="-80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35" strike="noStrike">
                <a:solidFill>
                  <a:srgbClr val="c00000"/>
                </a:solidFill>
                <a:latin typeface="Calibri Light"/>
              </a:rPr>
              <a:t>ADDRESS</a:t>
            </a:r>
            <a:r>
              <a:rPr b="0" lang="en-US" sz="3600" spc="-86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72" strike="noStrike">
                <a:solidFill>
                  <a:srgbClr val="c00000"/>
                </a:solidFill>
                <a:latin typeface="Calibri Light"/>
              </a:rPr>
              <a:t>ALLOCATION</a:t>
            </a:r>
            <a:r>
              <a:rPr b="0" lang="en-US" sz="3600" spc="-106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32" strike="noStrike">
                <a:solidFill>
                  <a:srgbClr val="c00000"/>
                </a:solidFill>
                <a:latin typeface="Calibri Light"/>
              </a:rPr>
              <a:t>(cont.)</a:t>
            </a:r>
            <a:endParaRPr b="0" lang="en-US" sz="3600" spc="-1" strike="noStrike">
              <a:latin typeface="Arial"/>
            </a:endParaRPr>
          </a:p>
        </p:txBody>
      </p:sp>
      <p:sp>
        <p:nvSpPr>
          <p:cNvPr id="107" name="object 3"/>
          <p:cNvSpPr/>
          <p:nvPr/>
        </p:nvSpPr>
        <p:spPr>
          <a:xfrm>
            <a:off x="842400" y="1388160"/>
            <a:ext cx="10359000" cy="451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54000" bIns="0" anchor="t">
            <a:spAutoFit/>
          </a:bodyPr>
          <a:p>
            <a:pPr marL="241200" indent="-229320">
              <a:lnSpc>
                <a:spcPts val="2591"/>
              </a:lnSpc>
              <a:spcBef>
                <a:spcPts val="425"/>
              </a:spcBef>
              <a:buClr>
                <a:srgbClr val="000000"/>
              </a:buClr>
              <a:buFont typeface="Arial MT"/>
              <a:buChar char="•"/>
              <a:tabLst>
                <a:tab algn="l" pos="241920"/>
              </a:tabLst>
            </a:pP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Enabling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the </a:t>
            </a:r>
            <a:r>
              <a:rPr b="0" lang="en-US" sz="2400" spc="-7" strike="noStrike">
                <a:solidFill>
                  <a:srgbClr val="006fc0"/>
                </a:solidFill>
                <a:latin typeface="Calibri"/>
                <a:ea typeface="DejaVu Sans"/>
              </a:rPr>
              <a:t>DHCP snooping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port security 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feature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on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switch can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mitigate rogue </a:t>
            </a:r>
            <a:r>
              <a:rPr b="0" lang="en-US" sz="2400" spc="-53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DHCP</a:t>
            </a:r>
            <a:r>
              <a:rPr b="0" lang="en-US" sz="2400" spc="-26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attacks.</a:t>
            </a:r>
            <a:endParaRPr b="0" lang="en-US" sz="2400" spc="-1" strike="noStrike">
              <a:latin typeface="Arial"/>
            </a:endParaRPr>
          </a:p>
          <a:p>
            <a:pPr marL="241200" indent="-229320">
              <a:lnSpc>
                <a:spcPts val="2741"/>
              </a:lnSpc>
              <a:spcBef>
                <a:spcPts val="686"/>
              </a:spcBef>
              <a:buClr>
                <a:srgbClr val="000000"/>
              </a:buClr>
              <a:buFont typeface="Arial MT"/>
              <a:buChar char="•"/>
              <a:tabLst>
                <a:tab algn="l" pos="241920"/>
              </a:tabLst>
            </a:pP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Windows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 DHCP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servers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in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an</a:t>
            </a:r>
            <a:r>
              <a:rPr b="0" lang="en-US" sz="24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AD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environment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automatically</a:t>
            </a:r>
            <a:r>
              <a:rPr b="0" lang="en-US" sz="2400" spc="-3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log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any</a:t>
            </a:r>
            <a:r>
              <a:rPr b="0" lang="en-US" sz="24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traffic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detected</a:t>
            </a:r>
            <a:r>
              <a:rPr b="0" lang="en-US" sz="2400" spc="-26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from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unauthorized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 DHCP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servers.</a:t>
            </a:r>
            <a:endParaRPr b="0" lang="en-US" sz="2400" spc="-1" strike="noStrike">
              <a:latin typeface="Arial"/>
            </a:endParaRPr>
          </a:p>
          <a:p>
            <a:pPr marL="241200" indent="-229320">
              <a:lnSpc>
                <a:spcPts val="2591"/>
              </a:lnSpc>
              <a:spcBef>
                <a:spcPts val="1035"/>
              </a:spcBef>
              <a:buClr>
                <a:srgbClr val="000000"/>
              </a:buClr>
              <a:buFont typeface="Arial MT"/>
              <a:buChar char="•"/>
              <a:tabLst>
                <a:tab algn="l" pos="241920"/>
              </a:tabLst>
            </a:pP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More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26" strike="noStrike">
                <a:solidFill>
                  <a:srgbClr val="000000"/>
                </a:solidFill>
                <a:latin typeface="Calibri"/>
                <a:ea typeface="DejaVu Sans"/>
              </a:rPr>
              <a:t>generally,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administration</a:t>
            </a:r>
            <a:r>
              <a:rPr b="0" lang="en-US" sz="2400" spc="-3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of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the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DHCP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server</a:t>
            </a:r>
            <a:r>
              <a:rPr b="0" lang="en-US" sz="24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itself</a:t>
            </a:r>
            <a:r>
              <a:rPr b="0" lang="en-US" sz="24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must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be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carefully </a:t>
            </a:r>
            <a:r>
              <a:rPr b="0" lang="en-US" sz="2400" spc="-52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controlled</a:t>
            </a:r>
            <a:r>
              <a:rPr b="0" lang="en-US" sz="2400" spc="-26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and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the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settings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checked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 regularly.</a:t>
            </a:r>
            <a:endParaRPr b="0" lang="en-US" sz="2400" spc="-1" strike="noStrike">
              <a:latin typeface="Arial"/>
            </a:endParaRPr>
          </a:p>
          <a:p>
            <a:pPr marL="241200" indent="-229320">
              <a:lnSpc>
                <a:spcPts val="2591"/>
              </a:lnSpc>
              <a:spcBef>
                <a:spcPts val="1001"/>
              </a:spcBef>
              <a:buClr>
                <a:srgbClr val="000000"/>
              </a:buClr>
              <a:buFont typeface="Arial MT"/>
              <a:buChar char="•"/>
              <a:tabLst>
                <a:tab algn="l" pos="24192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If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an 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attacker</a:t>
            </a:r>
            <a:r>
              <a:rPr b="0" lang="en-US" sz="2400" spc="-3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compromises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the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DHCP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35" strike="noStrike">
                <a:solidFill>
                  <a:srgbClr val="000000"/>
                </a:solidFill>
                <a:latin typeface="Calibri"/>
                <a:ea typeface="DejaVu Sans"/>
              </a:rPr>
              <a:t>server,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he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or</a:t>
            </a:r>
            <a:r>
              <a:rPr b="0" lang="en-US" sz="24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she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could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point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network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 clients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to rogue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DNS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servers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and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use that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as a means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to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direct users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to spoofed </a:t>
            </a:r>
            <a:r>
              <a:rPr b="0" lang="en-US" sz="2400" spc="-53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websites.</a:t>
            </a:r>
            <a:endParaRPr b="0" lang="en-US" sz="2400" spc="-1" strike="noStrike">
              <a:latin typeface="Arial"/>
            </a:endParaRPr>
          </a:p>
          <a:p>
            <a:pPr marL="241200" indent="-229320">
              <a:lnSpc>
                <a:spcPts val="2591"/>
              </a:lnSpc>
              <a:spcBef>
                <a:spcPts val="1020"/>
              </a:spcBef>
              <a:buClr>
                <a:srgbClr val="000000"/>
              </a:buClr>
              <a:buFont typeface="Arial MT"/>
              <a:buChar char="•"/>
              <a:tabLst>
                <a:tab algn="l" pos="24192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Another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attack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is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to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redirect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traffic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through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the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attacker's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machine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by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changing </a:t>
            </a:r>
            <a:r>
              <a:rPr b="0" lang="en-US" sz="2400" spc="-53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the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default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46" strike="noStrike">
                <a:solidFill>
                  <a:srgbClr val="000000"/>
                </a:solidFill>
                <a:latin typeface="Calibri"/>
                <a:ea typeface="DejaVu Sans"/>
              </a:rPr>
              <a:t>gateway,</a:t>
            </a:r>
            <a:r>
              <a:rPr b="0" lang="en-US" sz="2400" spc="-26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enabling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the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attacker</a:t>
            </a:r>
            <a:r>
              <a:rPr b="0" lang="en-US" sz="2400" spc="-3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to</a:t>
            </a:r>
            <a:r>
              <a:rPr b="0" lang="en-US" sz="2400" spc="-26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snoop on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all</a:t>
            </a:r>
            <a:r>
              <a:rPr b="0" lang="en-US" sz="24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network</a:t>
            </a:r>
            <a:r>
              <a:rPr b="0" lang="en-US" sz="2400" spc="-26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traffic.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108" name="object 4"/>
          <p:cNvSpPr/>
          <p:nvPr/>
        </p:nvSpPr>
        <p:spPr>
          <a:xfrm>
            <a:off x="838080" y="6400800"/>
            <a:ext cx="10514880" cy="227880"/>
          </a:xfrm>
          <a:custGeom>
            <a:avLst/>
            <a:gdLst/>
            <a:ahLst/>
            <a:rect l="l" t="t" r="r" b="b"/>
            <a:pathLst>
              <a:path w="10515600" h="228600">
                <a:moveTo>
                  <a:pt x="10515600" y="0"/>
                </a:moveTo>
                <a:lnTo>
                  <a:pt x="0" y="0"/>
                </a:lnTo>
                <a:lnTo>
                  <a:pt x="0" y="228600"/>
                </a:lnTo>
                <a:lnTo>
                  <a:pt x="10515600" y="228600"/>
                </a:lnTo>
                <a:lnTo>
                  <a:pt x="10515600" y="0"/>
                </a:lnTo>
                <a:close/>
              </a:path>
            </a:pathLst>
          </a:custGeom>
          <a:solidFill>
            <a:srgbClr val="c00000">
              <a:alpha val="5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09" name="PlaceHolder 2"/>
          <p:cNvSpPr>
            <a:spLocks noGrp="1"/>
          </p:cNvSpPr>
          <p:nvPr>
            <p:ph type="ftr" idx="16"/>
          </p:nvPr>
        </p:nvSpPr>
        <p:spPr>
          <a:xfrm>
            <a:off x="916920" y="6451560"/>
            <a:ext cx="102276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1260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12600">
              <a:lnSpc>
                <a:spcPts val="1046"/>
              </a:lnSpc>
              <a:buNone/>
            </a:pP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Security+</a:t>
            </a:r>
            <a:r>
              <a:rPr b="0" lang="en-US" sz="1000" spc="-46" strike="noStrike">
                <a:solidFill>
                  <a:srgbClr val="ffffff"/>
                </a:solidFill>
                <a:latin typeface="Calibri"/>
              </a:rPr>
              <a:t> </a:t>
            </a: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(SY0-601)</a:t>
            </a:r>
            <a:endParaRPr b="0" lang="en-US" sz="1000" spc="-1" strike="noStrike">
              <a:latin typeface="Times New Roman"/>
            </a:endParaRPr>
          </a:p>
        </p:txBody>
      </p:sp>
      <p:sp>
        <p:nvSpPr>
          <p:cNvPr id="110" name="PlaceHolder 3"/>
          <p:cNvSpPr>
            <a:spLocks noGrp="1"/>
          </p:cNvSpPr>
          <p:nvPr>
            <p:ph type="dt" idx="17"/>
          </p:nvPr>
        </p:nvSpPr>
        <p:spPr>
          <a:xfrm>
            <a:off x="5492520" y="6451560"/>
            <a:ext cx="11224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1260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12600">
              <a:lnSpc>
                <a:spcPts val="1046"/>
              </a:lnSpc>
              <a:buNone/>
            </a:pP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©</a:t>
            </a:r>
            <a:r>
              <a:rPr b="0" lang="en-US" sz="1000" spc="-41" strike="noStrike">
                <a:solidFill>
                  <a:srgbClr val="ffffff"/>
                </a:solidFill>
                <a:latin typeface="Calibri"/>
              </a:rPr>
              <a:t> </a:t>
            </a: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netriders.academy</a:t>
            </a:r>
            <a:endParaRPr b="0" lang="en-US" sz="1000" spc="-1" strike="noStrike">
              <a:latin typeface="Times New Roman"/>
            </a:endParaRPr>
          </a:p>
        </p:txBody>
      </p:sp>
      <p:sp>
        <p:nvSpPr>
          <p:cNvPr id="111" name="PlaceHolder 4"/>
          <p:cNvSpPr>
            <a:spLocks noGrp="1"/>
          </p:cNvSpPr>
          <p:nvPr>
            <p:ph type="sldNum" idx="18"/>
          </p:nvPr>
        </p:nvSpPr>
        <p:spPr>
          <a:xfrm>
            <a:off x="11098440" y="6451200"/>
            <a:ext cx="20376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3816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38160">
              <a:lnSpc>
                <a:spcPts val="1046"/>
              </a:lnSpc>
              <a:buNone/>
            </a:pPr>
            <a:fld id="{51A71B99-A220-4E50-9F45-49FB03FFF35F}" type="slidenum">
              <a:rPr b="0" lang="en-US" sz="1000" spc="-7" strike="noStrike">
                <a:solidFill>
                  <a:srgbClr val="ffffff"/>
                </a:solidFill>
                <a:latin typeface="Calibri"/>
              </a:rPr>
              <a:t>&lt;number&gt;</a:t>
            </a:fld>
            <a:endParaRPr b="0" lang="en-US" sz="1000" spc="-1" strike="noStrike"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PlaceHolder 1"/>
          <p:cNvSpPr>
            <a:spLocks noGrp="1"/>
          </p:cNvSpPr>
          <p:nvPr>
            <p:ph type="title"/>
          </p:nvPr>
        </p:nvSpPr>
        <p:spPr>
          <a:xfrm>
            <a:off x="916920" y="685800"/>
            <a:ext cx="6626880" cy="914400"/>
          </a:xfrm>
          <a:prstGeom prst="rect">
            <a:avLst/>
          </a:prstGeom>
          <a:noFill/>
          <a:ln w="0">
            <a:noFill/>
          </a:ln>
        </p:spPr>
        <p:txBody>
          <a:bodyPr lIns="0" rIns="0" tIns="12600" bIns="0" anchor="t">
            <a:noAutofit/>
          </a:bodyPr>
          <a:p>
            <a:pPr>
              <a:lnSpc>
                <a:spcPts val="2591"/>
              </a:lnSpc>
              <a:spcBef>
                <a:spcPts val="425"/>
              </a:spcBef>
              <a:buNone/>
              <a:tabLst>
                <a:tab algn="l" pos="241920"/>
              </a:tabLst>
            </a:pPr>
            <a:r>
              <a:rPr b="0" lang="en-US" sz="3600" spc="-32" strike="noStrike">
                <a:solidFill>
                  <a:srgbClr val="c00000"/>
                </a:solidFill>
                <a:latin typeface="Calibri Light"/>
                <a:ea typeface="Noto Sans CJK SC"/>
              </a:rPr>
              <a:t>DOMAIN</a:t>
            </a:r>
            <a:r>
              <a:rPr b="0" lang="en-US" sz="3600" spc="-114" strike="noStrike">
                <a:solidFill>
                  <a:srgbClr val="c00000"/>
                </a:solidFill>
                <a:latin typeface="Calibri Light"/>
                <a:ea typeface="Noto Sans CJK SC"/>
              </a:rPr>
              <a:t> </a:t>
            </a:r>
            <a:r>
              <a:rPr b="0" lang="en-US" sz="3600" spc="-32" strike="noStrike">
                <a:solidFill>
                  <a:srgbClr val="c00000"/>
                </a:solidFill>
                <a:latin typeface="Calibri Light"/>
                <a:ea typeface="Noto Sans CJK SC"/>
              </a:rPr>
              <a:t>NAME</a:t>
            </a:r>
            <a:r>
              <a:rPr b="0" lang="en-US" sz="3600" spc="-114" strike="noStrike">
                <a:solidFill>
                  <a:srgbClr val="c00000"/>
                </a:solidFill>
                <a:latin typeface="Calibri Light"/>
                <a:ea typeface="Noto Sans CJK SC"/>
              </a:rPr>
              <a:t> </a:t>
            </a:r>
            <a:r>
              <a:rPr b="0" lang="en-US" sz="3600" spc="-41" strike="noStrike">
                <a:solidFill>
                  <a:srgbClr val="c00000"/>
                </a:solidFill>
                <a:latin typeface="Calibri Light"/>
                <a:ea typeface="Noto Sans CJK SC"/>
              </a:rPr>
              <a:t>RESOLUTION</a:t>
            </a:r>
            <a:br>
              <a:rPr sz="3600"/>
            </a:br>
            <a:br>
              <a:rPr sz="2400"/>
            </a:br>
            <a:endParaRPr b="0" lang="en-US" sz="3600" spc="-1" strike="noStrike">
              <a:latin typeface="Arial"/>
            </a:endParaRPr>
          </a:p>
        </p:txBody>
      </p:sp>
      <p:sp>
        <p:nvSpPr>
          <p:cNvPr id="113" name="object 3"/>
          <p:cNvSpPr/>
          <p:nvPr/>
        </p:nvSpPr>
        <p:spPr>
          <a:xfrm>
            <a:off x="916920" y="1802520"/>
            <a:ext cx="10107360" cy="352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54000" bIns="0" anchor="t">
            <a:spAutoFit/>
          </a:bodyPr>
          <a:p>
            <a:pPr marL="241200" indent="-229320">
              <a:lnSpc>
                <a:spcPts val="2591"/>
              </a:lnSpc>
              <a:spcBef>
                <a:spcPts val="425"/>
              </a:spcBef>
              <a:buClr>
                <a:srgbClr val="000000"/>
              </a:buClr>
              <a:buFont typeface="Arial MT"/>
              <a:buChar char="•"/>
              <a:tabLst>
                <a:tab algn="l" pos="241920"/>
              </a:tabLst>
            </a:pP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The</a:t>
            </a:r>
            <a:r>
              <a:rPr b="0" lang="en-US" sz="24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6fc0"/>
                </a:solidFill>
                <a:latin typeface="Calibri"/>
                <a:ea typeface="DejaVu Sans"/>
              </a:rPr>
              <a:t>Domain</a:t>
            </a:r>
            <a:r>
              <a:rPr b="0" lang="en-US" sz="2400" spc="-21" strike="noStrike">
                <a:solidFill>
                  <a:srgbClr val="006fc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6fc0"/>
                </a:solidFill>
                <a:latin typeface="Calibri"/>
                <a:ea typeface="DejaVu Sans"/>
              </a:rPr>
              <a:t>Name</a:t>
            </a:r>
            <a:r>
              <a:rPr b="0" lang="en-US" sz="2400" spc="-12" strike="noStrike">
                <a:solidFill>
                  <a:srgbClr val="006fc0"/>
                </a:solidFill>
                <a:latin typeface="Calibri"/>
                <a:ea typeface="DejaVu Sans"/>
              </a:rPr>
              <a:t> </a:t>
            </a:r>
            <a:r>
              <a:rPr b="0" lang="en-US" sz="2400" spc="-21" strike="noStrike">
                <a:solidFill>
                  <a:srgbClr val="006fc0"/>
                </a:solidFill>
                <a:latin typeface="Calibri"/>
                <a:ea typeface="DejaVu Sans"/>
              </a:rPr>
              <a:t>System </a:t>
            </a:r>
            <a:r>
              <a:rPr b="0" lang="en-US" sz="2400" spc="-7" strike="noStrike">
                <a:solidFill>
                  <a:srgbClr val="006fc0"/>
                </a:solidFill>
                <a:latin typeface="Calibri"/>
                <a:ea typeface="DejaVu Sans"/>
              </a:rPr>
              <a:t>(DNS)</a:t>
            </a:r>
            <a:r>
              <a:rPr b="0" lang="en-US" sz="2400" spc="-12" strike="noStrike">
                <a:solidFill>
                  <a:srgbClr val="006fc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resolves</a:t>
            </a:r>
            <a:r>
              <a:rPr b="0" lang="en-US" sz="24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fully qualified domain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names (FQDNs) </a:t>
            </a:r>
            <a:r>
              <a:rPr b="0" lang="en-US" sz="2400" spc="-53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to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IP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addresses.</a:t>
            </a:r>
            <a:endParaRPr b="0" lang="en-US" sz="2400" spc="-1" strike="noStrike">
              <a:latin typeface="Arial"/>
            </a:endParaRPr>
          </a:p>
          <a:p>
            <a:pPr marL="241200" indent="-229320">
              <a:lnSpc>
                <a:spcPts val="2741"/>
              </a:lnSpc>
              <a:spcBef>
                <a:spcPts val="686"/>
              </a:spcBef>
              <a:buClr>
                <a:srgbClr val="000000"/>
              </a:buClr>
              <a:buFont typeface="Arial MT"/>
              <a:buChar char="•"/>
              <a:tabLst>
                <a:tab algn="l" pos="24192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It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uses</a:t>
            </a:r>
            <a:r>
              <a:rPr b="0" lang="en-US" sz="24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distributed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database</a:t>
            </a:r>
            <a:r>
              <a:rPr b="0" lang="en-US" sz="24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26" strike="noStrike">
                <a:solidFill>
                  <a:srgbClr val="000000"/>
                </a:solidFill>
                <a:latin typeface="Calibri"/>
                <a:ea typeface="DejaVu Sans"/>
              </a:rPr>
              <a:t>system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that</a:t>
            </a:r>
            <a:r>
              <a:rPr b="0" lang="en-US" sz="24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contains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information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on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domains</a:t>
            </a:r>
            <a:r>
              <a:rPr b="0" lang="en-US" sz="24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and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hosts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within</a:t>
            </a:r>
            <a:r>
              <a:rPr b="0" lang="en-US" sz="2400" spc="-4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those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domains.</a:t>
            </a:r>
            <a:endParaRPr b="0" lang="en-US" sz="2400" spc="-1" strike="noStrike">
              <a:latin typeface="Arial"/>
            </a:endParaRPr>
          </a:p>
          <a:p>
            <a:pPr marL="241200" indent="-229320">
              <a:lnSpc>
                <a:spcPts val="2591"/>
              </a:lnSpc>
              <a:spcBef>
                <a:spcPts val="1035"/>
              </a:spcBef>
              <a:buClr>
                <a:srgbClr val="000000"/>
              </a:buClr>
              <a:buFont typeface="Arial MT"/>
              <a:buChar char="•"/>
              <a:tabLst>
                <a:tab algn="l" pos="241920"/>
              </a:tabLst>
            </a:pP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The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information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is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distributed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among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many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name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servers,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each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of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which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holds </a:t>
            </a:r>
            <a:r>
              <a:rPr b="0" lang="en-US" sz="2400" spc="-53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part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of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the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database.</a:t>
            </a:r>
            <a:endParaRPr b="0" lang="en-US" sz="2400" spc="-1" strike="noStrike">
              <a:latin typeface="Arial"/>
            </a:endParaRPr>
          </a:p>
          <a:p>
            <a:pPr marL="241200" indent="-229320">
              <a:lnSpc>
                <a:spcPct val="100000"/>
              </a:lnSpc>
              <a:spcBef>
                <a:spcPts val="675"/>
              </a:spcBef>
              <a:buClr>
                <a:srgbClr val="000000"/>
              </a:buClr>
              <a:buFont typeface="Arial MT"/>
              <a:buChar char="•"/>
              <a:tabLst>
                <a:tab algn="l" pos="241920"/>
              </a:tabLst>
            </a:pP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The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name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servers work</a:t>
            </a:r>
            <a:r>
              <a:rPr b="0" lang="en-US" sz="2400" spc="-3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over</a:t>
            </a:r>
            <a:r>
              <a:rPr b="0" lang="en-US" sz="2400" spc="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6fc0"/>
                </a:solidFill>
                <a:latin typeface="Calibri"/>
                <a:ea typeface="DejaVu Sans"/>
              </a:rPr>
              <a:t>port</a:t>
            </a:r>
            <a:r>
              <a:rPr b="0" lang="en-US" sz="2400" spc="-15" strike="noStrike">
                <a:solidFill>
                  <a:srgbClr val="006fc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6fc0"/>
                </a:solidFill>
                <a:latin typeface="Calibri"/>
                <a:ea typeface="DejaVu Sans"/>
              </a:rPr>
              <a:t>53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.</a:t>
            </a:r>
            <a:endParaRPr b="0" lang="en-US" sz="2400" spc="-1" strike="noStrike">
              <a:latin typeface="Arial"/>
            </a:endParaRPr>
          </a:p>
          <a:p>
            <a:pPr marL="241200" indent="-229320">
              <a:lnSpc>
                <a:spcPts val="2591"/>
              </a:lnSpc>
              <a:spcBef>
                <a:spcPts val="1049"/>
              </a:spcBef>
              <a:buClr>
                <a:srgbClr val="000000"/>
              </a:buClr>
              <a:buFont typeface="Arial MT"/>
              <a:buChar char="•"/>
              <a:tabLst>
                <a:tab algn="l" pos="241920"/>
              </a:tabLst>
            </a:pP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Domain name resolution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is a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security-critical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service and the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target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of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many </a:t>
            </a:r>
            <a:r>
              <a:rPr b="0" lang="en-US" sz="2400" spc="-53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attacks</a:t>
            </a:r>
            <a:r>
              <a:rPr b="0" lang="en-US" sz="2400" spc="-3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on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both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local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network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and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the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Internet.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114" name="object 4"/>
          <p:cNvSpPr/>
          <p:nvPr/>
        </p:nvSpPr>
        <p:spPr>
          <a:xfrm>
            <a:off x="838080" y="6400800"/>
            <a:ext cx="10514880" cy="227880"/>
          </a:xfrm>
          <a:custGeom>
            <a:avLst/>
            <a:gdLst/>
            <a:ahLst/>
            <a:rect l="l" t="t" r="r" b="b"/>
            <a:pathLst>
              <a:path w="10515600" h="228600">
                <a:moveTo>
                  <a:pt x="10515600" y="0"/>
                </a:moveTo>
                <a:lnTo>
                  <a:pt x="0" y="0"/>
                </a:lnTo>
                <a:lnTo>
                  <a:pt x="0" y="228600"/>
                </a:lnTo>
                <a:lnTo>
                  <a:pt x="10515600" y="228600"/>
                </a:lnTo>
                <a:lnTo>
                  <a:pt x="10515600" y="0"/>
                </a:lnTo>
                <a:close/>
              </a:path>
            </a:pathLst>
          </a:custGeom>
          <a:solidFill>
            <a:srgbClr val="c00000">
              <a:alpha val="5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15" name="PlaceHolder 2"/>
          <p:cNvSpPr>
            <a:spLocks noGrp="1"/>
          </p:cNvSpPr>
          <p:nvPr>
            <p:ph type="ftr" idx="19"/>
          </p:nvPr>
        </p:nvSpPr>
        <p:spPr>
          <a:xfrm>
            <a:off x="916920" y="6451560"/>
            <a:ext cx="102276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1260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12600">
              <a:lnSpc>
                <a:spcPts val="1046"/>
              </a:lnSpc>
              <a:buNone/>
            </a:pP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Security+</a:t>
            </a:r>
            <a:r>
              <a:rPr b="0" lang="en-US" sz="1000" spc="-46" strike="noStrike">
                <a:solidFill>
                  <a:srgbClr val="ffffff"/>
                </a:solidFill>
                <a:latin typeface="Calibri"/>
              </a:rPr>
              <a:t> </a:t>
            </a: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(SY0-601)</a:t>
            </a:r>
            <a:endParaRPr b="0" lang="en-US" sz="1000" spc="-1" strike="noStrike">
              <a:latin typeface="Times New Roman"/>
            </a:endParaRPr>
          </a:p>
        </p:txBody>
      </p:sp>
      <p:sp>
        <p:nvSpPr>
          <p:cNvPr id="116" name="PlaceHolder 3"/>
          <p:cNvSpPr>
            <a:spLocks noGrp="1"/>
          </p:cNvSpPr>
          <p:nvPr>
            <p:ph type="dt" idx="20"/>
          </p:nvPr>
        </p:nvSpPr>
        <p:spPr>
          <a:xfrm>
            <a:off x="5492520" y="6451560"/>
            <a:ext cx="11224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1260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12600">
              <a:lnSpc>
                <a:spcPts val="1046"/>
              </a:lnSpc>
              <a:buNone/>
            </a:pP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©</a:t>
            </a:r>
            <a:r>
              <a:rPr b="0" lang="en-US" sz="1000" spc="-41" strike="noStrike">
                <a:solidFill>
                  <a:srgbClr val="ffffff"/>
                </a:solidFill>
                <a:latin typeface="Calibri"/>
              </a:rPr>
              <a:t> </a:t>
            </a: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netriders.academy</a:t>
            </a:r>
            <a:endParaRPr b="0" lang="en-US" sz="1000" spc="-1" strike="noStrike">
              <a:latin typeface="Times New Roman"/>
            </a:endParaRPr>
          </a:p>
        </p:txBody>
      </p:sp>
      <p:sp>
        <p:nvSpPr>
          <p:cNvPr id="117" name="PlaceHolder 4"/>
          <p:cNvSpPr>
            <a:spLocks noGrp="1"/>
          </p:cNvSpPr>
          <p:nvPr>
            <p:ph type="sldNum" idx="21"/>
          </p:nvPr>
        </p:nvSpPr>
        <p:spPr>
          <a:xfrm>
            <a:off x="11098440" y="6451200"/>
            <a:ext cx="20376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3816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38160">
              <a:lnSpc>
                <a:spcPts val="1046"/>
              </a:lnSpc>
              <a:buNone/>
            </a:pPr>
            <a:fld id="{C07CBDCD-604D-4C86-8A2D-2DA8AF8AEF05}" type="slidenum">
              <a:rPr b="0" lang="en-US" sz="1000" spc="-7" strike="noStrike">
                <a:solidFill>
                  <a:srgbClr val="ffffff"/>
                </a:solidFill>
                <a:latin typeface="Calibri"/>
              </a:rPr>
              <a:t>&lt;number&gt;</a:t>
            </a:fld>
            <a:endParaRPr b="0" lang="en-US" sz="1000" spc="-1" strike="noStrike"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PlaceHolder 1"/>
          <p:cNvSpPr>
            <a:spLocks noGrp="1"/>
          </p:cNvSpPr>
          <p:nvPr>
            <p:ph type="title"/>
          </p:nvPr>
        </p:nvSpPr>
        <p:spPr>
          <a:xfrm>
            <a:off x="685800" y="228600"/>
            <a:ext cx="10286640" cy="685440"/>
          </a:xfrm>
          <a:prstGeom prst="rect">
            <a:avLst/>
          </a:prstGeom>
          <a:noFill/>
          <a:ln w="0">
            <a:noFill/>
          </a:ln>
        </p:spPr>
        <p:txBody>
          <a:bodyPr lIns="0" rIns="0" tIns="12600" bIns="0" anchor="t">
            <a:noAutofit/>
          </a:bodyPr>
          <a:p>
            <a:pPr marL="12600">
              <a:lnSpc>
                <a:spcPct val="100000"/>
              </a:lnSpc>
              <a:spcBef>
                <a:spcPts val="99"/>
              </a:spcBef>
              <a:buNone/>
            </a:pPr>
            <a:r>
              <a:rPr b="0" lang="en-US" sz="3600" spc="-32" strike="noStrike">
                <a:solidFill>
                  <a:srgbClr val="c00000"/>
                </a:solidFill>
                <a:latin typeface="Calibri Light"/>
              </a:rPr>
              <a:t>DOMAIN</a:t>
            </a:r>
            <a:r>
              <a:rPr b="0" lang="en-US" sz="3600" spc="-106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32" strike="noStrike">
                <a:solidFill>
                  <a:srgbClr val="c00000"/>
                </a:solidFill>
                <a:latin typeface="Calibri Light"/>
              </a:rPr>
              <a:t>NAME</a:t>
            </a:r>
            <a:r>
              <a:rPr b="0" lang="en-US" sz="3600" spc="-100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41" strike="noStrike">
                <a:solidFill>
                  <a:srgbClr val="c00000"/>
                </a:solidFill>
                <a:latin typeface="Calibri Light"/>
              </a:rPr>
              <a:t>RESOLUTION</a:t>
            </a:r>
            <a:r>
              <a:rPr b="0" lang="en-US" sz="3600" spc="-114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32" strike="noStrike">
                <a:solidFill>
                  <a:srgbClr val="c00000"/>
                </a:solidFill>
                <a:latin typeface="Calibri Light"/>
              </a:rPr>
              <a:t>(cont.)</a:t>
            </a:r>
            <a:endParaRPr b="0" lang="en-US" sz="3600" spc="-1" strike="noStrike">
              <a:latin typeface="Arial"/>
            </a:endParaRPr>
          </a:p>
        </p:txBody>
      </p:sp>
      <p:sp>
        <p:nvSpPr>
          <p:cNvPr id="119" name="object 3"/>
          <p:cNvSpPr/>
          <p:nvPr/>
        </p:nvSpPr>
        <p:spPr>
          <a:xfrm>
            <a:off x="700920" y="858960"/>
            <a:ext cx="10208160" cy="493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56520" bIns="0" anchor="t">
            <a:spAutoFit/>
          </a:bodyPr>
          <a:p>
            <a:pPr marL="241200" indent="-229320">
              <a:lnSpc>
                <a:spcPct val="100000"/>
              </a:lnSpc>
              <a:spcBef>
                <a:spcPts val="445"/>
              </a:spcBef>
              <a:buClr>
                <a:srgbClr val="006fc0"/>
              </a:buClr>
              <a:buFont typeface="Arial MT"/>
              <a:buChar char="•"/>
              <a:tabLst>
                <a:tab algn="l" pos="241920"/>
              </a:tabLst>
            </a:pPr>
            <a:r>
              <a:rPr b="0" lang="en-US" sz="2400" spc="-7" strike="noStrike">
                <a:solidFill>
                  <a:srgbClr val="006fc0"/>
                </a:solidFill>
                <a:latin typeface="Calibri"/>
                <a:ea typeface="DejaVu Sans"/>
              </a:rPr>
              <a:t>DNS</a:t>
            </a:r>
            <a:r>
              <a:rPr b="0" lang="en-US" sz="2400" spc="-32" strike="noStrike">
                <a:solidFill>
                  <a:srgbClr val="006fc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6fc0"/>
                </a:solidFill>
                <a:latin typeface="Calibri"/>
                <a:ea typeface="DejaVu Sans"/>
              </a:rPr>
              <a:t>POISONING</a:t>
            </a:r>
            <a:endParaRPr b="0" lang="en-US" sz="2400" spc="-1" strike="noStrike">
              <a:latin typeface="Arial"/>
            </a:endParaRPr>
          </a:p>
          <a:p>
            <a:pPr lvl="1" marL="698400" indent="-229320">
              <a:lnSpc>
                <a:spcPts val="2279"/>
              </a:lnSpc>
              <a:spcBef>
                <a:spcPts val="289"/>
              </a:spcBef>
              <a:buClr>
                <a:srgbClr val="000000"/>
              </a:buClr>
              <a:buFont typeface="Wingdings" charset="2"/>
              <a:buChar char=""/>
              <a:tabLst>
                <a:tab algn="l" pos="699120"/>
              </a:tabLst>
            </a:pP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DNS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poisoning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is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an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attack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that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compromises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the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process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by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which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clients</a:t>
            </a:r>
            <a:r>
              <a:rPr b="0" lang="en-US" sz="2000" spc="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query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name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servers</a:t>
            </a:r>
            <a:r>
              <a:rPr b="0" lang="en-US" sz="2000" spc="9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to locate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the IP</a:t>
            </a:r>
            <a:r>
              <a:rPr b="0" lang="en-US" sz="20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address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for</a:t>
            </a:r>
            <a:r>
              <a:rPr b="0" lang="en-US" sz="2000" spc="-26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a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FQDN.</a:t>
            </a:r>
            <a:endParaRPr b="0" lang="en-US" sz="2000" spc="-1" strike="noStrike">
              <a:latin typeface="Arial"/>
            </a:endParaRPr>
          </a:p>
          <a:p>
            <a:pPr marL="241200" indent="-229320">
              <a:lnSpc>
                <a:spcPct val="100000"/>
              </a:lnSpc>
              <a:spcBef>
                <a:spcPts val="686"/>
              </a:spcBef>
              <a:buClr>
                <a:srgbClr val="006fc0"/>
              </a:buClr>
              <a:buFont typeface="Arial MT"/>
              <a:buChar char="•"/>
              <a:tabLst>
                <a:tab algn="l" pos="241920"/>
              </a:tabLst>
            </a:pPr>
            <a:r>
              <a:rPr b="0" lang="en-US" sz="2400" spc="-12" strike="noStrike">
                <a:solidFill>
                  <a:srgbClr val="006fc0"/>
                </a:solidFill>
                <a:latin typeface="Calibri"/>
                <a:ea typeface="DejaVu Sans"/>
              </a:rPr>
              <a:t>There</a:t>
            </a:r>
            <a:r>
              <a:rPr b="0" lang="en-US" sz="2400" spc="7" strike="noStrike">
                <a:solidFill>
                  <a:srgbClr val="006fc0"/>
                </a:solidFill>
                <a:latin typeface="Calibri"/>
                <a:ea typeface="DejaVu Sans"/>
              </a:rPr>
              <a:t> </a:t>
            </a:r>
            <a:r>
              <a:rPr b="0" lang="en-US" sz="2400" spc="-15" strike="noStrike">
                <a:solidFill>
                  <a:srgbClr val="006fc0"/>
                </a:solidFill>
                <a:latin typeface="Calibri"/>
                <a:ea typeface="DejaVu Sans"/>
              </a:rPr>
              <a:t>are</a:t>
            </a:r>
            <a:r>
              <a:rPr b="0" lang="en-US" sz="2400" spc="-1" strike="noStrike">
                <a:solidFill>
                  <a:srgbClr val="006fc0"/>
                </a:solidFill>
                <a:latin typeface="Calibri"/>
                <a:ea typeface="DejaVu Sans"/>
              </a:rPr>
              <a:t> </a:t>
            </a:r>
            <a:r>
              <a:rPr b="0" lang="en-US" sz="2400" spc="-15" strike="noStrike">
                <a:solidFill>
                  <a:srgbClr val="006fc0"/>
                </a:solidFill>
                <a:latin typeface="Calibri"/>
                <a:ea typeface="DejaVu Sans"/>
              </a:rPr>
              <a:t>several</a:t>
            </a:r>
            <a:r>
              <a:rPr b="0" lang="en-US" sz="2400" spc="-7" strike="noStrike">
                <a:solidFill>
                  <a:srgbClr val="006fc0"/>
                </a:solidFill>
                <a:latin typeface="Calibri"/>
                <a:ea typeface="DejaVu Sans"/>
              </a:rPr>
              <a:t> </a:t>
            </a:r>
            <a:r>
              <a:rPr b="0" lang="en-US" sz="2400" spc="-26" strike="noStrike">
                <a:solidFill>
                  <a:srgbClr val="006fc0"/>
                </a:solidFill>
                <a:latin typeface="Calibri"/>
                <a:ea typeface="DejaVu Sans"/>
              </a:rPr>
              <a:t>ways</a:t>
            </a:r>
            <a:r>
              <a:rPr b="0" lang="en-US" sz="2400" spc="-21" strike="noStrike">
                <a:solidFill>
                  <a:srgbClr val="006fc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6fc0"/>
                </a:solidFill>
                <a:latin typeface="Calibri"/>
                <a:ea typeface="DejaVu Sans"/>
              </a:rPr>
              <a:t>that </a:t>
            </a:r>
            <a:r>
              <a:rPr b="0" lang="en-US" sz="2400" spc="-1" strike="noStrike">
                <a:solidFill>
                  <a:srgbClr val="006fc0"/>
                </a:solidFill>
                <a:latin typeface="Calibri"/>
                <a:ea typeface="DejaVu Sans"/>
              </a:rPr>
              <a:t>a</a:t>
            </a:r>
            <a:r>
              <a:rPr b="0" lang="en-US" sz="2400" spc="-7" strike="noStrike">
                <a:solidFill>
                  <a:srgbClr val="006fc0"/>
                </a:solidFill>
                <a:latin typeface="Calibri"/>
                <a:ea typeface="DejaVu Sans"/>
              </a:rPr>
              <a:t> DNS poisoning </a:t>
            </a:r>
            <a:r>
              <a:rPr b="0" lang="en-US" sz="2400" spc="-21" strike="noStrike">
                <a:solidFill>
                  <a:srgbClr val="006fc0"/>
                </a:solidFill>
                <a:latin typeface="Calibri"/>
                <a:ea typeface="DejaVu Sans"/>
              </a:rPr>
              <a:t>attack </a:t>
            </a:r>
            <a:r>
              <a:rPr b="0" lang="en-US" sz="2400" spc="-12" strike="noStrike">
                <a:solidFill>
                  <a:srgbClr val="006fc0"/>
                </a:solidFill>
                <a:latin typeface="Calibri"/>
                <a:ea typeface="DejaVu Sans"/>
              </a:rPr>
              <a:t>can</a:t>
            </a:r>
            <a:r>
              <a:rPr b="0" lang="en-US" sz="2400" spc="-15" strike="noStrike">
                <a:solidFill>
                  <a:srgbClr val="006fc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6fc0"/>
                </a:solidFill>
                <a:latin typeface="Calibri"/>
                <a:ea typeface="DejaVu Sans"/>
              </a:rPr>
              <a:t>be </a:t>
            </a:r>
            <a:r>
              <a:rPr b="0" lang="en-US" sz="2400" spc="-12" strike="noStrike">
                <a:solidFill>
                  <a:srgbClr val="006fc0"/>
                </a:solidFill>
                <a:latin typeface="Calibri"/>
                <a:ea typeface="DejaVu Sans"/>
              </a:rPr>
              <a:t>perpetrated.</a:t>
            </a:r>
            <a:endParaRPr b="0" lang="en-US" sz="24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34"/>
              </a:spcBef>
              <a:buNone/>
              <a:tabLst>
                <a:tab algn="l" pos="241920"/>
              </a:tabLst>
            </a:pPr>
            <a:endParaRPr b="0" lang="en-US" sz="3500" spc="-1" strike="noStrike">
              <a:latin typeface="Arial"/>
            </a:endParaRPr>
          </a:p>
          <a:p>
            <a:pPr marL="469800" indent="-457920">
              <a:lnSpc>
                <a:spcPct val="100000"/>
              </a:lnSpc>
              <a:buClr>
                <a:srgbClr val="ac172b"/>
              </a:buClr>
              <a:buFont typeface="Arial MT"/>
              <a:buAutoNum type="arabicPeriod"/>
              <a:tabLst>
                <a:tab algn="l" pos="469800"/>
                <a:tab algn="l" pos="470520"/>
              </a:tabLst>
            </a:pPr>
            <a:r>
              <a:rPr b="0" lang="en-US" sz="2400" spc="-1" strike="noStrike">
                <a:solidFill>
                  <a:srgbClr val="ac172b"/>
                </a:solidFill>
                <a:latin typeface="Calibri"/>
                <a:ea typeface="DejaVu Sans"/>
              </a:rPr>
              <a:t>Man</a:t>
            </a:r>
            <a:r>
              <a:rPr b="0" lang="en-US" sz="2400" spc="-32" strike="noStrike">
                <a:solidFill>
                  <a:srgbClr val="ac172b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ac172b"/>
                </a:solidFill>
                <a:latin typeface="Calibri"/>
                <a:ea typeface="DejaVu Sans"/>
              </a:rPr>
              <a:t>in</a:t>
            </a:r>
            <a:r>
              <a:rPr b="0" lang="en-US" sz="2400" spc="-35" strike="noStrike">
                <a:solidFill>
                  <a:srgbClr val="ac172b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ac172b"/>
                </a:solidFill>
                <a:latin typeface="Calibri"/>
                <a:ea typeface="DejaVu Sans"/>
              </a:rPr>
              <a:t>the</a:t>
            </a:r>
            <a:r>
              <a:rPr b="0" lang="en-US" sz="2400" spc="-26" strike="noStrike">
                <a:solidFill>
                  <a:srgbClr val="ac172b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ac172b"/>
                </a:solidFill>
                <a:latin typeface="Calibri"/>
                <a:ea typeface="DejaVu Sans"/>
              </a:rPr>
              <a:t>Middle</a:t>
            </a:r>
            <a:endParaRPr b="0" lang="en-US" sz="2400" spc="-1" strike="noStrike">
              <a:latin typeface="Arial"/>
            </a:endParaRPr>
          </a:p>
          <a:p>
            <a:pPr lvl="1" marL="698400" indent="-228600">
              <a:lnSpc>
                <a:spcPct val="90000"/>
              </a:lnSpc>
              <a:spcBef>
                <a:spcPts val="519"/>
              </a:spcBef>
              <a:buClr>
                <a:srgbClr val="000000"/>
              </a:buClr>
              <a:buFont typeface="Wingdings" charset="2"/>
              <a:buChar char=""/>
              <a:tabLst>
                <a:tab algn="l" pos="69912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If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the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threat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actor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has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access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to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the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 same</a:t>
            </a:r>
            <a:r>
              <a:rPr b="0" lang="en-US" sz="2000" spc="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local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network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as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the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victim,</a:t>
            </a:r>
            <a:r>
              <a:rPr b="0" lang="en-US" sz="2000" spc="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the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attacker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can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use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ARP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poisoning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 to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impersonate</a:t>
            </a:r>
            <a:r>
              <a:rPr b="0" lang="en-US" sz="2000" spc="26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a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legitimate</a:t>
            </a:r>
            <a:r>
              <a:rPr b="0" lang="en-US" sz="2000" spc="3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DNS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server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and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respond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to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 DNS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queries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from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the </a:t>
            </a:r>
            <a:r>
              <a:rPr b="0" lang="en-US" sz="2000" spc="-440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victim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with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spoofed</a:t>
            </a:r>
            <a:r>
              <a:rPr b="0" lang="en-US" sz="20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replies.</a:t>
            </a:r>
            <a:endParaRPr b="0" lang="en-US" sz="2000" spc="-1" strike="noStrike">
              <a:latin typeface="Arial"/>
            </a:endParaRPr>
          </a:p>
          <a:p>
            <a:pPr lvl="1" marL="698400" indent="-229320">
              <a:lnSpc>
                <a:spcPct val="100000"/>
              </a:lnSpc>
              <a:spcBef>
                <a:spcPts val="264"/>
              </a:spcBef>
              <a:buClr>
                <a:srgbClr val="000000"/>
              </a:buClr>
              <a:buFont typeface="Wingdings" charset="2"/>
              <a:buChar char=""/>
              <a:tabLst>
                <a:tab algn="l" pos="699120"/>
              </a:tabLst>
            </a:pP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This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might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be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combined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with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a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denial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of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service</a:t>
            </a:r>
            <a:r>
              <a:rPr b="0" lang="en-US" sz="2000" spc="29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attack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on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the victim's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legitimate</a:t>
            </a:r>
            <a:r>
              <a:rPr b="0" lang="en-US" sz="2000" spc="26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DNS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35" strike="noStrike">
                <a:solidFill>
                  <a:srgbClr val="000000"/>
                </a:solidFill>
                <a:latin typeface="Calibri"/>
                <a:ea typeface="DejaVu Sans"/>
              </a:rPr>
              <a:t>server.</a:t>
            </a:r>
            <a:endParaRPr b="0" lang="en-US" sz="2000" spc="-1" strike="noStrike">
              <a:latin typeface="Arial"/>
            </a:endParaRPr>
          </a:p>
          <a:p>
            <a:pPr lvl="1" marL="698400" indent="-229320">
              <a:lnSpc>
                <a:spcPct val="100000"/>
              </a:lnSpc>
              <a:spcBef>
                <a:spcPts val="261"/>
              </a:spcBef>
              <a:buClr>
                <a:srgbClr val="000000"/>
              </a:buClr>
              <a:buFont typeface="Wingdings" charset="2"/>
              <a:buChar char=""/>
              <a:tabLst>
                <a:tab algn="l" pos="69912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A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rogue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 DHCP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could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be used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to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configure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clients</a:t>
            </a:r>
            <a:r>
              <a:rPr b="0" lang="en-US" sz="2000" spc="9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with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the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address of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a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rogue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DNS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32" strike="noStrike">
                <a:solidFill>
                  <a:srgbClr val="000000"/>
                </a:solidFill>
                <a:latin typeface="Calibri"/>
                <a:ea typeface="DejaVu Sans"/>
              </a:rPr>
              <a:t>resolver.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120" name="object 4"/>
          <p:cNvSpPr/>
          <p:nvPr/>
        </p:nvSpPr>
        <p:spPr>
          <a:xfrm>
            <a:off x="838080" y="6400800"/>
            <a:ext cx="10514880" cy="227880"/>
          </a:xfrm>
          <a:custGeom>
            <a:avLst/>
            <a:gdLst/>
            <a:ahLst/>
            <a:rect l="l" t="t" r="r" b="b"/>
            <a:pathLst>
              <a:path w="10515600" h="228600">
                <a:moveTo>
                  <a:pt x="10515600" y="0"/>
                </a:moveTo>
                <a:lnTo>
                  <a:pt x="0" y="0"/>
                </a:lnTo>
                <a:lnTo>
                  <a:pt x="0" y="228600"/>
                </a:lnTo>
                <a:lnTo>
                  <a:pt x="10515600" y="228600"/>
                </a:lnTo>
                <a:lnTo>
                  <a:pt x="10515600" y="0"/>
                </a:lnTo>
                <a:close/>
              </a:path>
            </a:pathLst>
          </a:custGeom>
          <a:solidFill>
            <a:srgbClr val="c00000">
              <a:alpha val="5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21" name="PlaceHolder 2"/>
          <p:cNvSpPr>
            <a:spLocks noGrp="1"/>
          </p:cNvSpPr>
          <p:nvPr>
            <p:ph type="ftr" idx="22"/>
          </p:nvPr>
        </p:nvSpPr>
        <p:spPr>
          <a:xfrm>
            <a:off x="916920" y="6451560"/>
            <a:ext cx="102276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1260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12600">
              <a:lnSpc>
                <a:spcPts val="1046"/>
              </a:lnSpc>
              <a:buNone/>
            </a:pP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Security+</a:t>
            </a:r>
            <a:r>
              <a:rPr b="0" lang="en-US" sz="1000" spc="-46" strike="noStrike">
                <a:solidFill>
                  <a:srgbClr val="ffffff"/>
                </a:solidFill>
                <a:latin typeface="Calibri"/>
              </a:rPr>
              <a:t> </a:t>
            </a: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(SY0-601)</a:t>
            </a:r>
            <a:endParaRPr b="0" lang="en-US" sz="1000" spc="-1" strike="noStrike">
              <a:latin typeface="Times New Roman"/>
            </a:endParaRPr>
          </a:p>
        </p:txBody>
      </p:sp>
      <p:sp>
        <p:nvSpPr>
          <p:cNvPr id="122" name="PlaceHolder 3"/>
          <p:cNvSpPr>
            <a:spLocks noGrp="1"/>
          </p:cNvSpPr>
          <p:nvPr>
            <p:ph type="dt" idx="23"/>
          </p:nvPr>
        </p:nvSpPr>
        <p:spPr>
          <a:xfrm>
            <a:off x="5492520" y="6451560"/>
            <a:ext cx="11224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1260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12600">
              <a:lnSpc>
                <a:spcPts val="1046"/>
              </a:lnSpc>
              <a:buNone/>
            </a:pP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©</a:t>
            </a:r>
            <a:r>
              <a:rPr b="0" lang="en-US" sz="1000" spc="-41" strike="noStrike">
                <a:solidFill>
                  <a:srgbClr val="ffffff"/>
                </a:solidFill>
                <a:latin typeface="Calibri"/>
              </a:rPr>
              <a:t> </a:t>
            </a: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netriders.academy</a:t>
            </a:r>
            <a:endParaRPr b="0" lang="en-US" sz="1000" spc="-1" strike="noStrike">
              <a:latin typeface="Times New Roman"/>
            </a:endParaRPr>
          </a:p>
        </p:txBody>
      </p:sp>
      <p:sp>
        <p:nvSpPr>
          <p:cNvPr id="123" name="PlaceHolder 4"/>
          <p:cNvSpPr>
            <a:spLocks noGrp="1"/>
          </p:cNvSpPr>
          <p:nvPr>
            <p:ph type="sldNum" idx="24"/>
          </p:nvPr>
        </p:nvSpPr>
        <p:spPr>
          <a:xfrm>
            <a:off x="11098440" y="6451200"/>
            <a:ext cx="20376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3816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38160">
              <a:lnSpc>
                <a:spcPts val="1046"/>
              </a:lnSpc>
              <a:buNone/>
            </a:pPr>
            <a:fld id="{19508FA3-82A9-4A6C-A190-97283156BE82}" type="slidenum">
              <a:rPr b="0" lang="en-US" sz="1000" spc="-7" strike="noStrike">
                <a:solidFill>
                  <a:srgbClr val="ffffff"/>
                </a:solidFill>
                <a:latin typeface="Calibri"/>
              </a:rPr>
              <a:t>&lt;number&gt;</a:t>
            </a:fld>
            <a:endParaRPr b="0" lang="en-US" sz="1000" spc="-1" strike="noStrike"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PlaceHolder 1"/>
          <p:cNvSpPr>
            <a:spLocks noGrp="1"/>
          </p:cNvSpPr>
          <p:nvPr>
            <p:ph type="title"/>
          </p:nvPr>
        </p:nvSpPr>
        <p:spPr>
          <a:xfrm>
            <a:off x="685800" y="227520"/>
            <a:ext cx="9369720" cy="686520"/>
          </a:xfrm>
          <a:prstGeom prst="rect">
            <a:avLst/>
          </a:prstGeom>
          <a:noFill/>
          <a:ln w="0">
            <a:noFill/>
          </a:ln>
        </p:spPr>
        <p:txBody>
          <a:bodyPr lIns="0" rIns="0" tIns="12600" bIns="0" anchor="t">
            <a:noAutofit/>
          </a:bodyPr>
          <a:p>
            <a:pPr marL="12600">
              <a:lnSpc>
                <a:spcPct val="100000"/>
              </a:lnSpc>
              <a:spcBef>
                <a:spcPts val="99"/>
              </a:spcBef>
              <a:buNone/>
            </a:pPr>
            <a:r>
              <a:rPr b="0" lang="en-US" sz="3600" spc="-32" strike="noStrike">
                <a:solidFill>
                  <a:srgbClr val="c00000"/>
                </a:solidFill>
                <a:latin typeface="Calibri Light"/>
              </a:rPr>
              <a:t>DOMAIN</a:t>
            </a:r>
            <a:r>
              <a:rPr b="0" lang="en-US" sz="3600" spc="-106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32" strike="noStrike">
                <a:solidFill>
                  <a:srgbClr val="c00000"/>
                </a:solidFill>
                <a:latin typeface="Calibri Light"/>
              </a:rPr>
              <a:t>NAME</a:t>
            </a:r>
            <a:r>
              <a:rPr b="0" lang="en-US" sz="3600" spc="-100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41" strike="noStrike">
                <a:solidFill>
                  <a:srgbClr val="c00000"/>
                </a:solidFill>
                <a:latin typeface="Calibri Light"/>
              </a:rPr>
              <a:t>RESOLUTION</a:t>
            </a:r>
            <a:r>
              <a:rPr b="0" lang="en-US" sz="3600" spc="-114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32" strike="noStrike">
                <a:solidFill>
                  <a:srgbClr val="c00000"/>
                </a:solidFill>
                <a:latin typeface="Calibri Light"/>
              </a:rPr>
              <a:t>(cont.)</a:t>
            </a:r>
            <a:endParaRPr b="0" lang="en-US" sz="3600" spc="-1" strike="noStrike">
              <a:latin typeface="Arial"/>
            </a:endParaRPr>
          </a:p>
        </p:txBody>
      </p:sp>
      <p:sp>
        <p:nvSpPr>
          <p:cNvPr id="125" name="object 3"/>
          <p:cNvSpPr/>
          <p:nvPr/>
        </p:nvSpPr>
        <p:spPr>
          <a:xfrm>
            <a:off x="700920" y="945720"/>
            <a:ext cx="10788480" cy="47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ctr">
            <a:spAutoFit/>
          </a:bodyPr>
          <a:p>
            <a:pPr marL="469800" indent="-457920">
              <a:lnSpc>
                <a:spcPct val="100000"/>
              </a:lnSpc>
              <a:spcBef>
                <a:spcPts val="99"/>
              </a:spcBef>
              <a:buClr>
                <a:srgbClr val="ac172b"/>
              </a:buClr>
              <a:buFont typeface="StarSymbol"/>
              <a:buAutoNum type="arabicPeriod" startAt="2"/>
              <a:tabLst>
                <a:tab algn="l" pos="469800"/>
                <a:tab algn="l" pos="470520"/>
              </a:tabLst>
            </a:pPr>
            <a:r>
              <a:rPr b="0" lang="en-US" sz="2400" spc="-7" strike="noStrike">
                <a:solidFill>
                  <a:srgbClr val="ac172b"/>
                </a:solidFill>
                <a:latin typeface="Calibri"/>
                <a:ea typeface="DejaVu Sans"/>
              </a:rPr>
              <a:t>DNS</a:t>
            </a:r>
            <a:r>
              <a:rPr b="0" lang="en-US" sz="2400" spc="-12" strike="noStrike">
                <a:solidFill>
                  <a:srgbClr val="ac172b"/>
                </a:solidFill>
                <a:latin typeface="Calibri"/>
                <a:ea typeface="DejaVu Sans"/>
              </a:rPr>
              <a:t> Client</a:t>
            </a:r>
            <a:r>
              <a:rPr b="0" lang="en-US" sz="2400" spc="-35" strike="noStrike">
                <a:solidFill>
                  <a:srgbClr val="ac172b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ac172b"/>
                </a:solidFill>
                <a:latin typeface="Calibri"/>
                <a:ea typeface="DejaVu Sans"/>
              </a:rPr>
              <a:t>Cache</a:t>
            </a:r>
            <a:r>
              <a:rPr b="0" lang="en-US" sz="2400" spc="-15" strike="noStrike">
                <a:solidFill>
                  <a:srgbClr val="ac172b"/>
                </a:solidFill>
                <a:latin typeface="Calibri"/>
                <a:ea typeface="DejaVu Sans"/>
              </a:rPr>
              <a:t> Poisoning</a:t>
            </a:r>
            <a:endParaRPr b="0" lang="en-US" sz="2400" spc="-1" strike="noStrike">
              <a:latin typeface="Arial"/>
            </a:endParaRPr>
          </a:p>
          <a:p>
            <a:pPr lvl="1" marL="698400" indent="-229320">
              <a:lnSpc>
                <a:spcPts val="2160"/>
              </a:lnSpc>
              <a:spcBef>
                <a:spcPts val="40"/>
              </a:spcBef>
              <a:buClr>
                <a:srgbClr val="000000"/>
              </a:buClr>
              <a:buFont typeface="Wingdings" charset="2"/>
              <a:buChar char=""/>
              <a:tabLst>
                <a:tab algn="l" pos="699120"/>
              </a:tabLst>
            </a:pP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Before</a:t>
            </a:r>
            <a:r>
              <a:rPr b="0" lang="en-US" sz="20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DNS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 was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developed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in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the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1980s,</a:t>
            </a:r>
            <a:r>
              <a:rPr b="0" lang="en-US" sz="20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name resolution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took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place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using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a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text</a:t>
            </a:r>
            <a:r>
              <a:rPr b="0" lang="en-US" sz="2000" spc="9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file</a:t>
            </a:r>
            <a:r>
              <a:rPr b="0" lang="en-US" sz="2000" spc="9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named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HOSTS.</a:t>
            </a:r>
            <a:endParaRPr b="0" lang="en-US" sz="2000" spc="-1" strike="noStrike">
              <a:latin typeface="Arial"/>
            </a:endParaRPr>
          </a:p>
          <a:p>
            <a:pPr lvl="1" marL="698400" indent="-228600">
              <a:lnSpc>
                <a:spcPts val="1919"/>
              </a:lnSpc>
              <a:spcBef>
                <a:spcPts val="476"/>
              </a:spcBef>
              <a:buClr>
                <a:srgbClr val="000000"/>
              </a:buClr>
              <a:buFont typeface="Wingdings" charset="2"/>
              <a:buChar char=""/>
              <a:tabLst>
                <a:tab algn="l" pos="699120"/>
              </a:tabLst>
            </a:pP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Each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1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name:IP</a:t>
            </a:r>
            <a:r>
              <a:rPr b="1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address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mapping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was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recorded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in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this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 file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and </a:t>
            </a:r>
            <a:r>
              <a:rPr b="0" lang="en-US" sz="2000" spc="-21" strike="noStrike">
                <a:solidFill>
                  <a:srgbClr val="000000"/>
                </a:solidFill>
                <a:latin typeface="Calibri"/>
                <a:ea typeface="DejaVu Sans"/>
              </a:rPr>
              <a:t>system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administrators</a:t>
            </a:r>
            <a:r>
              <a:rPr b="0" lang="en-US" sz="2000" spc="3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had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to </a:t>
            </a:r>
            <a:r>
              <a:rPr b="0" lang="en-US" sz="2000" spc="-43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download</a:t>
            </a:r>
            <a:r>
              <a:rPr b="0" lang="en-US" sz="2000" spc="-26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the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latest</a:t>
            </a:r>
            <a:r>
              <a:rPr b="0" lang="en-US" sz="2000" spc="29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copy</a:t>
            </a:r>
            <a:r>
              <a:rPr b="0" lang="en-US" sz="2000" spc="-26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and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install</a:t>
            </a:r>
            <a:r>
              <a:rPr b="0" lang="en-US" sz="2000" spc="9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it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on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each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Internet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client</a:t>
            </a:r>
            <a:r>
              <a:rPr b="0" lang="en-US" sz="2000" spc="9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or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server</a:t>
            </a:r>
            <a:r>
              <a:rPr b="0" lang="en-US" sz="2000" spc="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manually.</a:t>
            </a:r>
            <a:endParaRPr b="0" lang="en-US" sz="2000" spc="-1" strike="noStrike">
              <a:latin typeface="Arial"/>
            </a:endParaRPr>
          </a:p>
          <a:p>
            <a:pPr lvl="1" marL="698400" indent="-228600">
              <a:lnSpc>
                <a:spcPts val="1919"/>
              </a:lnSpc>
              <a:spcBef>
                <a:spcPts val="505"/>
              </a:spcBef>
              <a:buClr>
                <a:srgbClr val="000000"/>
              </a:buClr>
              <a:buFont typeface="Wingdings" charset="2"/>
              <a:buChar char=""/>
              <a:tabLst>
                <a:tab algn="l" pos="699120"/>
              </a:tabLst>
            </a:pPr>
            <a:r>
              <a:rPr b="0" lang="en-US" sz="2000" spc="-21" strike="noStrike">
                <a:solidFill>
                  <a:srgbClr val="000000"/>
                </a:solidFill>
                <a:latin typeface="Calibri"/>
                <a:ea typeface="DejaVu Sans"/>
              </a:rPr>
              <a:t>Even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though</a:t>
            </a:r>
            <a:r>
              <a:rPr b="0" lang="en-US" sz="20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all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name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resolution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now</a:t>
            </a:r>
            <a:r>
              <a:rPr b="0" lang="en-US" sz="20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functions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through</a:t>
            </a:r>
            <a:r>
              <a:rPr b="0" lang="en-US" sz="2000" spc="-26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DNS,</a:t>
            </a:r>
            <a:r>
              <a:rPr b="0" lang="en-US" sz="20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the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HOSTS file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is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still</a:t>
            </a:r>
            <a:r>
              <a:rPr b="0" lang="en-US" sz="2000" spc="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present </a:t>
            </a:r>
            <a:r>
              <a:rPr b="0" lang="en-US" sz="2000" spc="-43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and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most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operating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21" strike="noStrike">
                <a:solidFill>
                  <a:srgbClr val="000000"/>
                </a:solidFill>
                <a:latin typeface="Calibri"/>
                <a:ea typeface="DejaVu Sans"/>
              </a:rPr>
              <a:t>systems</a:t>
            </a:r>
            <a:r>
              <a:rPr b="0" lang="en-US" sz="2000" spc="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check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the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file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before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using DNS.</a:t>
            </a:r>
            <a:endParaRPr b="0" lang="en-US" sz="2000" spc="-1" strike="noStrike">
              <a:latin typeface="Arial"/>
            </a:endParaRPr>
          </a:p>
          <a:p>
            <a:pPr lvl="1" marL="698400" indent="-229320">
              <a:lnSpc>
                <a:spcPts val="2160"/>
              </a:lnSpc>
              <a:spcBef>
                <a:spcPts val="40"/>
              </a:spcBef>
              <a:buClr>
                <a:srgbClr val="000000"/>
              </a:buClr>
              <a:buFont typeface="Wingdings" charset="2"/>
              <a:buChar char=""/>
              <a:tabLst>
                <a:tab algn="l" pos="69912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Its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contents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are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loaded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into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a cache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 of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known</a:t>
            </a:r>
            <a:r>
              <a:rPr b="0" lang="en-US" sz="2000" spc="-3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1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name:IP</a:t>
            </a:r>
            <a:r>
              <a:rPr b="1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mappings</a:t>
            </a:r>
            <a:r>
              <a:rPr b="0" lang="en-US" sz="20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and the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client</a:t>
            </a:r>
            <a:r>
              <a:rPr b="0" lang="en-US" sz="2000" spc="9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only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contacts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a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DNS</a:t>
            </a:r>
            <a:r>
              <a:rPr b="0" lang="en-US" sz="20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server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if the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 name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is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not</a:t>
            </a:r>
            <a:r>
              <a:rPr b="0" lang="en-US" sz="20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cached.</a:t>
            </a:r>
            <a:endParaRPr b="0" lang="en-US" sz="2000" spc="-1" strike="noStrike">
              <a:latin typeface="Arial"/>
            </a:endParaRPr>
          </a:p>
          <a:p>
            <a:pPr lvl="1" marL="698400" indent="-228600">
              <a:lnSpc>
                <a:spcPts val="1919"/>
              </a:lnSpc>
              <a:spcBef>
                <a:spcPts val="479"/>
              </a:spcBef>
              <a:buClr>
                <a:srgbClr val="000000"/>
              </a:buClr>
              <a:buFont typeface="Wingdings" charset="2"/>
              <a:buChar char=""/>
              <a:tabLst>
                <a:tab algn="l" pos="699120"/>
              </a:tabLst>
            </a:pP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Therefore,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if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an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21" strike="noStrike">
                <a:solidFill>
                  <a:srgbClr val="000000"/>
                </a:solidFill>
                <a:latin typeface="Calibri"/>
                <a:ea typeface="DejaVu Sans"/>
              </a:rPr>
              <a:t>attacker</a:t>
            </a:r>
            <a:r>
              <a:rPr b="0" lang="en-US" sz="2000" spc="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is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able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to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place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a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false</a:t>
            </a:r>
            <a:r>
              <a:rPr b="0" lang="en-US" sz="2000" spc="26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1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name:IP</a:t>
            </a:r>
            <a:r>
              <a:rPr b="1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address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mapping in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the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HOSTS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file </a:t>
            </a:r>
            <a:r>
              <a:rPr b="0" lang="en-US" sz="2000" spc="-440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and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effectively</a:t>
            </a:r>
            <a:r>
              <a:rPr b="0" lang="en-US" sz="2000" spc="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poison</a:t>
            </a:r>
            <a:r>
              <a:rPr b="0" lang="en-US" sz="20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the DNS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cache,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he or she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will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be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able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to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redirect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traffic.</a:t>
            </a:r>
            <a:endParaRPr b="0" lang="en-US" sz="2000" spc="-1" strike="noStrike">
              <a:latin typeface="Arial"/>
            </a:endParaRPr>
          </a:p>
          <a:p>
            <a:pPr lvl="1" marL="698400" indent="-229320">
              <a:lnSpc>
                <a:spcPct val="100000"/>
              </a:lnSpc>
              <a:spcBef>
                <a:spcPts val="40"/>
              </a:spcBef>
              <a:buClr>
                <a:srgbClr val="000000"/>
              </a:buClr>
              <a:buFont typeface="Wingdings" charset="2"/>
              <a:buChar char=""/>
              <a:tabLst>
                <a:tab algn="l" pos="699120"/>
              </a:tabLst>
            </a:pP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The HOSTS file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requires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administrator</a:t>
            </a:r>
            <a:r>
              <a:rPr b="0" lang="en-US" sz="2000" spc="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access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to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21" strike="noStrike">
                <a:solidFill>
                  <a:srgbClr val="000000"/>
                </a:solidFill>
                <a:latin typeface="Calibri"/>
                <a:ea typeface="DejaVu Sans"/>
              </a:rPr>
              <a:t>modify.</a:t>
            </a:r>
            <a:endParaRPr b="0" lang="en-US" sz="2000" spc="-1" strike="noStrike">
              <a:latin typeface="Arial"/>
            </a:endParaRPr>
          </a:p>
          <a:p>
            <a:pPr lvl="1" marL="698400" indent="-229320">
              <a:lnSpc>
                <a:spcPts val="2160"/>
              </a:lnSpc>
              <a:spcBef>
                <a:spcPts val="26"/>
              </a:spcBef>
              <a:buClr>
                <a:srgbClr val="000000"/>
              </a:buClr>
              <a:buFont typeface="Wingdings" charset="2"/>
              <a:buChar char=""/>
              <a:tabLst>
                <a:tab algn="l" pos="69912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In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UNIX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and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Linux</a:t>
            </a:r>
            <a:r>
              <a:rPr b="0" lang="en-US" sz="2000" spc="-21" strike="noStrike">
                <a:solidFill>
                  <a:srgbClr val="000000"/>
                </a:solidFill>
                <a:latin typeface="Calibri"/>
                <a:ea typeface="DejaVu Sans"/>
              </a:rPr>
              <a:t> systems</a:t>
            </a:r>
            <a:r>
              <a:rPr b="0" lang="en-US" sz="2000" spc="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it</a:t>
            </a:r>
            <a:r>
              <a:rPr b="0" lang="en-US" sz="2000" spc="9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is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stored</a:t>
            </a:r>
            <a:r>
              <a:rPr b="0" lang="en-US" sz="2000" spc="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as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1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/etc/hosts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,</a:t>
            </a:r>
            <a:r>
              <a:rPr b="0" lang="en-US" sz="2000" spc="-4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while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in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Windows</a:t>
            </a:r>
            <a:r>
              <a:rPr b="0" lang="en-US" sz="2000" spc="-3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it</a:t>
            </a:r>
            <a:r>
              <a:rPr b="0" lang="en-US" sz="2000" spc="9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is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placed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in</a:t>
            </a:r>
            <a:endParaRPr b="0" lang="en-US" sz="2000" spc="-1" strike="noStrike">
              <a:latin typeface="Arial"/>
            </a:endParaRPr>
          </a:p>
          <a:p>
            <a:pPr marL="698400">
              <a:lnSpc>
                <a:spcPts val="2160"/>
              </a:lnSpc>
              <a:buNone/>
              <a:tabLst>
                <a:tab algn="l" pos="699120"/>
              </a:tabLst>
            </a:pPr>
            <a:r>
              <a:rPr b="1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%SystemRoot%\System32\Drivers\etc\hosts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.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126" name="object 4"/>
          <p:cNvSpPr/>
          <p:nvPr/>
        </p:nvSpPr>
        <p:spPr>
          <a:xfrm>
            <a:off x="838080" y="6400800"/>
            <a:ext cx="10514880" cy="227880"/>
          </a:xfrm>
          <a:custGeom>
            <a:avLst/>
            <a:gdLst/>
            <a:ahLst/>
            <a:rect l="l" t="t" r="r" b="b"/>
            <a:pathLst>
              <a:path w="10515600" h="228600">
                <a:moveTo>
                  <a:pt x="10515600" y="0"/>
                </a:moveTo>
                <a:lnTo>
                  <a:pt x="0" y="0"/>
                </a:lnTo>
                <a:lnTo>
                  <a:pt x="0" y="228600"/>
                </a:lnTo>
                <a:lnTo>
                  <a:pt x="10515600" y="228600"/>
                </a:lnTo>
                <a:lnTo>
                  <a:pt x="10515600" y="0"/>
                </a:lnTo>
                <a:close/>
              </a:path>
            </a:pathLst>
          </a:custGeom>
          <a:solidFill>
            <a:srgbClr val="c00000">
              <a:alpha val="5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27" name="PlaceHolder 2"/>
          <p:cNvSpPr>
            <a:spLocks noGrp="1"/>
          </p:cNvSpPr>
          <p:nvPr>
            <p:ph type="ftr" idx="25"/>
          </p:nvPr>
        </p:nvSpPr>
        <p:spPr>
          <a:xfrm>
            <a:off x="916920" y="6451560"/>
            <a:ext cx="102276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1260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12600">
              <a:lnSpc>
                <a:spcPts val="1046"/>
              </a:lnSpc>
              <a:buNone/>
            </a:pP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Security+</a:t>
            </a:r>
            <a:r>
              <a:rPr b="0" lang="en-US" sz="1000" spc="-46" strike="noStrike">
                <a:solidFill>
                  <a:srgbClr val="ffffff"/>
                </a:solidFill>
                <a:latin typeface="Calibri"/>
              </a:rPr>
              <a:t> </a:t>
            </a: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(SY0-601)</a:t>
            </a:r>
            <a:endParaRPr b="0" lang="en-US" sz="1000" spc="-1" strike="noStrike">
              <a:latin typeface="Times New Roman"/>
            </a:endParaRPr>
          </a:p>
        </p:txBody>
      </p:sp>
      <p:sp>
        <p:nvSpPr>
          <p:cNvPr id="128" name="PlaceHolder 3"/>
          <p:cNvSpPr>
            <a:spLocks noGrp="1"/>
          </p:cNvSpPr>
          <p:nvPr>
            <p:ph type="dt" idx="26"/>
          </p:nvPr>
        </p:nvSpPr>
        <p:spPr>
          <a:xfrm>
            <a:off x="5492520" y="6451560"/>
            <a:ext cx="11224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1260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12600">
              <a:lnSpc>
                <a:spcPts val="1046"/>
              </a:lnSpc>
              <a:buNone/>
            </a:pP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©</a:t>
            </a:r>
            <a:r>
              <a:rPr b="0" lang="en-US" sz="1000" spc="-41" strike="noStrike">
                <a:solidFill>
                  <a:srgbClr val="ffffff"/>
                </a:solidFill>
                <a:latin typeface="Calibri"/>
              </a:rPr>
              <a:t> </a:t>
            </a: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netriders.academy</a:t>
            </a:r>
            <a:endParaRPr b="0" lang="en-US" sz="1000" spc="-1" strike="noStrike">
              <a:latin typeface="Times New Roman"/>
            </a:endParaRPr>
          </a:p>
        </p:txBody>
      </p:sp>
      <p:sp>
        <p:nvSpPr>
          <p:cNvPr id="129" name="PlaceHolder 4"/>
          <p:cNvSpPr>
            <a:spLocks noGrp="1"/>
          </p:cNvSpPr>
          <p:nvPr>
            <p:ph type="sldNum" idx="27"/>
          </p:nvPr>
        </p:nvSpPr>
        <p:spPr>
          <a:xfrm>
            <a:off x="11098440" y="6451200"/>
            <a:ext cx="20376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3816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38160">
              <a:lnSpc>
                <a:spcPts val="1046"/>
              </a:lnSpc>
              <a:buNone/>
            </a:pPr>
            <a:fld id="{60C4EA49-0AF7-4923-BE6B-53C9F37A60AC}" type="slidenum">
              <a:rPr b="0" lang="en-US" sz="1000" spc="-7" strike="noStrike">
                <a:solidFill>
                  <a:srgbClr val="ffffff"/>
                </a:solidFill>
                <a:latin typeface="Calibri"/>
              </a:rPr>
              <a:t>&lt;number&gt;</a:t>
            </a:fld>
            <a:endParaRPr b="0" lang="en-US" sz="1000" spc="-1" strike="noStrike"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PlaceHolder 1"/>
          <p:cNvSpPr>
            <a:spLocks noGrp="1"/>
          </p:cNvSpPr>
          <p:nvPr>
            <p:ph type="title"/>
          </p:nvPr>
        </p:nvSpPr>
        <p:spPr>
          <a:xfrm>
            <a:off x="916920" y="684720"/>
            <a:ext cx="6566400" cy="1157400"/>
          </a:xfrm>
          <a:prstGeom prst="rect">
            <a:avLst/>
          </a:prstGeom>
          <a:noFill/>
          <a:ln w="0">
            <a:noFill/>
          </a:ln>
        </p:spPr>
        <p:txBody>
          <a:bodyPr lIns="0" rIns="0" tIns="12600" bIns="0" anchor="t">
            <a:noAutofit/>
          </a:bodyPr>
          <a:p>
            <a:pPr marL="12600">
              <a:lnSpc>
                <a:spcPct val="100000"/>
              </a:lnSpc>
              <a:spcBef>
                <a:spcPts val="99"/>
              </a:spcBef>
              <a:buNone/>
            </a:pPr>
            <a:r>
              <a:rPr b="0" lang="en-US" sz="3600" spc="-32" strike="noStrike">
                <a:solidFill>
                  <a:srgbClr val="c00000"/>
                </a:solidFill>
                <a:latin typeface="Calibri Light"/>
              </a:rPr>
              <a:t>DOMAIN</a:t>
            </a:r>
            <a:r>
              <a:rPr b="0" lang="en-US" sz="3600" spc="-106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32" strike="noStrike">
                <a:solidFill>
                  <a:srgbClr val="c00000"/>
                </a:solidFill>
                <a:latin typeface="Calibri Light"/>
              </a:rPr>
              <a:t>NAME</a:t>
            </a:r>
            <a:r>
              <a:rPr b="0" lang="en-US" sz="3600" spc="-100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41" strike="noStrike">
                <a:solidFill>
                  <a:srgbClr val="c00000"/>
                </a:solidFill>
                <a:latin typeface="Calibri Light"/>
              </a:rPr>
              <a:t>RESOLUTION</a:t>
            </a:r>
            <a:r>
              <a:rPr b="0" lang="en-US" sz="3600" spc="-114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32" strike="noStrike">
                <a:solidFill>
                  <a:srgbClr val="c00000"/>
                </a:solidFill>
                <a:latin typeface="Calibri Light"/>
              </a:rPr>
              <a:t>(cont.)</a:t>
            </a:r>
            <a:endParaRPr b="0" lang="en-US" sz="3600" spc="-1" strike="noStrike">
              <a:latin typeface="Arial"/>
            </a:endParaRPr>
          </a:p>
        </p:txBody>
      </p:sp>
      <p:sp>
        <p:nvSpPr>
          <p:cNvPr id="131" name="object 3"/>
          <p:cNvSpPr/>
          <p:nvPr/>
        </p:nvSpPr>
        <p:spPr>
          <a:xfrm>
            <a:off x="916920" y="1758960"/>
            <a:ext cx="9884880" cy="225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56520" bIns="0" anchor="t">
            <a:spAutoFit/>
          </a:bodyPr>
          <a:p>
            <a:pPr marL="469800" indent="-457920">
              <a:lnSpc>
                <a:spcPct val="100000"/>
              </a:lnSpc>
              <a:spcBef>
                <a:spcPts val="445"/>
              </a:spcBef>
              <a:buClr>
                <a:srgbClr val="ac172b"/>
              </a:buClr>
              <a:buFont typeface="StarSymbol"/>
              <a:buAutoNum type="arabicPeriod" startAt="3"/>
              <a:tabLst>
                <a:tab algn="l" pos="469800"/>
                <a:tab algn="l" pos="470520"/>
              </a:tabLst>
            </a:pPr>
            <a:r>
              <a:rPr b="0" lang="en-US" sz="2400" spc="-7" strike="noStrike">
                <a:solidFill>
                  <a:srgbClr val="ac172b"/>
                </a:solidFill>
                <a:latin typeface="Calibri"/>
                <a:ea typeface="DejaVu Sans"/>
              </a:rPr>
              <a:t>DNS</a:t>
            </a:r>
            <a:r>
              <a:rPr b="0" lang="en-US" sz="2400" spc="-15" strike="noStrike">
                <a:solidFill>
                  <a:srgbClr val="ac172b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ac172b"/>
                </a:solidFill>
                <a:latin typeface="Calibri"/>
                <a:ea typeface="DejaVu Sans"/>
              </a:rPr>
              <a:t>Server</a:t>
            </a:r>
            <a:r>
              <a:rPr b="0" lang="en-US" sz="2400" spc="-15" strike="noStrike">
                <a:solidFill>
                  <a:srgbClr val="ac172b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ac172b"/>
                </a:solidFill>
                <a:latin typeface="Calibri"/>
                <a:ea typeface="DejaVu Sans"/>
              </a:rPr>
              <a:t>Cache</a:t>
            </a:r>
            <a:r>
              <a:rPr b="0" lang="en-US" sz="2400" spc="-15" strike="noStrike">
                <a:solidFill>
                  <a:srgbClr val="ac172b"/>
                </a:solidFill>
                <a:latin typeface="Calibri"/>
                <a:ea typeface="DejaVu Sans"/>
              </a:rPr>
              <a:t> Poisoning</a:t>
            </a:r>
            <a:endParaRPr b="0" lang="en-US" sz="2400" spc="-1" strike="noStrike">
              <a:latin typeface="Arial"/>
            </a:endParaRPr>
          </a:p>
          <a:p>
            <a:pPr lvl="1" marL="698400" indent="-229320">
              <a:lnSpc>
                <a:spcPct val="100000"/>
              </a:lnSpc>
              <a:spcBef>
                <a:spcPts val="289"/>
              </a:spcBef>
              <a:buClr>
                <a:srgbClr val="000000"/>
              </a:buClr>
              <a:buFont typeface="Wingdings" charset="2"/>
              <a:buChar char=""/>
              <a:tabLst>
                <a:tab algn="l" pos="699120"/>
              </a:tabLst>
            </a:pP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DNS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server</a:t>
            </a:r>
            <a:r>
              <a:rPr b="0" lang="en-US" sz="2000" spc="9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cache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 poisoning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aims</a:t>
            </a:r>
            <a:r>
              <a:rPr b="0" lang="en-US" sz="2000" spc="9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to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corrupt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the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records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 held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by</a:t>
            </a:r>
            <a:r>
              <a:rPr b="0" lang="en-US" sz="20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the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 DNS server</a:t>
            </a:r>
            <a:r>
              <a:rPr b="0" lang="en-US" sz="2000" spc="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26" strike="noStrike">
                <a:solidFill>
                  <a:srgbClr val="000000"/>
                </a:solidFill>
                <a:latin typeface="Calibri"/>
                <a:ea typeface="DejaVu Sans"/>
              </a:rPr>
              <a:t>itself.</a:t>
            </a:r>
            <a:endParaRPr b="0" lang="en-US" sz="2000" spc="-1" strike="noStrike">
              <a:latin typeface="Arial"/>
            </a:endParaRPr>
          </a:p>
          <a:p>
            <a:pPr lvl="1" marL="698400" indent="-229320">
              <a:lnSpc>
                <a:spcPts val="2279"/>
              </a:lnSpc>
              <a:spcBef>
                <a:spcPts val="249"/>
              </a:spcBef>
              <a:buClr>
                <a:srgbClr val="000000"/>
              </a:buClr>
              <a:buFont typeface="Wingdings" charset="2"/>
              <a:buChar char=""/>
              <a:tabLst>
                <a:tab algn="l" pos="699120"/>
              </a:tabLst>
            </a:pP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This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can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be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 accomplished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by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 performing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DoS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against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the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 server</a:t>
            </a:r>
            <a:r>
              <a:rPr b="0" lang="en-US" sz="2000" spc="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that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holds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the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authorized</a:t>
            </a:r>
            <a:endParaRPr b="0" lang="en-US" sz="2000" spc="-1" strike="noStrike">
              <a:latin typeface="Arial"/>
            </a:endParaRPr>
          </a:p>
          <a:p>
            <a:pPr marL="698400">
              <a:lnSpc>
                <a:spcPts val="2279"/>
              </a:lnSpc>
              <a:buNone/>
              <a:tabLst>
                <a:tab algn="l" pos="699120"/>
              </a:tabLst>
            </a:pP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records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for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the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domain,</a:t>
            </a:r>
            <a:r>
              <a:rPr b="0" lang="en-US" sz="20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and then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 spoofing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replies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to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requests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from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other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name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servers.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132" name="object 4"/>
          <p:cNvSpPr/>
          <p:nvPr/>
        </p:nvSpPr>
        <p:spPr>
          <a:xfrm>
            <a:off x="838080" y="6400800"/>
            <a:ext cx="10514880" cy="227880"/>
          </a:xfrm>
          <a:custGeom>
            <a:avLst/>
            <a:gdLst/>
            <a:ahLst/>
            <a:rect l="l" t="t" r="r" b="b"/>
            <a:pathLst>
              <a:path w="10515600" h="228600">
                <a:moveTo>
                  <a:pt x="10515600" y="0"/>
                </a:moveTo>
                <a:lnTo>
                  <a:pt x="0" y="0"/>
                </a:lnTo>
                <a:lnTo>
                  <a:pt x="0" y="228600"/>
                </a:lnTo>
                <a:lnTo>
                  <a:pt x="10515600" y="228600"/>
                </a:lnTo>
                <a:lnTo>
                  <a:pt x="10515600" y="0"/>
                </a:lnTo>
                <a:close/>
              </a:path>
            </a:pathLst>
          </a:custGeom>
          <a:solidFill>
            <a:srgbClr val="c00000">
              <a:alpha val="5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33" name="PlaceHolder 2"/>
          <p:cNvSpPr>
            <a:spLocks noGrp="1"/>
          </p:cNvSpPr>
          <p:nvPr>
            <p:ph type="ftr" idx="28"/>
          </p:nvPr>
        </p:nvSpPr>
        <p:spPr>
          <a:xfrm>
            <a:off x="916920" y="6451560"/>
            <a:ext cx="102276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1260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12600">
              <a:lnSpc>
                <a:spcPts val="1046"/>
              </a:lnSpc>
              <a:buNone/>
            </a:pP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Security+</a:t>
            </a:r>
            <a:r>
              <a:rPr b="0" lang="en-US" sz="1000" spc="-46" strike="noStrike">
                <a:solidFill>
                  <a:srgbClr val="ffffff"/>
                </a:solidFill>
                <a:latin typeface="Calibri"/>
              </a:rPr>
              <a:t> </a:t>
            </a: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(SY0-601)</a:t>
            </a:r>
            <a:endParaRPr b="0" lang="en-US" sz="1000" spc="-1" strike="noStrike">
              <a:latin typeface="Times New Roman"/>
            </a:endParaRPr>
          </a:p>
        </p:txBody>
      </p:sp>
      <p:sp>
        <p:nvSpPr>
          <p:cNvPr id="134" name="PlaceHolder 3"/>
          <p:cNvSpPr>
            <a:spLocks noGrp="1"/>
          </p:cNvSpPr>
          <p:nvPr>
            <p:ph type="dt" idx="29"/>
          </p:nvPr>
        </p:nvSpPr>
        <p:spPr>
          <a:xfrm>
            <a:off x="5492520" y="6451560"/>
            <a:ext cx="11224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1260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12600">
              <a:lnSpc>
                <a:spcPts val="1046"/>
              </a:lnSpc>
              <a:buNone/>
            </a:pP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©</a:t>
            </a:r>
            <a:r>
              <a:rPr b="0" lang="en-US" sz="1000" spc="-41" strike="noStrike">
                <a:solidFill>
                  <a:srgbClr val="ffffff"/>
                </a:solidFill>
                <a:latin typeface="Calibri"/>
              </a:rPr>
              <a:t> </a:t>
            </a: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netriders.academy</a:t>
            </a:r>
            <a:endParaRPr b="0" lang="en-US" sz="1000" spc="-1" strike="noStrike">
              <a:latin typeface="Times New Roman"/>
            </a:endParaRPr>
          </a:p>
        </p:txBody>
      </p:sp>
      <p:sp>
        <p:nvSpPr>
          <p:cNvPr id="135" name="PlaceHolder 4"/>
          <p:cNvSpPr>
            <a:spLocks noGrp="1"/>
          </p:cNvSpPr>
          <p:nvPr>
            <p:ph type="sldNum" idx="30"/>
          </p:nvPr>
        </p:nvSpPr>
        <p:spPr>
          <a:xfrm>
            <a:off x="11098440" y="6451200"/>
            <a:ext cx="20376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3816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38160">
              <a:lnSpc>
                <a:spcPts val="1046"/>
              </a:lnSpc>
              <a:buNone/>
            </a:pPr>
            <a:fld id="{8918770E-B527-4FAE-BF12-DB0FB298B445}" type="slidenum">
              <a:rPr b="0" lang="en-US" sz="1000" spc="-7" strike="noStrike">
                <a:solidFill>
                  <a:srgbClr val="ffffff"/>
                </a:solidFill>
                <a:latin typeface="Calibri"/>
              </a:rPr>
              <a:t>&lt;number&gt;</a:t>
            </a:fld>
            <a:endParaRPr b="0" lang="en-US" sz="1000" spc="-1" strike="noStrike"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PlaceHolder 1"/>
          <p:cNvSpPr>
            <a:spLocks noGrp="1"/>
          </p:cNvSpPr>
          <p:nvPr>
            <p:ph type="title"/>
          </p:nvPr>
        </p:nvSpPr>
        <p:spPr>
          <a:xfrm>
            <a:off x="628920" y="576720"/>
            <a:ext cx="4112280" cy="686880"/>
          </a:xfrm>
          <a:prstGeom prst="rect">
            <a:avLst/>
          </a:prstGeom>
          <a:noFill/>
          <a:ln w="0">
            <a:noFill/>
          </a:ln>
        </p:spPr>
        <p:txBody>
          <a:bodyPr lIns="0" rIns="0" tIns="12600" bIns="0" anchor="t">
            <a:noAutofit/>
          </a:bodyPr>
          <a:p>
            <a:pPr marL="12600">
              <a:lnSpc>
                <a:spcPct val="100000"/>
              </a:lnSpc>
              <a:spcBef>
                <a:spcPts val="99"/>
              </a:spcBef>
              <a:buNone/>
            </a:pPr>
            <a:r>
              <a:rPr b="0" lang="en-US" sz="3600" spc="-21" strike="noStrike">
                <a:solidFill>
                  <a:srgbClr val="c00000"/>
                </a:solidFill>
                <a:latin typeface="Calibri Light"/>
              </a:rPr>
              <a:t>DNS</a:t>
            </a:r>
            <a:r>
              <a:rPr b="0" lang="en-US" sz="3600" spc="-126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35" strike="noStrike">
                <a:solidFill>
                  <a:srgbClr val="c00000"/>
                </a:solidFill>
                <a:latin typeface="Calibri Light"/>
              </a:rPr>
              <a:t>SECURITY</a:t>
            </a:r>
            <a:endParaRPr b="0" lang="en-US" sz="3600" spc="-1" strike="noStrike">
              <a:latin typeface="Arial"/>
            </a:endParaRPr>
          </a:p>
        </p:txBody>
      </p:sp>
      <p:sp>
        <p:nvSpPr>
          <p:cNvPr id="137" name="object 3"/>
          <p:cNvSpPr/>
          <p:nvPr/>
        </p:nvSpPr>
        <p:spPr>
          <a:xfrm>
            <a:off x="628920" y="1398960"/>
            <a:ext cx="10310400" cy="4039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56520" bIns="0" anchor="t">
            <a:spAutoFit/>
          </a:bodyPr>
          <a:p>
            <a:pPr marL="241200" indent="-229320">
              <a:lnSpc>
                <a:spcPct val="100000"/>
              </a:lnSpc>
              <a:spcBef>
                <a:spcPts val="445"/>
              </a:spcBef>
              <a:buClr>
                <a:srgbClr val="ac172b"/>
              </a:buClr>
              <a:buFont typeface="Arial MT"/>
              <a:buChar char="•"/>
              <a:tabLst>
                <a:tab algn="l" pos="241920"/>
              </a:tabLst>
            </a:pPr>
            <a:r>
              <a:rPr b="0" lang="en-US" sz="2400" spc="-7" strike="noStrike">
                <a:solidFill>
                  <a:srgbClr val="ac172b"/>
                </a:solidFill>
                <a:latin typeface="Calibri"/>
                <a:ea typeface="DejaVu Sans"/>
              </a:rPr>
              <a:t>DNS</a:t>
            </a:r>
            <a:r>
              <a:rPr b="0" lang="en-US" sz="2400" spc="-12" strike="noStrike">
                <a:solidFill>
                  <a:srgbClr val="ac172b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ac172b"/>
                </a:solidFill>
                <a:latin typeface="Calibri"/>
                <a:ea typeface="DejaVu Sans"/>
              </a:rPr>
              <a:t>Security</a:t>
            </a:r>
            <a:r>
              <a:rPr b="0" lang="en-US" sz="2400" spc="-32" strike="noStrike">
                <a:solidFill>
                  <a:srgbClr val="ac172b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ac172b"/>
                </a:solidFill>
                <a:latin typeface="Calibri"/>
                <a:ea typeface="DejaVu Sans"/>
              </a:rPr>
              <a:t>Extensions</a:t>
            </a:r>
            <a:r>
              <a:rPr b="0" lang="en-US" sz="2400" spc="-32" strike="noStrike">
                <a:solidFill>
                  <a:srgbClr val="ac172b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ac172b"/>
                </a:solidFill>
                <a:latin typeface="Calibri"/>
                <a:ea typeface="DejaVu Sans"/>
              </a:rPr>
              <a:t>(DNSSEC)</a:t>
            </a:r>
            <a:endParaRPr b="0" lang="en-US" sz="2400" spc="-1" strike="noStrike">
              <a:latin typeface="Arial"/>
            </a:endParaRPr>
          </a:p>
          <a:p>
            <a:pPr lvl="1" marL="698400" indent="-229320">
              <a:lnSpc>
                <a:spcPts val="2279"/>
              </a:lnSpc>
              <a:spcBef>
                <a:spcPts val="289"/>
              </a:spcBef>
              <a:buClr>
                <a:srgbClr val="000000"/>
              </a:buClr>
              <a:buFont typeface="Wingdings" charset="2"/>
              <a:buChar char=""/>
              <a:tabLst>
                <a:tab algn="l" pos="699120"/>
              </a:tabLst>
            </a:pP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Help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to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mitigate</a:t>
            </a:r>
            <a:r>
              <a:rPr b="0" lang="en-US" sz="2000" spc="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against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spoofing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and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poisoning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attacks</a:t>
            </a:r>
            <a:r>
              <a:rPr b="0" lang="en-US" sz="2000" spc="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by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providing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a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validation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process</a:t>
            </a:r>
            <a:r>
              <a:rPr b="0" lang="en-US" sz="2000" spc="9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21" strike="noStrike">
                <a:solidFill>
                  <a:srgbClr val="000000"/>
                </a:solidFill>
                <a:latin typeface="Calibri"/>
                <a:ea typeface="DejaVu Sans"/>
              </a:rPr>
              <a:t>for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DNS</a:t>
            </a:r>
            <a:r>
              <a:rPr b="0" lang="en-US" sz="2000" spc="-60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responses.</a:t>
            </a:r>
            <a:endParaRPr b="0" lang="en-US" sz="2000" spc="-1" strike="noStrike">
              <a:latin typeface="Arial"/>
            </a:endParaRPr>
          </a:p>
          <a:p>
            <a:pPr lvl="1" marL="698400" indent="-228600">
              <a:lnSpc>
                <a:spcPts val="2160"/>
              </a:lnSpc>
              <a:spcBef>
                <a:spcPts val="524"/>
              </a:spcBef>
              <a:buClr>
                <a:srgbClr val="000000"/>
              </a:buClr>
              <a:buFont typeface="Wingdings" charset="2"/>
              <a:buChar char=""/>
              <a:tabLst>
                <a:tab algn="l" pos="69912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With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DNSSEC</a:t>
            </a:r>
            <a:r>
              <a:rPr b="0" lang="en-US" sz="2000" spc="-3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enabled,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the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authoritative</a:t>
            </a:r>
            <a:r>
              <a:rPr b="0" lang="en-US" sz="2000" spc="26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server</a:t>
            </a:r>
            <a:r>
              <a:rPr b="0" lang="en-US" sz="2000" spc="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for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the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zone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creates</a:t>
            </a:r>
            <a:r>
              <a:rPr b="0" lang="en-US" sz="2000" spc="9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a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"package"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of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resource </a:t>
            </a:r>
            <a:r>
              <a:rPr b="0" lang="en-US" sz="2000" spc="-440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records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signed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 with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a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private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26" strike="noStrike">
                <a:solidFill>
                  <a:srgbClr val="000000"/>
                </a:solidFill>
                <a:latin typeface="Calibri"/>
                <a:ea typeface="DejaVu Sans"/>
              </a:rPr>
              <a:t>key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(the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 Zone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Signing</a:t>
            </a:r>
            <a:r>
              <a:rPr b="0" lang="en-US" sz="20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Key).</a:t>
            </a:r>
            <a:endParaRPr b="0" lang="en-US" sz="2000" spc="-1" strike="noStrike">
              <a:latin typeface="Arial"/>
            </a:endParaRPr>
          </a:p>
          <a:p>
            <a:pPr lvl="1" marL="698400" indent="-228600">
              <a:lnSpc>
                <a:spcPts val="2160"/>
              </a:lnSpc>
              <a:spcBef>
                <a:spcPts val="505"/>
              </a:spcBef>
              <a:buClr>
                <a:srgbClr val="000000"/>
              </a:buClr>
              <a:buFont typeface="Wingdings" charset="2"/>
              <a:buChar char=""/>
              <a:tabLst>
                <a:tab algn="l" pos="69912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When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another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 server</a:t>
            </a:r>
            <a:r>
              <a:rPr b="0" lang="en-US" sz="2000" spc="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requests</a:t>
            </a:r>
            <a:r>
              <a:rPr b="0" lang="en-US" sz="2000" spc="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a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secure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record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exchange,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the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authoritative</a:t>
            </a:r>
            <a:r>
              <a:rPr b="0" lang="en-US" sz="2000" spc="29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server</a:t>
            </a:r>
            <a:r>
              <a:rPr b="0" lang="en-US" sz="2000" spc="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returns</a:t>
            </a:r>
            <a:r>
              <a:rPr b="0" lang="en-US" sz="2000" spc="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the </a:t>
            </a:r>
            <a:r>
              <a:rPr b="0" lang="en-US" sz="2000" spc="-43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package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along</a:t>
            </a:r>
            <a:r>
              <a:rPr b="0" lang="en-US" sz="20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with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its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public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55" strike="noStrike">
                <a:solidFill>
                  <a:srgbClr val="000000"/>
                </a:solidFill>
                <a:latin typeface="Calibri"/>
                <a:ea typeface="DejaVu Sans"/>
              </a:rPr>
              <a:t>key,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which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can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be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used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to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verify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the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signature.</a:t>
            </a:r>
            <a:endParaRPr b="0" lang="en-US" sz="2000" spc="-1" strike="noStrike">
              <a:latin typeface="Arial"/>
            </a:endParaRPr>
          </a:p>
          <a:p>
            <a:pPr lvl="1" marL="698400" indent="-229320">
              <a:lnSpc>
                <a:spcPct val="100000"/>
              </a:lnSpc>
              <a:spcBef>
                <a:spcPts val="235"/>
              </a:spcBef>
              <a:buClr>
                <a:srgbClr val="000000"/>
              </a:buClr>
              <a:buFont typeface="Wingdings" charset="2"/>
              <a:buChar char=""/>
              <a:tabLst>
                <a:tab algn="l" pos="699120"/>
              </a:tabLst>
            </a:pP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The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public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zone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signing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32" strike="noStrike">
                <a:solidFill>
                  <a:srgbClr val="000000"/>
                </a:solidFill>
                <a:latin typeface="Calibri"/>
                <a:ea typeface="DejaVu Sans"/>
              </a:rPr>
              <a:t>key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is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itself</a:t>
            </a:r>
            <a:r>
              <a:rPr b="0" lang="en-US" sz="2000" spc="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signed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with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a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separate</a:t>
            </a:r>
            <a:r>
              <a:rPr b="0" lang="en-US" sz="2000" spc="26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21" strike="noStrike">
                <a:solidFill>
                  <a:srgbClr val="000000"/>
                </a:solidFill>
                <a:latin typeface="Calibri"/>
                <a:ea typeface="DejaVu Sans"/>
              </a:rPr>
              <a:t>Key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Signing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46" strike="noStrike">
                <a:solidFill>
                  <a:srgbClr val="000000"/>
                </a:solidFill>
                <a:latin typeface="Calibri"/>
                <a:ea typeface="DejaVu Sans"/>
              </a:rPr>
              <a:t>Key.</a:t>
            </a:r>
            <a:endParaRPr b="0" lang="en-US" sz="2000" spc="-1" strike="noStrike">
              <a:latin typeface="Arial"/>
            </a:endParaRPr>
          </a:p>
          <a:p>
            <a:pPr lvl="1" marL="698400" indent="-228600">
              <a:lnSpc>
                <a:spcPts val="2160"/>
              </a:lnSpc>
              <a:spcBef>
                <a:spcPts val="524"/>
              </a:spcBef>
              <a:buClr>
                <a:srgbClr val="000000"/>
              </a:buClr>
              <a:buFont typeface="Wingdings" charset="2"/>
              <a:buChar char=""/>
              <a:tabLst>
                <a:tab algn="l" pos="699120"/>
              </a:tabLst>
            </a:pP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Separate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26" strike="noStrike">
                <a:solidFill>
                  <a:srgbClr val="000000"/>
                </a:solidFill>
                <a:latin typeface="Calibri"/>
                <a:ea typeface="DejaVu Sans"/>
              </a:rPr>
              <a:t>keys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are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used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so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that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if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there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is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some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sort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of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 compromise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of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the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zone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signing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55" strike="noStrike">
                <a:solidFill>
                  <a:srgbClr val="000000"/>
                </a:solidFill>
                <a:latin typeface="Calibri"/>
                <a:ea typeface="DejaVu Sans"/>
              </a:rPr>
              <a:t>key, </a:t>
            </a:r>
            <a:r>
              <a:rPr b="0" lang="en-US" sz="2000" spc="-5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the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domain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can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continue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to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operate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securely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by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revoking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the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compromised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26" strike="noStrike">
                <a:solidFill>
                  <a:srgbClr val="000000"/>
                </a:solidFill>
                <a:latin typeface="Calibri"/>
                <a:ea typeface="DejaVu Sans"/>
              </a:rPr>
              <a:t>key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and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issuing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a </a:t>
            </a:r>
            <a:r>
              <a:rPr b="0" lang="en-US" sz="2000" spc="-43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new</a:t>
            </a:r>
            <a:r>
              <a:rPr b="0" lang="en-US" sz="20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one.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138" name="object 4"/>
          <p:cNvSpPr/>
          <p:nvPr/>
        </p:nvSpPr>
        <p:spPr>
          <a:xfrm>
            <a:off x="838080" y="6400800"/>
            <a:ext cx="10514880" cy="227880"/>
          </a:xfrm>
          <a:custGeom>
            <a:avLst/>
            <a:gdLst/>
            <a:ahLst/>
            <a:rect l="l" t="t" r="r" b="b"/>
            <a:pathLst>
              <a:path w="10515600" h="228600">
                <a:moveTo>
                  <a:pt x="10515600" y="0"/>
                </a:moveTo>
                <a:lnTo>
                  <a:pt x="0" y="0"/>
                </a:lnTo>
                <a:lnTo>
                  <a:pt x="0" y="228600"/>
                </a:lnTo>
                <a:lnTo>
                  <a:pt x="10515600" y="228600"/>
                </a:lnTo>
                <a:lnTo>
                  <a:pt x="10515600" y="0"/>
                </a:lnTo>
                <a:close/>
              </a:path>
            </a:pathLst>
          </a:custGeom>
          <a:solidFill>
            <a:srgbClr val="c00000">
              <a:alpha val="5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39" name="PlaceHolder 2"/>
          <p:cNvSpPr>
            <a:spLocks noGrp="1"/>
          </p:cNvSpPr>
          <p:nvPr>
            <p:ph type="ftr" idx="31"/>
          </p:nvPr>
        </p:nvSpPr>
        <p:spPr>
          <a:xfrm>
            <a:off x="916920" y="6451560"/>
            <a:ext cx="102276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1260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12600">
              <a:lnSpc>
                <a:spcPts val="1046"/>
              </a:lnSpc>
              <a:buNone/>
            </a:pP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Security+</a:t>
            </a:r>
            <a:r>
              <a:rPr b="0" lang="en-US" sz="1000" spc="-46" strike="noStrike">
                <a:solidFill>
                  <a:srgbClr val="ffffff"/>
                </a:solidFill>
                <a:latin typeface="Calibri"/>
              </a:rPr>
              <a:t> </a:t>
            </a: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(SY0-601)</a:t>
            </a:r>
            <a:endParaRPr b="0" lang="en-US" sz="1000" spc="-1" strike="noStrike">
              <a:latin typeface="Times New Roman"/>
            </a:endParaRPr>
          </a:p>
        </p:txBody>
      </p:sp>
      <p:sp>
        <p:nvSpPr>
          <p:cNvPr id="140" name="PlaceHolder 3"/>
          <p:cNvSpPr>
            <a:spLocks noGrp="1"/>
          </p:cNvSpPr>
          <p:nvPr>
            <p:ph type="dt" idx="32"/>
          </p:nvPr>
        </p:nvSpPr>
        <p:spPr>
          <a:xfrm>
            <a:off x="5492520" y="6451560"/>
            <a:ext cx="11224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1260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12600">
              <a:lnSpc>
                <a:spcPts val="1046"/>
              </a:lnSpc>
              <a:buNone/>
            </a:pP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©</a:t>
            </a:r>
            <a:r>
              <a:rPr b="0" lang="en-US" sz="1000" spc="-41" strike="noStrike">
                <a:solidFill>
                  <a:srgbClr val="ffffff"/>
                </a:solidFill>
                <a:latin typeface="Calibri"/>
              </a:rPr>
              <a:t> </a:t>
            </a: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netriders.academy</a:t>
            </a:r>
            <a:endParaRPr b="0" lang="en-US" sz="1000" spc="-1" strike="noStrike">
              <a:latin typeface="Times New Roman"/>
            </a:endParaRPr>
          </a:p>
        </p:txBody>
      </p:sp>
      <p:sp>
        <p:nvSpPr>
          <p:cNvPr id="141" name="PlaceHolder 4"/>
          <p:cNvSpPr>
            <a:spLocks noGrp="1"/>
          </p:cNvSpPr>
          <p:nvPr>
            <p:ph type="sldNum" idx="33"/>
          </p:nvPr>
        </p:nvSpPr>
        <p:spPr>
          <a:xfrm>
            <a:off x="11098440" y="6451200"/>
            <a:ext cx="20376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3816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38160">
              <a:lnSpc>
                <a:spcPts val="1046"/>
              </a:lnSpc>
              <a:buNone/>
            </a:pPr>
            <a:fld id="{73A9DD5A-EB74-4474-9702-41DE6A9A2942}" type="slidenum">
              <a:rPr b="0" lang="en-US" sz="1000" spc="-7" strike="noStrike">
                <a:solidFill>
                  <a:srgbClr val="ffffff"/>
                </a:solidFill>
                <a:latin typeface="Calibri"/>
              </a:rPr>
              <a:t>&lt;number&gt;</a:t>
            </a:fld>
            <a:endParaRPr b="0" lang="en-US" sz="1000" spc="-1" strike="noStrike"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PlaceHolder 1"/>
          <p:cNvSpPr>
            <a:spLocks noGrp="1"/>
          </p:cNvSpPr>
          <p:nvPr>
            <p:ph type="title"/>
          </p:nvPr>
        </p:nvSpPr>
        <p:spPr>
          <a:xfrm>
            <a:off x="916920" y="684720"/>
            <a:ext cx="7084080" cy="915480"/>
          </a:xfrm>
          <a:prstGeom prst="rect">
            <a:avLst/>
          </a:prstGeom>
          <a:noFill/>
          <a:ln w="0">
            <a:noFill/>
          </a:ln>
        </p:spPr>
        <p:txBody>
          <a:bodyPr lIns="0" rIns="0" tIns="12600" bIns="0" anchor="t">
            <a:noAutofit/>
          </a:bodyPr>
          <a:p>
            <a:pPr marL="12600">
              <a:lnSpc>
                <a:spcPct val="100000"/>
              </a:lnSpc>
              <a:spcBef>
                <a:spcPts val="99"/>
              </a:spcBef>
              <a:buNone/>
            </a:pPr>
            <a:r>
              <a:rPr b="0" lang="en-US" sz="3600" spc="-35" strike="noStrike">
                <a:solidFill>
                  <a:srgbClr val="c00000"/>
                </a:solidFill>
                <a:latin typeface="Calibri Light"/>
              </a:rPr>
              <a:t>TRANSPORT</a:t>
            </a:r>
            <a:r>
              <a:rPr b="0" lang="en-US" sz="3600" spc="-106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75" strike="noStrike">
                <a:solidFill>
                  <a:srgbClr val="c00000"/>
                </a:solidFill>
                <a:latin typeface="Calibri Light"/>
              </a:rPr>
              <a:t>LAYER</a:t>
            </a:r>
            <a:r>
              <a:rPr b="0" lang="en-US" sz="3600" spc="-114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32" strike="noStrike">
                <a:solidFill>
                  <a:srgbClr val="c00000"/>
                </a:solidFill>
                <a:latin typeface="Calibri Light"/>
              </a:rPr>
              <a:t>SECURITY</a:t>
            </a:r>
            <a:endParaRPr b="0" lang="en-US" sz="3600" spc="-1" strike="noStrike">
              <a:latin typeface="Arial"/>
            </a:endParaRPr>
          </a:p>
        </p:txBody>
      </p:sp>
      <p:sp>
        <p:nvSpPr>
          <p:cNvPr id="143" name="object 3"/>
          <p:cNvSpPr/>
          <p:nvPr/>
        </p:nvSpPr>
        <p:spPr>
          <a:xfrm>
            <a:off x="592920" y="1802520"/>
            <a:ext cx="10970280" cy="339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54000" bIns="0" anchor="t">
            <a:spAutoFit/>
          </a:bodyPr>
          <a:p>
            <a:pPr marL="241200" indent="-229320">
              <a:lnSpc>
                <a:spcPts val="2591"/>
              </a:lnSpc>
              <a:spcBef>
                <a:spcPts val="425"/>
              </a:spcBef>
              <a:buClr>
                <a:srgbClr val="000000"/>
              </a:buClr>
              <a:buFont typeface="Arial MT"/>
              <a:buChar char="•"/>
              <a:tabLst>
                <a:tab algn="l" pos="24192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As with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other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early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35" strike="noStrike">
                <a:solidFill>
                  <a:srgbClr val="000000"/>
                </a:solidFill>
                <a:latin typeface="Calibri"/>
                <a:ea typeface="DejaVu Sans"/>
              </a:rPr>
              <a:t>TCP/IP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application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 protocols,</a:t>
            </a:r>
            <a:r>
              <a:rPr b="0" lang="en-US" sz="2400" spc="1" strike="noStrike">
                <a:solidFill>
                  <a:srgbClr val="000000"/>
                </a:solidFill>
                <a:latin typeface="Calibri"/>
                <a:ea typeface="DejaVu Sans"/>
              </a:rPr>
              <a:t> HTTP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communications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are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not </a:t>
            </a:r>
            <a:r>
              <a:rPr b="0" lang="en-US" sz="2400" spc="-52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secured.</a:t>
            </a:r>
            <a:endParaRPr b="0" lang="en-US" sz="2400" spc="-1" strike="noStrike">
              <a:latin typeface="Arial"/>
            </a:endParaRPr>
          </a:p>
          <a:p>
            <a:pPr marL="241200" indent="-229320">
              <a:lnSpc>
                <a:spcPts val="2741"/>
              </a:lnSpc>
              <a:spcBef>
                <a:spcPts val="686"/>
              </a:spcBef>
              <a:buClr>
                <a:srgbClr val="006fc0"/>
              </a:buClr>
              <a:buFont typeface="Arial MT"/>
              <a:buChar char="•"/>
              <a:tabLst>
                <a:tab algn="l" pos="241920"/>
              </a:tabLst>
            </a:pPr>
            <a:r>
              <a:rPr b="0" lang="en-US" sz="2400" spc="-12" strike="noStrike">
                <a:solidFill>
                  <a:srgbClr val="006fc0"/>
                </a:solidFill>
                <a:latin typeface="Calibri"/>
                <a:ea typeface="DejaVu Sans"/>
              </a:rPr>
              <a:t>Secure</a:t>
            </a:r>
            <a:r>
              <a:rPr b="0" lang="en-US" sz="2400" spc="-15" strike="noStrike">
                <a:solidFill>
                  <a:srgbClr val="006fc0"/>
                </a:solidFill>
                <a:latin typeface="Calibri"/>
                <a:ea typeface="DejaVu Sans"/>
              </a:rPr>
              <a:t> Sockets</a:t>
            </a:r>
            <a:r>
              <a:rPr b="0" lang="en-US" sz="2400" spc="-35" strike="noStrike">
                <a:solidFill>
                  <a:srgbClr val="006fc0"/>
                </a:solidFill>
                <a:latin typeface="Calibri"/>
                <a:ea typeface="DejaVu Sans"/>
              </a:rPr>
              <a:t> </a:t>
            </a:r>
            <a:r>
              <a:rPr b="0" lang="en-US" sz="2400" spc="-15" strike="noStrike">
                <a:solidFill>
                  <a:srgbClr val="006fc0"/>
                </a:solidFill>
                <a:latin typeface="Calibri"/>
                <a:ea typeface="DejaVu Sans"/>
              </a:rPr>
              <a:t>Layer </a:t>
            </a:r>
            <a:r>
              <a:rPr b="0" lang="en-US" sz="2400" spc="-7" strike="noStrike">
                <a:solidFill>
                  <a:srgbClr val="006fc0"/>
                </a:solidFill>
                <a:latin typeface="Calibri"/>
                <a:ea typeface="DejaVu Sans"/>
              </a:rPr>
              <a:t>(SSL)</a:t>
            </a:r>
            <a:r>
              <a:rPr b="0" lang="en-US" sz="2400" spc="-1" strike="noStrike">
                <a:solidFill>
                  <a:srgbClr val="006fc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was</a:t>
            </a:r>
            <a:r>
              <a:rPr b="0" lang="en-US" sz="2400" spc="-26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developed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by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Netscape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in the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 1990s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to</a:t>
            </a:r>
            <a:r>
              <a:rPr b="0" lang="en-US" sz="2400" spc="-3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address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the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lack</a:t>
            </a:r>
            <a:r>
              <a:rPr b="0" lang="en-US" sz="2400" spc="-3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of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security</a:t>
            </a:r>
            <a:r>
              <a:rPr b="0" lang="en-US" sz="2400" spc="-3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in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60" strike="noStrike">
                <a:solidFill>
                  <a:srgbClr val="000000"/>
                </a:solidFill>
                <a:latin typeface="Calibri"/>
                <a:ea typeface="DejaVu Sans"/>
              </a:rPr>
              <a:t>HTTP.</a:t>
            </a:r>
            <a:endParaRPr b="0" lang="en-US" sz="2400" spc="-1" strike="noStrike">
              <a:latin typeface="Arial"/>
            </a:endParaRPr>
          </a:p>
          <a:p>
            <a:pPr marL="241200" indent="-229320">
              <a:lnSpc>
                <a:spcPts val="2591"/>
              </a:lnSpc>
              <a:spcBef>
                <a:spcPts val="1035"/>
              </a:spcBef>
              <a:buClr>
                <a:srgbClr val="000000"/>
              </a:buClr>
              <a:buFont typeface="Arial MT"/>
              <a:buChar char="•"/>
              <a:tabLst>
                <a:tab algn="l" pos="241920"/>
              </a:tabLst>
            </a:pP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SSL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proved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very popular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with the 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industry,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and it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was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quickly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adopted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as a </a:t>
            </a:r>
            <a:r>
              <a:rPr b="0" lang="en-US" sz="2400" spc="-53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standard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named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26" strike="noStrike">
                <a:solidFill>
                  <a:srgbClr val="006fc0"/>
                </a:solidFill>
                <a:latin typeface="Calibri"/>
                <a:ea typeface="DejaVu Sans"/>
              </a:rPr>
              <a:t>Transport</a:t>
            </a:r>
            <a:r>
              <a:rPr b="0" lang="en-US" sz="2400" spc="-7" strike="noStrike">
                <a:solidFill>
                  <a:srgbClr val="006fc0"/>
                </a:solidFill>
                <a:latin typeface="Calibri"/>
                <a:ea typeface="DejaVu Sans"/>
              </a:rPr>
              <a:t> </a:t>
            </a:r>
            <a:r>
              <a:rPr b="0" lang="en-US" sz="2400" spc="-21" strike="noStrike">
                <a:solidFill>
                  <a:srgbClr val="006fc0"/>
                </a:solidFill>
                <a:latin typeface="Calibri"/>
                <a:ea typeface="DejaVu Sans"/>
              </a:rPr>
              <a:t>Layer</a:t>
            </a:r>
            <a:r>
              <a:rPr b="0" lang="en-US" sz="2400" spc="-12" strike="noStrike">
                <a:solidFill>
                  <a:srgbClr val="006fc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6fc0"/>
                </a:solidFill>
                <a:latin typeface="Calibri"/>
                <a:ea typeface="DejaVu Sans"/>
              </a:rPr>
              <a:t>Security</a:t>
            </a:r>
            <a:r>
              <a:rPr b="0" lang="en-US" sz="2400" spc="-21" strike="noStrike">
                <a:solidFill>
                  <a:srgbClr val="006fc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6fc0"/>
                </a:solidFill>
                <a:latin typeface="Calibri"/>
                <a:ea typeface="DejaVu Sans"/>
              </a:rPr>
              <a:t>(TLS)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.</a:t>
            </a:r>
            <a:endParaRPr b="0" lang="en-US" sz="2400" spc="-1" strike="noStrike">
              <a:latin typeface="Arial"/>
            </a:endParaRPr>
          </a:p>
          <a:p>
            <a:pPr marL="241200" indent="-229320">
              <a:lnSpc>
                <a:spcPts val="2591"/>
              </a:lnSpc>
              <a:spcBef>
                <a:spcPts val="1001"/>
              </a:spcBef>
              <a:buClr>
                <a:srgbClr val="000000"/>
              </a:buClr>
              <a:buFont typeface="Arial MT"/>
              <a:buChar char="•"/>
              <a:tabLst>
                <a:tab algn="l" pos="24192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It is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typically used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with </a:t>
            </a:r>
            <a:r>
              <a:rPr b="0" lang="en-US" sz="2400" spc="1" strike="noStrike">
                <a:solidFill>
                  <a:srgbClr val="000000"/>
                </a:solidFill>
                <a:latin typeface="Calibri"/>
                <a:ea typeface="DejaVu Sans"/>
              </a:rPr>
              <a:t>HTTP 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(referred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to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as </a:t>
            </a:r>
            <a:r>
              <a:rPr b="0" lang="en-US" sz="2400" spc="-1" strike="noStrike">
                <a:solidFill>
                  <a:srgbClr val="006fc0"/>
                </a:solidFill>
                <a:latin typeface="Calibri"/>
                <a:ea typeface="DejaVu Sans"/>
              </a:rPr>
              <a:t>HTTPS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or </a:t>
            </a:r>
            <a:r>
              <a:rPr b="0" lang="en-US" sz="2400" spc="1" strike="noStrike">
                <a:solidFill>
                  <a:srgbClr val="006fc0"/>
                </a:solidFill>
                <a:latin typeface="Calibri"/>
                <a:ea typeface="DejaVu Sans"/>
              </a:rPr>
              <a:t>HTTP </a:t>
            </a:r>
            <a:r>
              <a:rPr b="0" lang="en-US" sz="2400" spc="-7" strike="noStrike">
                <a:solidFill>
                  <a:srgbClr val="006fc0"/>
                </a:solidFill>
                <a:latin typeface="Calibri"/>
                <a:ea typeface="DejaVu Sans"/>
              </a:rPr>
              <a:t>Secure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) but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can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also </a:t>
            </a:r>
            <a:r>
              <a:rPr b="0" lang="en-US" sz="24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be used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to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secure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other application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protocols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and as a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virtual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private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networking </a:t>
            </a:r>
            <a:r>
              <a:rPr b="0" lang="en-US" sz="2400" spc="-53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c00000"/>
                </a:solidFill>
                <a:latin typeface="Calibri"/>
                <a:ea typeface="DejaVu Sans"/>
              </a:rPr>
              <a:t>(VPN)</a:t>
            </a:r>
            <a:r>
              <a:rPr b="0" lang="en-US" sz="2400" spc="-15" strike="noStrike">
                <a:solidFill>
                  <a:srgbClr val="c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solution.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144" name="object 4"/>
          <p:cNvSpPr/>
          <p:nvPr/>
        </p:nvSpPr>
        <p:spPr>
          <a:xfrm>
            <a:off x="838080" y="6400800"/>
            <a:ext cx="10514880" cy="227880"/>
          </a:xfrm>
          <a:custGeom>
            <a:avLst/>
            <a:gdLst/>
            <a:ahLst/>
            <a:rect l="l" t="t" r="r" b="b"/>
            <a:pathLst>
              <a:path w="10515600" h="228600">
                <a:moveTo>
                  <a:pt x="10515600" y="0"/>
                </a:moveTo>
                <a:lnTo>
                  <a:pt x="0" y="0"/>
                </a:lnTo>
                <a:lnTo>
                  <a:pt x="0" y="228600"/>
                </a:lnTo>
                <a:lnTo>
                  <a:pt x="10515600" y="228600"/>
                </a:lnTo>
                <a:lnTo>
                  <a:pt x="10515600" y="0"/>
                </a:lnTo>
                <a:close/>
              </a:path>
            </a:pathLst>
          </a:custGeom>
          <a:solidFill>
            <a:srgbClr val="c00000">
              <a:alpha val="5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45" name="PlaceHolder 2"/>
          <p:cNvSpPr>
            <a:spLocks noGrp="1"/>
          </p:cNvSpPr>
          <p:nvPr>
            <p:ph type="ftr" idx="34"/>
          </p:nvPr>
        </p:nvSpPr>
        <p:spPr>
          <a:xfrm>
            <a:off x="916920" y="6451560"/>
            <a:ext cx="102276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1260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12600">
              <a:lnSpc>
                <a:spcPts val="1046"/>
              </a:lnSpc>
              <a:buNone/>
            </a:pP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Security+</a:t>
            </a:r>
            <a:r>
              <a:rPr b="0" lang="en-US" sz="1000" spc="-46" strike="noStrike">
                <a:solidFill>
                  <a:srgbClr val="ffffff"/>
                </a:solidFill>
                <a:latin typeface="Calibri"/>
              </a:rPr>
              <a:t> </a:t>
            </a: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(SY0-601)</a:t>
            </a:r>
            <a:endParaRPr b="0" lang="en-US" sz="1000" spc="-1" strike="noStrike">
              <a:latin typeface="Times New Roman"/>
            </a:endParaRPr>
          </a:p>
        </p:txBody>
      </p:sp>
      <p:sp>
        <p:nvSpPr>
          <p:cNvPr id="146" name="PlaceHolder 3"/>
          <p:cNvSpPr>
            <a:spLocks noGrp="1"/>
          </p:cNvSpPr>
          <p:nvPr>
            <p:ph type="dt" idx="35"/>
          </p:nvPr>
        </p:nvSpPr>
        <p:spPr>
          <a:xfrm>
            <a:off x="5492520" y="6451560"/>
            <a:ext cx="11224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1260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12600">
              <a:lnSpc>
                <a:spcPts val="1046"/>
              </a:lnSpc>
              <a:buNone/>
            </a:pP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©</a:t>
            </a:r>
            <a:r>
              <a:rPr b="0" lang="en-US" sz="1000" spc="-41" strike="noStrike">
                <a:solidFill>
                  <a:srgbClr val="ffffff"/>
                </a:solidFill>
                <a:latin typeface="Calibri"/>
              </a:rPr>
              <a:t> </a:t>
            </a: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netriders.academy</a:t>
            </a:r>
            <a:endParaRPr b="0" lang="en-US" sz="1000" spc="-1" strike="noStrike">
              <a:latin typeface="Times New Roman"/>
            </a:endParaRPr>
          </a:p>
        </p:txBody>
      </p:sp>
      <p:sp>
        <p:nvSpPr>
          <p:cNvPr id="147" name="PlaceHolder 4"/>
          <p:cNvSpPr>
            <a:spLocks noGrp="1"/>
          </p:cNvSpPr>
          <p:nvPr>
            <p:ph type="sldNum" idx="36"/>
          </p:nvPr>
        </p:nvSpPr>
        <p:spPr>
          <a:xfrm>
            <a:off x="11098440" y="6451200"/>
            <a:ext cx="20376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3816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38160">
              <a:lnSpc>
                <a:spcPts val="1046"/>
              </a:lnSpc>
              <a:buNone/>
            </a:pPr>
            <a:fld id="{CEA7EA2B-620F-4064-A1C2-70E60F05A744}" type="slidenum">
              <a:rPr b="0" lang="en-US" sz="1000" spc="-7" strike="noStrike">
                <a:solidFill>
                  <a:srgbClr val="ffffff"/>
                </a:solidFill>
                <a:latin typeface="Calibri"/>
              </a:rPr>
              <a:t>&lt;number&gt;</a:t>
            </a:fld>
            <a:endParaRPr b="0" lang="en-US" sz="1000" spc="-1" strike="noStrike"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PlaceHolder 1"/>
          <p:cNvSpPr>
            <a:spLocks noGrp="1"/>
          </p:cNvSpPr>
          <p:nvPr>
            <p:ph type="title"/>
          </p:nvPr>
        </p:nvSpPr>
        <p:spPr>
          <a:xfrm>
            <a:off x="916920" y="684720"/>
            <a:ext cx="6398280" cy="915480"/>
          </a:xfrm>
          <a:prstGeom prst="rect">
            <a:avLst/>
          </a:prstGeom>
          <a:noFill/>
          <a:ln w="0">
            <a:noFill/>
          </a:ln>
        </p:spPr>
        <p:txBody>
          <a:bodyPr lIns="0" rIns="0" tIns="12600" bIns="0" anchor="t">
            <a:noAutofit/>
          </a:bodyPr>
          <a:p>
            <a:pPr marL="12600">
              <a:lnSpc>
                <a:spcPct val="100000"/>
              </a:lnSpc>
              <a:spcBef>
                <a:spcPts val="99"/>
              </a:spcBef>
              <a:buNone/>
            </a:pPr>
            <a:r>
              <a:rPr b="0" lang="en-US" sz="3600" spc="-15" strike="noStrike">
                <a:solidFill>
                  <a:srgbClr val="c00000"/>
                </a:solidFill>
                <a:latin typeface="Calibri Light"/>
              </a:rPr>
              <a:t>FILE</a:t>
            </a:r>
            <a:r>
              <a:rPr b="0" lang="en-US" sz="3600" spc="-111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32" strike="noStrike">
                <a:solidFill>
                  <a:srgbClr val="c00000"/>
                </a:solidFill>
                <a:latin typeface="Calibri Light"/>
              </a:rPr>
              <a:t>TRANSFER</a:t>
            </a:r>
            <a:r>
              <a:rPr b="0" lang="en-US" sz="3600" spc="-111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41" strike="noStrike">
                <a:solidFill>
                  <a:srgbClr val="c00000"/>
                </a:solidFill>
                <a:latin typeface="Calibri Light"/>
              </a:rPr>
              <a:t>SERVICES</a:t>
            </a:r>
            <a:endParaRPr b="0" lang="en-US" sz="3600" spc="-1" strike="noStrike">
              <a:latin typeface="Arial"/>
            </a:endParaRPr>
          </a:p>
        </p:txBody>
      </p:sp>
      <p:sp>
        <p:nvSpPr>
          <p:cNvPr id="149" name="object 3"/>
          <p:cNvSpPr/>
          <p:nvPr/>
        </p:nvSpPr>
        <p:spPr>
          <a:xfrm>
            <a:off x="916920" y="1802520"/>
            <a:ext cx="10344600" cy="3761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54000" bIns="0" anchor="t">
            <a:spAutoFit/>
          </a:bodyPr>
          <a:p>
            <a:pPr marL="241200" indent="-229320">
              <a:lnSpc>
                <a:spcPts val="2591"/>
              </a:lnSpc>
              <a:spcBef>
                <a:spcPts val="425"/>
              </a:spcBef>
              <a:buClr>
                <a:srgbClr val="000000"/>
              </a:buClr>
              <a:buFont typeface="Arial MT"/>
              <a:buChar char="•"/>
              <a:tabLst>
                <a:tab algn="l" pos="24192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6fc0"/>
                </a:solidFill>
                <a:latin typeface="Calibri"/>
                <a:ea typeface="DejaVu Sans"/>
              </a:rPr>
              <a:t>File</a:t>
            </a:r>
            <a:r>
              <a:rPr b="0" lang="en-US" sz="2400" spc="1" strike="noStrike">
                <a:solidFill>
                  <a:srgbClr val="006fc0"/>
                </a:solidFill>
                <a:latin typeface="Calibri"/>
                <a:ea typeface="DejaVu Sans"/>
              </a:rPr>
              <a:t> </a:t>
            </a:r>
            <a:r>
              <a:rPr b="0" lang="en-US" sz="2400" spc="-41" strike="noStrike">
                <a:solidFill>
                  <a:srgbClr val="006fc0"/>
                </a:solidFill>
                <a:latin typeface="Calibri"/>
                <a:ea typeface="DejaVu Sans"/>
              </a:rPr>
              <a:t>Transfer</a:t>
            </a:r>
            <a:r>
              <a:rPr b="0" lang="en-US" sz="2400" spc="7" strike="noStrike">
                <a:solidFill>
                  <a:srgbClr val="006fc0"/>
                </a:solidFill>
                <a:latin typeface="Calibri"/>
                <a:ea typeface="DejaVu Sans"/>
              </a:rPr>
              <a:t> </a:t>
            </a:r>
            <a:r>
              <a:rPr b="0" lang="en-US" sz="2400" spc="-15" strike="noStrike">
                <a:solidFill>
                  <a:srgbClr val="006fc0"/>
                </a:solidFill>
                <a:latin typeface="Calibri"/>
                <a:ea typeface="DejaVu Sans"/>
              </a:rPr>
              <a:t>Protocol</a:t>
            </a:r>
            <a:r>
              <a:rPr b="0" lang="en-US" sz="2400" spc="-26" strike="noStrike">
                <a:solidFill>
                  <a:srgbClr val="006fc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6fc0"/>
                </a:solidFill>
                <a:latin typeface="Calibri"/>
                <a:ea typeface="DejaVu Sans"/>
              </a:rPr>
              <a:t>(FTP)</a:t>
            </a:r>
            <a:r>
              <a:rPr b="0" lang="en-US" sz="2400" spc="21" strike="noStrike">
                <a:solidFill>
                  <a:srgbClr val="006fc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server</a:t>
            </a:r>
            <a:r>
              <a:rPr b="0" lang="en-US" sz="24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is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typically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configured</a:t>
            </a:r>
            <a:r>
              <a:rPr b="0" lang="en-US" sz="24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with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several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 public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directories,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hosting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files,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and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 user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accounts.</a:t>
            </a:r>
            <a:endParaRPr b="0" lang="en-US" sz="2400" spc="-1" strike="noStrike">
              <a:latin typeface="Arial"/>
            </a:endParaRPr>
          </a:p>
          <a:p>
            <a:pPr marL="241200" indent="-229320">
              <a:lnSpc>
                <a:spcPts val="2741"/>
              </a:lnSpc>
              <a:spcBef>
                <a:spcPts val="686"/>
              </a:spcBef>
              <a:buClr>
                <a:srgbClr val="000000"/>
              </a:buClr>
              <a:buFont typeface="Arial MT"/>
              <a:buChar char="•"/>
              <a:tabLst>
                <a:tab algn="l" pos="241920"/>
              </a:tabLst>
            </a:pP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Most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1" strike="noStrike">
                <a:solidFill>
                  <a:srgbClr val="000000"/>
                </a:solidFill>
                <a:latin typeface="Calibri"/>
                <a:ea typeface="DejaVu Sans"/>
              </a:rPr>
              <a:t>HTTP</a:t>
            </a:r>
            <a:r>
              <a:rPr b="0" lang="en-US" sz="24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servers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also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function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as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FTP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servers,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and</a:t>
            </a:r>
            <a:r>
              <a:rPr b="0" lang="en-US" sz="24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FTP</a:t>
            </a:r>
            <a:r>
              <a:rPr b="0" lang="en-US" sz="24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services,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accounts,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and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directories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 may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 be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installed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and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enabled</a:t>
            </a:r>
            <a:r>
              <a:rPr b="0" lang="en-US" sz="24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by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default</a:t>
            </a:r>
            <a:r>
              <a:rPr b="0" lang="en-US" sz="24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when</a:t>
            </a:r>
            <a:r>
              <a:rPr b="0" lang="en-US" sz="24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you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install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web</a:t>
            </a:r>
            <a:r>
              <a:rPr b="0" lang="en-US" sz="24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41" strike="noStrike">
                <a:solidFill>
                  <a:srgbClr val="000000"/>
                </a:solidFill>
                <a:latin typeface="Calibri"/>
                <a:ea typeface="DejaVu Sans"/>
              </a:rPr>
              <a:t>server.</a:t>
            </a:r>
            <a:endParaRPr b="0" lang="en-US" sz="2400" spc="-1" strike="noStrike">
              <a:latin typeface="Arial"/>
            </a:endParaRPr>
          </a:p>
          <a:p>
            <a:pPr marL="241200" indent="-229320">
              <a:lnSpc>
                <a:spcPts val="2591"/>
              </a:lnSpc>
              <a:spcBef>
                <a:spcPts val="1035"/>
              </a:spcBef>
              <a:buClr>
                <a:srgbClr val="000000"/>
              </a:buClr>
              <a:buFont typeface="Arial MT"/>
              <a:buChar char="•"/>
              <a:tabLst>
                <a:tab algn="l" pos="241920"/>
              </a:tabLst>
            </a:pP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FTP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is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more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efficient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compared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to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file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attachments</a:t>
            </a:r>
            <a:r>
              <a:rPr b="0" lang="en-US" sz="2400" spc="-3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or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1" strike="noStrike">
                <a:solidFill>
                  <a:srgbClr val="000000"/>
                </a:solidFill>
                <a:latin typeface="Calibri"/>
                <a:ea typeface="DejaVu Sans"/>
              </a:rPr>
              <a:t>HTTP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file</a:t>
            </a:r>
            <a:r>
              <a:rPr b="0" lang="en-US" sz="2400" spc="29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41" strike="noStrike">
                <a:solidFill>
                  <a:srgbClr val="000000"/>
                </a:solidFill>
                <a:latin typeface="Calibri"/>
                <a:ea typeface="DejaVu Sans"/>
              </a:rPr>
              <a:t>transfer,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but has </a:t>
            </a:r>
            <a:r>
              <a:rPr b="0" lang="en-US" sz="2400" spc="-53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no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security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mechanisms.</a:t>
            </a:r>
            <a:endParaRPr b="0" lang="en-US" sz="2400" spc="-1" strike="noStrike">
              <a:latin typeface="Arial"/>
            </a:endParaRPr>
          </a:p>
          <a:p>
            <a:pPr marL="241200" indent="-229320">
              <a:lnSpc>
                <a:spcPts val="2735"/>
              </a:lnSpc>
              <a:spcBef>
                <a:spcPts val="675"/>
              </a:spcBef>
              <a:buClr>
                <a:srgbClr val="000000"/>
              </a:buClr>
              <a:buFont typeface="Arial MT"/>
              <a:buChar char="•"/>
              <a:tabLst>
                <a:tab algn="l" pos="24192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All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authentication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and</a:t>
            </a:r>
            <a:r>
              <a:rPr b="0" lang="en-US" sz="24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data 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transfer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are</a:t>
            </a:r>
            <a:r>
              <a:rPr b="0" lang="en-US" sz="24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communicated</a:t>
            </a:r>
            <a:r>
              <a:rPr b="0" lang="en-US" sz="2400" spc="-26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as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1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plaintext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,</a:t>
            </a:r>
            <a:r>
              <a:rPr b="0" lang="en-US" sz="24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meaning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that</a:t>
            </a:r>
            <a:endParaRPr b="0" lang="en-US" sz="2400" spc="-1" strike="noStrike">
              <a:latin typeface="Arial"/>
            </a:endParaRPr>
          </a:p>
          <a:p>
            <a:pPr marL="241200">
              <a:lnSpc>
                <a:spcPts val="2735"/>
              </a:lnSpc>
              <a:buNone/>
              <a:tabLst>
                <a:tab algn="l" pos="241920"/>
              </a:tabLst>
            </a:pP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credentials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can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easily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be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picked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out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of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any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intercepted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 FTP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traffic.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150" name="object 4"/>
          <p:cNvSpPr/>
          <p:nvPr/>
        </p:nvSpPr>
        <p:spPr>
          <a:xfrm>
            <a:off x="838080" y="6400800"/>
            <a:ext cx="10514880" cy="227880"/>
          </a:xfrm>
          <a:custGeom>
            <a:avLst/>
            <a:gdLst/>
            <a:ahLst/>
            <a:rect l="l" t="t" r="r" b="b"/>
            <a:pathLst>
              <a:path w="10515600" h="228600">
                <a:moveTo>
                  <a:pt x="10515600" y="0"/>
                </a:moveTo>
                <a:lnTo>
                  <a:pt x="0" y="0"/>
                </a:lnTo>
                <a:lnTo>
                  <a:pt x="0" y="228600"/>
                </a:lnTo>
                <a:lnTo>
                  <a:pt x="10515600" y="228600"/>
                </a:lnTo>
                <a:lnTo>
                  <a:pt x="10515600" y="0"/>
                </a:lnTo>
                <a:close/>
              </a:path>
            </a:pathLst>
          </a:custGeom>
          <a:solidFill>
            <a:srgbClr val="c00000">
              <a:alpha val="5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51" name="PlaceHolder 2"/>
          <p:cNvSpPr>
            <a:spLocks noGrp="1"/>
          </p:cNvSpPr>
          <p:nvPr>
            <p:ph type="ftr" idx="37"/>
          </p:nvPr>
        </p:nvSpPr>
        <p:spPr>
          <a:xfrm>
            <a:off x="916920" y="6451560"/>
            <a:ext cx="102276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1260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12600">
              <a:lnSpc>
                <a:spcPts val="1046"/>
              </a:lnSpc>
              <a:buNone/>
            </a:pP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Security+</a:t>
            </a:r>
            <a:r>
              <a:rPr b="0" lang="en-US" sz="1000" spc="-46" strike="noStrike">
                <a:solidFill>
                  <a:srgbClr val="ffffff"/>
                </a:solidFill>
                <a:latin typeface="Calibri"/>
              </a:rPr>
              <a:t> </a:t>
            </a: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(SY0-601)</a:t>
            </a:r>
            <a:endParaRPr b="0" lang="en-US" sz="1000" spc="-1" strike="noStrike">
              <a:latin typeface="Times New Roman"/>
            </a:endParaRPr>
          </a:p>
        </p:txBody>
      </p:sp>
      <p:sp>
        <p:nvSpPr>
          <p:cNvPr id="152" name="PlaceHolder 3"/>
          <p:cNvSpPr>
            <a:spLocks noGrp="1"/>
          </p:cNvSpPr>
          <p:nvPr>
            <p:ph type="dt" idx="38"/>
          </p:nvPr>
        </p:nvSpPr>
        <p:spPr>
          <a:xfrm>
            <a:off x="5492520" y="6451560"/>
            <a:ext cx="11224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1260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12600">
              <a:lnSpc>
                <a:spcPts val="1046"/>
              </a:lnSpc>
              <a:buNone/>
            </a:pP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©</a:t>
            </a:r>
            <a:r>
              <a:rPr b="0" lang="en-US" sz="1000" spc="-41" strike="noStrike">
                <a:solidFill>
                  <a:srgbClr val="ffffff"/>
                </a:solidFill>
                <a:latin typeface="Calibri"/>
              </a:rPr>
              <a:t> </a:t>
            </a: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netriders.academy</a:t>
            </a:r>
            <a:endParaRPr b="0" lang="en-US" sz="1000" spc="-1" strike="noStrike">
              <a:latin typeface="Times New Roman"/>
            </a:endParaRPr>
          </a:p>
        </p:txBody>
      </p:sp>
      <p:sp>
        <p:nvSpPr>
          <p:cNvPr id="153" name="PlaceHolder 4"/>
          <p:cNvSpPr>
            <a:spLocks noGrp="1"/>
          </p:cNvSpPr>
          <p:nvPr>
            <p:ph type="sldNum" idx="39"/>
          </p:nvPr>
        </p:nvSpPr>
        <p:spPr>
          <a:xfrm>
            <a:off x="11098440" y="6451200"/>
            <a:ext cx="20376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3816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38160">
              <a:lnSpc>
                <a:spcPts val="1046"/>
              </a:lnSpc>
              <a:buNone/>
            </a:pPr>
            <a:fld id="{4DC6B209-1D96-4F49-8608-8BE9055C2B96}" type="slidenum">
              <a:rPr b="0" lang="en-US" sz="1000" spc="-7" strike="noStrike">
                <a:solidFill>
                  <a:srgbClr val="ffffff"/>
                </a:solidFill>
                <a:latin typeface="Calibri"/>
              </a:rPr>
              <a:t>&lt;number&gt;</a:t>
            </a:fld>
            <a:endParaRPr b="0" lang="en-US" sz="1000" spc="-1" strike="noStrike"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PlaceHolder 1"/>
          <p:cNvSpPr>
            <a:spLocks noGrp="1"/>
          </p:cNvSpPr>
          <p:nvPr>
            <p:ph type="title"/>
          </p:nvPr>
        </p:nvSpPr>
        <p:spPr>
          <a:xfrm>
            <a:off x="916920" y="684720"/>
            <a:ext cx="7769880" cy="1157400"/>
          </a:xfrm>
          <a:prstGeom prst="rect">
            <a:avLst/>
          </a:prstGeom>
          <a:noFill/>
          <a:ln w="0">
            <a:noFill/>
          </a:ln>
        </p:spPr>
        <p:txBody>
          <a:bodyPr lIns="0" rIns="0" tIns="12600" bIns="0" anchor="t">
            <a:noAutofit/>
          </a:bodyPr>
          <a:p>
            <a:pPr marL="12600">
              <a:lnSpc>
                <a:spcPct val="100000"/>
              </a:lnSpc>
              <a:spcBef>
                <a:spcPts val="99"/>
              </a:spcBef>
              <a:buNone/>
            </a:pPr>
            <a:r>
              <a:rPr b="0" lang="en-US" sz="3600" spc="-46" strike="noStrike">
                <a:solidFill>
                  <a:srgbClr val="c00000"/>
                </a:solidFill>
                <a:latin typeface="Calibri Light"/>
              </a:rPr>
              <a:t>REMOTE</a:t>
            </a:r>
            <a:r>
              <a:rPr b="0" lang="en-US" sz="3600" spc="-131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35" strike="noStrike">
                <a:solidFill>
                  <a:srgbClr val="c00000"/>
                </a:solidFill>
                <a:latin typeface="Calibri Light"/>
              </a:rPr>
              <a:t>ACCESS</a:t>
            </a:r>
            <a:r>
              <a:rPr b="0" lang="en-US" sz="3600" spc="-126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35" strike="noStrike">
                <a:solidFill>
                  <a:srgbClr val="c00000"/>
                </a:solidFill>
                <a:latin typeface="Calibri Light"/>
              </a:rPr>
              <a:t>ARCHITECTURE</a:t>
            </a:r>
            <a:endParaRPr b="0" lang="en-US" sz="3600" spc="-1" strike="noStrike">
              <a:latin typeface="Arial"/>
            </a:endParaRPr>
          </a:p>
        </p:txBody>
      </p:sp>
      <p:sp>
        <p:nvSpPr>
          <p:cNvPr id="155" name="object 3"/>
          <p:cNvSpPr/>
          <p:nvPr/>
        </p:nvSpPr>
        <p:spPr>
          <a:xfrm>
            <a:off x="916920" y="1802520"/>
            <a:ext cx="10245600" cy="3855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54000" bIns="0" anchor="t">
            <a:spAutoFit/>
          </a:bodyPr>
          <a:p>
            <a:pPr marL="241200" indent="-229320">
              <a:lnSpc>
                <a:spcPts val="2591"/>
              </a:lnSpc>
              <a:spcBef>
                <a:spcPts val="425"/>
              </a:spcBef>
              <a:buClr>
                <a:srgbClr val="000000"/>
              </a:buClr>
              <a:buFont typeface="Arial MT"/>
              <a:buChar char="•"/>
              <a:tabLst>
                <a:tab algn="l" pos="241920"/>
              </a:tabLst>
            </a:pP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Remote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access means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that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the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user's device does not 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make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direct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cabled or </a:t>
            </a:r>
            <a:r>
              <a:rPr b="0" lang="en-US" sz="2400" spc="-53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wireless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connection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to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the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network.</a:t>
            </a:r>
            <a:endParaRPr b="0" lang="en-US" sz="2400" spc="-1" strike="noStrike">
              <a:latin typeface="Arial"/>
            </a:endParaRPr>
          </a:p>
          <a:p>
            <a:pPr marL="241200" indent="-229320">
              <a:lnSpc>
                <a:spcPct val="100000"/>
              </a:lnSpc>
              <a:spcBef>
                <a:spcPts val="686"/>
              </a:spcBef>
              <a:buClr>
                <a:srgbClr val="000000"/>
              </a:buClr>
              <a:buFont typeface="Arial MT"/>
              <a:buChar char="•"/>
              <a:tabLst>
                <a:tab algn="l" pos="241920"/>
              </a:tabLst>
            </a:pP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The</a:t>
            </a:r>
            <a:r>
              <a:rPr b="0" lang="en-US" sz="24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connection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occurs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 over</a:t>
            </a:r>
            <a:r>
              <a:rPr b="0" lang="en-US" sz="24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or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through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an</a:t>
            </a:r>
            <a:r>
              <a:rPr b="0" lang="en-US" sz="24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intermediate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network.</a:t>
            </a:r>
            <a:endParaRPr b="0" lang="en-US" sz="2400" spc="-1" strike="noStrike">
              <a:latin typeface="Arial"/>
            </a:endParaRPr>
          </a:p>
          <a:p>
            <a:pPr marL="241200" indent="-229320">
              <a:lnSpc>
                <a:spcPts val="2591"/>
              </a:lnSpc>
              <a:spcBef>
                <a:spcPts val="1040"/>
              </a:spcBef>
              <a:buClr>
                <a:srgbClr val="000000"/>
              </a:buClr>
              <a:buFont typeface="Arial MT"/>
              <a:buChar char="•"/>
              <a:tabLst>
                <a:tab algn="l" pos="241920"/>
              </a:tabLst>
            </a:pPr>
            <a:r>
              <a:rPr b="0" lang="en-US" sz="2400" spc="-26" strike="noStrike">
                <a:solidFill>
                  <a:srgbClr val="000000"/>
                </a:solidFill>
                <a:latin typeface="Calibri"/>
                <a:ea typeface="DejaVu Sans"/>
              </a:rPr>
              <a:t>Historically,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remote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access</a:t>
            </a:r>
            <a:r>
              <a:rPr b="0" lang="en-US" sz="2400" spc="-26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might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have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used</a:t>
            </a:r>
            <a:r>
              <a:rPr b="0" lang="en-US" sz="24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analog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modems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connecting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over</a:t>
            </a:r>
            <a:r>
              <a:rPr b="0" lang="en-US" sz="24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the </a:t>
            </a:r>
            <a:r>
              <a:rPr b="0" lang="en-US" sz="2400" spc="-52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telephone </a:t>
            </a:r>
            <a:r>
              <a:rPr b="0" lang="en-US" sz="2400" spc="-26" strike="noStrike">
                <a:solidFill>
                  <a:srgbClr val="000000"/>
                </a:solidFill>
                <a:latin typeface="Calibri"/>
                <a:ea typeface="DejaVu Sans"/>
              </a:rPr>
              <a:t>system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or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possibly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 private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link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(a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leased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line).</a:t>
            </a:r>
            <a:endParaRPr b="0" lang="en-US" sz="2400" spc="-1" strike="noStrike">
              <a:latin typeface="Arial"/>
            </a:endParaRPr>
          </a:p>
          <a:p>
            <a:pPr marL="241200" indent="-229320">
              <a:lnSpc>
                <a:spcPts val="2591"/>
              </a:lnSpc>
              <a:spcBef>
                <a:spcPts val="1001"/>
              </a:spcBef>
              <a:buClr>
                <a:srgbClr val="000000"/>
              </a:buClr>
              <a:buFont typeface="Arial MT"/>
              <a:buChar char="•"/>
              <a:tabLst>
                <a:tab algn="l" pos="241920"/>
              </a:tabLst>
            </a:pP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These 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days,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most remote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access is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implemented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as a </a:t>
            </a:r>
            <a:r>
              <a:rPr b="0" lang="en-US" sz="2400" spc="-1" strike="noStrike">
                <a:solidFill>
                  <a:srgbClr val="006fc0"/>
                </a:solidFill>
                <a:latin typeface="Calibri"/>
                <a:ea typeface="DejaVu Sans"/>
              </a:rPr>
              <a:t>virtual </a:t>
            </a:r>
            <a:r>
              <a:rPr b="0" lang="en-US" sz="2400" spc="-21" strike="noStrike">
                <a:solidFill>
                  <a:srgbClr val="006fc0"/>
                </a:solidFill>
                <a:latin typeface="Calibri"/>
                <a:ea typeface="DejaVu Sans"/>
              </a:rPr>
              <a:t>private </a:t>
            </a:r>
            <a:r>
              <a:rPr b="0" lang="en-US" sz="2400" spc="-12" strike="noStrike">
                <a:solidFill>
                  <a:srgbClr val="006fc0"/>
                </a:solidFill>
                <a:latin typeface="Calibri"/>
                <a:ea typeface="DejaVu Sans"/>
              </a:rPr>
              <a:t>network </a:t>
            </a:r>
            <a:r>
              <a:rPr b="0" lang="en-US" sz="2400" spc="-531" strike="noStrike">
                <a:solidFill>
                  <a:srgbClr val="006fc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6fc0"/>
                </a:solidFill>
                <a:latin typeface="Calibri"/>
                <a:ea typeface="DejaVu Sans"/>
              </a:rPr>
              <a:t>(VPN)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,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running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over</a:t>
            </a:r>
            <a:r>
              <a:rPr b="0" lang="en-US" sz="24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the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Internet.</a:t>
            </a:r>
            <a:endParaRPr b="0" lang="en-US" sz="2400" spc="-1" strike="noStrike">
              <a:latin typeface="Arial"/>
            </a:endParaRPr>
          </a:p>
          <a:p>
            <a:pPr marL="241200" indent="-229320">
              <a:lnSpc>
                <a:spcPts val="2591"/>
              </a:lnSpc>
              <a:spcBef>
                <a:spcPts val="1015"/>
              </a:spcBef>
              <a:buClr>
                <a:srgbClr val="000000"/>
              </a:buClr>
              <a:buFont typeface="Arial MT"/>
              <a:buChar char="•"/>
              <a:tabLst>
                <a:tab algn="l" pos="241920"/>
              </a:tabLst>
            </a:pP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Administering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remote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access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involves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essentially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the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same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tasks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as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administering </a:t>
            </a:r>
            <a:r>
              <a:rPr b="0" lang="en-US" sz="2400" spc="-53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the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 local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network.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156" name="object 4"/>
          <p:cNvSpPr/>
          <p:nvPr/>
        </p:nvSpPr>
        <p:spPr>
          <a:xfrm>
            <a:off x="838080" y="6400800"/>
            <a:ext cx="10514880" cy="227880"/>
          </a:xfrm>
          <a:custGeom>
            <a:avLst/>
            <a:gdLst/>
            <a:ahLst/>
            <a:rect l="l" t="t" r="r" b="b"/>
            <a:pathLst>
              <a:path w="10515600" h="228600">
                <a:moveTo>
                  <a:pt x="10515600" y="0"/>
                </a:moveTo>
                <a:lnTo>
                  <a:pt x="0" y="0"/>
                </a:lnTo>
                <a:lnTo>
                  <a:pt x="0" y="228600"/>
                </a:lnTo>
                <a:lnTo>
                  <a:pt x="10515600" y="228600"/>
                </a:lnTo>
                <a:lnTo>
                  <a:pt x="10515600" y="0"/>
                </a:lnTo>
                <a:close/>
              </a:path>
            </a:pathLst>
          </a:custGeom>
          <a:solidFill>
            <a:srgbClr val="c00000">
              <a:alpha val="5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57" name="PlaceHolder 2"/>
          <p:cNvSpPr>
            <a:spLocks noGrp="1"/>
          </p:cNvSpPr>
          <p:nvPr>
            <p:ph type="ftr" idx="40"/>
          </p:nvPr>
        </p:nvSpPr>
        <p:spPr>
          <a:xfrm>
            <a:off x="916920" y="6451560"/>
            <a:ext cx="102276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1260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12600">
              <a:lnSpc>
                <a:spcPts val="1046"/>
              </a:lnSpc>
              <a:buNone/>
            </a:pP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Security+</a:t>
            </a:r>
            <a:r>
              <a:rPr b="0" lang="en-US" sz="1000" spc="-46" strike="noStrike">
                <a:solidFill>
                  <a:srgbClr val="ffffff"/>
                </a:solidFill>
                <a:latin typeface="Calibri"/>
              </a:rPr>
              <a:t> </a:t>
            </a: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(SY0-601)</a:t>
            </a:r>
            <a:endParaRPr b="0" lang="en-US" sz="1000" spc="-1" strike="noStrike">
              <a:latin typeface="Times New Roman"/>
            </a:endParaRPr>
          </a:p>
        </p:txBody>
      </p:sp>
      <p:sp>
        <p:nvSpPr>
          <p:cNvPr id="158" name="PlaceHolder 3"/>
          <p:cNvSpPr>
            <a:spLocks noGrp="1"/>
          </p:cNvSpPr>
          <p:nvPr>
            <p:ph type="dt" idx="41"/>
          </p:nvPr>
        </p:nvSpPr>
        <p:spPr>
          <a:xfrm>
            <a:off x="5492520" y="6451560"/>
            <a:ext cx="11224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1260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12600">
              <a:lnSpc>
                <a:spcPts val="1046"/>
              </a:lnSpc>
              <a:buNone/>
            </a:pP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©</a:t>
            </a:r>
            <a:r>
              <a:rPr b="0" lang="en-US" sz="1000" spc="-41" strike="noStrike">
                <a:solidFill>
                  <a:srgbClr val="ffffff"/>
                </a:solidFill>
                <a:latin typeface="Calibri"/>
              </a:rPr>
              <a:t> </a:t>
            </a: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netriders.academy</a:t>
            </a:r>
            <a:endParaRPr b="0" lang="en-US" sz="1000" spc="-1" strike="noStrike">
              <a:latin typeface="Times New Roman"/>
            </a:endParaRPr>
          </a:p>
        </p:txBody>
      </p:sp>
      <p:sp>
        <p:nvSpPr>
          <p:cNvPr id="159" name="PlaceHolder 4"/>
          <p:cNvSpPr>
            <a:spLocks noGrp="1"/>
          </p:cNvSpPr>
          <p:nvPr>
            <p:ph type="sldNum" idx="42"/>
          </p:nvPr>
        </p:nvSpPr>
        <p:spPr>
          <a:xfrm>
            <a:off x="11098440" y="6451200"/>
            <a:ext cx="20376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3816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38160">
              <a:lnSpc>
                <a:spcPts val="1046"/>
              </a:lnSpc>
              <a:buNone/>
            </a:pPr>
            <a:fld id="{C838B325-098E-4550-B6D8-BE3D2CEFDDA6}" type="slidenum">
              <a:rPr b="0" lang="en-US" sz="1000" spc="-7" strike="noStrike">
                <a:solidFill>
                  <a:srgbClr val="ffffff"/>
                </a:solidFill>
                <a:latin typeface="Calibri"/>
              </a:rPr>
              <a:t>&lt;number&gt;</a:t>
            </a:fld>
            <a:endParaRPr b="0" lang="en-US" sz="1000" spc="-1" strike="noStrike"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PlaceHolder 1"/>
          <p:cNvSpPr>
            <a:spLocks noGrp="1"/>
          </p:cNvSpPr>
          <p:nvPr>
            <p:ph type="title"/>
          </p:nvPr>
        </p:nvSpPr>
        <p:spPr>
          <a:xfrm>
            <a:off x="916920" y="684720"/>
            <a:ext cx="9598680" cy="1157400"/>
          </a:xfrm>
          <a:prstGeom prst="rect">
            <a:avLst/>
          </a:prstGeom>
          <a:noFill/>
          <a:ln w="0">
            <a:noFill/>
          </a:ln>
        </p:spPr>
        <p:txBody>
          <a:bodyPr lIns="0" rIns="0" tIns="12600" bIns="0" anchor="t">
            <a:noAutofit/>
          </a:bodyPr>
          <a:p>
            <a:pPr marL="12600">
              <a:lnSpc>
                <a:spcPct val="100000"/>
              </a:lnSpc>
              <a:spcBef>
                <a:spcPts val="99"/>
              </a:spcBef>
              <a:buNone/>
            </a:pPr>
            <a:r>
              <a:rPr b="0" lang="en-US" sz="3600" spc="-46" strike="noStrike">
                <a:solidFill>
                  <a:srgbClr val="c00000"/>
                </a:solidFill>
                <a:latin typeface="Calibri Light"/>
              </a:rPr>
              <a:t>REMOTE</a:t>
            </a:r>
            <a:r>
              <a:rPr b="0" lang="en-US" sz="3600" spc="-120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35" strike="noStrike">
                <a:solidFill>
                  <a:srgbClr val="c00000"/>
                </a:solidFill>
                <a:latin typeface="Calibri Light"/>
              </a:rPr>
              <a:t>ACCESS</a:t>
            </a:r>
            <a:r>
              <a:rPr b="0" lang="en-US" sz="3600" spc="-111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35" strike="noStrike">
                <a:solidFill>
                  <a:srgbClr val="c00000"/>
                </a:solidFill>
                <a:latin typeface="Calibri Light"/>
              </a:rPr>
              <a:t>ARCHITECTURE</a:t>
            </a:r>
            <a:r>
              <a:rPr b="0" lang="en-US" sz="3600" spc="-106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32" strike="noStrike">
                <a:solidFill>
                  <a:srgbClr val="c00000"/>
                </a:solidFill>
                <a:latin typeface="Calibri Light"/>
              </a:rPr>
              <a:t>(cont.)</a:t>
            </a:r>
            <a:endParaRPr b="0" lang="en-US" sz="3600" spc="-1" strike="noStrike">
              <a:latin typeface="Arial"/>
            </a:endParaRPr>
          </a:p>
        </p:txBody>
      </p:sp>
      <p:sp>
        <p:nvSpPr>
          <p:cNvPr id="161" name="object 3"/>
          <p:cNvSpPr/>
          <p:nvPr/>
        </p:nvSpPr>
        <p:spPr>
          <a:xfrm>
            <a:off x="838080" y="6400800"/>
            <a:ext cx="10514880" cy="227880"/>
          </a:xfrm>
          <a:custGeom>
            <a:avLst/>
            <a:gdLst/>
            <a:ahLst/>
            <a:rect l="l" t="t" r="r" b="b"/>
            <a:pathLst>
              <a:path w="10515600" h="228600">
                <a:moveTo>
                  <a:pt x="10515600" y="0"/>
                </a:moveTo>
                <a:lnTo>
                  <a:pt x="0" y="0"/>
                </a:lnTo>
                <a:lnTo>
                  <a:pt x="0" y="228600"/>
                </a:lnTo>
                <a:lnTo>
                  <a:pt x="10515600" y="228600"/>
                </a:lnTo>
                <a:lnTo>
                  <a:pt x="10515600" y="0"/>
                </a:lnTo>
                <a:close/>
              </a:path>
            </a:pathLst>
          </a:custGeom>
          <a:solidFill>
            <a:srgbClr val="c00000">
              <a:alpha val="5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pic>
        <p:nvPicPr>
          <p:cNvPr id="162" name="object 4" descr=""/>
          <p:cNvPicPr/>
          <p:nvPr/>
        </p:nvPicPr>
        <p:blipFill>
          <a:blip r:embed="rId1"/>
          <a:stretch/>
        </p:blipFill>
        <p:spPr>
          <a:xfrm>
            <a:off x="1802880" y="1832040"/>
            <a:ext cx="8585640" cy="4251240"/>
          </a:xfrm>
          <a:prstGeom prst="rect">
            <a:avLst/>
          </a:prstGeom>
          <a:ln w="0">
            <a:noFill/>
          </a:ln>
        </p:spPr>
      </p:pic>
      <p:sp>
        <p:nvSpPr>
          <p:cNvPr id="163" name="PlaceHolder 2"/>
          <p:cNvSpPr>
            <a:spLocks noGrp="1"/>
          </p:cNvSpPr>
          <p:nvPr>
            <p:ph type="ftr" idx="43"/>
          </p:nvPr>
        </p:nvSpPr>
        <p:spPr>
          <a:xfrm>
            <a:off x="916920" y="6451560"/>
            <a:ext cx="102276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1260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12600">
              <a:lnSpc>
                <a:spcPts val="1046"/>
              </a:lnSpc>
              <a:buNone/>
            </a:pP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Security+</a:t>
            </a:r>
            <a:r>
              <a:rPr b="0" lang="en-US" sz="1000" spc="-46" strike="noStrike">
                <a:solidFill>
                  <a:srgbClr val="ffffff"/>
                </a:solidFill>
                <a:latin typeface="Calibri"/>
              </a:rPr>
              <a:t> </a:t>
            </a: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(SY0-601)</a:t>
            </a:r>
            <a:endParaRPr b="0" lang="en-US" sz="1000" spc="-1" strike="noStrike">
              <a:latin typeface="Times New Roman"/>
            </a:endParaRPr>
          </a:p>
        </p:txBody>
      </p:sp>
      <p:sp>
        <p:nvSpPr>
          <p:cNvPr id="164" name="PlaceHolder 3"/>
          <p:cNvSpPr>
            <a:spLocks noGrp="1"/>
          </p:cNvSpPr>
          <p:nvPr>
            <p:ph type="dt" idx="44"/>
          </p:nvPr>
        </p:nvSpPr>
        <p:spPr>
          <a:xfrm>
            <a:off x="5492520" y="6451560"/>
            <a:ext cx="11224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1260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12600">
              <a:lnSpc>
                <a:spcPts val="1046"/>
              </a:lnSpc>
              <a:buNone/>
            </a:pP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©</a:t>
            </a:r>
            <a:r>
              <a:rPr b="0" lang="en-US" sz="1000" spc="-41" strike="noStrike">
                <a:solidFill>
                  <a:srgbClr val="ffffff"/>
                </a:solidFill>
                <a:latin typeface="Calibri"/>
              </a:rPr>
              <a:t> </a:t>
            </a: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netriders.academy</a:t>
            </a:r>
            <a:endParaRPr b="0" lang="en-US" sz="1000" spc="-1" strike="noStrike">
              <a:latin typeface="Times New Roman"/>
            </a:endParaRPr>
          </a:p>
        </p:txBody>
      </p:sp>
      <p:sp>
        <p:nvSpPr>
          <p:cNvPr id="165" name="PlaceHolder 4"/>
          <p:cNvSpPr>
            <a:spLocks noGrp="1"/>
          </p:cNvSpPr>
          <p:nvPr>
            <p:ph type="sldNum" idx="45"/>
          </p:nvPr>
        </p:nvSpPr>
        <p:spPr>
          <a:xfrm>
            <a:off x="11098440" y="6451200"/>
            <a:ext cx="20376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3816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38160">
              <a:lnSpc>
                <a:spcPts val="1046"/>
              </a:lnSpc>
              <a:buNone/>
            </a:pPr>
            <a:fld id="{04CB973E-AD35-4C50-9161-0A06243E97C8}" type="slidenum">
              <a:rPr b="0" lang="en-US" sz="1000" spc="-7" strike="noStrike">
                <a:solidFill>
                  <a:srgbClr val="ffffff"/>
                </a:solidFill>
                <a:latin typeface="Calibri"/>
              </a:rPr>
              <a:t>&lt;number&gt;</a:t>
            </a:fld>
            <a:endParaRPr b="0" lang="en-US" sz="1000" spc="-1" strike="noStrike"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PlaceHolder 1"/>
          <p:cNvSpPr>
            <a:spLocks noGrp="1"/>
          </p:cNvSpPr>
          <p:nvPr>
            <p:ph type="title"/>
          </p:nvPr>
        </p:nvSpPr>
        <p:spPr>
          <a:xfrm>
            <a:off x="916920" y="684720"/>
            <a:ext cx="7166520" cy="1157400"/>
          </a:xfrm>
          <a:prstGeom prst="rect">
            <a:avLst/>
          </a:prstGeom>
          <a:noFill/>
          <a:ln w="0">
            <a:noFill/>
          </a:ln>
        </p:spPr>
        <p:txBody>
          <a:bodyPr lIns="0" rIns="0" tIns="12600" bIns="0" anchor="t">
            <a:noAutofit/>
          </a:bodyPr>
          <a:p>
            <a:pPr marL="12600">
              <a:lnSpc>
                <a:spcPct val="100000"/>
              </a:lnSpc>
              <a:spcBef>
                <a:spcPts val="99"/>
              </a:spcBef>
              <a:buNone/>
            </a:pPr>
            <a:r>
              <a:rPr b="0" lang="en-US" sz="3600" spc="-46" strike="noStrike">
                <a:solidFill>
                  <a:srgbClr val="c00000"/>
                </a:solidFill>
                <a:latin typeface="Calibri Light"/>
              </a:rPr>
              <a:t>REMOTE</a:t>
            </a:r>
            <a:r>
              <a:rPr b="0" lang="en-US" sz="3600" spc="-120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35" strike="noStrike">
                <a:solidFill>
                  <a:srgbClr val="c00000"/>
                </a:solidFill>
                <a:latin typeface="Calibri Light"/>
              </a:rPr>
              <a:t>ACCESS</a:t>
            </a:r>
            <a:r>
              <a:rPr b="0" lang="en-US" sz="3600" spc="-111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35" strike="noStrike">
                <a:solidFill>
                  <a:srgbClr val="c00000"/>
                </a:solidFill>
                <a:latin typeface="Calibri Light"/>
              </a:rPr>
              <a:t>ARCHITECTURE</a:t>
            </a:r>
            <a:r>
              <a:rPr b="0" lang="en-US" sz="3600" spc="-106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32" strike="noStrike">
                <a:solidFill>
                  <a:srgbClr val="c00000"/>
                </a:solidFill>
                <a:latin typeface="Calibri Light"/>
              </a:rPr>
              <a:t>(cont.)</a:t>
            </a:r>
            <a:endParaRPr b="0" lang="en-US" sz="3600" spc="-1" strike="noStrike">
              <a:latin typeface="Arial"/>
            </a:endParaRPr>
          </a:p>
        </p:txBody>
      </p:sp>
      <p:sp>
        <p:nvSpPr>
          <p:cNvPr id="167" name="object 3"/>
          <p:cNvSpPr/>
          <p:nvPr/>
        </p:nvSpPr>
        <p:spPr>
          <a:xfrm>
            <a:off x="838080" y="6400800"/>
            <a:ext cx="10514880" cy="227880"/>
          </a:xfrm>
          <a:custGeom>
            <a:avLst/>
            <a:gdLst/>
            <a:ahLst/>
            <a:rect l="l" t="t" r="r" b="b"/>
            <a:pathLst>
              <a:path w="10515600" h="228600">
                <a:moveTo>
                  <a:pt x="10515600" y="0"/>
                </a:moveTo>
                <a:lnTo>
                  <a:pt x="0" y="0"/>
                </a:lnTo>
                <a:lnTo>
                  <a:pt x="0" y="228600"/>
                </a:lnTo>
                <a:lnTo>
                  <a:pt x="10515600" y="228600"/>
                </a:lnTo>
                <a:lnTo>
                  <a:pt x="10515600" y="0"/>
                </a:lnTo>
                <a:close/>
              </a:path>
            </a:pathLst>
          </a:custGeom>
          <a:solidFill>
            <a:srgbClr val="c00000">
              <a:alpha val="5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pic>
        <p:nvPicPr>
          <p:cNvPr id="168" name="object 4" descr=""/>
          <p:cNvPicPr/>
          <p:nvPr/>
        </p:nvPicPr>
        <p:blipFill>
          <a:blip r:embed="rId1"/>
          <a:stretch/>
        </p:blipFill>
        <p:spPr>
          <a:xfrm>
            <a:off x="1982880" y="1763280"/>
            <a:ext cx="8226000" cy="4476600"/>
          </a:xfrm>
          <a:prstGeom prst="rect">
            <a:avLst/>
          </a:prstGeom>
          <a:ln w="0">
            <a:noFill/>
          </a:ln>
        </p:spPr>
      </p:pic>
      <p:sp>
        <p:nvSpPr>
          <p:cNvPr id="169" name="PlaceHolder 2"/>
          <p:cNvSpPr>
            <a:spLocks noGrp="1"/>
          </p:cNvSpPr>
          <p:nvPr>
            <p:ph type="ftr" idx="46"/>
          </p:nvPr>
        </p:nvSpPr>
        <p:spPr>
          <a:xfrm>
            <a:off x="916920" y="6451560"/>
            <a:ext cx="102276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1260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12600">
              <a:lnSpc>
                <a:spcPts val="1046"/>
              </a:lnSpc>
              <a:buNone/>
            </a:pP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Security+</a:t>
            </a:r>
            <a:r>
              <a:rPr b="0" lang="en-US" sz="1000" spc="-46" strike="noStrike">
                <a:solidFill>
                  <a:srgbClr val="ffffff"/>
                </a:solidFill>
                <a:latin typeface="Calibri"/>
              </a:rPr>
              <a:t> </a:t>
            </a: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(SY0-601)</a:t>
            </a:r>
            <a:endParaRPr b="0" lang="en-US" sz="1000" spc="-1" strike="noStrike">
              <a:latin typeface="Times New Roman"/>
            </a:endParaRPr>
          </a:p>
        </p:txBody>
      </p:sp>
      <p:sp>
        <p:nvSpPr>
          <p:cNvPr id="170" name="PlaceHolder 3"/>
          <p:cNvSpPr>
            <a:spLocks noGrp="1"/>
          </p:cNvSpPr>
          <p:nvPr>
            <p:ph type="dt" idx="47"/>
          </p:nvPr>
        </p:nvSpPr>
        <p:spPr>
          <a:xfrm>
            <a:off x="5492520" y="6451560"/>
            <a:ext cx="11224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1260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12600">
              <a:lnSpc>
                <a:spcPts val="1046"/>
              </a:lnSpc>
              <a:buNone/>
            </a:pP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©</a:t>
            </a:r>
            <a:r>
              <a:rPr b="0" lang="en-US" sz="1000" spc="-41" strike="noStrike">
                <a:solidFill>
                  <a:srgbClr val="ffffff"/>
                </a:solidFill>
                <a:latin typeface="Calibri"/>
              </a:rPr>
              <a:t> </a:t>
            </a: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netriders.academy</a:t>
            </a:r>
            <a:endParaRPr b="0" lang="en-US" sz="1000" spc="-1" strike="noStrike">
              <a:latin typeface="Times New Roman"/>
            </a:endParaRPr>
          </a:p>
        </p:txBody>
      </p:sp>
      <p:sp>
        <p:nvSpPr>
          <p:cNvPr id="171" name="PlaceHolder 4"/>
          <p:cNvSpPr>
            <a:spLocks noGrp="1"/>
          </p:cNvSpPr>
          <p:nvPr>
            <p:ph type="sldNum" idx="48"/>
          </p:nvPr>
        </p:nvSpPr>
        <p:spPr>
          <a:xfrm>
            <a:off x="11098440" y="6451200"/>
            <a:ext cx="20376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3816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38160">
              <a:lnSpc>
                <a:spcPts val="1046"/>
              </a:lnSpc>
              <a:buNone/>
            </a:pPr>
            <a:fld id="{980C3093-A876-4CAF-83B8-ECBF46AEC736}" type="slidenum">
              <a:rPr b="0" lang="en-US" sz="1000" spc="-7" strike="noStrike">
                <a:solidFill>
                  <a:srgbClr val="ffffff"/>
                </a:solidFill>
                <a:latin typeface="Calibri"/>
              </a:rPr>
              <a:t>&lt;number&gt;</a:t>
            </a:fld>
            <a:endParaRPr b="0" lang="en-US" sz="1000" spc="-1" strike="noStrike"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PlaceHolder 1"/>
          <p:cNvSpPr>
            <a:spLocks noGrp="1"/>
          </p:cNvSpPr>
          <p:nvPr>
            <p:ph type="title"/>
          </p:nvPr>
        </p:nvSpPr>
        <p:spPr>
          <a:xfrm>
            <a:off x="916920" y="684720"/>
            <a:ext cx="7312680" cy="686880"/>
          </a:xfrm>
          <a:prstGeom prst="rect">
            <a:avLst/>
          </a:prstGeom>
          <a:noFill/>
          <a:ln w="0">
            <a:noFill/>
          </a:ln>
        </p:spPr>
        <p:txBody>
          <a:bodyPr lIns="0" rIns="0" tIns="12600" bIns="0" anchor="t">
            <a:noAutofit/>
          </a:bodyPr>
          <a:p>
            <a:pPr marL="12600">
              <a:lnSpc>
                <a:spcPct val="100000"/>
              </a:lnSpc>
              <a:spcBef>
                <a:spcPts val="99"/>
              </a:spcBef>
              <a:buNone/>
            </a:pPr>
            <a:r>
              <a:rPr b="0" lang="en-US" sz="3600" spc="-21" strike="noStrike">
                <a:solidFill>
                  <a:srgbClr val="c00000"/>
                </a:solidFill>
                <a:latin typeface="Calibri Light"/>
              </a:rPr>
              <a:t>R</a:t>
            </a:r>
            <a:r>
              <a:rPr b="0" lang="en-US" sz="3600" spc="-26" strike="noStrike">
                <a:solidFill>
                  <a:srgbClr val="c00000"/>
                </a:solidFill>
                <a:latin typeface="Calibri Light"/>
              </a:rPr>
              <a:t>E</a:t>
            </a:r>
            <a:r>
              <a:rPr b="0" lang="en-US" sz="3600" spc="-52" strike="noStrike">
                <a:solidFill>
                  <a:srgbClr val="c00000"/>
                </a:solidFill>
                <a:latin typeface="Calibri Light"/>
              </a:rPr>
              <a:t>M</a:t>
            </a:r>
            <a:r>
              <a:rPr b="0" lang="en-US" sz="3600" spc="-151" strike="noStrike">
                <a:solidFill>
                  <a:srgbClr val="c00000"/>
                </a:solidFill>
                <a:latin typeface="Calibri Light"/>
              </a:rPr>
              <a:t>O</a:t>
            </a:r>
            <a:r>
              <a:rPr b="0" lang="en-US" sz="3600" spc="-26" strike="noStrike">
                <a:solidFill>
                  <a:srgbClr val="c00000"/>
                </a:solidFill>
                <a:latin typeface="Calibri Light"/>
              </a:rPr>
              <a:t>T</a:t>
            </a:r>
            <a:r>
              <a:rPr b="0" lang="en-US" sz="3600" spc="-1" strike="noStrike">
                <a:solidFill>
                  <a:srgbClr val="c00000"/>
                </a:solidFill>
                <a:latin typeface="Calibri Light"/>
              </a:rPr>
              <a:t>E</a:t>
            </a:r>
            <a:r>
              <a:rPr b="0" lang="en-US" sz="3600" spc="-92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26" strike="noStrike">
                <a:solidFill>
                  <a:srgbClr val="c00000"/>
                </a:solidFill>
                <a:latin typeface="Calibri Light"/>
              </a:rPr>
              <a:t>D</a:t>
            </a:r>
            <a:r>
              <a:rPr b="0" lang="en-US" sz="3600" spc="-60" strike="noStrike">
                <a:solidFill>
                  <a:srgbClr val="c00000"/>
                </a:solidFill>
                <a:latin typeface="Calibri Light"/>
              </a:rPr>
              <a:t>E</a:t>
            </a:r>
            <a:r>
              <a:rPr b="0" lang="en-US" sz="3600" spc="-26" strike="noStrike">
                <a:solidFill>
                  <a:srgbClr val="c00000"/>
                </a:solidFill>
                <a:latin typeface="Calibri Light"/>
              </a:rPr>
              <a:t>S</a:t>
            </a:r>
            <a:r>
              <a:rPr b="0" lang="en-US" sz="3600" spc="-32" strike="noStrike">
                <a:solidFill>
                  <a:srgbClr val="c00000"/>
                </a:solidFill>
                <a:latin typeface="Calibri Light"/>
              </a:rPr>
              <a:t>K</a:t>
            </a:r>
            <a:r>
              <a:rPr b="0" lang="en-US" sz="3600" spc="-137" strike="noStrike">
                <a:solidFill>
                  <a:srgbClr val="c00000"/>
                </a:solidFill>
                <a:latin typeface="Calibri Light"/>
              </a:rPr>
              <a:t>T</a:t>
            </a:r>
            <a:r>
              <a:rPr b="0" lang="en-US" sz="3600" spc="-41" strike="noStrike">
                <a:solidFill>
                  <a:srgbClr val="c00000"/>
                </a:solidFill>
                <a:latin typeface="Calibri Light"/>
              </a:rPr>
              <a:t>O</a:t>
            </a:r>
            <a:r>
              <a:rPr b="0" lang="en-US" sz="3600" spc="-1" strike="noStrike">
                <a:solidFill>
                  <a:srgbClr val="c00000"/>
                </a:solidFill>
                <a:latin typeface="Calibri Light"/>
              </a:rPr>
              <a:t>P</a:t>
            </a:r>
            <a:endParaRPr b="0" lang="en-US" sz="3600" spc="-1" strike="noStrike">
              <a:latin typeface="Arial"/>
            </a:endParaRPr>
          </a:p>
        </p:txBody>
      </p:sp>
      <p:sp>
        <p:nvSpPr>
          <p:cNvPr id="173" name="object 3"/>
          <p:cNvSpPr/>
          <p:nvPr/>
        </p:nvSpPr>
        <p:spPr>
          <a:xfrm>
            <a:off x="916920" y="1409760"/>
            <a:ext cx="10119240" cy="407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54000" bIns="0" anchor="t">
            <a:spAutoFit/>
          </a:bodyPr>
          <a:p>
            <a:pPr marL="241200" indent="-229320" algn="just">
              <a:lnSpc>
                <a:spcPts val="2591"/>
              </a:lnSpc>
              <a:spcBef>
                <a:spcPts val="425"/>
              </a:spcBef>
              <a:buClr>
                <a:srgbClr val="000000"/>
              </a:buClr>
              <a:buFont typeface="Arial MT"/>
              <a:buChar char="•"/>
              <a:tabLst>
                <a:tab algn="l" pos="24192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Another model 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for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remote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networking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involves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connecting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to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host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within the </a:t>
            </a:r>
            <a:r>
              <a:rPr b="0" lang="en-US" sz="2400" spc="-53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local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network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over</a:t>
            </a:r>
            <a:r>
              <a:rPr b="0" lang="en-US" sz="24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 </a:t>
            </a:r>
            <a:r>
              <a:rPr b="0" lang="en-US" sz="2400" spc="-12" strike="noStrike">
                <a:solidFill>
                  <a:srgbClr val="006fc0"/>
                </a:solidFill>
                <a:latin typeface="Calibri"/>
                <a:ea typeface="DejaVu Sans"/>
              </a:rPr>
              <a:t>remote</a:t>
            </a:r>
            <a:r>
              <a:rPr b="0" lang="en-US" sz="2400" spc="-1" strike="noStrike">
                <a:solidFill>
                  <a:srgbClr val="006fc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6fc0"/>
                </a:solidFill>
                <a:latin typeface="Calibri"/>
                <a:ea typeface="DejaVu Sans"/>
              </a:rPr>
              <a:t>administration</a:t>
            </a:r>
            <a:r>
              <a:rPr b="0" lang="en-US" sz="2400" spc="-35" strike="noStrike">
                <a:solidFill>
                  <a:srgbClr val="006fc0"/>
                </a:solidFill>
                <a:latin typeface="Calibri"/>
                <a:ea typeface="DejaVu Sans"/>
              </a:rPr>
              <a:t> </a:t>
            </a:r>
            <a:r>
              <a:rPr b="0" lang="en-US" sz="2400" spc="-15" strike="noStrike">
                <a:solidFill>
                  <a:srgbClr val="006fc0"/>
                </a:solidFill>
                <a:latin typeface="Calibri"/>
                <a:ea typeface="DejaVu Sans"/>
              </a:rPr>
              <a:t>protocol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.</a:t>
            </a:r>
            <a:endParaRPr b="0" lang="en-US" sz="2400" spc="-1" strike="noStrike">
              <a:latin typeface="Arial"/>
            </a:endParaRPr>
          </a:p>
          <a:p>
            <a:pPr marL="241200" indent="-229320" algn="just">
              <a:lnSpc>
                <a:spcPts val="2741"/>
              </a:lnSpc>
              <a:spcBef>
                <a:spcPts val="686"/>
              </a:spcBef>
              <a:buClr>
                <a:srgbClr val="000000"/>
              </a:buClr>
              <a:buFont typeface="Arial MT"/>
              <a:buChar char="•"/>
              <a:tabLst>
                <a:tab algn="l" pos="24192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 protocol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such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as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6fc0"/>
                </a:solidFill>
                <a:latin typeface="Calibri"/>
                <a:ea typeface="DejaVu Sans"/>
              </a:rPr>
              <a:t>Secure</a:t>
            </a:r>
            <a:r>
              <a:rPr b="0" lang="en-US" sz="2400" spc="1" strike="noStrike">
                <a:solidFill>
                  <a:srgbClr val="006fc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6fc0"/>
                </a:solidFill>
                <a:latin typeface="Calibri"/>
                <a:ea typeface="DejaVu Sans"/>
              </a:rPr>
              <a:t>Shell </a:t>
            </a:r>
            <a:r>
              <a:rPr b="0" lang="en-US" sz="2400" spc="-1" strike="noStrike">
                <a:solidFill>
                  <a:srgbClr val="006fc0"/>
                </a:solidFill>
                <a:latin typeface="Calibri"/>
                <a:ea typeface="DejaVu Sans"/>
              </a:rPr>
              <a:t>(SSH)</a:t>
            </a:r>
            <a:r>
              <a:rPr b="0" lang="en-US" sz="2400" spc="-41" strike="noStrike">
                <a:solidFill>
                  <a:srgbClr val="006fc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traditionally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provides</a:t>
            </a:r>
            <a:r>
              <a:rPr b="0" lang="en-US" sz="2400" spc="9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terminal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access,</a:t>
            </a:r>
            <a:r>
              <a:rPr b="0" lang="en-US" sz="2400" spc="-26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and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there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are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many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tools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that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can connect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to</a:t>
            </a:r>
            <a:r>
              <a:rPr b="0" lang="en-US" sz="2400" spc="-26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graphical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desktop.</a:t>
            </a:r>
            <a:endParaRPr b="0" lang="en-US" sz="2400" spc="-1" strike="noStrike">
              <a:latin typeface="Arial"/>
            </a:endParaRPr>
          </a:p>
          <a:p>
            <a:pPr marL="241200" indent="-229320" algn="just">
              <a:lnSpc>
                <a:spcPts val="2591"/>
              </a:lnSpc>
              <a:spcBef>
                <a:spcPts val="1035"/>
              </a:spcBef>
              <a:buClr>
                <a:srgbClr val="000000"/>
              </a:buClr>
              <a:buFont typeface="Arial MT"/>
              <a:buChar char="•"/>
              <a:tabLst>
                <a:tab algn="l" pos="24192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 </a:t>
            </a:r>
            <a:r>
              <a:rPr b="0" lang="en-US" sz="2400" spc="-7" strike="noStrike">
                <a:solidFill>
                  <a:srgbClr val="006fc0"/>
                </a:solidFill>
                <a:latin typeface="Calibri"/>
                <a:ea typeface="DejaVu Sans"/>
              </a:rPr>
              <a:t>GUI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remote administration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tool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sends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screen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and audio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data from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the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remote </a:t>
            </a:r>
            <a:r>
              <a:rPr b="0" lang="en-US" sz="2400" spc="-53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host to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the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client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and 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transfers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mouse and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keyboard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input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from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the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client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to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the </a:t>
            </a:r>
            <a:r>
              <a:rPr b="0" lang="en-US" sz="2400" spc="-53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remote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host.</a:t>
            </a:r>
            <a:endParaRPr b="0" lang="en-US" sz="2400" spc="-1" strike="noStrike">
              <a:latin typeface="Arial"/>
            </a:endParaRPr>
          </a:p>
          <a:p>
            <a:pPr marL="241200" indent="-229320" algn="just">
              <a:lnSpc>
                <a:spcPts val="2591"/>
              </a:lnSpc>
              <a:spcBef>
                <a:spcPts val="1006"/>
              </a:spcBef>
              <a:buClr>
                <a:srgbClr val="006fc0"/>
              </a:buClr>
              <a:buFont typeface="Arial MT"/>
              <a:buChar char="•"/>
              <a:tabLst>
                <a:tab algn="l" pos="241920"/>
              </a:tabLst>
            </a:pPr>
            <a:r>
              <a:rPr b="0" lang="en-US" sz="2400" spc="-12" strike="noStrike">
                <a:solidFill>
                  <a:srgbClr val="006fc0"/>
                </a:solidFill>
                <a:latin typeface="Calibri"/>
                <a:ea typeface="DejaVu Sans"/>
              </a:rPr>
              <a:t>Microsoft's Remote Desktop </a:t>
            </a:r>
            <a:r>
              <a:rPr b="0" lang="en-US" sz="2400" spc="-15" strike="noStrike">
                <a:solidFill>
                  <a:srgbClr val="006fc0"/>
                </a:solidFill>
                <a:latin typeface="Calibri"/>
                <a:ea typeface="DejaVu Sans"/>
              </a:rPr>
              <a:t>Protocol </a:t>
            </a:r>
            <a:r>
              <a:rPr b="0" lang="en-US" sz="2400" spc="-7" strike="noStrike">
                <a:solidFill>
                  <a:srgbClr val="006fc0"/>
                </a:solidFill>
                <a:latin typeface="Calibri"/>
                <a:ea typeface="DejaVu Sans"/>
              </a:rPr>
              <a:t>(RDP)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can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be used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to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access a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physical </a:t>
            </a:r>
            <a:r>
              <a:rPr b="0" lang="en-US" sz="2400" spc="-53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machine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on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one-to-one</a:t>
            </a:r>
            <a:r>
              <a:rPr b="0" lang="en-US" sz="2400" spc="9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basis.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174" name="object 4"/>
          <p:cNvSpPr/>
          <p:nvPr/>
        </p:nvSpPr>
        <p:spPr>
          <a:xfrm>
            <a:off x="838080" y="6400800"/>
            <a:ext cx="10514880" cy="227880"/>
          </a:xfrm>
          <a:custGeom>
            <a:avLst/>
            <a:gdLst/>
            <a:ahLst/>
            <a:rect l="l" t="t" r="r" b="b"/>
            <a:pathLst>
              <a:path w="10515600" h="228600">
                <a:moveTo>
                  <a:pt x="10515600" y="0"/>
                </a:moveTo>
                <a:lnTo>
                  <a:pt x="0" y="0"/>
                </a:lnTo>
                <a:lnTo>
                  <a:pt x="0" y="228600"/>
                </a:lnTo>
                <a:lnTo>
                  <a:pt x="10515600" y="228600"/>
                </a:lnTo>
                <a:lnTo>
                  <a:pt x="10515600" y="0"/>
                </a:lnTo>
                <a:close/>
              </a:path>
            </a:pathLst>
          </a:custGeom>
          <a:solidFill>
            <a:srgbClr val="c00000">
              <a:alpha val="5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75" name="PlaceHolder 2"/>
          <p:cNvSpPr>
            <a:spLocks noGrp="1"/>
          </p:cNvSpPr>
          <p:nvPr>
            <p:ph type="ftr" idx="49"/>
          </p:nvPr>
        </p:nvSpPr>
        <p:spPr>
          <a:xfrm>
            <a:off x="916920" y="6451560"/>
            <a:ext cx="102276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1260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12600">
              <a:lnSpc>
                <a:spcPts val="1046"/>
              </a:lnSpc>
              <a:buNone/>
            </a:pP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Security+</a:t>
            </a:r>
            <a:r>
              <a:rPr b="0" lang="en-US" sz="1000" spc="-46" strike="noStrike">
                <a:solidFill>
                  <a:srgbClr val="ffffff"/>
                </a:solidFill>
                <a:latin typeface="Calibri"/>
              </a:rPr>
              <a:t> </a:t>
            </a: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(SY0-601)</a:t>
            </a:r>
            <a:endParaRPr b="0" lang="en-US" sz="1000" spc="-1" strike="noStrike">
              <a:latin typeface="Times New Roman"/>
            </a:endParaRPr>
          </a:p>
        </p:txBody>
      </p:sp>
      <p:sp>
        <p:nvSpPr>
          <p:cNvPr id="176" name="PlaceHolder 3"/>
          <p:cNvSpPr>
            <a:spLocks noGrp="1"/>
          </p:cNvSpPr>
          <p:nvPr>
            <p:ph type="dt" idx="50"/>
          </p:nvPr>
        </p:nvSpPr>
        <p:spPr>
          <a:xfrm>
            <a:off x="5492520" y="6451560"/>
            <a:ext cx="11224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1260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12600">
              <a:lnSpc>
                <a:spcPts val="1046"/>
              </a:lnSpc>
              <a:buNone/>
            </a:pP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©</a:t>
            </a:r>
            <a:r>
              <a:rPr b="0" lang="en-US" sz="1000" spc="-41" strike="noStrike">
                <a:solidFill>
                  <a:srgbClr val="ffffff"/>
                </a:solidFill>
                <a:latin typeface="Calibri"/>
              </a:rPr>
              <a:t> </a:t>
            </a: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netriders.academy</a:t>
            </a:r>
            <a:endParaRPr b="0" lang="en-US" sz="1000" spc="-1" strike="noStrike">
              <a:latin typeface="Times New Roman"/>
            </a:endParaRPr>
          </a:p>
        </p:txBody>
      </p:sp>
      <p:sp>
        <p:nvSpPr>
          <p:cNvPr id="177" name="PlaceHolder 4"/>
          <p:cNvSpPr>
            <a:spLocks noGrp="1"/>
          </p:cNvSpPr>
          <p:nvPr>
            <p:ph type="sldNum" idx="51"/>
          </p:nvPr>
        </p:nvSpPr>
        <p:spPr>
          <a:xfrm>
            <a:off x="11098440" y="6451200"/>
            <a:ext cx="20376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3816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38160">
              <a:lnSpc>
                <a:spcPts val="1046"/>
              </a:lnSpc>
              <a:buNone/>
            </a:pPr>
            <a:fld id="{96A65133-0A23-43B5-BCE7-86C28AB41488}" type="slidenum">
              <a:rPr b="0" lang="en-US" sz="1000" spc="-7" strike="noStrike">
                <a:solidFill>
                  <a:srgbClr val="ffffff"/>
                </a:solidFill>
                <a:latin typeface="Calibri"/>
              </a:rPr>
              <a:t>&lt;number&gt;</a:t>
            </a:fld>
            <a:endParaRPr b="0" lang="en-US" sz="1000" spc="-1" strike="noStrike"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462c1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462c1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89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2023-09-03T11:34:34Z</dcterms:created>
  <dc:creator>Ahmed Sultan</dc:creator>
  <dc:description/>
  <dc:language>en-US</dc:language>
  <cp:lastModifiedBy/>
  <dcterms:modified xsi:type="dcterms:W3CDTF">2023-09-05T22:19:20Z</dcterms:modified>
  <cp:revision>4</cp:revision>
  <dc:subject/>
  <dc:title>PowerPoint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2021-11-20T00:00:00Z</vt:filetime>
  </property>
  <property fmtid="{D5CDD505-2E9C-101B-9397-08002B2CF9AE}" pid="3" name="Creator">
    <vt:lpwstr>Microsoft® PowerPoint® for Microsoft 365</vt:lpwstr>
  </property>
  <property fmtid="{D5CDD505-2E9C-101B-9397-08002B2CF9AE}" pid="4" name="LastSaved">
    <vt:filetime>2023-09-03T00:00:00Z</vt:filetime>
  </property>
  <property fmtid="{D5CDD505-2E9C-101B-9397-08002B2CF9AE}" pid="5" name="PresentationFormat">
    <vt:lpwstr>On-screen Show (4:3)</vt:lpwstr>
  </property>
</Properties>
</file>