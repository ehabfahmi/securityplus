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DA286-4B23-49A6-849D-F7CB09DC53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6920" y="1758960"/>
            <a:ext cx="1035792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CB2EFA-9FD8-4966-B774-EA9C523E0C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1035792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E1A98F-A5B2-4B34-AFF4-3B03A0D10C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BD7227-0B67-454D-9714-63F38EE40C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70F8AE-5908-412B-9075-F824558E2C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6920" y="684720"/>
            <a:ext cx="10357920" cy="266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23A54E-047D-4258-BAE0-00864AEACA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692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250765-C241-46E9-9FE3-889EFD02F2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440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3F5A7F-1591-4EC9-94B0-47F69132D1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6920" y="2804400"/>
            <a:ext cx="1035792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8B9B0B-6191-4CC2-81C5-760B93E8B6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1035792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6920" y="2804400"/>
            <a:ext cx="1035792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624C00-685E-4A17-B518-949EA2C265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692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440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02C354-5C77-4AAA-BEC1-4318986036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419000" y="175896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21440" y="175896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6920" y="280440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419000" y="280440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21440" y="280440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6B2FC6-AFC8-47BA-AA5A-3746B23DD6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01D385-2475-4ED5-B214-0A34BB8DB3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916920" y="1758960"/>
            <a:ext cx="1035792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EBB5C1-6E7B-488D-B0A4-537411D42A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1035792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0718C9-784A-434A-9F27-A92DE24C15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5D447E-62FA-4CA3-A1B4-548F0A955F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3F22F7-8104-4CB8-9834-AE31AE9CAF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916920" y="684720"/>
            <a:ext cx="10357920" cy="266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F852E4-8C1A-4D9A-97FA-943217F937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91692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6ABCC-35AD-404B-B3AD-261565A2E6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622440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551641-B20A-49C7-BCB2-8EFF125ACE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916920" y="2804400"/>
            <a:ext cx="1035792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C4493-8F6D-4570-8F53-66C31C1F34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1035792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916920" y="2804400"/>
            <a:ext cx="1035792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ACB910-56E5-4307-ACDB-0CE5D031B4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24400" y="175896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91692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224400" y="2804400"/>
            <a:ext cx="505440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50C866-5B4C-4575-8294-D8DF27335EA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1800" spc="-1" strike="noStrike"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16920" y="175896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419000" y="175896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7921440" y="175896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916920" y="280440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/>
          </p:nvPr>
        </p:nvSpPr>
        <p:spPr>
          <a:xfrm>
            <a:off x="4419000" y="280440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/>
          </p:nvPr>
        </p:nvSpPr>
        <p:spPr>
          <a:xfrm>
            <a:off x="7921440" y="2804400"/>
            <a:ext cx="3335040" cy="95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F63DEC-9609-4F58-8A78-5B86B3A5F8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600" spc="-1" strike="noStrike">
                <a:latin typeface="Calibri"/>
              </a:rPr>
              <a:t>Click to edit </a:t>
            </a:r>
            <a:r>
              <a:rPr b="0" lang="en-US" sz="3600" spc="-1" strike="noStrike">
                <a:latin typeface="Calibri"/>
              </a:rPr>
              <a:t>the title text </a:t>
            </a:r>
            <a:r>
              <a:rPr b="0" lang="en-US" sz="3600" spc="-1" strike="noStrike">
                <a:latin typeface="Calibri"/>
              </a:rPr>
              <a:t>format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6920" y="1758960"/>
            <a:ext cx="10357920" cy="200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Click to edit the outline text format</a:t>
            </a:r>
            <a:endParaRPr b="0" lang="en-US" sz="1800" spc="-1" strike="noStrike"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Second Outline Level</a:t>
            </a:r>
            <a:endParaRPr b="0" lang="en-US" sz="1800" spc="-1" strike="noStrike"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Third Outline Level</a:t>
            </a:r>
            <a:endParaRPr b="0" lang="en-US" sz="1800" spc="-1" strike="noStrike"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Calibri"/>
              </a:rPr>
              <a:t>Fourth Outline Level</a:t>
            </a:r>
            <a:endParaRPr b="0" lang="en-US" sz="1800" spc="-1" strike="noStrike"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Fifth Outline Level</a:t>
            </a:r>
            <a:endParaRPr b="0" lang="en-US" sz="1800" spc="-1" strike="noStrike"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Sixth Outline Level</a:t>
            </a:r>
            <a:endParaRPr b="0" lang="en-US" sz="1800" spc="-1" strike="noStrike"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Calibri"/>
              </a:rPr>
              <a:t>Seventh Outline Level</a:t>
            </a:r>
            <a:endParaRPr b="0" lang="en-US" sz="1800" spc="-1" strike="noStrike"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3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5492520" y="6451560"/>
            <a:ext cx="112284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1098440" y="6451200"/>
            <a:ext cx="204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70F8E6C3-E3D4-460C-B665-5A5721B0231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35792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3600" spc="-1" strike="noStrike">
                <a:latin typeface="Calibri"/>
              </a:rPr>
              <a:t>Click to edit the title text format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3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5"/>
          </p:nvPr>
        </p:nvSpPr>
        <p:spPr>
          <a:xfrm>
            <a:off x="5492520" y="6451560"/>
            <a:ext cx="112284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6"/>
          </p:nvPr>
        </p:nvSpPr>
        <p:spPr>
          <a:xfrm>
            <a:off x="11098440" y="6451200"/>
            <a:ext cx="204120" cy="15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B3E1C2C-2FDC-427E-BDC4-A8FCA728275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object 3"/>
          <p:cNvGrpSpPr/>
          <p:nvPr/>
        </p:nvGrpSpPr>
        <p:grpSpPr>
          <a:xfrm>
            <a:off x="2872800" y="3080160"/>
            <a:ext cx="6494760" cy="848520"/>
            <a:chOff x="2872800" y="3080160"/>
            <a:chExt cx="6494760" cy="848520"/>
          </a:xfrm>
        </p:grpSpPr>
        <p:pic>
          <p:nvPicPr>
            <p:cNvPr id="82" name="object 4" descr=""/>
            <p:cNvPicPr/>
            <p:nvPr/>
          </p:nvPicPr>
          <p:blipFill>
            <a:blip r:embed="rId1"/>
            <a:stretch/>
          </p:blipFill>
          <p:spPr>
            <a:xfrm>
              <a:off x="2993040" y="3159000"/>
              <a:ext cx="6255720" cy="598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3" name="object 5" descr=""/>
            <p:cNvPicPr/>
            <p:nvPr/>
          </p:nvPicPr>
          <p:blipFill>
            <a:blip r:embed="rId2"/>
            <a:stretch/>
          </p:blipFill>
          <p:spPr>
            <a:xfrm>
              <a:off x="2872800" y="3080160"/>
              <a:ext cx="6494760" cy="848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009960" y="3166920"/>
            <a:ext cx="6171840" cy="116856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0224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12-</a:t>
            </a:r>
            <a:r>
              <a:rPr b="0" lang="en-US" sz="2800" spc="1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Host</a:t>
            </a:r>
            <a:r>
              <a:rPr b="0" lang="en-US" sz="2800" spc="38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Security</a:t>
            </a:r>
            <a:r>
              <a:rPr b="0" lang="en-US" sz="2800" spc="4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Solutions</a:t>
            </a:r>
            <a:endParaRPr b="0" lang="en-US" sz="2800" spc="-1" strike="noStrike">
              <a:latin typeface="Calibri"/>
            </a:endParaRPr>
          </a:p>
        </p:txBody>
      </p:sp>
      <p:pic>
        <p:nvPicPr>
          <p:cNvPr id="85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680" cy="1930680"/>
          </a:xfrm>
          <a:prstGeom prst="rect">
            <a:avLst/>
          </a:prstGeom>
          <a:ln w="0">
            <a:noFill/>
          </a:ln>
        </p:spPr>
      </p:pic>
      <p:sp>
        <p:nvSpPr>
          <p:cNvPr id="86" name="object 1"/>
          <p:cNvSpPr/>
          <p:nvPr/>
        </p:nvSpPr>
        <p:spPr>
          <a:xfrm>
            <a:off x="6172200" y="5726880"/>
            <a:ext cx="588168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1978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88" name="object 3"/>
          <p:cNvSpPr/>
          <p:nvPr/>
        </p:nvSpPr>
        <p:spPr>
          <a:xfrm>
            <a:off x="914400" y="1832400"/>
            <a:ext cx="5486400" cy="34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</a:rPr>
              <a:t>12.1-</a:t>
            </a:r>
            <a:r>
              <a:rPr b="0" lang="en-US" sz="2200" spc="-26" strike="noStrike">
                <a:solidFill>
                  <a:srgbClr val="ba2709"/>
                </a:solidFill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Implement</a:t>
            </a:r>
            <a:r>
              <a:rPr b="0" lang="en-US" sz="2200" spc="24" strike="noStrike">
                <a:latin typeface="Calibri"/>
              </a:rPr>
              <a:t> </a:t>
            </a:r>
            <a:r>
              <a:rPr b="0" lang="en-US" sz="2200" spc="-12" strike="noStrike">
                <a:latin typeface="Calibri"/>
              </a:rPr>
              <a:t>Endpoint</a:t>
            </a:r>
            <a:r>
              <a:rPr b="0" lang="en-US" sz="2200" spc="-26" strike="noStrike">
                <a:latin typeface="Calibri"/>
              </a:rPr>
              <a:t> </a:t>
            </a:r>
            <a:r>
              <a:rPr b="0" lang="en-US" sz="2200" spc="-7" strike="noStrike">
                <a:latin typeface="Calibri"/>
              </a:rPr>
              <a:t>Security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9" name="object 4"/>
          <p:cNvSpPr/>
          <p:nvPr/>
        </p:nvSpPr>
        <p:spPr>
          <a:xfrm>
            <a:off x="916920" y="3745800"/>
            <a:ext cx="48232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object 5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3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8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1DF56C9-B495-4ADC-9D1F-1D261C909F4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426480" cy="915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HARDENING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916920" y="1802520"/>
            <a:ext cx="10274040" cy="33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 </a:t>
            </a:r>
            <a:r>
              <a:rPr b="0" lang="en-US" sz="2400" spc="-12" strike="noStrike">
                <a:latin typeface="Calibri"/>
              </a:rPr>
              <a:t>process </a:t>
            </a:r>
            <a:r>
              <a:rPr b="0" lang="en-US" sz="2400" spc="-7" strike="noStrike">
                <a:latin typeface="Calibri"/>
              </a:rPr>
              <a:t>of </a:t>
            </a:r>
            <a:r>
              <a:rPr b="0" lang="en-US" sz="2400" spc="-12" strike="noStrike">
                <a:latin typeface="Calibri"/>
              </a:rPr>
              <a:t>putting </a:t>
            </a:r>
            <a:r>
              <a:rPr b="0" lang="en-US" sz="2400" spc="-1" strike="noStrike">
                <a:latin typeface="Calibri"/>
              </a:rPr>
              <a:t>an </a:t>
            </a:r>
            <a:r>
              <a:rPr b="0" lang="en-US" sz="2400" spc="-12" strike="noStrike">
                <a:latin typeface="Calibri"/>
              </a:rPr>
              <a:t>operating </a:t>
            </a:r>
            <a:r>
              <a:rPr b="0" lang="en-US" sz="2400" spc="-26" strike="noStrike">
                <a:latin typeface="Calibri"/>
              </a:rPr>
              <a:t>system </a:t>
            </a:r>
            <a:r>
              <a:rPr b="0" lang="en-US" sz="2400" spc="-7" strike="noStrike">
                <a:latin typeface="Calibri"/>
              </a:rPr>
              <a:t>or application </a:t>
            </a:r>
            <a:r>
              <a:rPr b="0" lang="en-US" sz="2400" spc="-1" strike="noStrike">
                <a:latin typeface="Calibri"/>
              </a:rPr>
              <a:t>in a </a:t>
            </a:r>
            <a:r>
              <a:rPr b="0" lang="en-US" sz="2400" spc="-12" strike="noStrike">
                <a:latin typeface="Calibri"/>
              </a:rPr>
              <a:t>secure </a:t>
            </a:r>
            <a:r>
              <a:rPr b="0" lang="en-US" sz="2400" spc="-53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configuration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is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called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</a:rPr>
              <a:t>hardening</a:t>
            </a:r>
            <a:r>
              <a:rPr b="0" lang="en-US" sz="2400" spc="-12" strike="noStrike">
                <a:latin typeface="Calibri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When </a:t>
            </a:r>
            <a:r>
              <a:rPr b="0" lang="en-US" sz="2400" spc="-12" strike="noStrike">
                <a:latin typeface="Calibri"/>
              </a:rPr>
              <a:t>hardening</a:t>
            </a:r>
            <a:r>
              <a:rPr b="0" lang="en-US" sz="2400" spc="-1" strike="noStrike">
                <a:latin typeface="Calibri"/>
              </a:rPr>
              <a:t> a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system,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it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important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keep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in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mind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its </a:t>
            </a:r>
            <a:r>
              <a:rPr b="0" lang="en-US" sz="2400" spc="-12" strike="noStrike">
                <a:latin typeface="Calibri"/>
              </a:rPr>
              <a:t>intended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use,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because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hardening</a:t>
            </a:r>
            <a:r>
              <a:rPr b="0" lang="en-US" sz="2400" spc="-1" strike="noStrike">
                <a:latin typeface="Calibri"/>
              </a:rPr>
              <a:t> a </a:t>
            </a:r>
            <a:r>
              <a:rPr b="0" lang="en-US" sz="2400" spc="-26" strike="noStrike">
                <a:latin typeface="Calibri"/>
              </a:rPr>
              <a:t>system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can</a:t>
            </a:r>
            <a:r>
              <a:rPr b="0" lang="en-US" sz="2400" spc="-1" strike="noStrike">
                <a:latin typeface="Calibri"/>
              </a:rPr>
              <a:t> also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restrict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system's </a:t>
            </a:r>
            <a:r>
              <a:rPr b="0" lang="en-US" sz="2400" spc="-1" strike="noStrike">
                <a:latin typeface="Calibri"/>
              </a:rPr>
              <a:t>access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7" strike="noStrike">
                <a:latin typeface="Calibri"/>
              </a:rPr>
              <a:t>capabilities.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The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need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for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hardening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must </a:t>
            </a:r>
            <a:r>
              <a:rPr b="0" lang="en-US" sz="2400" spc="-7" strike="noStrike">
                <a:latin typeface="Calibri"/>
              </a:rPr>
              <a:t>be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balanced </a:t>
            </a:r>
            <a:r>
              <a:rPr b="0" lang="en-US" sz="2400" spc="-15" strike="noStrike">
                <a:latin typeface="Calibri"/>
              </a:rPr>
              <a:t>against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access</a:t>
            </a:r>
            <a:r>
              <a:rPr b="0" lang="en-US" sz="2400" spc="-12" strike="noStrike">
                <a:latin typeface="Calibri"/>
              </a:rPr>
              <a:t> requirements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and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usability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in a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particular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situation.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3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8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200B586-7593-4112-9383-59BA917B23E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04208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96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307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H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6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G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55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T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916920" y="1711080"/>
            <a:ext cx="10227600" cy="40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No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operating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6" strike="noStrike">
                <a:latin typeface="Calibri"/>
              </a:rPr>
              <a:t>system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or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software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application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wholly </a:t>
            </a:r>
            <a:r>
              <a:rPr b="0" lang="en-US" sz="2400" spc="-12" strike="noStrike">
                <a:latin typeface="Calibri"/>
              </a:rPr>
              <a:t>free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from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vulnerabilities.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latin typeface="Calibri"/>
              </a:rPr>
              <a:t>As</a:t>
            </a:r>
            <a:r>
              <a:rPr b="0" lang="en-US" sz="2400" spc="-7" strike="noStrike">
                <a:latin typeface="Calibri"/>
              </a:rPr>
              <a:t> soon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as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vulnerability </a:t>
            </a:r>
            <a:r>
              <a:rPr b="0" lang="en-US" sz="2400" spc="-1" strike="noStrike">
                <a:latin typeface="Calibri"/>
              </a:rPr>
              <a:t>is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identified,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vendors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will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try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2" strike="noStrike">
                <a:latin typeface="Calibri"/>
              </a:rPr>
              <a:t>correct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32" strike="noStrike">
                <a:latin typeface="Calibri"/>
              </a:rPr>
              <a:t>At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-7" strike="noStrike">
                <a:latin typeface="Calibri"/>
              </a:rPr>
              <a:t> same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time,</a:t>
            </a:r>
            <a:r>
              <a:rPr b="0" lang="en-US" sz="2400" spc="-32" strike="noStrike">
                <a:latin typeface="Calibri"/>
              </a:rPr>
              <a:t> </a:t>
            </a:r>
            <a:r>
              <a:rPr b="0" lang="en-US" sz="2400" spc="-26" strike="noStrike">
                <a:latin typeface="Calibri"/>
              </a:rPr>
              <a:t>attackers</a:t>
            </a:r>
            <a:r>
              <a:rPr b="0" lang="en-US" sz="2400" spc="-4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will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try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 </a:t>
            </a:r>
            <a:r>
              <a:rPr b="0" lang="en-US" sz="2400" spc="-12" strike="noStrike">
                <a:latin typeface="Calibri"/>
              </a:rPr>
              <a:t>exploit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latin typeface="Calibri"/>
              </a:rPr>
              <a:t>Automated </a:t>
            </a:r>
            <a:r>
              <a:rPr b="0" lang="en-US" sz="2400" spc="-7" strike="noStrike">
                <a:latin typeface="Calibri"/>
              </a:rPr>
              <a:t>vulnerability </a:t>
            </a:r>
            <a:r>
              <a:rPr b="0" lang="en-US" sz="2400" spc="-12" strike="noStrike">
                <a:latin typeface="Calibri"/>
              </a:rPr>
              <a:t>scanners</a:t>
            </a:r>
            <a:r>
              <a:rPr b="0" lang="en-US" sz="2400" spc="-2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can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be </a:t>
            </a:r>
            <a:r>
              <a:rPr b="0" lang="en-US" sz="2400" spc="-15" strike="noStrike">
                <a:latin typeface="Calibri"/>
              </a:rPr>
              <a:t>effective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at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discovering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missing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patches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for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 </a:t>
            </a:r>
            <a:r>
              <a:rPr b="0" lang="en-US" sz="2400" spc="-12" strike="noStrike">
                <a:latin typeface="Calibri"/>
              </a:rPr>
              <a:t>operating</a:t>
            </a:r>
            <a:r>
              <a:rPr b="0" lang="en-US" sz="2400" spc="-21" strike="noStrike">
                <a:latin typeface="Calibri"/>
              </a:rPr>
              <a:t> system,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plus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wide</a:t>
            </a:r>
            <a:r>
              <a:rPr b="0" lang="en-US" sz="2400" spc="-15" strike="noStrike">
                <a:latin typeface="Calibri"/>
              </a:rPr>
              <a:t> range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of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third-party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software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apps</a:t>
            </a:r>
            <a:r>
              <a:rPr b="0" lang="en-US" sz="2400" spc="-1" strike="noStrike">
                <a:latin typeface="Calibri"/>
              </a:rPr>
              <a:t> and 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devices.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latin typeface="Calibri"/>
              </a:rPr>
              <a:t>Scanning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only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useful</a:t>
            </a:r>
            <a:r>
              <a:rPr b="0" lang="en-US" sz="2400" spc="9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if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21" strike="noStrike">
                <a:latin typeface="Calibri"/>
              </a:rPr>
              <a:t>effective</a:t>
            </a:r>
            <a:r>
              <a:rPr b="0" lang="en-US" sz="2400" spc="-1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procedures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are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7" strike="noStrike">
                <a:latin typeface="Calibri"/>
              </a:rPr>
              <a:t>in-place</a:t>
            </a:r>
            <a:r>
              <a:rPr b="0" lang="en-US" sz="2400" spc="-12" strike="noStrike">
                <a:latin typeface="Calibri"/>
              </a:rPr>
              <a:t> </a:t>
            </a:r>
            <a:r>
              <a:rPr b="0" lang="en-US" sz="2400" spc="-15" strike="noStrike">
                <a:latin typeface="Calibri"/>
              </a:rPr>
              <a:t>to</a:t>
            </a:r>
            <a:r>
              <a:rPr b="0" lang="en-US" sz="2400" spc="-7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apply</a:t>
            </a:r>
            <a:r>
              <a:rPr b="0" lang="en-US" sz="2400" spc="4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the</a:t>
            </a:r>
            <a:r>
              <a:rPr b="0" lang="en-US" sz="2400" spc="-15" strike="noStrike">
                <a:latin typeface="Calibri"/>
              </a:rPr>
              <a:t> </a:t>
            </a:r>
            <a:r>
              <a:rPr b="0" lang="en-US" sz="2400" spc="-1" strike="noStrike">
                <a:latin typeface="Calibri"/>
              </a:rPr>
              <a:t>missing </a:t>
            </a:r>
            <a:r>
              <a:rPr b="0" lang="en-US" sz="2400" spc="-525" strike="noStrike">
                <a:latin typeface="Calibri"/>
              </a:rPr>
              <a:t> </a:t>
            </a:r>
            <a:r>
              <a:rPr b="0" lang="en-US" sz="2400" spc="-12" strike="noStrike">
                <a:latin typeface="Calibri"/>
              </a:rPr>
              <a:t>patches,</a:t>
            </a:r>
            <a:r>
              <a:rPr b="0" lang="en-US" sz="2400" spc="-26" strike="noStrike">
                <a:latin typeface="Calibri"/>
              </a:rPr>
              <a:t> </a:t>
            </a:r>
            <a:r>
              <a:rPr b="0" lang="en-US" sz="2400" spc="-41" strike="noStrike">
                <a:latin typeface="Calibri"/>
              </a:rPr>
              <a:t>however.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3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8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8F566B5-9626-4CE0-9710-AD327EA5449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3765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ENDPOINT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PROTECTION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916920" y="1758960"/>
            <a:ext cx="10226160" cy="31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Antivirus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</a:rPr>
              <a:t> (A-V)/Anti-Malware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The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first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generation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of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antivirus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(A-V)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software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is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characterized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by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signature-based</a:t>
            </a:r>
            <a:r>
              <a:rPr b="0" lang="en-US" sz="2000" spc="2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detection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prevention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of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known</a:t>
            </a:r>
            <a:r>
              <a:rPr b="0" lang="en-US" sz="2000" spc="-3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viruses.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latin typeface="Calibri"/>
              </a:rPr>
              <a:t>An </a:t>
            </a:r>
            <a:r>
              <a:rPr b="0" lang="en-US" sz="2000" spc="-7" strike="noStrike">
                <a:latin typeface="Calibri"/>
              </a:rPr>
              <a:t>"A-V"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product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will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now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perform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generalized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malware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detection,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meaning </a:t>
            </a:r>
            <a:r>
              <a:rPr b="0" lang="en-US" sz="2000" spc="-7" strike="noStrike">
                <a:latin typeface="Calibri"/>
              </a:rPr>
              <a:t>not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just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viruses </a:t>
            </a:r>
            <a:r>
              <a:rPr b="0" lang="en-US" sz="2000" spc="-440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worms,</a:t>
            </a:r>
            <a:r>
              <a:rPr b="0" lang="en-US" sz="2000" spc="-1" strike="noStrike">
                <a:latin typeface="Calibri"/>
              </a:rPr>
              <a:t> but</a:t>
            </a:r>
            <a:r>
              <a:rPr b="0" lang="en-US" sz="2000" spc="-7" strike="noStrike">
                <a:latin typeface="Calibri"/>
              </a:rPr>
              <a:t> also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26" strike="noStrike">
                <a:latin typeface="Calibri"/>
              </a:rPr>
              <a:t>Trojans,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spyware, PUPs,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cryptojackers,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7" strike="noStrike">
                <a:latin typeface="Calibri"/>
              </a:rPr>
              <a:t> so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latin typeface="Calibri"/>
              </a:rPr>
              <a:t>While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A-V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software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remains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important,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signature-based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detection </a:t>
            </a:r>
            <a:r>
              <a:rPr b="0" lang="en-US" sz="2000" spc="-1" strike="noStrike">
                <a:latin typeface="Calibri"/>
              </a:rPr>
              <a:t>is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widely </a:t>
            </a:r>
            <a:r>
              <a:rPr b="0" lang="en-US" sz="2000" spc="-12" strike="noStrike">
                <a:latin typeface="Calibri"/>
              </a:rPr>
              <a:t>recognized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as </a:t>
            </a:r>
            <a:r>
              <a:rPr b="0" lang="en-US" sz="2000" spc="-43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being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insufficient</a:t>
            </a:r>
            <a:r>
              <a:rPr b="0" lang="en-US" sz="2000" spc="24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for </a:t>
            </a:r>
            <a:r>
              <a:rPr b="0" lang="en-US" sz="2000" spc="-1" strike="noStrike">
                <a:latin typeface="Calibri"/>
              </a:rPr>
              <a:t>the </a:t>
            </a:r>
            <a:r>
              <a:rPr b="0" lang="en-US" sz="2000" spc="-12" strike="noStrike">
                <a:latin typeface="Calibri"/>
              </a:rPr>
              <a:t>prevention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of </a:t>
            </a:r>
            <a:r>
              <a:rPr b="0" lang="en-US" sz="2000" spc="-15" strike="noStrike">
                <a:latin typeface="Calibri"/>
              </a:rPr>
              <a:t>data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breaches.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3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8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5372657-A012-4E2F-B008-B8045195D85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3765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ENDPOINT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PROTECTION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916920" y="1758960"/>
            <a:ext cx="10027440" cy="37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Host-Based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Intrusion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</a:rPr>
              <a:t>Detection/Prevention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(HIDS/HIPS)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latin typeface="Calibri"/>
              </a:rPr>
              <a:t>Host-based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intrusion</a:t>
            </a:r>
            <a:r>
              <a:rPr b="0" lang="en-US" sz="2000" spc="2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detection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systems</a:t>
            </a:r>
            <a:r>
              <a:rPr b="0" lang="en-US" sz="2000" spc="2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(HIDS) </a:t>
            </a:r>
            <a:r>
              <a:rPr b="0" lang="en-US" sz="2000" spc="-12" strike="noStrike">
                <a:latin typeface="Calibri"/>
              </a:rPr>
              <a:t>provide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threat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detection via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log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 </a:t>
            </a:r>
            <a:r>
              <a:rPr b="0" lang="en-US" sz="2000" spc="-7" strike="noStrike">
                <a:latin typeface="Calibri"/>
              </a:rPr>
              <a:t>file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21" strike="noStrike">
                <a:latin typeface="Calibri"/>
              </a:rPr>
              <a:t>system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monitoring.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HIDS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come </a:t>
            </a:r>
            <a:r>
              <a:rPr b="0" lang="en-US" sz="2000" spc="-1" strike="noStrike">
                <a:latin typeface="Calibri"/>
              </a:rPr>
              <a:t>in </a:t>
            </a:r>
            <a:r>
              <a:rPr b="0" lang="en-US" sz="2000" spc="-12" strike="noStrike">
                <a:latin typeface="Calibri"/>
              </a:rPr>
              <a:t>many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different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forms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with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different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capabilities,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some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of </a:t>
            </a:r>
            <a:r>
              <a:rPr b="0" lang="en-US" sz="2000" spc="-1" strike="noStrike">
                <a:latin typeface="Calibri"/>
              </a:rPr>
              <a:t>them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preventative </a:t>
            </a:r>
            <a:r>
              <a:rPr b="0" lang="en-US" sz="2000" spc="-43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(HIPS).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File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system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integrity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monitoring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uses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signatures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to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detect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whether </a:t>
            </a:r>
            <a:r>
              <a:rPr b="0" lang="en-US" sz="2000" spc="-1" strike="noStrike">
                <a:latin typeface="Calibri"/>
              </a:rPr>
              <a:t>a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managed </a:t>
            </a:r>
            <a:r>
              <a:rPr b="0" lang="en-US" sz="2000" spc="-7" strike="noStrike">
                <a:latin typeface="Calibri"/>
              </a:rPr>
              <a:t>file</a:t>
            </a:r>
            <a:r>
              <a:rPr b="0" lang="en-US" sz="2000" spc="-1" strike="noStrike">
                <a:latin typeface="Calibri"/>
              </a:rPr>
              <a:t> image— </a:t>
            </a:r>
            <a:r>
              <a:rPr b="0" lang="en-US" sz="2000" spc="-43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such </a:t>
            </a:r>
            <a:r>
              <a:rPr b="0" lang="en-US" sz="2000" spc="-1" strike="noStrike">
                <a:latin typeface="Calibri"/>
              </a:rPr>
              <a:t>as an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OS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system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file,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35" strike="noStrike">
                <a:latin typeface="Calibri"/>
              </a:rPr>
              <a:t>driver,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or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application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executable—has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changed.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Products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may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also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monitor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ports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12" strike="noStrike">
                <a:latin typeface="Calibri"/>
              </a:rPr>
              <a:t> network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interfaces,</a:t>
            </a:r>
            <a:r>
              <a:rPr b="0" lang="en-US" sz="2000" spc="2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process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data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logs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latin typeface="Calibri"/>
              </a:rPr>
              <a:t>generated</a:t>
            </a:r>
            <a:r>
              <a:rPr b="0" lang="en-US" sz="2000" spc="-7" strike="noStrike">
                <a:latin typeface="Calibri"/>
              </a:rPr>
              <a:t> by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specific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applications,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such </a:t>
            </a:r>
            <a:r>
              <a:rPr b="0" lang="en-US" sz="2000" spc="-1" strike="noStrike">
                <a:latin typeface="Calibri"/>
              </a:rPr>
              <a:t>as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HTTP</a:t>
            </a:r>
            <a:r>
              <a:rPr b="0" lang="en-US" sz="2000" spc="-7" strike="noStrike">
                <a:latin typeface="Calibri"/>
              </a:rPr>
              <a:t> or </a:t>
            </a:r>
            <a:r>
              <a:rPr b="0" lang="en-US" sz="2000" spc="-72" strike="noStrike">
                <a:latin typeface="Calibri"/>
              </a:rPr>
              <a:t>FTP.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3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8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C3B9CA9-E2D2-48EE-8712-54BF83A03FB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3765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ENDPOINT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PROTECTION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916920" y="1758960"/>
            <a:ext cx="10328400" cy="335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</a:rPr>
              <a:t>Endpoint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</a:rPr>
              <a:t>Protection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</a:rPr>
              <a:t>Platform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(EPP)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Endpoint</a:t>
            </a:r>
            <a:r>
              <a:rPr b="0" lang="en-US" sz="2000" spc="-3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protection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usually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depends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 </a:t>
            </a:r>
            <a:r>
              <a:rPr b="0" lang="en-US" sz="2000" spc="-12" strike="noStrike">
                <a:latin typeface="Calibri"/>
              </a:rPr>
              <a:t>agent</a:t>
            </a:r>
            <a:r>
              <a:rPr b="0" lang="en-US" sz="2000" spc="-1" strike="noStrike">
                <a:latin typeface="Calibri"/>
              </a:rPr>
              <a:t> running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on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the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local </a:t>
            </a:r>
            <a:r>
              <a:rPr b="0" lang="en-US" sz="2000" spc="-12" strike="noStrike">
                <a:latin typeface="Calibri"/>
              </a:rPr>
              <a:t>host.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latin typeface="Calibri"/>
              </a:rPr>
              <a:t>If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multiple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security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products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install</a:t>
            </a:r>
            <a:r>
              <a:rPr b="0" lang="en-US" sz="2000" spc="2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multiple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agents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(say</a:t>
            </a:r>
            <a:r>
              <a:rPr b="0" lang="en-US" sz="2000" spc="-1" strike="noStrike">
                <a:latin typeface="Calibri"/>
              </a:rPr>
              <a:t> one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for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32" strike="noStrike">
                <a:latin typeface="Calibri"/>
              </a:rPr>
              <a:t>A-V,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one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for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HIDS,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another</a:t>
            </a:r>
            <a:r>
              <a:rPr b="0" lang="en-US" sz="2000" spc="-15" strike="noStrike">
                <a:latin typeface="Calibri"/>
              </a:rPr>
              <a:t> for </a:t>
            </a:r>
            <a:r>
              <a:rPr b="0" lang="en-US" sz="2000" spc="-43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host-based </a:t>
            </a:r>
            <a:r>
              <a:rPr b="0" lang="en-US" sz="2000" spc="-12" strike="noStrike">
                <a:latin typeface="Calibri"/>
              </a:rPr>
              <a:t>firewall,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7" strike="noStrike">
                <a:latin typeface="Calibri"/>
              </a:rPr>
              <a:t> so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on),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they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can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impact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system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performance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 </a:t>
            </a:r>
            <a:r>
              <a:rPr b="0" lang="en-US" sz="2000" spc="-7" strike="noStrike">
                <a:latin typeface="Calibri"/>
              </a:rPr>
              <a:t>cause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conflicts, 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creating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numerous</a:t>
            </a:r>
            <a:r>
              <a:rPr b="0" lang="en-US" sz="2000" spc="-7" strike="noStrike">
                <a:latin typeface="Calibri"/>
              </a:rPr>
              <a:t> technical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support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incidents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security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incident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false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positives.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latin typeface="Calibri"/>
              </a:rPr>
              <a:t>An </a:t>
            </a:r>
            <a:r>
              <a:rPr b="0" lang="en-US" sz="2000" spc="-7" strike="noStrike">
                <a:latin typeface="Calibri"/>
              </a:rPr>
              <a:t>endpoint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protection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platform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(EPP)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is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</a:t>
            </a:r>
            <a:r>
              <a:rPr b="0" lang="en-US" sz="2000" spc="-7" strike="noStrike">
                <a:latin typeface="Calibri"/>
              </a:rPr>
              <a:t> single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agent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performing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multiple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security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tasks, 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including</a:t>
            </a:r>
            <a:r>
              <a:rPr b="0" lang="en-US" sz="2000" spc="-2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malware/intrusion</a:t>
            </a:r>
            <a:r>
              <a:rPr b="0" lang="en-US" sz="2000" spc="2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detection </a:t>
            </a:r>
            <a:r>
              <a:rPr b="0" lang="en-US" sz="2000" spc="-1" strike="noStrike">
                <a:latin typeface="Calibri"/>
              </a:rPr>
              <a:t>and </a:t>
            </a:r>
            <a:r>
              <a:rPr b="0" lang="en-US" sz="2000" spc="-12" strike="noStrike">
                <a:latin typeface="Calibri"/>
              </a:rPr>
              <a:t>prevention,</a:t>
            </a:r>
            <a:r>
              <a:rPr b="0" lang="en-US" sz="2000" spc="-1" strike="noStrike">
                <a:latin typeface="Calibri"/>
              </a:rPr>
              <a:t> but </a:t>
            </a:r>
            <a:r>
              <a:rPr b="0" lang="en-US" sz="2000" spc="-7" strike="noStrike">
                <a:latin typeface="Calibri"/>
              </a:rPr>
              <a:t>also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other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security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features,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such </a:t>
            </a:r>
            <a:r>
              <a:rPr b="0" lang="en-US" sz="2000" spc="-435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as a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host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firewall,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web </a:t>
            </a:r>
            <a:r>
              <a:rPr b="0" lang="en-US" sz="2000" spc="-12" strike="noStrike">
                <a:latin typeface="Calibri"/>
              </a:rPr>
              <a:t>content </a:t>
            </a:r>
            <a:r>
              <a:rPr b="0" lang="en-US" sz="2000" spc="-7" strike="noStrike">
                <a:latin typeface="Calibri"/>
              </a:rPr>
              <a:t>filtering/secure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search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 </a:t>
            </a:r>
            <a:r>
              <a:rPr b="0" lang="en-US" sz="2000" spc="-12" strike="noStrike">
                <a:latin typeface="Calibri"/>
              </a:rPr>
              <a:t>browsing, </a:t>
            </a:r>
            <a:r>
              <a:rPr b="0" lang="en-US" sz="2000" spc="-1" strike="noStrike">
                <a:latin typeface="Calibri"/>
              </a:rPr>
              <a:t>and </a:t>
            </a:r>
            <a:r>
              <a:rPr b="0" lang="en-US" sz="2000" spc="-7" strike="noStrike">
                <a:latin typeface="Calibri"/>
              </a:rPr>
              <a:t>file/message 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encryption.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3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8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00953F3-C644-41FB-9979-6320E7513CC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3765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ENDPOINT</a:t>
            </a:r>
            <a:r>
              <a:rPr b="0" lang="en-US" sz="3600" spc="-13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PROTECTION</a:t>
            </a:r>
            <a:endParaRPr b="0" lang="en-US" sz="3600" spc="-1" strike="noStrike">
              <a:latin typeface="Calibri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916920" y="1758960"/>
            <a:ext cx="9970560" cy="22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</a:rPr>
              <a:t>Data</a:t>
            </a:r>
            <a:r>
              <a:rPr b="0" lang="en-US" sz="2400" spc="-35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Loss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</a:rPr>
              <a:t>Prevention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</a:rPr>
              <a:t>(DLP)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latin typeface="Calibri"/>
              </a:rPr>
              <a:t>Many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EPPs</a:t>
            </a:r>
            <a:r>
              <a:rPr b="0" lang="en-US" sz="2000" spc="-1" strike="noStrike">
                <a:latin typeface="Calibri"/>
              </a:rPr>
              <a:t> include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data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loss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prevention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(DLP)</a:t>
            </a:r>
            <a:r>
              <a:rPr b="0" lang="en-US" sz="2000" spc="-12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agent.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This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is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configured</a:t>
            </a:r>
            <a:r>
              <a:rPr b="0" lang="en-US" sz="2000" spc="-26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with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policies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to</a:t>
            </a:r>
            <a:r>
              <a:rPr b="0" lang="en-US" sz="2000" spc="-7" strike="noStrike">
                <a:latin typeface="Calibri"/>
              </a:rPr>
              <a:t> identify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privileged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files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and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strings</a:t>
            </a:r>
            <a:r>
              <a:rPr b="0" lang="en-US" sz="2000" spc="18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that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should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be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21" strike="noStrike">
                <a:latin typeface="Calibri"/>
              </a:rPr>
              <a:t>kept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5" strike="noStrike">
                <a:latin typeface="Calibri"/>
              </a:rPr>
              <a:t>private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or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confidential,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such </a:t>
            </a:r>
            <a:r>
              <a:rPr b="0" lang="en-US" sz="2000" spc="-1" strike="noStrike">
                <a:latin typeface="Calibri"/>
              </a:rPr>
              <a:t>as </a:t>
            </a:r>
            <a:r>
              <a:rPr b="0" lang="en-US" sz="2000" spc="-7" strike="noStrike">
                <a:latin typeface="Calibri"/>
              </a:rPr>
              <a:t>credit </a:t>
            </a:r>
            <a:r>
              <a:rPr b="0" lang="en-US" sz="2000" spc="-12" strike="noStrike">
                <a:latin typeface="Calibri"/>
              </a:rPr>
              <a:t>card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numbers.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latin typeface="Calibri"/>
              </a:rPr>
              <a:t>The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agent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enforces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the </a:t>
            </a:r>
            <a:r>
              <a:rPr b="0" lang="en-US" sz="2000" spc="-7" strike="noStrike">
                <a:latin typeface="Calibri"/>
              </a:rPr>
              <a:t>policy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to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prevent</a:t>
            </a:r>
            <a:r>
              <a:rPr b="0" lang="en-US" sz="2000" spc="12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data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15" strike="noStrike">
                <a:latin typeface="Calibri"/>
              </a:rPr>
              <a:t>from</a:t>
            </a:r>
            <a:r>
              <a:rPr b="0" lang="en-US" sz="2000" spc="-1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being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copied or </a:t>
            </a:r>
            <a:r>
              <a:rPr b="0" lang="en-US" sz="2000" spc="-12" strike="noStrike">
                <a:latin typeface="Calibri"/>
              </a:rPr>
              <a:t>attached</a:t>
            </a:r>
            <a:r>
              <a:rPr b="0" lang="en-US" sz="2000" spc="4" strike="noStrike">
                <a:latin typeface="Calibri"/>
              </a:rPr>
              <a:t> </a:t>
            </a:r>
            <a:r>
              <a:rPr b="0" lang="en-US" sz="2000" spc="-12" strike="noStrike">
                <a:latin typeface="Calibri"/>
              </a:rPr>
              <a:t>to</a:t>
            </a:r>
            <a:r>
              <a:rPr b="0" lang="en-US" sz="2000" spc="-7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a</a:t>
            </a:r>
            <a:r>
              <a:rPr b="0" lang="en-US" sz="2000" spc="9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message </a:t>
            </a:r>
            <a:r>
              <a:rPr b="0" lang="en-US" sz="2000" spc="-440" strike="noStrike">
                <a:latin typeface="Calibri"/>
              </a:rPr>
              <a:t> </a:t>
            </a:r>
            <a:r>
              <a:rPr b="0" lang="en-US" sz="2000" spc="-1" strike="noStrike">
                <a:latin typeface="Calibri"/>
              </a:rPr>
              <a:t>without</a:t>
            </a:r>
            <a:r>
              <a:rPr b="0" lang="en-US" sz="2000" spc="-15" strike="noStrike">
                <a:latin typeface="Calibri"/>
              </a:rPr>
              <a:t> </a:t>
            </a:r>
            <a:r>
              <a:rPr b="0" lang="en-US" sz="2000" spc="-7" strike="noStrike">
                <a:latin typeface="Calibri"/>
              </a:rPr>
              <a:t>authorization.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5240" cy="22824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3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4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8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4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412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22AD57F-A871-479E-B39A-A20E90EB89F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2023-09-03T11:35:28Z</dcterms:created>
  <dc:creator>Ahmed Sultan</dc:creator>
  <dc:description/>
  <dc:language>en-US</dc:language>
  <cp:lastModifiedBy/>
  <dcterms:modified xsi:type="dcterms:W3CDTF">2023-09-05T15:43:27Z</dcterms:modified>
  <cp:revision>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