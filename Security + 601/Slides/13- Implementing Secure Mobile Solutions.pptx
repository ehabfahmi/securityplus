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EF46FB-D9BD-453C-871C-74D95CB917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771209-212B-49D8-96CD-7AE49B3A0D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DC457B-2B35-4414-AB8D-12539B13E5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733E02-4854-48D7-9A51-7624086405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46B853-9A48-45AB-A5BA-E2690AC05D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31E70F-930F-4FA0-AB14-F377D9C5E6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3C18E0B-905A-45C8-89F0-0AF39E23CE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9C0F9A-C9BB-44A2-9102-E507580858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1E9F55-C32D-4DD6-B558-FAF15CEA5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A72F7A9-2521-437E-89D4-BC0C9FEDFE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87C4B4-F6D2-4784-96EF-5176E8CEED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802523-5B83-45A3-8CB6-1EEC9D9A13B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59A02D9-919B-4BC6-BDB0-326FE3FADA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6A1143-8912-440A-BA0F-2DD881F769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9BDDE8B-BF66-4BAF-B301-6FB7C6BF4A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3F621B7-6A09-4BDC-B360-37D240BD6E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D09928-1C4C-4C48-9001-C8DA1B4440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512783-4F7C-495F-85B9-F5FF38E9FA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31E1DC-C270-4EE7-9A74-0094945E48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BB834C-4D9F-44CC-B071-15BC620C63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34F3722-2500-4EA9-8E53-7C40658065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90AE03-2FAD-4457-B3B9-F24DD7194C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0E13E3A-2118-466C-965A-7AB1753EA0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084439-BFDC-4FF8-8297-6D60036EB3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8FC2AA1-BD3A-4788-AA89-6EF92ADF9C0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8A0F45D-7EF1-4439-BC54-F47C3A1CF2B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2887920" y="3080160"/>
            <a:ext cx="6659280" cy="848160"/>
            <a:chOff x="2887920" y="3080160"/>
            <a:chExt cx="665928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2993040" y="3159000"/>
              <a:ext cx="645192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2887920" y="3080160"/>
              <a:ext cx="665928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514600" y="2971800"/>
            <a:ext cx="796284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ctr">
            <a:noAutofit/>
          </a:bodyPr>
          <a:p>
            <a:pPr marL="11880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13-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5" strike="noStrike">
                <a:solidFill>
                  <a:srgbClr val="ffffff"/>
                </a:solidFill>
                <a:latin typeface="Calibri"/>
              </a:rPr>
              <a:t>Secure</a:t>
            </a:r>
            <a:r>
              <a:rPr b="0" lang="en-US" sz="2800" spc="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Mobile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Solutions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6880"/>
            <a:ext cx="588132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object 2"/>
          <p:cNvSpPr/>
          <p:nvPr/>
        </p:nvSpPr>
        <p:spPr>
          <a:xfrm>
            <a:off x="916920" y="684720"/>
            <a:ext cx="274032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  <a:ea typeface="DejaVu Sans"/>
              </a:rPr>
              <a:t>Outlines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2665440"/>
            <a:ext cx="6626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2200" spc="-7" strike="noStrike">
                <a:solidFill>
                  <a:srgbClr val="ba2709"/>
                </a:solidFill>
                <a:latin typeface="Calibri"/>
                <a:ea typeface="DejaVu Sans"/>
              </a:rPr>
              <a:t>13.1-</a:t>
            </a:r>
            <a:r>
              <a:rPr b="0" lang="en-US" sz="22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2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Mobile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200" spc="-12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1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E5C8867-DE56-4BF6-8D6A-CA6F8D4CA51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141120" cy="561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MOBILE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DEVICE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DEPLOYMENT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772920" y="1370520"/>
            <a:ext cx="10160640" cy="46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Mobile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devices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replaced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computers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for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diary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tasks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integral 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business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cloud- 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applications.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mobile device deployment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model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describes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way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mobile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Bring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your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own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device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(BYOD)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mobile device 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owned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mobile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meet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whatever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profile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OS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version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functionality)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agree on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installation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corporate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some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level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oversight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auditing.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model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popular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difficulties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managers.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1038491-4AB1-4610-BBB4-C5836D97F7B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05127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MOBILE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DEVICE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DEPLOYMENT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MODELS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844920" y="1146960"/>
            <a:ext cx="9720000" cy="51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Corporate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owned,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business only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(COBO)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property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used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company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buNone/>
              <a:tabLst>
                <a:tab algn="l" pos="699120"/>
              </a:tabLst>
            </a:pPr>
            <a:endParaRPr b="0" lang="en-US" sz="27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Corporate</a:t>
            </a:r>
            <a:r>
              <a:rPr b="0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owned,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personally-enabled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(COPE)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device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chosen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supplied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company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remains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property.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employee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social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media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browsing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(subject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whatever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acceptable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force).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ct val="100000"/>
              </a:lnSpc>
              <a:spcBef>
                <a:spcPts val="51"/>
              </a:spcBef>
              <a:buNone/>
              <a:tabLst>
                <a:tab algn="l" pos="699120"/>
              </a:tabLst>
            </a:pPr>
            <a:endParaRPr b="0" lang="en-US" sz="27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Choose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your</a:t>
            </a:r>
            <a:r>
              <a:rPr b="0" lang="en-US" sz="2400" spc="-3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own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device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6fc0"/>
                </a:solidFill>
                <a:latin typeface="Calibri"/>
                <a:ea typeface="DejaVu Sans"/>
              </a:rPr>
              <a:t>(CYOD)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9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Much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COPE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given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choice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device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list.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D6E3576-2E93-43F2-8F92-14CCD81CB36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936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ENTERPRISE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MOBILITY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916920" y="1802520"/>
            <a:ext cx="10086840" cy="354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Enterprise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mobility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management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(EMM)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 class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management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software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designed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 policies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mobile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enterprise.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main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product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suite: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Mobile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Device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Management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(MDM)—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sets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authentication,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(camera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microphone),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connectivity,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MDM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resets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wipes.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9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Mobile</a:t>
            </a:r>
            <a:r>
              <a:rPr b="0" lang="en-US" sz="20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Application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Management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(MAM)—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corporate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data,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transfer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solution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configures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enterprise-managed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container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workspace.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47E2A7C-2762-4DF0-8697-E37F743BED4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6842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MOBILE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SYSTEMS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916920" y="1802520"/>
            <a:ext cx="10321200" cy="351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actor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gain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smartphone or tablet, they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obtain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huge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amount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tools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launch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further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attacks.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  <a:buNone/>
              <a:tabLst>
                <a:tab algn="l" pos="241920"/>
              </a:tabLst>
            </a:pPr>
            <a:endParaRPr b="0" lang="en-US" sz="3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Smartphone</a:t>
            </a:r>
            <a:r>
              <a:rPr b="0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Authentication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majority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smartphones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tablets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single-user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implemented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configuring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screen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only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bypassed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correct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PIN,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swipe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pattern.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36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Many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now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support biometric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authentication,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usually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fingerprint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reader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sometimes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facial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voice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recognition.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589D3E23-3022-44B2-BB0A-344BB0F59E50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773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MOBILE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ACCESS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CONTROL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SYSTEMS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916920" y="1758960"/>
            <a:ext cx="9878040" cy="263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Screen</a:t>
            </a:r>
            <a:r>
              <a:rPr b="0" lang="en-US" sz="2400" spc="-52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Lock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screen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lock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lockout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policy.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4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incorrect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passcode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entered,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locks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period.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configured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escalate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(so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first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incorrect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locks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device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30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seconds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third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locks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10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minutes,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instance).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3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deters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guess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passcode.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E5073D9-C78D-4415-B359-DC8D72C2F2D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36547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M</a:t>
            </a:r>
            <a:r>
              <a:rPr b="0" lang="en-US" sz="3600" spc="-15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W</a:t>
            </a:r>
            <a:r>
              <a:rPr b="0" lang="en-US" sz="3600" spc="-7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P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5" name="object 3"/>
          <p:cNvSpPr/>
          <p:nvPr/>
        </p:nvSpPr>
        <p:spPr>
          <a:xfrm>
            <a:off x="772920" y="1298520"/>
            <a:ext cx="10261440" cy="48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kill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switch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means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if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handset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stolen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set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factory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defaults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cleared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(sanitization).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utilities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may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wipe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plug-in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cards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too.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remote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wipe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triggered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incorrect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passcode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attempts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enterprise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Other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features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backing up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data from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phone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first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displaying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"Lost/stolen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phone—return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XX"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message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handset.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i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theory,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thief </a:t>
            </a:r>
            <a:r>
              <a:rPr b="0" i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i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prevent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i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remote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wipe </a:t>
            </a:r>
            <a:r>
              <a:rPr b="0" i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ensuring the </a:t>
            </a:r>
            <a:r>
              <a:rPr b="0" i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phone cannot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 to</a:t>
            </a:r>
            <a:r>
              <a:rPr b="0" i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i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network,</a:t>
            </a:r>
            <a:r>
              <a:rPr b="0" i="1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then</a:t>
            </a:r>
            <a:r>
              <a:rPr b="0" i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i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hacking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i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phone and disabling</a:t>
            </a:r>
            <a:r>
              <a:rPr b="0" i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i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security.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18032BC-887A-4DA4-830D-BDBAB31F8AF3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1696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L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330" strike="noStrike">
                <a:solidFill>
                  <a:srgbClr val="c00000"/>
                </a:solidFill>
                <a:latin typeface="Calibri Light"/>
              </a:rPr>
              <a:t>A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T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O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N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12" strike="noStrike">
                <a:solidFill>
                  <a:srgbClr val="c00000"/>
                </a:solidFill>
                <a:latin typeface="Calibri Light"/>
              </a:rPr>
              <a:t>S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80" strike="noStrike">
                <a:solidFill>
                  <a:srgbClr val="c00000"/>
                </a:solidFill>
                <a:latin typeface="Calibri Light"/>
              </a:rPr>
              <a:t>R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V</a:t>
            </a:r>
            <a:r>
              <a:rPr b="0" lang="en-US" sz="3600" spc="-15" strike="noStrike">
                <a:solidFill>
                  <a:srgbClr val="c00000"/>
                </a:solidFill>
                <a:latin typeface="Calibri Light"/>
              </a:rPr>
              <a:t>I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C</a:t>
            </a:r>
            <a:r>
              <a:rPr b="0" lang="en-US" sz="3600" spc="-72" strike="noStrike">
                <a:solidFill>
                  <a:srgbClr val="c00000"/>
                </a:solidFill>
                <a:latin typeface="Calibri Light"/>
              </a:rPr>
              <a:t>E</a:t>
            </a:r>
            <a:r>
              <a:rPr b="0" lang="en-US" sz="3600" spc="-1" strike="noStrike">
                <a:solidFill>
                  <a:srgbClr val="c00000"/>
                </a:solidFill>
                <a:latin typeface="Calibri Light"/>
              </a:rPr>
              <a:t>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808920" y="1334520"/>
            <a:ext cx="10309680" cy="48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Geolocation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attributes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identify (or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estimate)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physical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position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location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current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position.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two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Global Positioning 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System</a:t>
            </a:r>
            <a:r>
              <a:rPr b="0" lang="en-US" sz="2000" spc="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(GPS)—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device's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latitude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longitude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based on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received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satellites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via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GPS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sensor.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0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6fc0"/>
                </a:solidFill>
                <a:latin typeface="Calibri"/>
                <a:ea typeface="DejaVu Sans"/>
              </a:rPr>
              <a:t>Indoor</a:t>
            </a:r>
            <a:r>
              <a:rPr b="0" lang="en-US" sz="20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Positioning</a:t>
            </a:r>
            <a:r>
              <a:rPr b="0" lang="en-US" sz="20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6fc0"/>
                </a:solidFill>
                <a:latin typeface="Calibri"/>
                <a:ea typeface="DejaVu Sans"/>
              </a:rPr>
              <a:t>System</a:t>
            </a:r>
            <a:r>
              <a:rPr b="0" lang="en-US" sz="2000" spc="9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6fc0"/>
                </a:solidFill>
                <a:latin typeface="Calibri"/>
                <a:ea typeface="DejaVu Sans"/>
              </a:rPr>
              <a:t>(IPS)—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device's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triangulating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proximity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other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radio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sources,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such as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cell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towers,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Wi-Fi 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points,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Bluetooth/RFID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beacons.</a:t>
            </a:r>
            <a:endParaRPr b="0" lang="en-US" sz="20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18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Location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 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app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where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has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granted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permission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2013AEF9-9D64-4C7E-98A1-898D71C4659B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87040" y="457200"/>
            <a:ext cx="802836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ROOTING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JAILBREAKING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736920" y="1262520"/>
            <a:ext cx="10228320" cy="45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Like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Windows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Linux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install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kernel-level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used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 </a:t>
            </a:r>
            <a:r>
              <a:rPr b="0" lang="en-US" sz="2400" spc="-46" strike="noStrike">
                <a:solidFill>
                  <a:srgbClr val="000000"/>
                </a:solidFill>
                <a:latin typeface="Calibri"/>
                <a:ea typeface="DejaVu Sans"/>
              </a:rPr>
              <a:t>owner.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Users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who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want to avoid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restrictions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 OS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vendors,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handset OEMs,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telecom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providers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(carriers)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put 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some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escalation: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None/>
              <a:tabLst>
                <a:tab algn="l" pos="241920"/>
              </a:tabLst>
            </a:pPr>
            <a:endParaRPr b="0" lang="en-US" sz="335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buClr>
                <a:srgbClr val="006fc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  <a:ea typeface="DejaVu Sans"/>
              </a:rPr>
              <a:t>Rooting—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term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associated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Android devices,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vendors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provide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authorized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mechanisms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users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root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account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necessary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exploit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custom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firmware,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Custom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firmware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essentially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Android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image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applied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device,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custom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ROM,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after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term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read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only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memory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chips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hold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firmware.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0D933245-F83B-4FCD-B388-81AC8287472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5595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52" strike="noStrike">
                <a:solidFill>
                  <a:srgbClr val="c00000"/>
                </a:solidFill>
                <a:latin typeface="Calibri Light"/>
              </a:rPr>
              <a:t>ROOTING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JAILBREAKING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001880" y="1811880"/>
            <a:ext cx="10187640" cy="3930120"/>
          </a:xfrm>
          <a:prstGeom prst="rect">
            <a:avLst/>
          </a:prstGeom>
          <a:noFill/>
          <a:ln w="0">
            <a:noFill/>
          </a:ln>
        </p:spPr>
        <p:txBody>
          <a:bodyPr lIns="0" rIns="0" tIns="43200" bIns="0" anchor="t">
            <a:noAutofit/>
          </a:bodyPr>
          <a:p>
            <a:pPr marL="613440" indent="-228600">
              <a:lnSpc>
                <a:spcPct val="90000"/>
              </a:lnSpc>
              <a:spcBef>
                <a:spcPts val="340"/>
              </a:spcBef>
              <a:buClr>
                <a:srgbClr val="006fc0"/>
              </a:buClr>
              <a:buFont typeface="Wingdings" charset="2"/>
              <a:buChar char=""/>
              <a:tabLst>
                <a:tab algn="l" pos="61416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</a:rPr>
              <a:t>Jailbreaking—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iOS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more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restrictive</a:t>
            </a:r>
            <a:r>
              <a:rPr b="0" lang="en-US" sz="2000" spc="4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Android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term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"jailbreaking"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became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popular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for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exploits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enabled 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user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obtain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root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privileges,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sideload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apps,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change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add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carriers,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customize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interface,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iOS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jailbreaking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accomplished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by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booting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device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with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patched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kernel,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most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exploits,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only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be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done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when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device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attached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computer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when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boots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(tethered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jailbreak).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"/>
              </a:spcBef>
              <a:buNone/>
              <a:tabLst>
                <a:tab algn="l" pos="614160"/>
              </a:tabLst>
            </a:pPr>
            <a:endParaRPr b="0" lang="en-US" sz="2600" spc="-1" strike="noStrike">
              <a:latin typeface="Arial"/>
            </a:endParaRPr>
          </a:p>
          <a:p>
            <a:pPr marL="613440" indent="-228600">
              <a:lnSpc>
                <a:spcPts val="2160"/>
              </a:lnSpc>
              <a:buClr>
                <a:srgbClr val="006fc0"/>
              </a:buClr>
              <a:buFont typeface="Wingdings" charset="2"/>
              <a:buChar char=""/>
              <a:tabLst>
                <a:tab algn="l" pos="614160"/>
              </a:tabLst>
            </a:pPr>
            <a:r>
              <a:rPr b="0" lang="en-US" sz="2000" spc="-7" strike="noStrike">
                <a:solidFill>
                  <a:srgbClr val="006fc0"/>
                </a:solidFill>
                <a:latin typeface="Calibri"/>
              </a:rPr>
              <a:t>Carrier</a:t>
            </a:r>
            <a:r>
              <a:rPr b="0" lang="en-US" sz="2000" spc="9" strike="noStrike">
                <a:solidFill>
                  <a:srgbClr val="006fc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6fc0"/>
                </a:solidFill>
                <a:latin typeface="Calibri"/>
              </a:rPr>
              <a:t>unlocking—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either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iOS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or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Android,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means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removing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restrictions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lock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device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</a:rPr>
              <a:t>single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</a:rPr>
              <a:t>carrier.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4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PlaceHolder 3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73CFB36-DA26-4185-B9AF-1D345AD6B83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2023-09-03T12:21:30Z</dcterms:created>
  <dc:creator>Ahmed Sultan</dc:creator>
  <dc:description/>
  <dc:language>en-US</dc:language>
  <cp:lastModifiedBy/>
  <dcterms:modified xsi:type="dcterms:W3CDTF">2023-09-06T18:30:16Z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2023-09-03T00:00:00Z</vt:filetime>
  </property>
  <property fmtid="{D5CDD505-2E9C-101B-9397-08002B2CF9AE}" pid="5" name="PresentationFormat">
    <vt:lpwstr>On-screen Show (4:3)</vt:lpwstr>
  </property>
</Properties>
</file>