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png" ContentType="image/png"/>
  <Override PartName="/ppt/media/image3.jpeg" ContentType="image/jpeg"/>
  <Override PartName="/ppt/media/image2.png" ContentType="image/png"/>
  <Override PartName="/ppt/media/image4.png" ContentType="image/png"/>
  <Override PartName="/ppt/media/image5.png" ContentType="image/png"/>
  <Override PartName="/ppt/presProps.xml" ContentType="application/vnd.openxmlformats-officedocument.presentationml.presPro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22.xml" ContentType="application/vnd.openxmlformats-officedocument.presentationml.slide+xml"/>
  <Override PartName="/ppt/slides/slide21.xml" ContentType="application/vnd.openxmlformats-officedocument.presentationml.slide+xml"/>
  <Override PartName="/ppt/slides/slide19.xml" ContentType="application/vnd.openxmlformats-officedocument.presentationml.slide+xml"/>
  <Override PartName="/ppt/slides/slide4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_rels/slide2.xml.rels" ContentType="application/vnd.openxmlformats-package.relationships+xml"/>
  <Override PartName="/ppt/slides/_rels/slide20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22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21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19.xml.rels" ContentType="application/vnd.openxmlformats-package.relationships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6AE4885-B675-47D1-AC71-28AABBBD7E2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0059CA2-465A-4D44-95D8-6384E192F0E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A532863-7DB1-4088-A9B4-80BA4142408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10FB443-BEA6-4563-9571-7AC9E0ACD86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6EBEC55-B55E-42DC-B02A-4C6FEB6AEE3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E49948E-0CD7-4476-AE46-4B3D8871E57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A7B9198-864E-4A47-985D-2839A561044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819EFA8-6BDD-4733-A1B6-43139957331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19AB553-E45C-4FF6-9501-266FDD0F767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7506ACF-7BB1-47CB-BF5A-B5191912FE7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9B9825D-708A-469B-9293-20DF954314E4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D6761CF-E242-40C9-AADA-2B57957F29C3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268EE7D8-88E9-49CD-A4B0-6A3171933DB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CEC92E2B-EF7D-4865-8C03-9A20A10A209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E4F7DB79-3903-4E69-B1B5-EF04235B43A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B296BC1B-D203-4EED-8386-87B58FA9AD7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07DE69DE-90BA-4CAB-AD1D-42C58DACC4A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605B1526-7FAD-4C96-BA28-BF85AF01075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90A09387-E005-4D8F-A3FD-C8CABD9185F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6FD17FCC-99FB-4C11-8F5B-A3545498CF7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DAF0D0E6-F541-4946-B312-D11514942E6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4CF718AE-B168-4AB8-8235-DA30A385ABE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791DA8D0-2343-4CE2-B039-E4581CA81985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0198A2EF-C3A2-4DA4-A872-10F64C4F61B8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ftr" idx="1"/>
          </p:nvPr>
        </p:nvSpPr>
        <p:spPr>
          <a:xfrm>
            <a:off x="916920" y="6451560"/>
            <a:ext cx="1022760" cy="15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</a:rPr>
              <a:t> 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2"/>
          </p:nvPr>
        </p:nvSpPr>
        <p:spPr>
          <a:xfrm>
            <a:off x="11098440" y="6451200"/>
            <a:ext cx="203760" cy="15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BB48DD51-2FF0-4A88-8E79-C2A1FCD1249A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22</a:t>
            </a:fld>
            <a:endParaRPr b="0" lang="en-US" sz="10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5492520" y="6451560"/>
            <a:ext cx="1122480" cy="15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 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ftr" idx="4"/>
          </p:nvPr>
        </p:nvSpPr>
        <p:spPr>
          <a:xfrm>
            <a:off x="916920" y="6451560"/>
            <a:ext cx="1022760" cy="15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</a:rPr>
              <a:t>&lt;footer&gt;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sldNum" idx="5"/>
          </p:nvPr>
        </p:nvSpPr>
        <p:spPr>
          <a:xfrm>
            <a:off x="11098440" y="6451200"/>
            <a:ext cx="203760" cy="15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A0A9D2A5-F225-4FEC-B3D3-AEDB80342681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 idx="6"/>
          </p:nvPr>
        </p:nvSpPr>
        <p:spPr>
          <a:xfrm>
            <a:off x="5492520" y="6451560"/>
            <a:ext cx="1122480" cy="15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jpeg"/><Relationship Id="rId4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" name="object 3"/>
          <p:cNvGrpSpPr/>
          <p:nvPr/>
        </p:nvGrpSpPr>
        <p:grpSpPr>
          <a:xfrm>
            <a:off x="2555640" y="3080160"/>
            <a:ext cx="7128720" cy="848160"/>
            <a:chOff x="2555640" y="3080160"/>
            <a:chExt cx="7128720" cy="848160"/>
          </a:xfrm>
        </p:grpSpPr>
        <p:pic>
          <p:nvPicPr>
            <p:cNvPr id="83" name="object 4" descr=""/>
            <p:cNvPicPr/>
            <p:nvPr/>
          </p:nvPicPr>
          <p:blipFill>
            <a:blip r:embed="rId1"/>
            <a:stretch/>
          </p:blipFill>
          <p:spPr>
            <a:xfrm>
              <a:off x="2654640" y="3159000"/>
              <a:ext cx="6931800" cy="5983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84" name="object 5" descr=""/>
            <p:cNvPicPr/>
            <p:nvPr/>
          </p:nvPicPr>
          <p:blipFill>
            <a:blip r:embed="rId2"/>
            <a:stretch/>
          </p:blipFill>
          <p:spPr>
            <a:xfrm>
              <a:off x="2555640" y="3080160"/>
              <a:ext cx="7128720" cy="84816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1828800" y="3166920"/>
            <a:ext cx="8458200" cy="1168200"/>
          </a:xfrm>
          <a:prstGeom prst="rect">
            <a:avLst/>
          </a:prstGeom>
          <a:solidFill>
            <a:srgbClr val="e1221a"/>
          </a:solidFill>
          <a:ln w="0">
            <a:noFill/>
          </a:ln>
        </p:spPr>
        <p:txBody>
          <a:bodyPr lIns="0" rIns="0" tIns="23400" bIns="0" anchor="ctr">
            <a:noAutofit/>
          </a:bodyPr>
          <a:p>
            <a:pPr marL="124560">
              <a:lnSpc>
                <a:spcPct val="100000"/>
              </a:lnSpc>
              <a:spcBef>
                <a:spcPts val="184"/>
              </a:spcBef>
              <a:buNone/>
            </a:pPr>
            <a:r>
              <a:rPr b="0" lang="en-US" sz="2800" spc="-12" strike="noStrike">
                <a:solidFill>
                  <a:srgbClr val="ffffff"/>
                </a:solidFill>
                <a:latin typeface="Calibri"/>
              </a:rPr>
              <a:t>14-</a:t>
            </a:r>
            <a:r>
              <a:rPr b="0" lang="en-US" sz="2800" spc="9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2800" spc="-12" strike="noStrike">
                <a:solidFill>
                  <a:srgbClr val="ffffff"/>
                </a:solidFill>
                <a:latin typeface="Calibri"/>
              </a:rPr>
              <a:t>Summarizing</a:t>
            </a:r>
            <a:r>
              <a:rPr b="0" lang="en-US" sz="2800" spc="29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2800" spc="-15" strike="noStrike">
                <a:solidFill>
                  <a:srgbClr val="ffffff"/>
                </a:solidFill>
                <a:latin typeface="Calibri"/>
              </a:rPr>
              <a:t>Secure</a:t>
            </a:r>
            <a:r>
              <a:rPr b="0" lang="en-US" sz="2800" spc="-1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2800" spc="-12" strike="noStrike">
                <a:solidFill>
                  <a:srgbClr val="ffffff"/>
                </a:solidFill>
                <a:latin typeface="Calibri"/>
              </a:rPr>
              <a:t>Application</a:t>
            </a:r>
            <a:r>
              <a:rPr b="0" lang="en-US" sz="2800" spc="21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2800" spc="-12" strike="noStrike">
                <a:solidFill>
                  <a:srgbClr val="ffffff"/>
                </a:solidFill>
                <a:latin typeface="Calibri"/>
              </a:rPr>
              <a:t>Concepts</a:t>
            </a:r>
            <a:endParaRPr b="0" lang="en-US" sz="2800" spc="-1" strike="noStrike">
              <a:latin typeface="Arial"/>
            </a:endParaRPr>
          </a:p>
        </p:txBody>
      </p:sp>
      <p:pic>
        <p:nvPicPr>
          <p:cNvPr id="86" name="object 7" descr=""/>
          <p:cNvPicPr/>
          <p:nvPr/>
        </p:nvPicPr>
        <p:blipFill>
          <a:blip r:embed="rId3"/>
          <a:stretch/>
        </p:blipFill>
        <p:spPr>
          <a:xfrm>
            <a:off x="5041440" y="339480"/>
            <a:ext cx="2101320" cy="1930320"/>
          </a:xfrm>
          <a:prstGeom prst="rect">
            <a:avLst/>
          </a:prstGeom>
          <a:ln w="0">
            <a:noFill/>
          </a:ln>
        </p:spPr>
      </p:pic>
      <p:sp>
        <p:nvSpPr>
          <p:cNvPr id="87" name="object 1"/>
          <p:cNvSpPr/>
          <p:nvPr/>
        </p:nvSpPr>
        <p:spPr>
          <a:xfrm>
            <a:off x="6172200" y="5726880"/>
            <a:ext cx="5881320" cy="57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38160" indent="561960">
              <a:lnSpc>
                <a:spcPct val="10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1" lang="en-US" sz="1800" spc="-7" strike="noStrike">
                <a:solidFill>
                  <a:srgbClr val="001f5f"/>
                </a:solidFill>
                <a:latin typeface="Calibri"/>
                <a:ea typeface="DejaVu Sans"/>
              </a:rPr>
              <a:t>Ehab Fahmi </a:t>
            </a:r>
            <a:r>
              <a:rPr b="1" lang="en-US" sz="1800" spc="-1" strike="noStrike">
                <a:solidFill>
                  <a:srgbClr val="001f5f"/>
                </a:solidFill>
                <a:latin typeface="Calibri"/>
                <a:ea typeface="DejaVu Sans"/>
              </a:rPr>
              <a:t> </a:t>
            </a:r>
            <a:endParaRPr b="0" lang="en-US" sz="1800" spc="-1" strike="noStrike">
              <a:latin typeface="Arial"/>
            </a:endParaRPr>
          </a:p>
          <a:p>
            <a:pPr marL="38160" indent="561960">
              <a:lnSpc>
                <a:spcPct val="10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Senior Cyber Security Consultant - </a:t>
            </a:r>
            <a:r>
              <a:rPr b="0" lang="en-US" sz="18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2" strike="noStrike">
                <a:solidFill>
                  <a:srgbClr val="000000"/>
                </a:solidFill>
                <a:latin typeface="Calibri"/>
                <a:ea typeface="DejaVu Sans"/>
              </a:rPr>
              <a:t>Instructor 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2283120" cy="115740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Outlines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89" name="object 3"/>
          <p:cNvSpPr/>
          <p:nvPr/>
        </p:nvSpPr>
        <p:spPr>
          <a:xfrm>
            <a:off x="914400" y="1828800"/>
            <a:ext cx="7543440" cy="236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05480" bIns="0" anchor="t">
            <a:spAutoFit/>
          </a:bodyPr>
          <a:p>
            <a:pPr marL="12600">
              <a:lnSpc>
                <a:spcPct val="100000"/>
              </a:lnSpc>
              <a:spcBef>
                <a:spcPts val="831"/>
              </a:spcBef>
              <a:buNone/>
            </a:pPr>
            <a:r>
              <a:rPr b="0" lang="en-US" sz="2200" spc="-7" strike="noStrike">
                <a:solidFill>
                  <a:srgbClr val="ba2709"/>
                </a:solidFill>
                <a:latin typeface="Calibri"/>
                <a:ea typeface="DejaVu Sans"/>
              </a:rPr>
              <a:t>14.1-</a:t>
            </a:r>
            <a:r>
              <a:rPr b="0" lang="en-US" sz="2200" spc="-12" strike="noStrike">
                <a:solidFill>
                  <a:srgbClr val="ba2709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Analyze</a:t>
            </a:r>
            <a:r>
              <a:rPr b="0" lang="en-US" sz="22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Indicators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of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Application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32" strike="noStrike">
                <a:solidFill>
                  <a:srgbClr val="000000"/>
                </a:solidFill>
                <a:latin typeface="Calibri"/>
                <a:ea typeface="DejaVu Sans"/>
              </a:rPr>
              <a:t>Attacks</a:t>
            </a:r>
            <a:endParaRPr b="0" lang="en-US" sz="2200" spc="-1" strike="noStrike">
              <a:latin typeface="Arial"/>
            </a:endParaRPr>
          </a:p>
          <a:p>
            <a:pPr marL="12600">
              <a:lnSpc>
                <a:spcPts val="3379"/>
              </a:lnSpc>
              <a:spcBef>
                <a:spcPts val="230"/>
              </a:spcBef>
              <a:buNone/>
            </a:pPr>
            <a:r>
              <a:rPr b="0" lang="en-US" sz="2200" spc="-7" strike="noStrike">
                <a:solidFill>
                  <a:srgbClr val="ba2709"/>
                </a:solidFill>
                <a:latin typeface="Calibri"/>
                <a:ea typeface="DejaVu Sans"/>
              </a:rPr>
              <a:t>14.2-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Analyze</a:t>
            </a:r>
            <a:r>
              <a:rPr b="0" lang="en-US" sz="22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Indicators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of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35" strike="noStrike">
                <a:solidFill>
                  <a:srgbClr val="000000"/>
                </a:solidFill>
                <a:latin typeface="Calibri"/>
                <a:ea typeface="DejaVu Sans"/>
              </a:rPr>
              <a:t>Web</a:t>
            </a:r>
            <a:r>
              <a:rPr b="0" lang="en-US" sz="22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Application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32" strike="noStrike">
                <a:solidFill>
                  <a:srgbClr val="000000"/>
                </a:solidFill>
                <a:latin typeface="Calibri"/>
                <a:ea typeface="DejaVu Sans"/>
              </a:rPr>
              <a:t>Attacks </a:t>
            </a:r>
            <a:r>
              <a:rPr b="0" lang="en-US" sz="2200" spc="-48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ba2709"/>
                </a:solidFill>
                <a:latin typeface="Calibri"/>
                <a:ea typeface="DejaVu Sans"/>
              </a:rPr>
              <a:t>14.3-</a:t>
            </a:r>
            <a:r>
              <a:rPr b="0" lang="en-US" sz="2200" spc="-12" strike="noStrike">
                <a:solidFill>
                  <a:srgbClr val="ba2709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Summarize</a:t>
            </a:r>
            <a:r>
              <a:rPr b="0" lang="en-US" sz="2200" spc="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Secure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Coding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Practices</a:t>
            </a:r>
            <a:endParaRPr b="0" lang="en-US" sz="2200" spc="-1" strike="noStrike">
              <a:latin typeface="Arial"/>
            </a:endParaRPr>
          </a:p>
          <a:p>
            <a:pPr marL="12600">
              <a:lnSpc>
                <a:spcPct val="100000"/>
              </a:lnSpc>
              <a:buNone/>
            </a:pPr>
            <a:endParaRPr b="0" lang="en-US" sz="22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1655"/>
              </a:spcBef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90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1" name="PlaceHolder 2"/>
          <p:cNvSpPr>
            <a:spLocks noGrp="1"/>
          </p:cNvSpPr>
          <p:nvPr>
            <p:ph type="ftr" idx="7"/>
          </p:nvPr>
        </p:nvSpPr>
        <p:spPr>
          <a:xfrm>
            <a:off x="916920" y="6451560"/>
            <a:ext cx="1022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4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92" name="PlaceHolder 3"/>
          <p:cNvSpPr>
            <a:spLocks noGrp="1"/>
          </p:cNvSpPr>
          <p:nvPr>
            <p:ph type="dt" idx="8"/>
          </p:nvPr>
        </p:nvSpPr>
        <p:spPr>
          <a:xfrm>
            <a:off x="5492520" y="6451560"/>
            <a:ext cx="11224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41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93" name="PlaceHolder 4"/>
          <p:cNvSpPr>
            <a:spLocks noGrp="1"/>
          </p:cNvSpPr>
          <p:nvPr>
            <p:ph type="sldNum" idx="9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C2897FA4-6810-4AD4-8C54-7B008411027E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10741320" cy="68652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72" strike="noStrike">
                <a:solidFill>
                  <a:srgbClr val="c00000"/>
                </a:solidFill>
                <a:latin typeface="Calibri Light"/>
              </a:rPr>
              <a:t>ANALYZE</a:t>
            </a:r>
            <a:r>
              <a:rPr b="0" lang="en-US" sz="3600" spc="-92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75" strike="noStrike">
                <a:solidFill>
                  <a:srgbClr val="c00000"/>
                </a:solidFill>
                <a:latin typeface="Calibri Light"/>
              </a:rPr>
              <a:t>INDICATORS</a:t>
            </a:r>
            <a:r>
              <a:rPr b="0" lang="en-US" sz="3600" spc="-8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15" strike="noStrike">
                <a:solidFill>
                  <a:srgbClr val="c00000"/>
                </a:solidFill>
                <a:latin typeface="Calibri Light"/>
              </a:rPr>
              <a:t>OF</a:t>
            </a:r>
            <a:r>
              <a:rPr b="0" lang="en-US" sz="3600" spc="-6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55" strike="noStrike">
                <a:solidFill>
                  <a:srgbClr val="c00000"/>
                </a:solidFill>
                <a:latin typeface="Calibri Light"/>
              </a:rPr>
              <a:t>APPLICATION</a:t>
            </a:r>
            <a:r>
              <a:rPr b="0" lang="en-US" sz="3600" spc="-10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111" strike="noStrike">
                <a:solidFill>
                  <a:srgbClr val="c00000"/>
                </a:solidFill>
                <a:latin typeface="Calibri Light"/>
              </a:rPr>
              <a:t>ATTACKS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95" name="object 3"/>
          <p:cNvSpPr/>
          <p:nvPr/>
        </p:nvSpPr>
        <p:spPr>
          <a:xfrm>
            <a:off x="916920" y="1802520"/>
            <a:ext cx="10203840" cy="359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4000" bIns="0" anchor="t">
            <a:spAutoFit/>
          </a:bodyPr>
          <a:p>
            <a:pPr marL="241200" indent="-229320">
              <a:lnSpc>
                <a:spcPts val="2591"/>
              </a:lnSpc>
              <a:spcBef>
                <a:spcPts val="42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Attacks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against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desktop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server applications allow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threat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actors to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run 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arbitrary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code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on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trusted hosts,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allowing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them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 gain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foothold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on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network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move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laterally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within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it.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1020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With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sufficient privileges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 access, an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attacker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can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quickly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move to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compromising</a:t>
            </a:r>
            <a:r>
              <a:rPr b="0" lang="en-US" sz="2400" spc="-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data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assets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causing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denial</a:t>
            </a:r>
            <a:r>
              <a:rPr b="0" lang="en-US" sz="24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service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against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critical</a:t>
            </a:r>
            <a:r>
              <a:rPr b="0" lang="en-US" sz="2400" spc="-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servers.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ct val="90000"/>
              </a:lnSpc>
              <a:spcBef>
                <a:spcPts val="961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Not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all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of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these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attacks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will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detected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automatically,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so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as a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security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professional,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you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must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be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able</a:t>
            </a:r>
            <a:r>
              <a:rPr b="0" lang="en-US" sz="24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identify</a:t>
            </a:r>
            <a:r>
              <a:rPr b="0" lang="en-US" sz="24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indicators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arbitrary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code</a:t>
            </a:r>
            <a:r>
              <a:rPr b="0" lang="en-US" sz="24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execution </a:t>
            </a:r>
            <a:r>
              <a:rPr b="0" lang="en-US" sz="2400" spc="-52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privilege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escalation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from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your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host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monitoring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 logging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systems.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96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7" name="PlaceHolder 2"/>
          <p:cNvSpPr>
            <a:spLocks noGrp="1"/>
          </p:cNvSpPr>
          <p:nvPr>
            <p:ph type="ftr" idx="10"/>
          </p:nvPr>
        </p:nvSpPr>
        <p:spPr>
          <a:xfrm>
            <a:off x="916920" y="6451560"/>
            <a:ext cx="1022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4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dt" idx="11"/>
          </p:nvPr>
        </p:nvSpPr>
        <p:spPr>
          <a:xfrm>
            <a:off x="5492520" y="6451560"/>
            <a:ext cx="11224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41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99" name="PlaceHolder 4"/>
          <p:cNvSpPr>
            <a:spLocks noGrp="1"/>
          </p:cNvSpPr>
          <p:nvPr>
            <p:ph type="sldNum" idx="12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75EB3319-49A3-4F5F-B3B5-3ADFB2638764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914400" y="442440"/>
            <a:ext cx="6169320" cy="70020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55" strike="noStrike">
                <a:solidFill>
                  <a:srgbClr val="c00000"/>
                </a:solidFill>
                <a:latin typeface="Calibri Light"/>
              </a:rPr>
              <a:t>APPLICATION</a:t>
            </a:r>
            <a:r>
              <a:rPr b="0" lang="en-US" sz="3600" spc="-145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111" strike="noStrike">
                <a:solidFill>
                  <a:srgbClr val="c00000"/>
                </a:solidFill>
                <a:latin typeface="Calibri Light"/>
              </a:rPr>
              <a:t>ATTACKS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01" name="object 3"/>
          <p:cNvSpPr/>
          <p:nvPr/>
        </p:nvSpPr>
        <p:spPr>
          <a:xfrm>
            <a:off x="736920" y="1135080"/>
            <a:ext cx="10849320" cy="444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04040" bIns="0" anchor="t">
            <a:spAutoFit/>
          </a:bodyPr>
          <a:p>
            <a:pPr marL="241200" indent="-229320">
              <a:lnSpc>
                <a:spcPct val="100000"/>
              </a:lnSpc>
              <a:spcBef>
                <a:spcPts val="819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An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6fc0"/>
                </a:solidFill>
                <a:latin typeface="Calibri"/>
                <a:ea typeface="DejaVu Sans"/>
              </a:rPr>
              <a:t>application</a:t>
            </a:r>
            <a:r>
              <a:rPr b="0" lang="en-US" sz="2200" spc="-26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6fc0"/>
                </a:solidFill>
                <a:latin typeface="Calibri"/>
                <a:ea typeface="DejaVu Sans"/>
              </a:rPr>
              <a:t>attack</a:t>
            </a:r>
            <a:r>
              <a:rPr b="0" lang="en-US" sz="2200" spc="-21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targets</a:t>
            </a:r>
            <a:r>
              <a:rPr b="0" lang="en-US" sz="2200" spc="-4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 vulnerability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in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OS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application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software.</a:t>
            </a:r>
            <a:endParaRPr b="0" lang="en-US" sz="22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1046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An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application vulnerability 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is a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design flaw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that can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cause 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application 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security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26" strike="noStrike">
                <a:solidFill>
                  <a:srgbClr val="000000"/>
                </a:solidFill>
                <a:latin typeface="Calibri"/>
                <a:ea typeface="DejaVu Sans"/>
              </a:rPr>
              <a:t>system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be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circumvented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or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will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cause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application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 to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 crash.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51"/>
              </a:spcBef>
              <a:buNone/>
              <a:tabLst>
                <a:tab algn="l" pos="241920"/>
              </a:tabLst>
            </a:pPr>
            <a:endParaRPr b="0" lang="en-US" sz="2200" spc="-1" strike="noStrike">
              <a:latin typeface="Arial"/>
            </a:endParaRPr>
          </a:p>
          <a:p>
            <a:pPr marL="241200" indent="-229320">
              <a:lnSpc>
                <a:spcPct val="100000"/>
              </a:lnSpc>
              <a:spcBef>
                <a:spcPts val="6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200" spc="-7" strike="noStrike">
                <a:solidFill>
                  <a:srgbClr val="006fc0"/>
                </a:solidFill>
                <a:latin typeface="Calibri"/>
                <a:ea typeface="DejaVu Sans"/>
              </a:rPr>
              <a:t>Privilege</a:t>
            </a:r>
            <a:r>
              <a:rPr b="0" lang="en-US" sz="2200" spc="-41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6fc0"/>
                </a:solidFill>
                <a:latin typeface="Calibri"/>
                <a:ea typeface="DejaVu Sans"/>
              </a:rPr>
              <a:t>Escalation</a:t>
            </a:r>
            <a:endParaRPr b="0" lang="en-US" sz="2200" spc="-1" strike="noStrike">
              <a:latin typeface="Arial"/>
            </a:endParaRPr>
          </a:p>
          <a:p>
            <a:pPr lvl="1" marL="698400" indent="-229320">
              <a:lnSpc>
                <a:spcPts val="2279"/>
              </a:lnSpc>
              <a:spcBef>
                <a:spcPts val="289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purpose</a:t>
            </a:r>
            <a:r>
              <a:rPr b="0" lang="en-US" sz="22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of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most</a:t>
            </a:r>
            <a:r>
              <a:rPr b="0" lang="en-US" sz="22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application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attacks</a:t>
            </a:r>
            <a:r>
              <a:rPr b="0" lang="en-US" sz="2200" spc="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 allow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threat</a:t>
            </a:r>
            <a:r>
              <a:rPr b="0" lang="en-US" sz="22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actor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run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his or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her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own code</a:t>
            </a:r>
            <a:r>
              <a:rPr b="0" lang="en-US" sz="2200" spc="-4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on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 system.</a:t>
            </a:r>
            <a:endParaRPr b="0" lang="en-US" sz="2200" spc="-1" strike="noStrike">
              <a:latin typeface="Arial"/>
            </a:endParaRPr>
          </a:p>
          <a:p>
            <a:pPr lvl="1" marL="698400" indent="-229320">
              <a:lnSpc>
                <a:spcPct val="100000"/>
              </a:lnSpc>
              <a:spcBef>
                <a:spcPts val="255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This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referred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to 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as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 arbitrary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code</a:t>
            </a:r>
            <a:r>
              <a:rPr b="0" lang="en-US" sz="2200" spc="-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execution.</a:t>
            </a:r>
            <a:endParaRPr b="0" lang="en-US" sz="2200" spc="-1" strike="noStrike">
              <a:latin typeface="Arial"/>
            </a:endParaRPr>
          </a:p>
          <a:p>
            <a:pPr lvl="1" marL="698400" indent="-228600">
              <a:lnSpc>
                <a:spcPts val="2160"/>
              </a:lnSpc>
              <a:spcBef>
                <a:spcPts val="536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Where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 code 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transmitted</a:t>
            </a:r>
            <a:r>
              <a:rPr b="0" lang="en-US" sz="22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from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 one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machine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26" strike="noStrike">
                <a:solidFill>
                  <a:srgbClr val="000000"/>
                </a:solidFill>
                <a:latin typeface="Calibri"/>
                <a:ea typeface="DejaVu Sans"/>
              </a:rPr>
              <a:t>another,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it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can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be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referred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as</a:t>
            </a:r>
            <a:r>
              <a:rPr b="0" lang="en-US" sz="22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remote </a:t>
            </a:r>
            <a:r>
              <a:rPr b="1" lang="en-US" sz="2200" spc="-4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code </a:t>
            </a:r>
            <a:r>
              <a:rPr b="1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execution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.</a:t>
            </a:r>
            <a:endParaRPr b="0" lang="en-US" sz="2200" spc="-1" strike="noStrike">
              <a:latin typeface="Arial"/>
            </a:endParaRPr>
          </a:p>
          <a:p>
            <a:pPr lvl="1" marL="698400" indent="-229320">
              <a:lnSpc>
                <a:spcPts val="2279"/>
              </a:lnSpc>
              <a:spcBef>
                <a:spcPts val="230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code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would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 typically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be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designed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 to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install</a:t>
            </a:r>
            <a:r>
              <a:rPr b="0" lang="en-US" sz="22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some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sort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 backdoor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 or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disable</a:t>
            </a:r>
            <a:r>
              <a:rPr b="0" lang="en-US" sz="22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system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in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 some </a:t>
            </a:r>
            <a:r>
              <a:rPr b="0" lang="en-US" sz="2200" spc="-26" strike="noStrike">
                <a:solidFill>
                  <a:srgbClr val="000000"/>
                </a:solidFill>
                <a:latin typeface="Calibri"/>
                <a:ea typeface="DejaVu Sans"/>
              </a:rPr>
              <a:t>way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(denial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service).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102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3" name="PlaceHolder 2"/>
          <p:cNvSpPr>
            <a:spLocks noGrp="1"/>
          </p:cNvSpPr>
          <p:nvPr>
            <p:ph type="ftr" idx="13"/>
          </p:nvPr>
        </p:nvSpPr>
        <p:spPr>
          <a:xfrm>
            <a:off x="916920" y="6451560"/>
            <a:ext cx="1022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4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 type="dt" idx="14"/>
          </p:nvPr>
        </p:nvSpPr>
        <p:spPr>
          <a:xfrm>
            <a:off x="5492520" y="6451560"/>
            <a:ext cx="11224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41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05" name="PlaceHolder 4"/>
          <p:cNvSpPr>
            <a:spLocks noGrp="1"/>
          </p:cNvSpPr>
          <p:nvPr>
            <p:ph type="sldNum" idx="15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5B061BE7-88BA-46A6-B347-19E2B1916636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5320440" cy="115740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A</a:t>
            </a:r>
            <a:r>
              <a:rPr b="0" lang="en-US" sz="3600" spc="-15" strike="noStrike">
                <a:solidFill>
                  <a:srgbClr val="c00000"/>
                </a:solidFill>
                <a:latin typeface="Calibri Light"/>
              </a:rPr>
              <a:t>P</a:t>
            </a: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PL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IC</a:t>
            </a:r>
            <a:r>
              <a:rPr b="0" lang="en-US" sz="3600" spc="-330" strike="noStrike">
                <a:solidFill>
                  <a:srgbClr val="c00000"/>
                </a:solidFill>
                <a:latin typeface="Calibri Light"/>
              </a:rPr>
              <a:t>A</a:t>
            </a: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T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I</a:t>
            </a:r>
            <a:r>
              <a:rPr b="0" lang="en-US" sz="3600" spc="-41" strike="noStrike">
                <a:solidFill>
                  <a:srgbClr val="c00000"/>
                </a:solidFill>
                <a:latin typeface="Calibri Light"/>
              </a:rPr>
              <a:t>O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N</a:t>
            </a:r>
            <a:r>
              <a:rPr b="0" lang="en-US" sz="3600" spc="-10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07" strike="noStrike">
                <a:solidFill>
                  <a:srgbClr val="c00000"/>
                </a:solidFill>
                <a:latin typeface="Calibri Light"/>
              </a:rPr>
              <a:t>A</a:t>
            </a:r>
            <a:r>
              <a:rPr b="0" lang="en-US" sz="3600" spc="26" strike="noStrike">
                <a:solidFill>
                  <a:srgbClr val="c00000"/>
                </a:solidFill>
                <a:latin typeface="Calibri Light"/>
              </a:rPr>
              <a:t>T</a:t>
            </a:r>
            <a:r>
              <a:rPr b="0" lang="en-US" sz="3600" spc="-307" strike="noStrike">
                <a:solidFill>
                  <a:srgbClr val="c00000"/>
                </a:solidFill>
                <a:latin typeface="Calibri Light"/>
              </a:rPr>
              <a:t>T</a:t>
            </a:r>
            <a:r>
              <a:rPr b="0" lang="en-US" sz="3600" spc="-60" strike="noStrike">
                <a:solidFill>
                  <a:srgbClr val="c00000"/>
                </a:solidFill>
                <a:latin typeface="Calibri Light"/>
              </a:rPr>
              <a:t>A</a:t>
            </a:r>
            <a:r>
              <a:rPr b="0" lang="en-US" sz="3600" spc="-46" strike="noStrike">
                <a:solidFill>
                  <a:srgbClr val="c00000"/>
                </a:solidFill>
                <a:latin typeface="Calibri Light"/>
              </a:rPr>
              <a:t>C</a:t>
            </a:r>
            <a:r>
              <a:rPr b="0" lang="en-US" sz="3600" spc="-66" strike="noStrike">
                <a:solidFill>
                  <a:srgbClr val="c00000"/>
                </a:solidFill>
                <a:latin typeface="Calibri Light"/>
              </a:rPr>
              <a:t>K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S</a:t>
            </a:r>
            <a:r>
              <a:rPr b="0" lang="en-US" sz="3600" spc="-8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(</a:t>
            </a:r>
            <a:r>
              <a:rPr b="0" lang="en-US" sz="3600" spc="-66" strike="noStrike">
                <a:solidFill>
                  <a:srgbClr val="c00000"/>
                </a:solidFill>
                <a:latin typeface="Calibri Light"/>
              </a:rPr>
              <a:t>c</a:t>
            </a:r>
            <a:r>
              <a:rPr b="0" lang="en-US" sz="3600" spc="-21" strike="noStrike">
                <a:solidFill>
                  <a:srgbClr val="c00000"/>
                </a:solidFill>
                <a:latin typeface="Calibri Light"/>
              </a:rPr>
              <a:t>o</a:t>
            </a:r>
            <a:r>
              <a:rPr b="0" lang="en-US" sz="3600" spc="-72" strike="noStrike">
                <a:solidFill>
                  <a:srgbClr val="c00000"/>
                </a:solidFill>
                <a:latin typeface="Calibri Light"/>
              </a:rPr>
              <a:t>n</a:t>
            </a: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t</a:t>
            </a:r>
            <a:r>
              <a:rPr b="0" lang="en-US" sz="3600" spc="-21" strike="noStrike">
                <a:solidFill>
                  <a:srgbClr val="c00000"/>
                </a:solidFill>
                <a:latin typeface="Calibri Light"/>
              </a:rPr>
              <a:t>.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)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07" name="object 3"/>
          <p:cNvSpPr/>
          <p:nvPr/>
        </p:nvSpPr>
        <p:spPr>
          <a:xfrm>
            <a:off x="916920" y="1802520"/>
            <a:ext cx="10349640" cy="407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4000" bIns="0" anchor="t">
            <a:spAutoFit/>
          </a:bodyPr>
          <a:p>
            <a:pPr marL="241200" indent="-229320">
              <a:lnSpc>
                <a:spcPts val="2591"/>
              </a:lnSpc>
              <a:spcBef>
                <a:spcPts val="42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application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process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must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have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privileges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read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write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data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execute </a:t>
            </a:r>
            <a:r>
              <a:rPr b="0" lang="en-US" sz="2400" spc="-52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functions.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741"/>
              </a:lnSpc>
              <a:spcBef>
                <a:spcPts val="686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Depending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on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how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the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software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written,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process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may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run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using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system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account,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account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logged-on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46" strike="noStrike">
                <a:solidFill>
                  <a:srgbClr val="000000"/>
                </a:solidFill>
                <a:latin typeface="Calibri"/>
                <a:ea typeface="DejaVu Sans"/>
              </a:rPr>
              <a:t>user,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a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nominated account.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103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If a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software exploit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works,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attacker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may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be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able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execute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arbitrary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code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with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same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privilege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level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as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exploited process.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1001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Without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performing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detailed analysis of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code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or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process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execution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in real-time, it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privilege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escalation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that provides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4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simplest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indicator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an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application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attack.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08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9" name="PlaceHolder 2"/>
          <p:cNvSpPr>
            <a:spLocks noGrp="1"/>
          </p:cNvSpPr>
          <p:nvPr>
            <p:ph type="ftr" idx="16"/>
          </p:nvPr>
        </p:nvSpPr>
        <p:spPr>
          <a:xfrm>
            <a:off x="916920" y="6451560"/>
            <a:ext cx="1022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4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 type="dt" idx="17"/>
          </p:nvPr>
        </p:nvSpPr>
        <p:spPr>
          <a:xfrm>
            <a:off x="5492520" y="6451560"/>
            <a:ext cx="11224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41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11" name="PlaceHolder 4"/>
          <p:cNvSpPr>
            <a:spLocks noGrp="1"/>
          </p:cNvSpPr>
          <p:nvPr>
            <p:ph type="sldNum" idx="18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59E6A361-D890-4E58-9D1F-91BDBF4A2DEB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5320440" cy="115740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A</a:t>
            </a:r>
            <a:r>
              <a:rPr b="0" lang="en-US" sz="3600" spc="-15" strike="noStrike">
                <a:solidFill>
                  <a:srgbClr val="c00000"/>
                </a:solidFill>
                <a:latin typeface="Calibri Light"/>
              </a:rPr>
              <a:t>P</a:t>
            </a: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PL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IC</a:t>
            </a:r>
            <a:r>
              <a:rPr b="0" lang="en-US" sz="3600" spc="-330" strike="noStrike">
                <a:solidFill>
                  <a:srgbClr val="c00000"/>
                </a:solidFill>
                <a:latin typeface="Calibri Light"/>
              </a:rPr>
              <a:t>A</a:t>
            </a: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T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I</a:t>
            </a:r>
            <a:r>
              <a:rPr b="0" lang="en-US" sz="3600" spc="-41" strike="noStrike">
                <a:solidFill>
                  <a:srgbClr val="c00000"/>
                </a:solidFill>
                <a:latin typeface="Calibri Light"/>
              </a:rPr>
              <a:t>O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N</a:t>
            </a:r>
            <a:r>
              <a:rPr b="0" lang="en-US" sz="3600" spc="-10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07" strike="noStrike">
                <a:solidFill>
                  <a:srgbClr val="c00000"/>
                </a:solidFill>
                <a:latin typeface="Calibri Light"/>
              </a:rPr>
              <a:t>A</a:t>
            </a:r>
            <a:r>
              <a:rPr b="0" lang="en-US" sz="3600" spc="26" strike="noStrike">
                <a:solidFill>
                  <a:srgbClr val="c00000"/>
                </a:solidFill>
                <a:latin typeface="Calibri Light"/>
              </a:rPr>
              <a:t>T</a:t>
            </a:r>
            <a:r>
              <a:rPr b="0" lang="en-US" sz="3600" spc="-307" strike="noStrike">
                <a:solidFill>
                  <a:srgbClr val="c00000"/>
                </a:solidFill>
                <a:latin typeface="Calibri Light"/>
              </a:rPr>
              <a:t>T</a:t>
            </a:r>
            <a:r>
              <a:rPr b="0" lang="en-US" sz="3600" spc="-60" strike="noStrike">
                <a:solidFill>
                  <a:srgbClr val="c00000"/>
                </a:solidFill>
                <a:latin typeface="Calibri Light"/>
              </a:rPr>
              <a:t>A</a:t>
            </a:r>
            <a:r>
              <a:rPr b="0" lang="en-US" sz="3600" spc="-46" strike="noStrike">
                <a:solidFill>
                  <a:srgbClr val="c00000"/>
                </a:solidFill>
                <a:latin typeface="Calibri Light"/>
              </a:rPr>
              <a:t>C</a:t>
            </a:r>
            <a:r>
              <a:rPr b="0" lang="en-US" sz="3600" spc="-66" strike="noStrike">
                <a:solidFill>
                  <a:srgbClr val="c00000"/>
                </a:solidFill>
                <a:latin typeface="Calibri Light"/>
              </a:rPr>
              <a:t>K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S</a:t>
            </a:r>
            <a:r>
              <a:rPr b="0" lang="en-US" sz="3600" spc="-8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(</a:t>
            </a:r>
            <a:r>
              <a:rPr b="0" lang="en-US" sz="3600" spc="-66" strike="noStrike">
                <a:solidFill>
                  <a:srgbClr val="c00000"/>
                </a:solidFill>
                <a:latin typeface="Calibri Light"/>
              </a:rPr>
              <a:t>c</a:t>
            </a:r>
            <a:r>
              <a:rPr b="0" lang="en-US" sz="3600" spc="-21" strike="noStrike">
                <a:solidFill>
                  <a:srgbClr val="c00000"/>
                </a:solidFill>
                <a:latin typeface="Calibri Light"/>
              </a:rPr>
              <a:t>o</a:t>
            </a:r>
            <a:r>
              <a:rPr b="0" lang="en-US" sz="3600" spc="-72" strike="noStrike">
                <a:solidFill>
                  <a:srgbClr val="c00000"/>
                </a:solidFill>
                <a:latin typeface="Calibri Light"/>
              </a:rPr>
              <a:t>n</a:t>
            </a: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t</a:t>
            </a:r>
            <a:r>
              <a:rPr b="0" lang="en-US" sz="3600" spc="-21" strike="noStrike">
                <a:solidFill>
                  <a:srgbClr val="c00000"/>
                </a:solidFill>
                <a:latin typeface="Calibri Light"/>
              </a:rPr>
              <a:t>.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)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13" name="object 3"/>
          <p:cNvSpPr/>
          <p:nvPr/>
        </p:nvSpPr>
        <p:spPr>
          <a:xfrm>
            <a:off x="916920" y="1758960"/>
            <a:ext cx="10008000" cy="317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6520" bIns="0" anchor="t">
            <a:spAutoFit/>
          </a:bodyPr>
          <a:p>
            <a:pPr marL="241200" indent="-229320">
              <a:lnSpc>
                <a:spcPct val="100000"/>
              </a:lnSpc>
              <a:spcBef>
                <a:spcPts val="445"/>
              </a:spcBef>
              <a:buClr>
                <a:srgbClr val="006fc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2" strike="noStrike">
                <a:solidFill>
                  <a:srgbClr val="006fc0"/>
                </a:solidFill>
                <a:latin typeface="Calibri"/>
                <a:ea typeface="DejaVu Sans"/>
              </a:rPr>
              <a:t>Error</a:t>
            </a:r>
            <a:r>
              <a:rPr b="0" lang="en-US" sz="2400" spc="-60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6fc0"/>
                </a:solidFill>
                <a:latin typeface="Calibri"/>
                <a:ea typeface="DejaVu Sans"/>
              </a:rPr>
              <a:t>Handling</a:t>
            </a:r>
            <a:endParaRPr b="0" lang="en-US" sz="2400" spc="-1" strike="noStrike">
              <a:latin typeface="Arial"/>
            </a:endParaRPr>
          </a:p>
          <a:p>
            <a:pPr lvl="1" marL="698400" indent="-229320">
              <a:lnSpc>
                <a:spcPct val="100000"/>
              </a:lnSpc>
              <a:spcBef>
                <a:spcPts val="289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application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attack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may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cause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an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error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message.</a:t>
            </a:r>
            <a:endParaRPr b="0" lang="en-US" sz="2000" spc="-1" strike="noStrike">
              <a:latin typeface="Arial"/>
            </a:endParaRPr>
          </a:p>
          <a:p>
            <a:pPr lvl="1" marL="698400" indent="-229320">
              <a:lnSpc>
                <a:spcPts val="2279"/>
              </a:lnSpc>
              <a:spcBef>
                <a:spcPts val="249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In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Windows,</a:t>
            </a:r>
            <a:r>
              <a:rPr b="0" lang="en-US" sz="2000" spc="-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this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may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be of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following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types: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"Instruction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could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not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be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read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written,"</a:t>
            </a:r>
            <a:endParaRPr b="0" lang="en-US" sz="2000" spc="-1" strike="noStrike">
              <a:latin typeface="Arial"/>
            </a:endParaRPr>
          </a:p>
          <a:p>
            <a:pPr marL="698400">
              <a:lnSpc>
                <a:spcPts val="2279"/>
              </a:lnSpc>
              <a:buNone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"Undefined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exception,"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or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"Process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has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encountered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problem".</a:t>
            </a:r>
            <a:endParaRPr b="0" lang="en-US" sz="2000" spc="-1" strike="noStrike">
              <a:latin typeface="Arial"/>
            </a:endParaRPr>
          </a:p>
          <a:p>
            <a:pPr lvl="1" marL="698400" indent="-228600">
              <a:lnSpc>
                <a:spcPts val="2160"/>
              </a:lnSpc>
              <a:spcBef>
                <a:spcPts val="541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One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issue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for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error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handling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application should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not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reveal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configuration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or </a:t>
            </a:r>
            <a:r>
              <a:rPr b="0" lang="en-US" sz="2000" spc="-4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platform details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could</a:t>
            </a:r>
            <a:r>
              <a:rPr b="0" lang="en-US" sz="20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help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41" strike="noStrike">
                <a:solidFill>
                  <a:srgbClr val="000000"/>
                </a:solidFill>
                <a:latin typeface="Calibri"/>
                <a:ea typeface="DejaVu Sans"/>
              </a:rPr>
              <a:t>attacker.</a:t>
            </a:r>
            <a:endParaRPr b="0" lang="en-US" sz="2000" spc="-1" strike="noStrike">
              <a:latin typeface="Arial"/>
            </a:endParaRPr>
          </a:p>
          <a:p>
            <a:pPr lvl="1" marL="698400" indent="-229320">
              <a:lnSpc>
                <a:spcPts val="2279"/>
              </a:lnSpc>
              <a:spcBef>
                <a:spcPts val="230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For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example,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unhandled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exception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on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web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application might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show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error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page</a:t>
            </a:r>
            <a:r>
              <a:rPr b="0" lang="en-US" sz="20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that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reveals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type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configuration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database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35" strike="noStrike">
                <a:solidFill>
                  <a:srgbClr val="000000"/>
                </a:solidFill>
                <a:latin typeface="Calibri"/>
                <a:ea typeface="DejaVu Sans"/>
              </a:rPr>
              <a:t>server.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14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5" name="PlaceHolder 2"/>
          <p:cNvSpPr>
            <a:spLocks noGrp="1"/>
          </p:cNvSpPr>
          <p:nvPr>
            <p:ph type="ftr" idx="19"/>
          </p:nvPr>
        </p:nvSpPr>
        <p:spPr>
          <a:xfrm>
            <a:off x="916920" y="6451560"/>
            <a:ext cx="1022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4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16" name="PlaceHolder 3"/>
          <p:cNvSpPr>
            <a:spLocks noGrp="1"/>
          </p:cNvSpPr>
          <p:nvPr>
            <p:ph type="dt" idx="20"/>
          </p:nvPr>
        </p:nvSpPr>
        <p:spPr>
          <a:xfrm>
            <a:off x="5492520" y="6451560"/>
            <a:ext cx="11224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41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17" name="PlaceHolder 4"/>
          <p:cNvSpPr>
            <a:spLocks noGrp="1"/>
          </p:cNvSpPr>
          <p:nvPr>
            <p:ph type="sldNum" idx="21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6BE1117E-DFE0-422A-8725-D2792AAF096A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916920" y="914400"/>
            <a:ext cx="7312680" cy="92772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ctr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A</a:t>
            </a:r>
            <a:r>
              <a:rPr b="0" lang="en-US" sz="3600" spc="-15" strike="noStrike">
                <a:solidFill>
                  <a:srgbClr val="c00000"/>
                </a:solidFill>
                <a:latin typeface="Calibri Light"/>
              </a:rPr>
              <a:t>P</a:t>
            </a: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PL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IC</a:t>
            </a:r>
            <a:r>
              <a:rPr b="0" lang="en-US" sz="3600" spc="-330" strike="noStrike">
                <a:solidFill>
                  <a:srgbClr val="c00000"/>
                </a:solidFill>
                <a:latin typeface="Calibri Light"/>
              </a:rPr>
              <a:t>A</a:t>
            </a: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T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I</a:t>
            </a:r>
            <a:r>
              <a:rPr b="0" lang="en-US" sz="3600" spc="-41" strike="noStrike">
                <a:solidFill>
                  <a:srgbClr val="c00000"/>
                </a:solidFill>
                <a:latin typeface="Calibri Light"/>
              </a:rPr>
              <a:t>O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N</a:t>
            </a:r>
            <a:r>
              <a:rPr b="0" lang="en-US" sz="3600" spc="-10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07" strike="noStrike">
                <a:solidFill>
                  <a:srgbClr val="c00000"/>
                </a:solidFill>
                <a:latin typeface="Calibri Light"/>
              </a:rPr>
              <a:t>A</a:t>
            </a:r>
            <a:r>
              <a:rPr b="0" lang="en-US" sz="3600" spc="26" strike="noStrike">
                <a:solidFill>
                  <a:srgbClr val="c00000"/>
                </a:solidFill>
                <a:latin typeface="Calibri Light"/>
              </a:rPr>
              <a:t>T</a:t>
            </a:r>
            <a:r>
              <a:rPr b="0" lang="en-US" sz="3600" spc="-307" strike="noStrike">
                <a:solidFill>
                  <a:srgbClr val="c00000"/>
                </a:solidFill>
                <a:latin typeface="Calibri Light"/>
              </a:rPr>
              <a:t>T</a:t>
            </a:r>
            <a:r>
              <a:rPr b="0" lang="en-US" sz="3600" spc="-60" strike="noStrike">
                <a:solidFill>
                  <a:srgbClr val="c00000"/>
                </a:solidFill>
                <a:latin typeface="Calibri Light"/>
              </a:rPr>
              <a:t>A</a:t>
            </a:r>
            <a:r>
              <a:rPr b="0" lang="en-US" sz="3600" spc="-46" strike="noStrike">
                <a:solidFill>
                  <a:srgbClr val="c00000"/>
                </a:solidFill>
                <a:latin typeface="Calibri Light"/>
              </a:rPr>
              <a:t>C</a:t>
            </a:r>
            <a:r>
              <a:rPr b="0" lang="en-US" sz="3600" spc="-66" strike="noStrike">
                <a:solidFill>
                  <a:srgbClr val="c00000"/>
                </a:solidFill>
                <a:latin typeface="Calibri Light"/>
              </a:rPr>
              <a:t>K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S</a:t>
            </a:r>
            <a:r>
              <a:rPr b="0" lang="en-US" sz="3600" spc="-8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(</a:t>
            </a:r>
            <a:r>
              <a:rPr b="0" lang="en-US" sz="3600" spc="-66" strike="noStrike">
                <a:solidFill>
                  <a:srgbClr val="c00000"/>
                </a:solidFill>
                <a:latin typeface="Calibri Light"/>
              </a:rPr>
              <a:t>c</a:t>
            </a:r>
            <a:r>
              <a:rPr b="0" lang="en-US" sz="3600" spc="-21" strike="noStrike">
                <a:solidFill>
                  <a:srgbClr val="c00000"/>
                </a:solidFill>
                <a:latin typeface="Calibri Light"/>
              </a:rPr>
              <a:t>o</a:t>
            </a:r>
            <a:r>
              <a:rPr b="0" lang="en-US" sz="3600" spc="-72" strike="noStrike">
                <a:solidFill>
                  <a:srgbClr val="c00000"/>
                </a:solidFill>
                <a:latin typeface="Calibri Light"/>
              </a:rPr>
              <a:t>n</a:t>
            </a: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t</a:t>
            </a:r>
            <a:r>
              <a:rPr b="0" lang="en-US" sz="3600" spc="-21" strike="noStrike">
                <a:solidFill>
                  <a:srgbClr val="c00000"/>
                </a:solidFill>
                <a:latin typeface="Calibri Light"/>
              </a:rPr>
              <a:t>.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)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19" name="object 3"/>
          <p:cNvSpPr/>
          <p:nvPr/>
        </p:nvSpPr>
        <p:spPr>
          <a:xfrm>
            <a:off x="808920" y="2082960"/>
            <a:ext cx="10513080" cy="370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6520" bIns="0" anchor="t">
            <a:spAutoFit/>
          </a:bodyPr>
          <a:p>
            <a:pPr marL="241200" indent="-229320">
              <a:lnSpc>
                <a:spcPct val="100000"/>
              </a:lnSpc>
              <a:spcBef>
                <a:spcPts val="445"/>
              </a:spcBef>
              <a:buClr>
                <a:srgbClr val="006fc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2" strike="noStrike">
                <a:solidFill>
                  <a:srgbClr val="006fc0"/>
                </a:solidFill>
                <a:latin typeface="Calibri"/>
                <a:ea typeface="DejaVu Sans"/>
              </a:rPr>
              <a:t>Improper</a:t>
            </a:r>
            <a:r>
              <a:rPr b="0" lang="en-US" sz="2400" spc="-35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6fc0"/>
                </a:solidFill>
                <a:latin typeface="Calibri"/>
                <a:ea typeface="DejaVu Sans"/>
              </a:rPr>
              <a:t>Input</a:t>
            </a:r>
            <a:r>
              <a:rPr b="0" lang="en-US" sz="2400" spc="-32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6fc0"/>
                </a:solidFill>
                <a:latin typeface="Calibri"/>
                <a:ea typeface="DejaVu Sans"/>
              </a:rPr>
              <a:t>Handling</a:t>
            </a:r>
            <a:endParaRPr b="0" lang="en-US" sz="2400" spc="-1" strike="noStrike">
              <a:latin typeface="Arial"/>
            </a:endParaRPr>
          </a:p>
          <a:p>
            <a:pPr lvl="1" marL="698400" indent="-228600">
              <a:lnSpc>
                <a:spcPct val="90000"/>
              </a:lnSpc>
              <a:spcBef>
                <a:spcPts val="530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Most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software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accepts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user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input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some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kind,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whether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input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is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typed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manually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or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passed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program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by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another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program,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such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browser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passing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URL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web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server </a:t>
            </a:r>
            <a:r>
              <a:rPr b="0" lang="en-US" sz="2000" spc="-4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Windows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process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using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another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process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via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its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application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programming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interface.</a:t>
            </a:r>
            <a:endParaRPr b="0" lang="en-US" sz="2000" spc="-1" strike="noStrike">
              <a:latin typeface="Arial"/>
            </a:endParaRPr>
          </a:p>
          <a:p>
            <a:pPr lvl="1" marL="698400" indent="-228600">
              <a:lnSpc>
                <a:spcPts val="2160"/>
              </a:lnSpc>
              <a:spcBef>
                <a:spcPts val="519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Good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programming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practice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dictates</a:t>
            </a:r>
            <a:r>
              <a:rPr b="0" lang="en-US" sz="2000" spc="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input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should be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tested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ensure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it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valid; </a:t>
            </a:r>
            <a:r>
              <a:rPr b="0" lang="en-US" sz="2000" spc="-440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is, the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sort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of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data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expected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by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receiving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process.</a:t>
            </a:r>
            <a:endParaRPr b="0" lang="en-US" sz="2000" spc="-1" strike="noStrike">
              <a:latin typeface="Arial"/>
            </a:endParaRPr>
          </a:p>
          <a:p>
            <a:pPr lvl="1" marL="698400" indent="-229320">
              <a:lnSpc>
                <a:spcPts val="2279"/>
              </a:lnSpc>
              <a:spcBef>
                <a:spcPts val="235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Most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application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attacks</a:t>
            </a:r>
            <a:r>
              <a:rPr b="0" lang="en-US" sz="2000" spc="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work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by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passing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invalid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maliciously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constructed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data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vulnerable</a:t>
            </a:r>
            <a:r>
              <a:rPr b="0" lang="en-US" sz="2000" spc="-4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process.</a:t>
            </a:r>
            <a:endParaRPr b="0" lang="en-US" sz="2000" spc="-1" strike="noStrike">
              <a:latin typeface="Arial"/>
            </a:endParaRPr>
          </a:p>
          <a:p>
            <a:pPr lvl="1" marL="698400" indent="-228600">
              <a:lnSpc>
                <a:spcPts val="2160"/>
              </a:lnSpc>
              <a:spcBef>
                <a:spcPts val="536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There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are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many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26" strike="noStrike">
                <a:solidFill>
                  <a:srgbClr val="000000"/>
                </a:solidFill>
                <a:latin typeface="Calibri"/>
                <a:ea typeface="DejaVu Sans"/>
              </a:rPr>
              <a:t>ways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exploiting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improper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input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handling,</a:t>
            </a:r>
            <a:r>
              <a:rPr b="0" lang="en-US" sz="20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but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many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attacks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can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be </a:t>
            </a:r>
            <a:r>
              <a:rPr b="0" lang="en-US" sz="2000" spc="-4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described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as either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overflow-type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attacks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injection-type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attacks.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20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1" name="PlaceHolder 2"/>
          <p:cNvSpPr>
            <a:spLocks noGrp="1"/>
          </p:cNvSpPr>
          <p:nvPr>
            <p:ph type="ftr" idx="22"/>
          </p:nvPr>
        </p:nvSpPr>
        <p:spPr>
          <a:xfrm>
            <a:off x="916920" y="6451560"/>
            <a:ext cx="1022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4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22" name="PlaceHolder 3"/>
          <p:cNvSpPr>
            <a:spLocks noGrp="1"/>
          </p:cNvSpPr>
          <p:nvPr>
            <p:ph type="dt" idx="23"/>
          </p:nvPr>
        </p:nvSpPr>
        <p:spPr>
          <a:xfrm>
            <a:off x="5492520" y="6451560"/>
            <a:ext cx="11224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41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23" name="PlaceHolder 4"/>
          <p:cNvSpPr>
            <a:spLocks noGrp="1"/>
          </p:cNvSpPr>
          <p:nvPr>
            <p:ph type="sldNum" idx="24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9D01ACE4-3845-46AB-84F3-3D57B84B56A8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7769880" cy="6868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52" strike="noStrike">
                <a:solidFill>
                  <a:srgbClr val="c00000"/>
                </a:solidFill>
                <a:latin typeface="Calibri Light"/>
              </a:rPr>
              <a:t>OVERFLOW</a:t>
            </a:r>
            <a:r>
              <a:rPr b="0" lang="en-US" sz="3600" spc="-137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5" strike="noStrike">
                <a:solidFill>
                  <a:srgbClr val="c00000"/>
                </a:solidFill>
                <a:latin typeface="Calibri Light"/>
              </a:rPr>
              <a:t>VULNERABILITIES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25" name="object 3"/>
          <p:cNvSpPr/>
          <p:nvPr/>
        </p:nvSpPr>
        <p:spPr>
          <a:xfrm>
            <a:off x="880920" y="1694520"/>
            <a:ext cx="10271160" cy="261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4000" bIns="0" anchor="t">
            <a:spAutoFit/>
          </a:bodyPr>
          <a:p>
            <a:pPr marL="241200" indent="-229320">
              <a:lnSpc>
                <a:spcPts val="2591"/>
              </a:lnSpc>
              <a:spcBef>
                <a:spcPts val="42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In an </a:t>
            </a:r>
            <a:r>
              <a:rPr b="0" lang="en-US" sz="2400" spc="-12" strike="noStrike">
                <a:solidFill>
                  <a:srgbClr val="006fc0"/>
                </a:solidFill>
                <a:latin typeface="Calibri"/>
                <a:ea typeface="DejaVu Sans"/>
              </a:rPr>
              <a:t>overflow </a:t>
            </a:r>
            <a:r>
              <a:rPr b="0" lang="en-US" sz="2400" spc="-15" strike="noStrike">
                <a:solidFill>
                  <a:srgbClr val="006fc0"/>
                </a:solidFill>
                <a:latin typeface="Calibri"/>
                <a:ea typeface="DejaVu Sans"/>
              </a:rPr>
              <a:t>attack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,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threat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actor submits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input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that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too large to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be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stored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in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variable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assigned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by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the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application.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741"/>
              </a:lnSpc>
              <a:spcBef>
                <a:spcPts val="686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Ideally,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code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used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to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attempt</a:t>
            </a:r>
            <a:r>
              <a:rPr b="0" lang="en-US" sz="2400" spc="-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these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attacks</a:t>
            </a:r>
            <a:r>
              <a:rPr b="0" lang="en-US" sz="2400" spc="-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will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identified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by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network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IDS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by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endpoint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protection</a:t>
            </a:r>
            <a:r>
              <a:rPr b="0" lang="en-US" sz="2400" spc="-4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agent.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103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Unsuccessful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attempts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may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be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revealed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through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unexplained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crashes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or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error </a:t>
            </a:r>
            <a:r>
              <a:rPr b="0" lang="en-US" sz="2400" spc="-52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messages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following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file download,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execution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of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new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app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or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script, or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connection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of new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hardware.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26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7" name="PlaceHolder 2"/>
          <p:cNvSpPr>
            <a:spLocks noGrp="1"/>
          </p:cNvSpPr>
          <p:nvPr>
            <p:ph type="ftr" idx="25"/>
          </p:nvPr>
        </p:nvSpPr>
        <p:spPr>
          <a:xfrm>
            <a:off x="916920" y="6451560"/>
            <a:ext cx="1022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4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28" name="PlaceHolder 3"/>
          <p:cNvSpPr>
            <a:spLocks noGrp="1"/>
          </p:cNvSpPr>
          <p:nvPr>
            <p:ph type="dt" idx="26"/>
          </p:nvPr>
        </p:nvSpPr>
        <p:spPr>
          <a:xfrm>
            <a:off x="5492520" y="6451560"/>
            <a:ext cx="11224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41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29" name="PlaceHolder 4"/>
          <p:cNvSpPr>
            <a:spLocks noGrp="1"/>
          </p:cNvSpPr>
          <p:nvPr>
            <p:ph type="sldNum" idx="27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0A774ACB-34CF-45A9-A805-7D6068C423B5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916920" y="792720"/>
            <a:ext cx="8912880" cy="6868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52" strike="noStrike">
                <a:solidFill>
                  <a:srgbClr val="c00000"/>
                </a:solidFill>
                <a:latin typeface="Calibri Light"/>
              </a:rPr>
              <a:t>OVERFLOW</a:t>
            </a:r>
            <a:r>
              <a:rPr b="0" lang="en-US" sz="3600" spc="-12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5" strike="noStrike">
                <a:solidFill>
                  <a:srgbClr val="c00000"/>
                </a:solidFill>
                <a:latin typeface="Calibri Light"/>
              </a:rPr>
              <a:t>VULNERABILITIES</a:t>
            </a:r>
            <a:r>
              <a:rPr b="0" lang="en-US" sz="3600" spc="-97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(cont.)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31" name="object 3"/>
          <p:cNvSpPr/>
          <p:nvPr/>
        </p:nvSpPr>
        <p:spPr>
          <a:xfrm>
            <a:off x="916920" y="1758960"/>
            <a:ext cx="10158120" cy="361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6520" bIns="0" anchor="t">
            <a:spAutoFit/>
          </a:bodyPr>
          <a:p>
            <a:pPr marL="241200" indent="-229320">
              <a:lnSpc>
                <a:spcPct val="100000"/>
              </a:lnSpc>
              <a:spcBef>
                <a:spcPts val="445"/>
              </a:spcBef>
              <a:buClr>
                <a:srgbClr val="006fc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5" strike="noStrike">
                <a:solidFill>
                  <a:srgbClr val="006fc0"/>
                </a:solidFill>
                <a:latin typeface="Calibri"/>
                <a:ea typeface="DejaVu Sans"/>
              </a:rPr>
              <a:t>Buffer</a:t>
            </a:r>
            <a:r>
              <a:rPr b="0" lang="en-US" sz="2400" spc="-35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6fc0"/>
                </a:solidFill>
                <a:latin typeface="Calibri"/>
                <a:ea typeface="DejaVu Sans"/>
              </a:rPr>
              <a:t>Overflow</a:t>
            </a:r>
            <a:endParaRPr b="0" lang="en-US" sz="2400" spc="-1" strike="noStrike">
              <a:latin typeface="Arial"/>
            </a:endParaRPr>
          </a:p>
          <a:p>
            <a:pPr lvl="1" marL="698400" indent="-229320">
              <a:lnSpc>
                <a:spcPct val="100000"/>
              </a:lnSpc>
              <a:spcBef>
                <a:spcPts val="289"/>
              </a:spcBef>
              <a:buClr>
                <a:srgbClr val="000000"/>
              </a:buClr>
              <a:buFont typeface="Arial MT"/>
              <a:buChar char="•"/>
              <a:tabLst>
                <a:tab algn="l" pos="698400"/>
                <a:tab algn="l" pos="69912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buffer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area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memory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application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reserves</a:t>
            </a:r>
            <a:r>
              <a:rPr b="0" lang="en-US" sz="2000" spc="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store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expected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data.</a:t>
            </a:r>
            <a:endParaRPr b="0" lang="en-US" sz="2000" spc="-1" strike="noStrike">
              <a:latin typeface="Arial"/>
            </a:endParaRPr>
          </a:p>
          <a:p>
            <a:pPr lvl="1" marL="698400" indent="-229320">
              <a:lnSpc>
                <a:spcPts val="2279"/>
              </a:lnSpc>
              <a:spcBef>
                <a:spcPts val="249"/>
              </a:spcBef>
              <a:buClr>
                <a:srgbClr val="000000"/>
              </a:buClr>
              <a:buFont typeface="Arial MT"/>
              <a:buChar char="•"/>
              <a:tabLst>
                <a:tab algn="l" pos="698400"/>
                <a:tab algn="l" pos="699120"/>
              </a:tabLst>
            </a:pPr>
            <a:r>
              <a:rPr b="0" lang="en-US" sz="2000" spc="-97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exploit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buffer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overflow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vulnerability,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the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attacker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passes</a:t>
            </a:r>
            <a:r>
              <a:rPr b="0" lang="en-US" sz="2000" spc="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data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deliberately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overfills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-41" strike="noStrike">
                <a:solidFill>
                  <a:srgbClr val="000000"/>
                </a:solidFill>
                <a:latin typeface="Calibri"/>
                <a:ea typeface="DejaVu Sans"/>
              </a:rPr>
              <a:t> buffer.</a:t>
            </a:r>
            <a:endParaRPr b="0" lang="en-US" sz="2000" spc="-1" strike="noStrike">
              <a:latin typeface="Arial"/>
            </a:endParaRPr>
          </a:p>
          <a:p>
            <a:pPr lvl="1" marL="698400" indent="-229320">
              <a:lnSpc>
                <a:spcPct val="100000"/>
              </a:lnSpc>
              <a:spcBef>
                <a:spcPts val="264"/>
              </a:spcBef>
              <a:buClr>
                <a:srgbClr val="000000"/>
              </a:buClr>
              <a:buFont typeface="Arial MT"/>
              <a:buChar char="•"/>
              <a:tabLst>
                <a:tab algn="l" pos="698400"/>
                <a:tab algn="l" pos="69912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One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most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common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vulnerabilities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stack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26" strike="noStrike">
                <a:solidFill>
                  <a:srgbClr val="000000"/>
                </a:solidFill>
                <a:latin typeface="Calibri"/>
                <a:ea typeface="DejaVu Sans"/>
              </a:rPr>
              <a:t>overflow.</a:t>
            </a:r>
            <a:endParaRPr b="0" lang="en-US" sz="2000" spc="-1" strike="noStrike">
              <a:latin typeface="Arial"/>
            </a:endParaRPr>
          </a:p>
          <a:p>
            <a:pPr lvl="1" marL="698400" indent="-229320">
              <a:lnSpc>
                <a:spcPct val="100000"/>
              </a:lnSpc>
              <a:spcBef>
                <a:spcPts val="264"/>
              </a:spcBef>
              <a:buClr>
                <a:srgbClr val="000000"/>
              </a:buClr>
              <a:buFont typeface="Arial MT"/>
              <a:buChar char="•"/>
              <a:tabLst>
                <a:tab algn="l" pos="698400"/>
                <a:tab algn="l" pos="699120"/>
              </a:tabLst>
            </a:pP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stack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area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of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memory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used by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program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subroutine.</a:t>
            </a:r>
            <a:endParaRPr b="0" lang="en-US" sz="2000" spc="-1" strike="noStrike">
              <a:latin typeface="Arial"/>
            </a:endParaRPr>
          </a:p>
          <a:p>
            <a:pPr lvl="1" marL="698400" indent="-229320">
              <a:lnSpc>
                <a:spcPct val="100000"/>
              </a:lnSpc>
              <a:spcBef>
                <a:spcPts val="249"/>
              </a:spcBef>
              <a:buClr>
                <a:srgbClr val="000000"/>
              </a:buClr>
              <a:buFont typeface="Arial MT"/>
              <a:buChar char="•"/>
              <a:tabLst>
                <a:tab algn="l" pos="698400"/>
                <a:tab algn="l" pos="69912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It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includes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return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address,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which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location of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the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program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called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subroutine.</a:t>
            </a:r>
            <a:endParaRPr b="0" lang="en-US" sz="2000" spc="-1" strike="noStrike">
              <a:latin typeface="Arial"/>
            </a:endParaRPr>
          </a:p>
          <a:p>
            <a:pPr lvl="1" marL="698400" indent="-229320">
              <a:lnSpc>
                <a:spcPts val="2279"/>
              </a:lnSpc>
              <a:spcBef>
                <a:spcPts val="264"/>
              </a:spcBef>
              <a:buClr>
                <a:srgbClr val="000000"/>
              </a:buClr>
              <a:buFont typeface="Arial MT"/>
              <a:buChar char="•"/>
              <a:tabLst>
                <a:tab algn="l" pos="698400"/>
                <a:tab algn="l" pos="69912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attacker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could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use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buffer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overflow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change</a:t>
            </a:r>
            <a:r>
              <a:rPr b="0" lang="en-US" sz="2000" spc="-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return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address,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allowing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the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attacker to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run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arbitrary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code</a:t>
            </a:r>
            <a:r>
              <a:rPr b="0" lang="en-US" sz="2000" spc="-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on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system.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32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3" name="PlaceHolder 2"/>
          <p:cNvSpPr>
            <a:spLocks noGrp="1"/>
          </p:cNvSpPr>
          <p:nvPr>
            <p:ph type="ftr" idx="28"/>
          </p:nvPr>
        </p:nvSpPr>
        <p:spPr>
          <a:xfrm>
            <a:off x="916920" y="6451560"/>
            <a:ext cx="1022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4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34" name="PlaceHolder 3"/>
          <p:cNvSpPr>
            <a:spLocks noGrp="1"/>
          </p:cNvSpPr>
          <p:nvPr>
            <p:ph type="dt" idx="29"/>
          </p:nvPr>
        </p:nvSpPr>
        <p:spPr>
          <a:xfrm>
            <a:off x="5492520" y="6451560"/>
            <a:ext cx="11224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41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35" name="PlaceHolder 4"/>
          <p:cNvSpPr>
            <a:spLocks noGrp="1"/>
          </p:cNvSpPr>
          <p:nvPr>
            <p:ph type="sldNum" idx="30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040E8E4C-4535-4A64-B5CA-E9A3F5F6BBE1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6584760" cy="115740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52" strike="noStrike">
                <a:solidFill>
                  <a:srgbClr val="c00000"/>
                </a:solidFill>
                <a:latin typeface="Calibri Light"/>
              </a:rPr>
              <a:t>OVERFLOW</a:t>
            </a:r>
            <a:r>
              <a:rPr b="0" lang="en-US" sz="3600" spc="-12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5" strike="noStrike">
                <a:solidFill>
                  <a:srgbClr val="c00000"/>
                </a:solidFill>
                <a:latin typeface="Calibri Light"/>
              </a:rPr>
              <a:t>VULNERABILITIES</a:t>
            </a:r>
            <a:r>
              <a:rPr b="0" lang="en-US" sz="3600" spc="-97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(cont.)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37" name="object 3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38" name="object 4" descr=""/>
          <p:cNvPicPr/>
          <p:nvPr/>
        </p:nvPicPr>
        <p:blipFill>
          <a:blip r:embed="rId1"/>
          <a:stretch/>
        </p:blipFill>
        <p:spPr>
          <a:xfrm>
            <a:off x="2214360" y="2270880"/>
            <a:ext cx="7318800" cy="3591360"/>
          </a:xfrm>
          <a:prstGeom prst="rect">
            <a:avLst/>
          </a:prstGeom>
          <a:ln w="0">
            <a:noFill/>
          </a:ln>
        </p:spPr>
      </p:pic>
      <p:sp>
        <p:nvSpPr>
          <p:cNvPr id="139" name="PlaceHolder 2"/>
          <p:cNvSpPr>
            <a:spLocks noGrp="1"/>
          </p:cNvSpPr>
          <p:nvPr>
            <p:ph type="ftr" idx="31"/>
          </p:nvPr>
        </p:nvSpPr>
        <p:spPr>
          <a:xfrm>
            <a:off x="916920" y="6451560"/>
            <a:ext cx="1022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4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40" name="PlaceHolder 3"/>
          <p:cNvSpPr>
            <a:spLocks noGrp="1"/>
          </p:cNvSpPr>
          <p:nvPr>
            <p:ph type="dt" idx="32"/>
          </p:nvPr>
        </p:nvSpPr>
        <p:spPr>
          <a:xfrm>
            <a:off x="5492520" y="6451560"/>
            <a:ext cx="11224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41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41" name="PlaceHolder 4"/>
          <p:cNvSpPr>
            <a:spLocks noGrp="1"/>
          </p:cNvSpPr>
          <p:nvPr>
            <p:ph type="sldNum" idx="33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FAE96207-B4AF-4509-B730-AF0246194A00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title"/>
          </p:nvPr>
        </p:nvSpPr>
        <p:spPr>
          <a:xfrm>
            <a:off x="572400" y="228600"/>
            <a:ext cx="11085840" cy="68544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41" strike="noStrike">
                <a:solidFill>
                  <a:srgbClr val="c00000"/>
                </a:solidFill>
                <a:latin typeface="Calibri Light"/>
              </a:rPr>
              <a:t>MEMORY</a:t>
            </a:r>
            <a:r>
              <a:rPr b="0" lang="en-US" sz="3600" spc="-97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5" strike="noStrike">
                <a:solidFill>
                  <a:srgbClr val="c00000"/>
                </a:solidFill>
                <a:latin typeface="Calibri Light"/>
              </a:rPr>
              <a:t>LEAKS</a:t>
            </a:r>
            <a:r>
              <a:rPr b="0" lang="en-US" sz="3600" spc="-92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21" strike="noStrike">
                <a:solidFill>
                  <a:srgbClr val="c00000"/>
                </a:solidFill>
                <a:latin typeface="Calibri Light"/>
              </a:rPr>
              <a:t>AND</a:t>
            </a:r>
            <a:r>
              <a:rPr b="0" lang="en-US" sz="3600" spc="-97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41" strike="noStrike">
                <a:solidFill>
                  <a:srgbClr val="c00000"/>
                </a:solidFill>
                <a:latin typeface="Calibri Light"/>
              </a:rPr>
              <a:t>RESOURCE</a:t>
            </a:r>
            <a:r>
              <a:rPr b="0" lang="en-US" sz="3600" spc="-97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41" strike="noStrike">
                <a:solidFill>
                  <a:srgbClr val="c00000"/>
                </a:solidFill>
                <a:latin typeface="Calibri Light"/>
              </a:rPr>
              <a:t>EXHAUSTION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43" name="object 3"/>
          <p:cNvSpPr/>
          <p:nvPr/>
        </p:nvSpPr>
        <p:spPr>
          <a:xfrm>
            <a:off x="556920" y="938520"/>
            <a:ext cx="10296360" cy="503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4000" bIns="0" anchor="t">
            <a:spAutoFit/>
          </a:bodyPr>
          <a:p>
            <a:pPr marL="241200" indent="-229320">
              <a:lnSpc>
                <a:spcPts val="2591"/>
              </a:lnSpc>
              <a:spcBef>
                <a:spcPts val="42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If a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process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operating 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correctly,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when it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no longer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requires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block of 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memory,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it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should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release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it.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741"/>
              </a:lnSpc>
              <a:spcBef>
                <a:spcPts val="686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If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program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code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does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not do this,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it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could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create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situation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where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system</a:t>
            </a:r>
            <a:endParaRPr b="0" lang="en-US" sz="2400" spc="-1" strike="noStrike">
              <a:latin typeface="Arial"/>
            </a:endParaRPr>
          </a:p>
          <a:p>
            <a:pPr marL="241200">
              <a:lnSpc>
                <a:spcPts val="2741"/>
              </a:lnSpc>
              <a:buNone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continually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leaks</a:t>
            </a:r>
            <a:r>
              <a:rPr b="0" lang="en-US" sz="2400" spc="-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memory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400" spc="-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faulty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process.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103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This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means less memory is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available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other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processes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 the 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system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could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crash.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735"/>
              </a:lnSpc>
              <a:spcBef>
                <a:spcPts val="67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Memory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leaks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are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particularly</a:t>
            </a:r>
            <a:r>
              <a:rPr b="0" lang="en-US" sz="2400" spc="-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serious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in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service/background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applications,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as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they</a:t>
            </a:r>
            <a:endParaRPr b="0" lang="en-US" sz="2400" spc="-1" strike="noStrike">
              <a:latin typeface="Arial"/>
            </a:endParaRPr>
          </a:p>
          <a:p>
            <a:pPr marL="241200">
              <a:lnSpc>
                <a:spcPts val="2735"/>
              </a:lnSpc>
              <a:buNone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will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continue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consume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memory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over</a:t>
            </a:r>
            <a:r>
              <a:rPr b="0" lang="en-US" sz="24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extended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period.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ct val="100000"/>
              </a:lnSpc>
              <a:spcBef>
                <a:spcPts val="720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Memory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leaks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in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OS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kernel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are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also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extremely</a:t>
            </a:r>
            <a:r>
              <a:rPr b="0" lang="en-US" sz="2400" spc="-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serious.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ct val="100000"/>
              </a:lnSpc>
              <a:spcBef>
                <a:spcPts val="706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memory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leak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may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itself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be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sign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of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malicious</a:t>
            </a:r>
            <a:r>
              <a:rPr b="0" lang="en-US" sz="2400" spc="-4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corrupted process.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44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5" name="PlaceHolder 2"/>
          <p:cNvSpPr>
            <a:spLocks noGrp="1"/>
          </p:cNvSpPr>
          <p:nvPr>
            <p:ph type="ftr" idx="34"/>
          </p:nvPr>
        </p:nvSpPr>
        <p:spPr>
          <a:xfrm>
            <a:off x="916920" y="6451560"/>
            <a:ext cx="1022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4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46" name="PlaceHolder 3"/>
          <p:cNvSpPr>
            <a:spLocks noGrp="1"/>
          </p:cNvSpPr>
          <p:nvPr>
            <p:ph type="dt" idx="35"/>
          </p:nvPr>
        </p:nvSpPr>
        <p:spPr>
          <a:xfrm>
            <a:off x="5492520" y="6451560"/>
            <a:ext cx="11224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41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47" name="PlaceHolder 4"/>
          <p:cNvSpPr>
            <a:spLocks noGrp="1"/>
          </p:cNvSpPr>
          <p:nvPr>
            <p:ph type="sldNum" idx="36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A3C15763-DF1F-4179-8D35-28CCBAAEBAA9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type="title"/>
          </p:nvPr>
        </p:nvSpPr>
        <p:spPr>
          <a:xfrm>
            <a:off x="688320" y="228600"/>
            <a:ext cx="4569120" cy="68652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21" strike="noStrike">
                <a:solidFill>
                  <a:srgbClr val="c00000"/>
                </a:solidFill>
                <a:latin typeface="Calibri Light"/>
              </a:rPr>
              <a:t>DLL</a:t>
            </a:r>
            <a:r>
              <a:rPr b="0" lang="en-US" sz="3600" spc="-12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INJECTION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49" name="object 3"/>
          <p:cNvSpPr/>
          <p:nvPr/>
        </p:nvSpPr>
        <p:spPr>
          <a:xfrm>
            <a:off x="700920" y="1161720"/>
            <a:ext cx="10350360" cy="468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85680" bIns="0" anchor="t">
            <a:spAutoFit/>
          </a:bodyPr>
          <a:p>
            <a:pPr marL="241200" indent="-229320">
              <a:lnSpc>
                <a:spcPct val="80000"/>
              </a:lnSpc>
              <a:spcBef>
                <a:spcPts val="67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400" spc="-7" strike="noStrike">
                <a:solidFill>
                  <a:srgbClr val="006fc0"/>
                </a:solidFill>
                <a:latin typeface="Calibri"/>
                <a:ea typeface="DejaVu Sans"/>
              </a:rPr>
              <a:t>dynamic </a:t>
            </a:r>
            <a:r>
              <a:rPr b="0" lang="en-US" sz="2400" spc="-1" strike="noStrike">
                <a:solidFill>
                  <a:srgbClr val="006fc0"/>
                </a:solidFill>
                <a:latin typeface="Calibri"/>
                <a:ea typeface="DejaVu Sans"/>
              </a:rPr>
              <a:t>link </a:t>
            </a:r>
            <a:r>
              <a:rPr b="0" lang="en-US" sz="2400" spc="-7" strike="noStrike">
                <a:solidFill>
                  <a:srgbClr val="006fc0"/>
                </a:solidFill>
                <a:latin typeface="Calibri"/>
                <a:ea typeface="DejaVu Sans"/>
              </a:rPr>
              <a:t>library (DLL)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 a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binary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package that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implements some sort of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standard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functionality,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such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as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establishing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network connection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performing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cryptography.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299"/>
              </a:lnSpc>
              <a:spcBef>
                <a:spcPts val="981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main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process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of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software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application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likely to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load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several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DLLs during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normal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course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of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operations.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299"/>
              </a:lnSpc>
              <a:spcBef>
                <a:spcPts val="1018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DLL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injection is a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vulnerability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in the 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way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operating 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system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allows one process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 attach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32" strike="noStrike">
                <a:solidFill>
                  <a:srgbClr val="000000"/>
                </a:solidFill>
                <a:latin typeface="Calibri"/>
                <a:ea typeface="DejaVu Sans"/>
              </a:rPr>
              <a:t>another.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299"/>
              </a:lnSpc>
              <a:spcBef>
                <a:spcPts val="1006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This functionality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can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be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abused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by malware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force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legitimate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process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load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 malicious link 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library,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Malware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uses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this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technique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 move from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one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host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process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another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avoid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detection.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299"/>
              </a:lnSpc>
              <a:spcBef>
                <a:spcPts val="1009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process that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has been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compromised by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DLL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injection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might open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unexpected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network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connections,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interact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with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files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and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registry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suspiciously.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50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1" name="PlaceHolder 2"/>
          <p:cNvSpPr>
            <a:spLocks noGrp="1"/>
          </p:cNvSpPr>
          <p:nvPr>
            <p:ph type="ftr" idx="37"/>
          </p:nvPr>
        </p:nvSpPr>
        <p:spPr>
          <a:xfrm>
            <a:off x="916920" y="6451560"/>
            <a:ext cx="1022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4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52" name="PlaceHolder 3"/>
          <p:cNvSpPr>
            <a:spLocks noGrp="1"/>
          </p:cNvSpPr>
          <p:nvPr>
            <p:ph type="dt" idx="38"/>
          </p:nvPr>
        </p:nvSpPr>
        <p:spPr>
          <a:xfrm>
            <a:off x="5492520" y="6451560"/>
            <a:ext cx="11224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41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53" name="PlaceHolder 4"/>
          <p:cNvSpPr>
            <a:spLocks noGrp="1"/>
          </p:cNvSpPr>
          <p:nvPr>
            <p:ph type="sldNum" idx="39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A72898E2-61A5-4609-81D1-DEBD3913A8BD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PlaceHolder 1"/>
          <p:cNvSpPr>
            <a:spLocks noGrp="1"/>
          </p:cNvSpPr>
          <p:nvPr>
            <p:ph type="title"/>
          </p:nvPr>
        </p:nvSpPr>
        <p:spPr>
          <a:xfrm>
            <a:off x="916920" y="457200"/>
            <a:ext cx="10055880" cy="92880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21" strike="noStrike">
                <a:solidFill>
                  <a:srgbClr val="c00000"/>
                </a:solidFill>
                <a:latin typeface="Calibri Light"/>
              </a:rPr>
              <a:t>U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N</a:t>
            </a:r>
            <a:r>
              <a:rPr b="0" lang="en-US" sz="3600" spc="-15" strike="noStrike">
                <a:solidFill>
                  <a:srgbClr val="c00000"/>
                </a:solidFill>
                <a:latin typeface="Calibri Light"/>
              </a:rPr>
              <a:t>I</a:t>
            </a:r>
            <a:r>
              <a:rPr b="0" lang="en-US" sz="3600" spc="-75" strike="noStrike">
                <a:solidFill>
                  <a:srgbClr val="c00000"/>
                </a:solidFill>
                <a:latin typeface="Calibri Light"/>
              </a:rPr>
              <a:t>F</a:t>
            </a:r>
            <a:r>
              <a:rPr b="0" lang="en-US" sz="3600" spc="-41" strike="noStrike">
                <a:solidFill>
                  <a:srgbClr val="c00000"/>
                </a:solidFill>
                <a:latin typeface="Calibri Light"/>
              </a:rPr>
              <a:t>O</a:t>
            </a:r>
            <a:r>
              <a:rPr b="0" lang="en-US" sz="3600" spc="-46" strike="noStrike">
                <a:solidFill>
                  <a:srgbClr val="c00000"/>
                </a:solidFill>
                <a:latin typeface="Calibri Light"/>
              </a:rPr>
              <a:t>R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M</a:t>
            </a:r>
            <a:r>
              <a:rPr b="0" lang="en-US" sz="3600" spc="-10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21" strike="noStrike">
                <a:solidFill>
                  <a:srgbClr val="c00000"/>
                </a:solidFill>
                <a:latin typeface="Calibri Light"/>
              </a:rPr>
              <a:t>R</a:t>
            </a:r>
            <a:r>
              <a:rPr b="0" lang="en-US" sz="3600" spc="-72" strike="noStrike">
                <a:solidFill>
                  <a:srgbClr val="c00000"/>
                </a:solidFill>
                <a:latin typeface="Calibri Light"/>
              </a:rPr>
              <a:t>E</a:t>
            </a: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S</a:t>
            </a:r>
            <a:r>
              <a:rPr b="0" lang="en-US" sz="3600" spc="-41" strike="noStrike">
                <a:solidFill>
                  <a:srgbClr val="c00000"/>
                </a:solidFill>
                <a:latin typeface="Calibri Light"/>
              </a:rPr>
              <a:t>O</a:t>
            </a:r>
            <a:r>
              <a:rPr b="0" lang="en-US" sz="3600" spc="-35" strike="noStrike">
                <a:solidFill>
                  <a:srgbClr val="c00000"/>
                </a:solidFill>
                <a:latin typeface="Calibri Light"/>
              </a:rPr>
              <a:t>U</a:t>
            </a:r>
            <a:r>
              <a:rPr b="0" lang="en-US" sz="3600" spc="-80" strike="noStrike">
                <a:solidFill>
                  <a:srgbClr val="c00000"/>
                </a:solidFill>
                <a:latin typeface="Calibri Light"/>
              </a:rPr>
              <a:t>R</a:t>
            </a:r>
            <a:r>
              <a:rPr b="0" lang="en-US" sz="3600" spc="-46" strike="noStrike">
                <a:solidFill>
                  <a:srgbClr val="c00000"/>
                </a:solidFill>
                <a:latin typeface="Calibri Light"/>
              </a:rPr>
              <a:t>C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E</a:t>
            </a:r>
            <a:r>
              <a:rPr b="0" lang="en-US" sz="3600" spc="-8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97" strike="noStrike">
                <a:solidFill>
                  <a:srgbClr val="c00000"/>
                </a:solidFill>
                <a:latin typeface="Calibri Light"/>
              </a:rPr>
              <a:t>L</a:t>
            </a:r>
            <a:r>
              <a:rPr b="0" lang="en-US" sz="3600" spc="-41" strike="noStrike">
                <a:solidFill>
                  <a:srgbClr val="c00000"/>
                </a:solidFill>
                <a:latin typeface="Calibri Light"/>
              </a:rPr>
              <a:t>O</a:t>
            </a:r>
            <a:r>
              <a:rPr b="0" lang="en-US" sz="3600" spc="-46" strike="noStrike">
                <a:solidFill>
                  <a:srgbClr val="c00000"/>
                </a:solidFill>
                <a:latin typeface="Calibri Light"/>
              </a:rPr>
              <a:t>C</a:t>
            </a:r>
            <a:r>
              <a:rPr b="0" lang="en-US" sz="3600" spc="-330" strike="noStrike">
                <a:solidFill>
                  <a:srgbClr val="c00000"/>
                </a:solidFill>
                <a:latin typeface="Calibri Light"/>
              </a:rPr>
              <a:t>A</a:t>
            </a:r>
            <a:r>
              <a:rPr b="0" lang="en-US" sz="3600" spc="-137" strike="noStrike">
                <a:solidFill>
                  <a:srgbClr val="c00000"/>
                </a:solidFill>
                <a:latin typeface="Calibri Light"/>
              </a:rPr>
              <a:t>T</a:t>
            </a:r>
            <a:r>
              <a:rPr b="0" lang="en-US" sz="3600" spc="-41" strike="noStrike">
                <a:solidFill>
                  <a:srgbClr val="c00000"/>
                </a:solidFill>
                <a:latin typeface="Calibri Light"/>
              </a:rPr>
              <a:t>O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R</a:t>
            </a:r>
            <a:r>
              <a:rPr b="0" lang="en-US" sz="3600" spc="-92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A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N</a:t>
            </a:r>
            <a:r>
              <a:rPr b="0" lang="en-US" sz="3600" spc="-46" strike="noStrike">
                <a:solidFill>
                  <a:srgbClr val="c00000"/>
                </a:solidFill>
                <a:latin typeface="Calibri Light"/>
              </a:rPr>
              <a:t>A</a:t>
            </a:r>
            <a:r>
              <a:rPr b="0" lang="en-US" sz="3600" spc="-310" strike="noStrike">
                <a:solidFill>
                  <a:srgbClr val="c00000"/>
                </a:solidFill>
                <a:latin typeface="Calibri Light"/>
              </a:rPr>
              <a:t>L</a:t>
            </a:r>
            <a:r>
              <a:rPr b="0" lang="en-US" sz="3600" spc="-46" strike="noStrike">
                <a:solidFill>
                  <a:srgbClr val="c00000"/>
                </a:solidFill>
                <a:latin typeface="Calibri Light"/>
              </a:rPr>
              <a:t>Y</a:t>
            </a: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S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I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S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55" name="object 3"/>
          <p:cNvSpPr/>
          <p:nvPr/>
        </p:nvSpPr>
        <p:spPr>
          <a:xfrm>
            <a:off x="916920" y="1802520"/>
            <a:ext cx="10351080" cy="182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4000" bIns="0" anchor="t">
            <a:spAutoFit/>
          </a:bodyPr>
          <a:p>
            <a:pPr marL="241200" indent="-229320">
              <a:lnSpc>
                <a:spcPts val="2591"/>
              </a:lnSpc>
              <a:spcBef>
                <a:spcPts val="42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As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well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as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pointing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host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or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service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location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on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Internet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(by domain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name or IP address),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1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uniform resource locator </a:t>
            </a:r>
            <a:r>
              <a:rPr b="1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(URL)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can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encode some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action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or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data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submit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server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host.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ct val="100000"/>
              </a:lnSpc>
              <a:spcBef>
                <a:spcPts val="689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This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common</a:t>
            </a:r>
            <a:r>
              <a:rPr b="0" lang="en-US" sz="2400" spc="-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vector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for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malicious</a:t>
            </a:r>
            <a:r>
              <a:rPr b="0" lang="en-US" sz="2400" spc="-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activity.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56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57" name="object 5" descr=""/>
          <p:cNvPicPr/>
          <p:nvPr/>
        </p:nvPicPr>
        <p:blipFill>
          <a:blip r:embed="rId1"/>
          <a:stretch/>
        </p:blipFill>
        <p:spPr>
          <a:xfrm>
            <a:off x="3238560" y="3609000"/>
            <a:ext cx="5677560" cy="2530440"/>
          </a:xfrm>
          <a:prstGeom prst="rect">
            <a:avLst/>
          </a:prstGeom>
          <a:ln w="0">
            <a:noFill/>
          </a:ln>
        </p:spPr>
      </p:pic>
      <p:sp>
        <p:nvSpPr>
          <p:cNvPr id="158" name="PlaceHolder 2"/>
          <p:cNvSpPr>
            <a:spLocks noGrp="1"/>
          </p:cNvSpPr>
          <p:nvPr>
            <p:ph type="ftr" idx="40"/>
          </p:nvPr>
        </p:nvSpPr>
        <p:spPr>
          <a:xfrm>
            <a:off x="916920" y="6451560"/>
            <a:ext cx="1022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4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59" name="PlaceHolder 3"/>
          <p:cNvSpPr>
            <a:spLocks noGrp="1"/>
          </p:cNvSpPr>
          <p:nvPr>
            <p:ph type="dt" idx="41"/>
          </p:nvPr>
        </p:nvSpPr>
        <p:spPr>
          <a:xfrm>
            <a:off x="5492520" y="6451560"/>
            <a:ext cx="11224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41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60" name="PlaceHolder 4"/>
          <p:cNvSpPr>
            <a:spLocks noGrp="1"/>
          </p:cNvSpPr>
          <p:nvPr>
            <p:ph type="sldNum" idx="42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1DE8FBA4-1DA1-460A-B557-88FB5BF2BBF8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10970280" cy="6868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35" strike="noStrike">
                <a:solidFill>
                  <a:srgbClr val="c00000"/>
                </a:solidFill>
                <a:latin typeface="Calibri Light"/>
              </a:rPr>
              <a:t>UNIFORM</a:t>
            </a:r>
            <a:r>
              <a:rPr b="0" lang="en-US" sz="3600" spc="-111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41" strike="noStrike">
                <a:solidFill>
                  <a:srgbClr val="c00000"/>
                </a:solidFill>
                <a:latin typeface="Calibri Light"/>
              </a:rPr>
              <a:t>RESOURCE</a:t>
            </a:r>
            <a:r>
              <a:rPr b="0" lang="en-US" sz="3600" spc="-92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100" strike="noStrike">
                <a:solidFill>
                  <a:srgbClr val="c00000"/>
                </a:solidFill>
                <a:latin typeface="Calibri Light"/>
              </a:rPr>
              <a:t>LOCATOR </a:t>
            </a:r>
            <a:r>
              <a:rPr b="0" lang="en-US" sz="3600" spc="-66" strike="noStrike">
                <a:solidFill>
                  <a:srgbClr val="c00000"/>
                </a:solidFill>
                <a:latin typeface="Calibri Light"/>
              </a:rPr>
              <a:t>ANALYSIS</a:t>
            </a:r>
            <a:r>
              <a:rPr b="0" lang="en-US" sz="3600" spc="-92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(cont.)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62" name="object 3"/>
          <p:cNvSpPr/>
          <p:nvPr/>
        </p:nvSpPr>
        <p:spPr>
          <a:xfrm>
            <a:off x="736920" y="1578960"/>
            <a:ext cx="10464480" cy="434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6520" bIns="0" anchor="t">
            <a:spAutoFit/>
          </a:bodyPr>
          <a:p>
            <a:pPr marL="241200" indent="-229320">
              <a:lnSpc>
                <a:spcPct val="100000"/>
              </a:lnSpc>
              <a:spcBef>
                <a:spcPts val="445"/>
              </a:spcBef>
              <a:buClr>
                <a:srgbClr val="006fc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1" strike="noStrike">
                <a:solidFill>
                  <a:srgbClr val="006fc0"/>
                </a:solidFill>
                <a:latin typeface="Calibri"/>
                <a:ea typeface="DejaVu Sans"/>
              </a:rPr>
              <a:t>HTTP</a:t>
            </a:r>
            <a:r>
              <a:rPr b="0" lang="en-US" sz="2400" spc="-41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6fc0"/>
                </a:solidFill>
                <a:latin typeface="Calibri"/>
                <a:ea typeface="DejaVu Sans"/>
              </a:rPr>
              <a:t>Methods</a:t>
            </a:r>
            <a:endParaRPr b="0" lang="en-US" sz="2400" spc="-1" strike="noStrike">
              <a:latin typeface="Arial"/>
            </a:endParaRPr>
          </a:p>
          <a:p>
            <a:pPr lvl="1" marL="698400" indent="-229320">
              <a:lnSpc>
                <a:spcPts val="2279"/>
              </a:lnSpc>
              <a:spcBef>
                <a:spcPts val="289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 HTTP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session</a:t>
            </a:r>
            <a:r>
              <a:rPr b="0" lang="en-US" sz="2000" spc="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starts</a:t>
            </a:r>
            <a:r>
              <a:rPr b="0" lang="en-US" sz="2000" spc="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with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client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(a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user-agent,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such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as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web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browser)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making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a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request to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HTTP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35" strike="noStrike">
                <a:solidFill>
                  <a:srgbClr val="000000"/>
                </a:solidFill>
                <a:latin typeface="Calibri"/>
                <a:ea typeface="DejaVu Sans"/>
              </a:rPr>
              <a:t>server.</a:t>
            </a:r>
            <a:endParaRPr b="0" lang="en-US" sz="2000" spc="-1" strike="noStrike">
              <a:latin typeface="Arial"/>
            </a:endParaRPr>
          </a:p>
          <a:p>
            <a:pPr lvl="1" marL="698400" indent="-228600">
              <a:lnSpc>
                <a:spcPts val="2160"/>
              </a:lnSpc>
              <a:spcBef>
                <a:spcPts val="524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connection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establishes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TCP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connection,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This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TCP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connection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can be used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for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multiple </a:t>
            </a:r>
            <a:r>
              <a:rPr b="0" lang="en-US" sz="2000" spc="-440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requests,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client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can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start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new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TCP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connections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for different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requests.</a:t>
            </a:r>
            <a:endParaRPr b="0" lang="en-US" sz="2000" spc="-1" strike="noStrike">
              <a:latin typeface="Arial"/>
            </a:endParaRPr>
          </a:p>
          <a:p>
            <a:pPr lvl="1" marL="698400" indent="-228600">
              <a:lnSpc>
                <a:spcPts val="2160"/>
              </a:lnSpc>
              <a:spcBef>
                <a:spcPts val="505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request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typically comprises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DejaVu Sans"/>
              </a:rPr>
              <a:t>method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,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DejaVu Sans"/>
              </a:rPr>
              <a:t>resource</a:t>
            </a:r>
            <a:r>
              <a:rPr b="0" lang="en-US" sz="2000" spc="7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DejaVu Sans"/>
              </a:rPr>
              <a:t> </a:t>
            </a:r>
            <a:r>
              <a:rPr b="0" lang="en-US" sz="2000" spc="-7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DejaVu Sans"/>
              </a:rPr>
              <a:t>(such</a:t>
            </a:r>
            <a:r>
              <a:rPr b="0" lang="en-US" sz="2000" spc="1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DejaVu Sans"/>
              </a:rPr>
              <a:t> </a:t>
            </a:r>
            <a:r>
              <a:rPr b="0" lang="en-US" sz="2000" spc="-1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DejaVu Sans"/>
              </a:rPr>
              <a:t>as</a:t>
            </a:r>
            <a:r>
              <a:rPr b="0" lang="en-US" sz="2000" spc="7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DejaVu Sans"/>
              </a:rPr>
              <a:t> </a:t>
            </a:r>
            <a:r>
              <a:rPr b="0" lang="en-US" sz="2000" spc="-1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DejaVu Sans"/>
              </a:rPr>
              <a:t>a</a:t>
            </a:r>
            <a:r>
              <a:rPr b="0" lang="en-US" sz="2000" spc="7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DejaVu Sans"/>
              </a:rPr>
              <a:t> </a:t>
            </a:r>
            <a:r>
              <a:rPr b="0" lang="en-US" sz="2000" spc="-1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DejaVu Sans"/>
              </a:rPr>
              <a:t>URL</a:t>
            </a:r>
            <a:r>
              <a:rPr b="0" lang="en-US" sz="2000" spc="1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DejaVu Sans"/>
              </a:rPr>
              <a:t> </a:t>
            </a:r>
            <a:r>
              <a:rPr b="0" lang="en-US" sz="2000" spc="-7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DejaVu Sans"/>
              </a:rPr>
              <a:t>path)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,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DejaVu Sans"/>
              </a:rPr>
              <a:t>version</a:t>
            </a:r>
            <a:r>
              <a:rPr b="0" lang="en-US" sz="2000" spc="21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DejaVu Sans"/>
              </a:rPr>
              <a:t> </a:t>
            </a:r>
            <a:r>
              <a:rPr b="0" lang="en-US" sz="2000" spc="-26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DejaVu Sans"/>
              </a:rPr>
              <a:t>number</a:t>
            </a:r>
            <a:r>
              <a:rPr b="0" lang="en-US" sz="2000" spc="-26" strike="noStrike">
                <a:solidFill>
                  <a:srgbClr val="000000"/>
                </a:solidFill>
                <a:latin typeface="Calibri"/>
                <a:ea typeface="DejaVu Sans"/>
              </a:rPr>
              <a:t>, </a:t>
            </a:r>
            <a:r>
              <a:rPr b="0" lang="en-US" sz="2000" spc="-4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DejaVu Sans"/>
              </a:rPr>
              <a:t>headers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,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and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26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DejaVu Sans"/>
              </a:rPr>
              <a:t>body</a:t>
            </a:r>
            <a:r>
              <a:rPr b="0" lang="en-US" sz="2000" spc="-26" strike="noStrike">
                <a:solidFill>
                  <a:srgbClr val="000000"/>
                </a:solidFill>
                <a:latin typeface="Calibri"/>
                <a:ea typeface="DejaVu Sans"/>
              </a:rPr>
              <a:t>.</a:t>
            </a:r>
            <a:endParaRPr b="0" lang="en-US" sz="2000" spc="-1" strike="noStrike">
              <a:latin typeface="Arial"/>
            </a:endParaRPr>
          </a:p>
          <a:p>
            <a:pPr lvl="1" marL="698400" indent="-229320">
              <a:lnSpc>
                <a:spcPct val="100000"/>
              </a:lnSpc>
              <a:spcBef>
                <a:spcPts val="235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principal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method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55" strike="noStrike">
                <a:solidFill>
                  <a:srgbClr val="ac172b"/>
                </a:solidFill>
                <a:latin typeface="Calibri"/>
                <a:ea typeface="DejaVu Sans"/>
              </a:rPr>
              <a:t>GET</a:t>
            </a:r>
            <a:r>
              <a:rPr b="0" lang="en-US" sz="2000" spc="-55" strike="noStrike">
                <a:solidFill>
                  <a:srgbClr val="000000"/>
                </a:solidFill>
                <a:latin typeface="Calibri"/>
                <a:ea typeface="DejaVu Sans"/>
              </a:rPr>
              <a:t>,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used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to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retrieve</a:t>
            </a:r>
            <a:r>
              <a:rPr b="0" lang="en-US" sz="2000" spc="4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resource.</a:t>
            </a:r>
            <a:endParaRPr b="0" lang="en-US" sz="2000" spc="-1" strike="noStrike">
              <a:latin typeface="Arial"/>
            </a:endParaRPr>
          </a:p>
          <a:p>
            <a:pPr lvl="1" marL="698400" indent="-229320">
              <a:lnSpc>
                <a:spcPct val="100000"/>
              </a:lnSpc>
              <a:spcBef>
                <a:spcPts val="249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Other</a:t>
            </a:r>
            <a:r>
              <a:rPr b="0" lang="en-US" sz="2000" spc="-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methods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include:</a:t>
            </a:r>
            <a:endParaRPr b="0" lang="en-US" sz="2000" spc="-1" strike="noStrike">
              <a:latin typeface="Arial"/>
            </a:endParaRPr>
          </a:p>
          <a:p>
            <a:pPr lvl="2" marL="1155600" indent="-229320">
              <a:lnSpc>
                <a:spcPct val="100000"/>
              </a:lnSpc>
              <a:spcBef>
                <a:spcPts val="340"/>
              </a:spcBef>
              <a:buClr>
                <a:srgbClr val="ac172b"/>
              </a:buClr>
              <a:buFont typeface="Wingdings" charset="2"/>
              <a:buChar char=""/>
              <a:tabLst>
                <a:tab algn="l" pos="1155600"/>
                <a:tab algn="l" pos="1156320"/>
              </a:tabLst>
            </a:pPr>
            <a:r>
              <a:rPr b="0" lang="en-US" sz="1600" spc="-12" strike="noStrike">
                <a:solidFill>
                  <a:srgbClr val="ac172b"/>
                </a:solidFill>
                <a:latin typeface="Calibri"/>
                <a:ea typeface="DejaVu Sans"/>
              </a:rPr>
              <a:t>POST</a:t>
            </a:r>
            <a:r>
              <a:rPr b="0" lang="en-US" sz="1600" spc="-12" strike="noStrike">
                <a:solidFill>
                  <a:srgbClr val="000000"/>
                </a:solidFill>
                <a:latin typeface="Calibri"/>
                <a:ea typeface="DejaVu Sans"/>
              </a:rPr>
              <a:t>—send</a:t>
            </a:r>
            <a:r>
              <a:rPr b="0" lang="en-US" sz="16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600" spc="-15" strike="noStrike">
                <a:solidFill>
                  <a:srgbClr val="000000"/>
                </a:solidFill>
                <a:latin typeface="Calibri"/>
                <a:ea typeface="DejaVu Sans"/>
              </a:rPr>
              <a:t>data</a:t>
            </a:r>
            <a:r>
              <a:rPr b="0" lang="en-US" sz="1600" spc="-12" strike="noStrike">
                <a:solidFill>
                  <a:srgbClr val="000000"/>
                </a:solidFill>
                <a:latin typeface="Calibri"/>
                <a:ea typeface="DejaVu Sans"/>
              </a:rPr>
              <a:t> to</a:t>
            </a:r>
            <a:r>
              <a:rPr b="0" lang="en-US" sz="1600" spc="-7" strike="noStrike">
                <a:solidFill>
                  <a:srgbClr val="000000"/>
                </a:solidFill>
                <a:latin typeface="Calibri"/>
                <a:ea typeface="DejaVu Sans"/>
              </a:rPr>
              <a:t> the</a:t>
            </a:r>
            <a:r>
              <a:rPr b="0" lang="en-US" sz="16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600" spc="-12" strike="noStrike">
                <a:solidFill>
                  <a:srgbClr val="000000"/>
                </a:solidFill>
                <a:latin typeface="Calibri"/>
                <a:ea typeface="DejaVu Sans"/>
              </a:rPr>
              <a:t>server</a:t>
            </a:r>
            <a:r>
              <a:rPr b="0" lang="en-US" sz="1600" spc="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600" spc="-15" strike="noStrike">
                <a:solidFill>
                  <a:srgbClr val="000000"/>
                </a:solidFill>
                <a:latin typeface="Calibri"/>
                <a:ea typeface="DejaVu Sans"/>
              </a:rPr>
              <a:t>for</a:t>
            </a:r>
            <a:r>
              <a:rPr b="0" lang="en-US" sz="16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600" spc="-12" strike="noStrike">
                <a:solidFill>
                  <a:srgbClr val="000000"/>
                </a:solidFill>
                <a:latin typeface="Calibri"/>
                <a:ea typeface="DejaVu Sans"/>
              </a:rPr>
              <a:t>processing</a:t>
            </a:r>
            <a:r>
              <a:rPr b="0" lang="en-US" sz="16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600" spc="-12" strike="noStrike">
                <a:solidFill>
                  <a:srgbClr val="000000"/>
                </a:solidFill>
                <a:latin typeface="Calibri"/>
                <a:ea typeface="DejaVu Sans"/>
              </a:rPr>
              <a:t>by</a:t>
            </a:r>
            <a:r>
              <a:rPr b="0" lang="en-US" sz="16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600" spc="-7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16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600" spc="-12" strike="noStrike">
                <a:solidFill>
                  <a:srgbClr val="000000"/>
                </a:solidFill>
                <a:latin typeface="Calibri"/>
                <a:ea typeface="DejaVu Sans"/>
              </a:rPr>
              <a:t>requested</a:t>
            </a:r>
            <a:r>
              <a:rPr b="0" lang="en-US" sz="16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600" spc="-12" strike="noStrike">
                <a:solidFill>
                  <a:srgbClr val="000000"/>
                </a:solidFill>
                <a:latin typeface="Calibri"/>
                <a:ea typeface="DejaVu Sans"/>
              </a:rPr>
              <a:t>resource.</a:t>
            </a:r>
            <a:endParaRPr b="0" lang="en-US" sz="1600" spc="-1" strike="noStrike">
              <a:latin typeface="Arial"/>
            </a:endParaRPr>
          </a:p>
          <a:p>
            <a:pPr lvl="2" marL="1155600" indent="-229320">
              <a:lnSpc>
                <a:spcPct val="100000"/>
              </a:lnSpc>
              <a:spcBef>
                <a:spcPts val="315"/>
              </a:spcBef>
              <a:buClr>
                <a:srgbClr val="ac172b"/>
              </a:buClr>
              <a:buFont typeface="Wingdings" charset="2"/>
              <a:buChar char=""/>
              <a:tabLst>
                <a:tab algn="l" pos="1155600"/>
                <a:tab algn="l" pos="1156320"/>
              </a:tabLst>
            </a:pPr>
            <a:r>
              <a:rPr b="0" lang="en-US" sz="1600" spc="-12" strike="noStrike">
                <a:solidFill>
                  <a:srgbClr val="ac172b"/>
                </a:solidFill>
                <a:latin typeface="Calibri"/>
                <a:ea typeface="DejaVu Sans"/>
              </a:rPr>
              <a:t>PUT</a:t>
            </a:r>
            <a:r>
              <a:rPr b="0" lang="en-US" sz="1600" spc="-12" strike="noStrike">
                <a:solidFill>
                  <a:srgbClr val="000000"/>
                </a:solidFill>
                <a:latin typeface="Calibri"/>
                <a:ea typeface="DejaVu Sans"/>
              </a:rPr>
              <a:t>—create</a:t>
            </a:r>
            <a:r>
              <a:rPr b="0" lang="en-US" sz="16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600" spc="-7" strike="noStrike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r>
              <a:rPr b="0" lang="en-US" sz="16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600" spc="-12" strike="noStrike">
                <a:solidFill>
                  <a:srgbClr val="000000"/>
                </a:solidFill>
                <a:latin typeface="Calibri"/>
                <a:ea typeface="DejaVu Sans"/>
              </a:rPr>
              <a:t>replace</a:t>
            </a:r>
            <a:r>
              <a:rPr b="0" lang="en-US" sz="16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600" spc="-7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16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600" spc="-12" strike="noStrike">
                <a:solidFill>
                  <a:srgbClr val="000000"/>
                </a:solidFill>
                <a:latin typeface="Calibri"/>
                <a:ea typeface="DejaVu Sans"/>
              </a:rPr>
              <a:t>resource.</a:t>
            </a:r>
            <a:endParaRPr b="0" lang="en-US" sz="1600" spc="-1" strike="noStrike">
              <a:latin typeface="Arial"/>
            </a:endParaRPr>
          </a:p>
          <a:p>
            <a:pPr lvl="2" marL="1155600" indent="-229320">
              <a:lnSpc>
                <a:spcPct val="100000"/>
              </a:lnSpc>
              <a:spcBef>
                <a:spcPts val="300"/>
              </a:spcBef>
              <a:buClr>
                <a:srgbClr val="ac172b"/>
              </a:buClr>
              <a:buFont typeface="Wingdings" charset="2"/>
              <a:buChar char=""/>
              <a:tabLst>
                <a:tab algn="l" pos="1155600"/>
                <a:tab algn="l" pos="1156320"/>
              </a:tabLst>
            </a:pPr>
            <a:r>
              <a:rPr b="0" lang="en-US" sz="1600" spc="-12" strike="noStrike">
                <a:solidFill>
                  <a:srgbClr val="ac172b"/>
                </a:solidFill>
                <a:latin typeface="Calibri"/>
                <a:ea typeface="DejaVu Sans"/>
              </a:rPr>
              <a:t>DELETE</a:t>
            </a:r>
            <a:r>
              <a:rPr b="0" lang="en-US" sz="1600" spc="15" strike="noStrike">
                <a:solidFill>
                  <a:srgbClr val="ac172b"/>
                </a:solidFill>
                <a:latin typeface="Calibri"/>
                <a:ea typeface="DejaVu Sans"/>
              </a:rPr>
              <a:t> </a:t>
            </a:r>
            <a:r>
              <a:rPr b="0" lang="en-US" sz="1600" spc="-12" strike="noStrike">
                <a:solidFill>
                  <a:srgbClr val="000000"/>
                </a:solidFill>
                <a:latin typeface="Calibri"/>
                <a:ea typeface="DejaVu Sans"/>
              </a:rPr>
              <a:t>can</a:t>
            </a:r>
            <a:r>
              <a:rPr b="0" lang="en-US" sz="1600" spc="-7" strike="noStrike">
                <a:solidFill>
                  <a:srgbClr val="000000"/>
                </a:solidFill>
                <a:latin typeface="Calibri"/>
                <a:ea typeface="DejaVu Sans"/>
              </a:rPr>
              <a:t> be</a:t>
            </a:r>
            <a:r>
              <a:rPr b="0" lang="en-US" sz="16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600" spc="-12" strike="noStrike">
                <a:solidFill>
                  <a:srgbClr val="000000"/>
                </a:solidFill>
                <a:latin typeface="Calibri"/>
                <a:ea typeface="DejaVu Sans"/>
              </a:rPr>
              <a:t>used</a:t>
            </a:r>
            <a:r>
              <a:rPr b="0" lang="en-US" sz="16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600" spc="-12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16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600" spc="-15" strike="noStrike">
                <a:solidFill>
                  <a:srgbClr val="000000"/>
                </a:solidFill>
                <a:latin typeface="Calibri"/>
                <a:ea typeface="DejaVu Sans"/>
              </a:rPr>
              <a:t>remove</a:t>
            </a:r>
            <a:r>
              <a:rPr b="0" lang="en-US" sz="1600" spc="2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600" spc="-7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1600" spc="-12" strike="noStrike">
                <a:solidFill>
                  <a:srgbClr val="000000"/>
                </a:solidFill>
                <a:latin typeface="Calibri"/>
                <a:ea typeface="DejaVu Sans"/>
              </a:rPr>
              <a:t>resource.</a:t>
            </a:r>
            <a:endParaRPr b="0" lang="en-US" sz="1600" spc="-1" strike="noStrike">
              <a:latin typeface="Arial"/>
            </a:endParaRPr>
          </a:p>
          <a:p>
            <a:pPr lvl="2" marL="1155600" indent="-229320">
              <a:lnSpc>
                <a:spcPct val="100000"/>
              </a:lnSpc>
              <a:spcBef>
                <a:spcPts val="309"/>
              </a:spcBef>
              <a:buClr>
                <a:srgbClr val="ac172b"/>
              </a:buClr>
              <a:buFont typeface="Wingdings" charset="2"/>
              <a:buChar char=""/>
              <a:tabLst>
                <a:tab algn="l" pos="1155600"/>
                <a:tab algn="l" pos="1156320"/>
              </a:tabLst>
            </a:pPr>
            <a:r>
              <a:rPr b="0" lang="en-US" sz="1600" spc="-12" strike="noStrike">
                <a:solidFill>
                  <a:srgbClr val="ac172b"/>
                </a:solidFill>
                <a:latin typeface="Calibri"/>
                <a:ea typeface="DejaVu Sans"/>
              </a:rPr>
              <a:t>HEAD</a:t>
            </a:r>
            <a:r>
              <a:rPr b="0" lang="en-US" sz="1600" spc="-12" strike="noStrike">
                <a:solidFill>
                  <a:srgbClr val="000000"/>
                </a:solidFill>
                <a:latin typeface="Calibri"/>
                <a:ea typeface="DejaVu Sans"/>
              </a:rPr>
              <a:t>—retrieve</a:t>
            </a:r>
            <a:r>
              <a:rPr b="0" lang="en-US" sz="1600" spc="5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600" spc="-7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1600" spc="-12" strike="noStrike">
                <a:solidFill>
                  <a:srgbClr val="000000"/>
                </a:solidFill>
                <a:latin typeface="Calibri"/>
                <a:ea typeface="DejaVu Sans"/>
              </a:rPr>
              <a:t> headers</a:t>
            </a:r>
            <a:r>
              <a:rPr b="0" lang="en-US" sz="16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600" spc="-15" strike="noStrike">
                <a:solidFill>
                  <a:srgbClr val="000000"/>
                </a:solidFill>
                <a:latin typeface="Calibri"/>
                <a:ea typeface="DejaVu Sans"/>
              </a:rPr>
              <a:t>for</a:t>
            </a:r>
            <a:r>
              <a:rPr b="0" lang="en-US" sz="16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600" spc="-7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1600" spc="-12" strike="noStrike">
                <a:solidFill>
                  <a:srgbClr val="000000"/>
                </a:solidFill>
                <a:latin typeface="Calibri"/>
                <a:ea typeface="DejaVu Sans"/>
              </a:rPr>
              <a:t> resource</a:t>
            </a:r>
            <a:r>
              <a:rPr b="0" lang="en-US" sz="1600" spc="4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600" spc="-7" strike="noStrike">
                <a:solidFill>
                  <a:srgbClr val="000000"/>
                </a:solidFill>
                <a:latin typeface="Calibri"/>
                <a:ea typeface="DejaVu Sans"/>
              </a:rPr>
              <a:t>only</a:t>
            </a:r>
            <a:r>
              <a:rPr b="0" lang="en-US" sz="16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600" spc="-12" strike="noStrike">
                <a:solidFill>
                  <a:srgbClr val="000000"/>
                </a:solidFill>
                <a:latin typeface="Calibri"/>
                <a:ea typeface="DejaVu Sans"/>
              </a:rPr>
              <a:t>(not</a:t>
            </a:r>
            <a:r>
              <a:rPr b="0" lang="en-US" sz="16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600" spc="-7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16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600" spc="-12" strike="noStrike">
                <a:solidFill>
                  <a:srgbClr val="000000"/>
                </a:solidFill>
                <a:latin typeface="Calibri"/>
                <a:ea typeface="DejaVu Sans"/>
              </a:rPr>
              <a:t>body).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63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4" name="PlaceHolder 2"/>
          <p:cNvSpPr>
            <a:spLocks noGrp="1"/>
          </p:cNvSpPr>
          <p:nvPr>
            <p:ph type="ftr" idx="43"/>
          </p:nvPr>
        </p:nvSpPr>
        <p:spPr>
          <a:xfrm>
            <a:off x="916920" y="6451560"/>
            <a:ext cx="1022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4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65" name="PlaceHolder 3"/>
          <p:cNvSpPr>
            <a:spLocks noGrp="1"/>
          </p:cNvSpPr>
          <p:nvPr>
            <p:ph type="dt" idx="44"/>
          </p:nvPr>
        </p:nvSpPr>
        <p:spPr>
          <a:xfrm>
            <a:off x="5492520" y="6451560"/>
            <a:ext cx="11224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41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66" name="PlaceHolder 4"/>
          <p:cNvSpPr>
            <a:spLocks noGrp="1"/>
          </p:cNvSpPr>
          <p:nvPr>
            <p:ph type="sldNum" idx="45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67698CDE-79C7-4258-B895-03F87D47FA25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8670960" cy="115740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35" strike="noStrike">
                <a:solidFill>
                  <a:srgbClr val="c00000"/>
                </a:solidFill>
                <a:latin typeface="Calibri Light"/>
              </a:rPr>
              <a:t>UNIFORM</a:t>
            </a:r>
            <a:r>
              <a:rPr b="0" lang="en-US" sz="3600" spc="-111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41" strike="noStrike">
                <a:solidFill>
                  <a:srgbClr val="c00000"/>
                </a:solidFill>
                <a:latin typeface="Calibri Light"/>
              </a:rPr>
              <a:t>RESOURCE</a:t>
            </a:r>
            <a:r>
              <a:rPr b="0" lang="en-US" sz="3600" spc="-92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100" strike="noStrike">
                <a:solidFill>
                  <a:srgbClr val="c00000"/>
                </a:solidFill>
                <a:latin typeface="Calibri Light"/>
              </a:rPr>
              <a:t>LOCATOR </a:t>
            </a:r>
            <a:r>
              <a:rPr b="0" lang="en-US" sz="3600" spc="-66" strike="noStrike">
                <a:solidFill>
                  <a:srgbClr val="c00000"/>
                </a:solidFill>
                <a:latin typeface="Calibri Light"/>
              </a:rPr>
              <a:t>ANALYSIS</a:t>
            </a:r>
            <a:r>
              <a:rPr b="0" lang="en-US" sz="3600" spc="-92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(cont.)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68" name="object 3"/>
          <p:cNvSpPr/>
          <p:nvPr/>
        </p:nvSpPr>
        <p:spPr>
          <a:xfrm>
            <a:off x="916920" y="1802520"/>
            <a:ext cx="9894960" cy="217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4000" bIns="0" anchor="t">
            <a:spAutoFit/>
          </a:bodyPr>
          <a:p>
            <a:pPr marL="241200" indent="-229320">
              <a:lnSpc>
                <a:spcPts val="2591"/>
              </a:lnSpc>
              <a:spcBef>
                <a:spcPts val="42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server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response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comprises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version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number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status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code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400" spc="-52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message,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plus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optional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headers,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message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35" strike="noStrike">
                <a:solidFill>
                  <a:srgbClr val="000000"/>
                </a:solidFill>
                <a:latin typeface="Calibri"/>
                <a:ea typeface="DejaVu Sans"/>
              </a:rPr>
              <a:t>body.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741"/>
              </a:lnSpc>
              <a:spcBef>
                <a:spcPts val="686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 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HTTP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response</a:t>
            </a:r>
            <a:r>
              <a:rPr b="0" lang="en-US" sz="24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code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is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the header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value</a:t>
            </a:r>
            <a:r>
              <a:rPr b="0" lang="en-US" sz="24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returned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by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a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server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when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client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requests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URL,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such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as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 u="heavy">
                <a:solidFill>
                  <a:srgbClr val="ac172b"/>
                </a:solidFill>
                <a:uFill>
                  <a:solidFill>
                    <a:srgbClr val="ac172b"/>
                  </a:solidFill>
                </a:uFill>
                <a:latin typeface="Calibri"/>
                <a:ea typeface="DejaVu Sans"/>
              </a:rPr>
              <a:t>200</a:t>
            </a:r>
            <a:r>
              <a:rPr b="0" lang="en-US" sz="2400" spc="-12" strike="noStrike" u="heavy">
                <a:solidFill>
                  <a:srgbClr val="ac172b"/>
                </a:solidFill>
                <a:uFill>
                  <a:solidFill>
                    <a:srgbClr val="ac172b"/>
                  </a:solidFill>
                </a:uFill>
                <a:latin typeface="Calibri"/>
                <a:ea typeface="DejaVu Sans"/>
              </a:rPr>
              <a:t> </a:t>
            </a:r>
            <a:r>
              <a:rPr b="0" lang="en-US" sz="2400" spc="-21" strike="noStrike" u="heavy">
                <a:solidFill>
                  <a:srgbClr val="ac172b"/>
                </a:solidFill>
                <a:uFill>
                  <a:solidFill>
                    <a:srgbClr val="ac172b"/>
                  </a:solidFill>
                </a:uFill>
                <a:latin typeface="Calibri"/>
                <a:ea typeface="DejaVu Sans"/>
              </a:rPr>
              <a:t>for</a:t>
            </a:r>
            <a:r>
              <a:rPr b="0" lang="en-US" sz="2400" spc="-7" strike="noStrike" u="heavy">
                <a:solidFill>
                  <a:srgbClr val="ac172b"/>
                </a:solidFill>
                <a:uFill>
                  <a:solidFill>
                    <a:srgbClr val="ac172b"/>
                  </a:solidFill>
                </a:uFill>
                <a:latin typeface="Calibri"/>
                <a:ea typeface="DejaVu Sans"/>
              </a:rPr>
              <a:t> "OK"</a:t>
            </a:r>
            <a:r>
              <a:rPr b="0" lang="en-US" sz="2400" spc="-1" strike="noStrike" u="heavy">
                <a:solidFill>
                  <a:srgbClr val="ac172b"/>
                </a:solidFill>
                <a:uFill>
                  <a:solidFill>
                    <a:srgbClr val="ac172b"/>
                  </a:solidFill>
                </a:u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or </a:t>
            </a:r>
            <a:r>
              <a:rPr b="0" lang="en-US" sz="2400" spc="-7" strike="noStrike" u="heavy">
                <a:solidFill>
                  <a:srgbClr val="ac172b"/>
                </a:solidFill>
                <a:uFill>
                  <a:solidFill>
                    <a:srgbClr val="ac172b"/>
                  </a:solidFill>
                </a:uFill>
                <a:latin typeface="Calibri"/>
                <a:ea typeface="DejaVu Sans"/>
              </a:rPr>
              <a:t>404</a:t>
            </a:r>
            <a:r>
              <a:rPr b="0" lang="en-US" sz="2400" spc="-12" strike="noStrike" u="heavy">
                <a:solidFill>
                  <a:srgbClr val="ac172b"/>
                </a:solidFill>
                <a:uFill>
                  <a:solidFill>
                    <a:srgbClr val="ac172b"/>
                  </a:solidFill>
                </a:uFill>
                <a:latin typeface="Calibri"/>
                <a:ea typeface="DejaVu Sans"/>
              </a:rPr>
              <a:t> </a:t>
            </a:r>
            <a:r>
              <a:rPr b="0" lang="en-US" sz="2400" spc="-21" strike="noStrike" u="heavy">
                <a:solidFill>
                  <a:srgbClr val="ac172b"/>
                </a:solidFill>
                <a:uFill>
                  <a:solidFill>
                    <a:srgbClr val="ac172b"/>
                  </a:solidFill>
                </a:uFill>
                <a:latin typeface="Calibri"/>
                <a:ea typeface="DejaVu Sans"/>
              </a:rPr>
              <a:t>for</a:t>
            </a:r>
            <a:r>
              <a:rPr b="0" lang="en-US" sz="2400" spc="-7" strike="noStrike" u="heavy">
                <a:solidFill>
                  <a:srgbClr val="ac172b"/>
                </a:solidFill>
                <a:uFill>
                  <a:solidFill>
                    <a:srgbClr val="ac172b"/>
                  </a:solidFill>
                </a:uFill>
                <a:latin typeface="Calibri"/>
                <a:ea typeface="DejaVu Sans"/>
              </a:rPr>
              <a:t> "Not</a:t>
            </a:r>
            <a:r>
              <a:rPr b="0" lang="en-US" sz="2400" spc="-1" strike="noStrike" u="heavy">
                <a:solidFill>
                  <a:srgbClr val="ac172b"/>
                </a:solidFill>
                <a:uFill>
                  <a:solidFill>
                    <a:srgbClr val="ac172b"/>
                  </a:solidFill>
                </a:uFill>
                <a:latin typeface="Calibri"/>
                <a:ea typeface="DejaVu Sans"/>
              </a:rPr>
              <a:t> </a:t>
            </a:r>
            <a:r>
              <a:rPr b="0" lang="en-US" sz="2400" spc="-15" strike="noStrike" u="heavy">
                <a:solidFill>
                  <a:srgbClr val="ac172b"/>
                </a:solidFill>
                <a:uFill>
                  <a:solidFill>
                    <a:srgbClr val="ac172b"/>
                  </a:solidFill>
                </a:uFill>
                <a:latin typeface="Calibri"/>
                <a:ea typeface="DejaVu Sans"/>
              </a:rPr>
              <a:t>Found."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69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0" name="PlaceHolder 2"/>
          <p:cNvSpPr>
            <a:spLocks noGrp="1"/>
          </p:cNvSpPr>
          <p:nvPr>
            <p:ph type="ftr" idx="46"/>
          </p:nvPr>
        </p:nvSpPr>
        <p:spPr>
          <a:xfrm>
            <a:off x="916920" y="6451560"/>
            <a:ext cx="1022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4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71" name="PlaceHolder 3"/>
          <p:cNvSpPr>
            <a:spLocks noGrp="1"/>
          </p:cNvSpPr>
          <p:nvPr>
            <p:ph type="dt" idx="47"/>
          </p:nvPr>
        </p:nvSpPr>
        <p:spPr>
          <a:xfrm>
            <a:off x="5492520" y="6451560"/>
            <a:ext cx="11224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41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72" name="PlaceHolder 4"/>
          <p:cNvSpPr>
            <a:spLocks noGrp="1"/>
          </p:cNvSpPr>
          <p:nvPr>
            <p:ph type="sldNum" idx="48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34FB3188-33D2-475D-B333-634F3D142799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4569120" cy="68652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72" strike="noStrike">
                <a:solidFill>
                  <a:srgbClr val="c00000"/>
                </a:solidFill>
                <a:latin typeface="Calibri Light"/>
              </a:rPr>
              <a:t>REPLAY</a:t>
            </a:r>
            <a:r>
              <a:rPr b="0" lang="en-US" sz="3600" spc="-137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111" strike="noStrike">
                <a:solidFill>
                  <a:srgbClr val="c00000"/>
                </a:solidFill>
                <a:latin typeface="Calibri Light"/>
              </a:rPr>
              <a:t>ATTACKS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74" name="object 3"/>
          <p:cNvSpPr/>
          <p:nvPr/>
        </p:nvSpPr>
        <p:spPr>
          <a:xfrm>
            <a:off x="844920" y="1262520"/>
            <a:ext cx="10248120" cy="458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4000" bIns="0" anchor="t">
            <a:spAutoFit/>
          </a:bodyPr>
          <a:p>
            <a:pPr marL="241200" indent="-229320">
              <a:lnSpc>
                <a:spcPts val="2591"/>
              </a:lnSpc>
              <a:spcBef>
                <a:spcPts val="42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Session management enables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web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applications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uniquely identify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user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across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number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of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different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actions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requests.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ct val="90000"/>
              </a:lnSpc>
              <a:spcBef>
                <a:spcPts val="969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Session management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 particularly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important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when it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comes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user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authentication,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as it is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required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ensure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integrity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of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account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 the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confidentiality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data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associated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with it.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ct val="100000"/>
              </a:lnSpc>
              <a:spcBef>
                <a:spcPts val="709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Session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management</a:t>
            </a:r>
            <a:r>
              <a:rPr b="0" lang="en-US" sz="2400" spc="-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often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vulnerable</a:t>
            </a:r>
            <a:r>
              <a:rPr b="0" lang="en-US" sz="24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different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kinds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4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6fc0"/>
                </a:solidFill>
                <a:latin typeface="Calibri"/>
                <a:ea typeface="DejaVu Sans"/>
              </a:rPr>
              <a:t>replay</a:t>
            </a:r>
            <a:r>
              <a:rPr b="0" lang="en-US" sz="2400" spc="-12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6fc0"/>
                </a:solidFill>
                <a:latin typeface="Calibri"/>
                <a:ea typeface="DejaVu Sans"/>
              </a:rPr>
              <a:t>attack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ct val="100000"/>
              </a:lnSpc>
              <a:spcBef>
                <a:spcPts val="706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14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establish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session,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server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normally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gives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the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client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some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type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4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token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1049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replay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attack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works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by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sniffing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guessing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token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value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 then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submitting </a:t>
            </a:r>
            <a:r>
              <a:rPr b="0" lang="en-US" sz="2400" spc="-52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it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re-establish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session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illegitimately.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75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6" name="PlaceHolder 2"/>
          <p:cNvSpPr>
            <a:spLocks noGrp="1"/>
          </p:cNvSpPr>
          <p:nvPr>
            <p:ph type="ftr" idx="49"/>
          </p:nvPr>
        </p:nvSpPr>
        <p:spPr>
          <a:xfrm>
            <a:off x="916920" y="6451560"/>
            <a:ext cx="1022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4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77" name="PlaceHolder 3"/>
          <p:cNvSpPr>
            <a:spLocks noGrp="1"/>
          </p:cNvSpPr>
          <p:nvPr>
            <p:ph type="dt" idx="50"/>
          </p:nvPr>
        </p:nvSpPr>
        <p:spPr>
          <a:xfrm>
            <a:off x="5492520" y="6451560"/>
            <a:ext cx="11224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41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78" name="PlaceHolder 4"/>
          <p:cNvSpPr>
            <a:spLocks noGrp="1"/>
          </p:cNvSpPr>
          <p:nvPr>
            <p:ph type="sldNum" idx="51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7B41CA6F-AAE6-4075-8018-4806098DE454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/>
          </p:cNvSpPr>
          <p:nvPr>
            <p:ph type="title"/>
          </p:nvPr>
        </p:nvSpPr>
        <p:spPr>
          <a:xfrm>
            <a:off x="914400" y="228600"/>
            <a:ext cx="6397920" cy="115740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21" strike="noStrike">
                <a:solidFill>
                  <a:srgbClr val="c00000"/>
                </a:solidFill>
                <a:latin typeface="Calibri Light"/>
              </a:rPr>
              <a:t>R</a:t>
            </a: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EP</a:t>
            </a:r>
            <a:r>
              <a:rPr b="0" lang="en-US" sz="3600" spc="-35" strike="noStrike">
                <a:solidFill>
                  <a:srgbClr val="c00000"/>
                </a:solidFill>
                <a:latin typeface="Calibri Light"/>
              </a:rPr>
              <a:t>L</a:t>
            </a:r>
            <a:r>
              <a:rPr b="0" lang="en-US" sz="3600" spc="-290" strike="noStrike">
                <a:solidFill>
                  <a:srgbClr val="c00000"/>
                </a:solidFill>
                <a:latin typeface="Calibri Light"/>
              </a:rPr>
              <a:t>A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Y</a:t>
            </a:r>
            <a:r>
              <a:rPr b="0" lang="en-US" sz="3600" spc="-8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07" strike="noStrike">
                <a:solidFill>
                  <a:srgbClr val="c00000"/>
                </a:solidFill>
                <a:latin typeface="Calibri Light"/>
              </a:rPr>
              <a:t>A</a:t>
            </a:r>
            <a:r>
              <a:rPr b="0" lang="en-US" sz="3600" spc="26" strike="noStrike">
                <a:solidFill>
                  <a:srgbClr val="c00000"/>
                </a:solidFill>
                <a:latin typeface="Calibri Light"/>
              </a:rPr>
              <a:t>T</a:t>
            </a:r>
            <a:r>
              <a:rPr b="0" lang="en-US" sz="3600" spc="-307" strike="noStrike">
                <a:solidFill>
                  <a:srgbClr val="c00000"/>
                </a:solidFill>
                <a:latin typeface="Calibri Light"/>
              </a:rPr>
              <a:t>T</a:t>
            </a:r>
            <a:r>
              <a:rPr b="0" lang="en-US" sz="3600" spc="-60" strike="noStrike">
                <a:solidFill>
                  <a:srgbClr val="c00000"/>
                </a:solidFill>
                <a:latin typeface="Calibri Light"/>
              </a:rPr>
              <a:t>A</a:t>
            </a:r>
            <a:r>
              <a:rPr b="0" lang="en-US" sz="3600" spc="-46" strike="noStrike">
                <a:solidFill>
                  <a:srgbClr val="c00000"/>
                </a:solidFill>
                <a:latin typeface="Calibri Light"/>
              </a:rPr>
              <a:t>C</a:t>
            </a:r>
            <a:r>
              <a:rPr b="0" lang="en-US" sz="3600" spc="-66" strike="noStrike">
                <a:solidFill>
                  <a:srgbClr val="c00000"/>
                </a:solidFill>
                <a:latin typeface="Calibri Light"/>
              </a:rPr>
              <a:t>K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S</a:t>
            </a:r>
            <a:r>
              <a:rPr b="0" lang="en-US" sz="3600" spc="-8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(</a:t>
            </a:r>
            <a:r>
              <a:rPr b="0" lang="en-US" sz="3600" spc="-66" strike="noStrike">
                <a:solidFill>
                  <a:srgbClr val="c00000"/>
                </a:solidFill>
                <a:latin typeface="Calibri Light"/>
              </a:rPr>
              <a:t>c</a:t>
            </a:r>
            <a:r>
              <a:rPr b="0" lang="en-US" sz="3600" spc="-21" strike="noStrike">
                <a:solidFill>
                  <a:srgbClr val="c00000"/>
                </a:solidFill>
                <a:latin typeface="Calibri Light"/>
              </a:rPr>
              <a:t>o</a:t>
            </a:r>
            <a:r>
              <a:rPr b="0" lang="en-US" sz="3600" spc="-72" strike="noStrike">
                <a:solidFill>
                  <a:srgbClr val="c00000"/>
                </a:solidFill>
                <a:latin typeface="Calibri Light"/>
              </a:rPr>
              <a:t>n</a:t>
            </a: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t</a:t>
            </a:r>
            <a:r>
              <a:rPr b="0" lang="en-US" sz="3600" spc="-21" strike="noStrike">
                <a:solidFill>
                  <a:srgbClr val="c00000"/>
                </a:solidFill>
                <a:latin typeface="Calibri Light"/>
              </a:rPr>
              <a:t>.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)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80" name="object 3"/>
          <p:cNvSpPr/>
          <p:nvPr/>
        </p:nvSpPr>
        <p:spPr>
          <a:xfrm>
            <a:off x="808920" y="902520"/>
            <a:ext cx="10849320" cy="491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4000" bIns="0" anchor="t">
            <a:spAutoFit/>
          </a:bodyPr>
          <a:p>
            <a:pPr marL="241200" indent="-229320">
              <a:lnSpc>
                <a:spcPts val="2591"/>
              </a:lnSpc>
              <a:spcBef>
                <a:spcPts val="42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HTTP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nominally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stateless protocol,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meaning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that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server preserves no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information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about the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client, but mechanisms such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as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cookies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have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been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developed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preserve</a:t>
            </a:r>
            <a:r>
              <a:rPr b="0" lang="en-US" sz="24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stateful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data.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1020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400" spc="-12" strike="noStrike">
                <a:solidFill>
                  <a:srgbClr val="006fc0"/>
                </a:solidFill>
                <a:latin typeface="Calibri"/>
                <a:ea typeface="DejaVu Sans"/>
              </a:rPr>
              <a:t>cookie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created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when the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server sends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 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HTTP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response header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with the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cookie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data.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ct val="100000"/>
              </a:lnSpc>
              <a:spcBef>
                <a:spcPts val="669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6fc0"/>
                </a:solidFill>
                <a:latin typeface="Calibri"/>
                <a:ea typeface="DejaVu Sans"/>
              </a:rPr>
              <a:t>cookie</a:t>
            </a:r>
            <a:r>
              <a:rPr b="0" lang="en-US" sz="2400" spc="-1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has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a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name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value,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plus optional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security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expiry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attributes.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ct val="100000"/>
              </a:lnSpc>
              <a:spcBef>
                <a:spcPts val="709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Subsequent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request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headers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sent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by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client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will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usually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include the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cookie.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1049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Cookies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are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either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nonpersistent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(session) cookies,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in which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case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they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are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stored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in memory and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deleted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when the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browser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instance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closed, or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persistent,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in 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which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case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they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are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stored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in the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browser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cache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until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deleted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by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user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pass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defined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expiration</a:t>
            </a:r>
            <a:r>
              <a:rPr b="0" lang="en-US" sz="2400" spc="-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date.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81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2" name="PlaceHolder 2"/>
          <p:cNvSpPr>
            <a:spLocks noGrp="1"/>
          </p:cNvSpPr>
          <p:nvPr>
            <p:ph type="ftr" idx="52"/>
          </p:nvPr>
        </p:nvSpPr>
        <p:spPr>
          <a:xfrm>
            <a:off x="916920" y="6451560"/>
            <a:ext cx="1022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4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83" name="PlaceHolder 3"/>
          <p:cNvSpPr>
            <a:spLocks noGrp="1"/>
          </p:cNvSpPr>
          <p:nvPr>
            <p:ph type="dt" idx="53"/>
          </p:nvPr>
        </p:nvSpPr>
        <p:spPr>
          <a:xfrm>
            <a:off x="5492520" y="6451560"/>
            <a:ext cx="11224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41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84" name="PlaceHolder 4"/>
          <p:cNvSpPr>
            <a:spLocks noGrp="1"/>
          </p:cNvSpPr>
          <p:nvPr>
            <p:ph type="sldNum" idx="54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D688BD26-8BD1-4316-A2C5-FE033F422A3A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3565440" cy="115740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SESSION</a:t>
            </a:r>
            <a:r>
              <a:rPr b="0" lang="en-US" sz="3600" spc="-151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5" strike="noStrike">
                <a:solidFill>
                  <a:srgbClr val="c00000"/>
                </a:solidFill>
                <a:latin typeface="Calibri Light"/>
              </a:rPr>
              <a:t>HIJACKING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86" name="object 3"/>
          <p:cNvSpPr/>
          <p:nvPr/>
        </p:nvSpPr>
        <p:spPr>
          <a:xfrm>
            <a:off x="916920" y="1802520"/>
            <a:ext cx="10278720" cy="248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4000" bIns="0" anchor="t">
            <a:spAutoFit/>
          </a:bodyPr>
          <a:p>
            <a:pPr marL="241200" indent="-229320">
              <a:lnSpc>
                <a:spcPts val="2591"/>
              </a:lnSpc>
              <a:spcBef>
                <a:spcPts val="42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32" strike="noStrike">
                <a:solidFill>
                  <a:srgbClr val="000000"/>
                </a:solidFill>
                <a:latin typeface="Calibri"/>
                <a:ea typeface="DejaVu Sans"/>
              </a:rPr>
              <a:t>Attackers</a:t>
            </a:r>
            <a:r>
              <a:rPr b="0" lang="en-US" sz="2400" spc="-4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can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sniff</a:t>
            </a:r>
            <a:r>
              <a:rPr b="0" lang="en-US" sz="24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network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traffic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obtain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session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cookies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sent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over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 </a:t>
            </a:r>
            <a:r>
              <a:rPr b="0" lang="en-US" sz="2400" spc="-52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unsecured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network,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like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public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Wi-Fi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hotspot.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ct val="90000"/>
              </a:lnSpc>
              <a:spcBef>
                <a:spcPts val="97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14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counter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cookie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hijacking,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you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can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encrypt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cookies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during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transmission,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delete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cookies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from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client's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browser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cache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when the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client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terminates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session,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design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your web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app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deliver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new cookie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with each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new session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between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app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client's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46" strike="noStrike">
                <a:solidFill>
                  <a:srgbClr val="000000"/>
                </a:solidFill>
                <a:latin typeface="Calibri"/>
                <a:ea typeface="DejaVu Sans"/>
              </a:rPr>
              <a:t>browser.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87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8" name="PlaceHolder 2"/>
          <p:cNvSpPr>
            <a:spLocks noGrp="1"/>
          </p:cNvSpPr>
          <p:nvPr>
            <p:ph type="ftr" idx="55"/>
          </p:nvPr>
        </p:nvSpPr>
        <p:spPr>
          <a:xfrm>
            <a:off x="916920" y="6451560"/>
            <a:ext cx="1022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4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89" name="PlaceHolder 3"/>
          <p:cNvSpPr>
            <a:spLocks noGrp="1"/>
          </p:cNvSpPr>
          <p:nvPr>
            <p:ph type="dt" idx="56"/>
          </p:nvPr>
        </p:nvSpPr>
        <p:spPr>
          <a:xfrm>
            <a:off x="5492520" y="6451560"/>
            <a:ext cx="11224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41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90" name="PlaceHolder 4"/>
          <p:cNvSpPr>
            <a:spLocks noGrp="1"/>
          </p:cNvSpPr>
          <p:nvPr>
            <p:ph type="sldNum" idx="57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40805D42-D9A1-4080-BF94-3577160DC358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/>
          </p:cNvSpPr>
          <p:nvPr>
            <p:ph type="title"/>
          </p:nvPr>
        </p:nvSpPr>
        <p:spPr>
          <a:xfrm>
            <a:off x="685800" y="228600"/>
            <a:ext cx="8455320" cy="56124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CROSS-SITE</a:t>
            </a:r>
            <a:r>
              <a:rPr b="0" lang="en-US" sz="3600" spc="-12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SCRIPTING</a:t>
            </a:r>
            <a:r>
              <a:rPr b="0" lang="en-US" sz="3600" spc="-12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21" strike="noStrike">
                <a:solidFill>
                  <a:srgbClr val="c00000"/>
                </a:solidFill>
                <a:latin typeface="Calibri Light"/>
              </a:rPr>
              <a:t>(XSS)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92" name="object 3"/>
          <p:cNvSpPr/>
          <p:nvPr/>
        </p:nvSpPr>
        <p:spPr>
          <a:xfrm>
            <a:off x="268920" y="909720"/>
            <a:ext cx="11581920" cy="519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83880" bIns="0" anchor="t">
            <a:spAutoFit/>
          </a:bodyPr>
          <a:p>
            <a:pPr marL="241200" indent="-229320">
              <a:lnSpc>
                <a:spcPts val="2299"/>
              </a:lnSpc>
              <a:spcBef>
                <a:spcPts val="660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32" strike="noStrike">
                <a:solidFill>
                  <a:srgbClr val="000000"/>
                </a:solidFill>
                <a:latin typeface="Calibri"/>
                <a:ea typeface="DejaVu Sans"/>
              </a:rPr>
              <a:t>Web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applications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depend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on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scripting,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most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websites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these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days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are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web </a:t>
            </a:r>
            <a:r>
              <a:rPr b="0" lang="en-US" sz="2400" spc="-52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applications</a:t>
            </a:r>
            <a:r>
              <a:rPr b="0" lang="en-US" sz="2400" spc="-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rather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than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static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web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pages.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ct val="100000"/>
              </a:lnSpc>
              <a:spcBef>
                <a:spcPts val="44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If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user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attempts</a:t>
            </a:r>
            <a:r>
              <a:rPr b="0" lang="en-US" sz="2400" spc="-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disable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scripting,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very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few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sites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will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left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available.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299"/>
              </a:lnSpc>
              <a:spcBef>
                <a:spcPts val="99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400" spc="-12" strike="noStrike">
                <a:solidFill>
                  <a:srgbClr val="006fc0"/>
                </a:solidFill>
                <a:latin typeface="Calibri"/>
                <a:ea typeface="DejaVu Sans"/>
              </a:rPr>
              <a:t>cross-site </a:t>
            </a:r>
            <a:r>
              <a:rPr b="0" lang="en-US" sz="2400" spc="-7" strike="noStrike">
                <a:solidFill>
                  <a:srgbClr val="006fc0"/>
                </a:solidFill>
                <a:latin typeface="Calibri"/>
                <a:ea typeface="DejaVu Sans"/>
              </a:rPr>
              <a:t>scripting </a:t>
            </a:r>
            <a:r>
              <a:rPr b="0" lang="en-US" sz="2400" spc="-12" strike="noStrike">
                <a:solidFill>
                  <a:srgbClr val="006fc0"/>
                </a:solidFill>
                <a:latin typeface="Calibri"/>
                <a:ea typeface="DejaVu Sans"/>
              </a:rPr>
              <a:t>(XSS)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attack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exploits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fact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that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browser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likely to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trust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scripts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appear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come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from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site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user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has chosen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visit.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XSS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inserts a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malicious</a:t>
            </a:r>
            <a:r>
              <a:rPr b="0" lang="en-US" sz="2400" spc="-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script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appears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be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part of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trusted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site.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nonpersistent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type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of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XSS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attack</a:t>
            </a:r>
            <a:r>
              <a:rPr b="0" lang="en-US" sz="2400" spc="-4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would</a:t>
            </a:r>
            <a:r>
              <a:rPr b="0" lang="en-US" sz="24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proceed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as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follows:</a:t>
            </a:r>
            <a:endParaRPr b="0" lang="en-US" sz="2400" spc="-1" strike="noStrike">
              <a:latin typeface="Arial"/>
            </a:endParaRPr>
          </a:p>
          <a:p>
            <a:pPr lvl="1" marL="698400" indent="-229320">
              <a:lnSpc>
                <a:spcPct val="100000"/>
              </a:lnSpc>
              <a:spcBef>
                <a:spcPts val="45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attacker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identifies</a:t>
            </a:r>
            <a:r>
              <a:rPr b="0" lang="en-US" sz="2000" spc="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input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validation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vulnerability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in the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trusted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site.</a:t>
            </a:r>
            <a:endParaRPr b="0" lang="en-US" sz="2000" spc="-1" strike="noStrike">
              <a:latin typeface="Arial"/>
            </a:endParaRPr>
          </a:p>
          <a:p>
            <a:pPr lvl="1" marL="698400" indent="-228600">
              <a:lnSpc>
                <a:spcPct val="80000"/>
              </a:lnSpc>
              <a:spcBef>
                <a:spcPts val="505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attacker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crafts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URL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perform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code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injection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against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trusted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site,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This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could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be </a:t>
            </a:r>
            <a:r>
              <a:rPr b="0" lang="en-US" sz="2000" spc="-440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coded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in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link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from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the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attacker's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site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the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trusted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site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a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link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in an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email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message.</a:t>
            </a:r>
            <a:endParaRPr b="0" lang="en-US" sz="2000" spc="-1" strike="noStrike">
              <a:latin typeface="Arial"/>
            </a:endParaRPr>
          </a:p>
          <a:p>
            <a:pPr lvl="1" marL="698400" indent="-228600">
              <a:lnSpc>
                <a:spcPts val="1919"/>
              </a:lnSpc>
              <a:spcBef>
                <a:spcPts val="476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When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user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clicks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 link,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trusted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site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returns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a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page</a:t>
            </a:r>
            <a:r>
              <a:rPr b="0" lang="en-US" sz="2000" spc="-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containing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malicious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code </a:t>
            </a:r>
            <a:r>
              <a:rPr b="0" lang="en-US" sz="2000" spc="-4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injected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by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35" strike="noStrike">
                <a:solidFill>
                  <a:srgbClr val="000000"/>
                </a:solidFill>
                <a:latin typeface="Calibri"/>
                <a:ea typeface="DejaVu Sans"/>
              </a:rPr>
              <a:t>attacker,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As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browser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likely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to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be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configured</a:t>
            </a:r>
            <a:r>
              <a:rPr b="0" lang="en-US" sz="2000" spc="-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allow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the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site</a:t>
            </a:r>
            <a:r>
              <a:rPr b="0" lang="en-US" sz="2000" spc="2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run 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scripts,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 malicious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code</a:t>
            </a:r>
            <a:r>
              <a:rPr b="0" lang="en-US" sz="20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will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execute.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93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4" name="PlaceHolder 2"/>
          <p:cNvSpPr>
            <a:spLocks noGrp="1"/>
          </p:cNvSpPr>
          <p:nvPr>
            <p:ph type="ftr" idx="58"/>
          </p:nvPr>
        </p:nvSpPr>
        <p:spPr>
          <a:xfrm>
            <a:off x="916920" y="6451560"/>
            <a:ext cx="1022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4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95" name="PlaceHolder 3"/>
          <p:cNvSpPr>
            <a:spLocks noGrp="1"/>
          </p:cNvSpPr>
          <p:nvPr>
            <p:ph type="dt" idx="59"/>
          </p:nvPr>
        </p:nvSpPr>
        <p:spPr>
          <a:xfrm>
            <a:off x="5492520" y="6451560"/>
            <a:ext cx="11224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41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96" name="PlaceHolder 4"/>
          <p:cNvSpPr>
            <a:spLocks noGrp="1"/>
          </p:cNvSpPr>
          <p:nvPr>
            <p:ph type="sldNum" idx="60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5F18D553-990F-43D0-8327-9DA1889B2F39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9003600" cy="115740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STRUCTURED</a:t>
            </a:r>
            <a:r>
              <a:rPr b="0" lang="en-US" sz="3600" spc="-92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5" strike="noStrike">
                <a:solidFill>
                  <a:srgbClr val="c00000"/>
                </a:solidFill>
                <a:latin typeface="Calibri Light"/>
              </a:rPr>
              <a:t>QUERY</a:t>
            </a:r>
            <a:r>
              <a:rPr b="0" lang="en-US" sz="3600" spc="-92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46" strike="noStrike">
                <a:solidFill>
                  <a:srgbClr val="c00000"/>
                </a:solidFill>
                <a:latin typeface="Calibri Light"/>
              </a:rPr>
              <a:t>LANGUAGE</a:t>
            </a:r>
            <a:r>
              <a:rPr b="0" lang="en-US" sz="3600" spc="-97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21" strike="noStrike">
                <a:solidFill>
                  <a:srgbClr val="c00000"/>
                </a:solidFill>
                <a:latin typeface="Calibri Light"/>
              </a:rPr>
              <a:t>(SQL)</a:t>
            </a:r>
            <a:r>
              <a:rPr b="0" lang="en-US" sz="3600" spc="-72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INJECTION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98" name="object 3"/>
          <p:cNvSpPr/>
          <p:nvPr/>
        </p:nvSpPr>
        <p:spPr>
          <a:xfrm>
            <a:off x="916920" y="1802520"/>
            <a:ext cx="10279800" cy="339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4000" bIns="0" anchor="t">
            <a:spAutoFit/>
          </a:bodyPr>
          <a:p>
            <a:pPr marL="241200" indent="-229320">
              <a:lnSpc>
                <a:spcPts val="2591"/>
              </a:lnSpc>
              <a:spcBef>
                <a:spcPts val="42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400" spc="-7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DejaVu Sans"/>
              </a:rPr>
              <a:t>server-side </a:t>
            </a:r>
            <a:r>
              <a:rPr b="0" lang="en-US" sz="2400" spc="-15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DejaVu Sans"/>
              </a:rPr>
              <a:t>attack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causes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server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do some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processing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or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run a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script or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query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in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way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that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not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authorized by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the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application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design.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ct val="100000"/>
              </a:lnSpc>
              <a:spcBef>
                <a:spcPts val="686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Most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server-side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attacks</a:t>
            </a:r>
            <a:r>
              <a:rPr b="0" lang="en-US" sz="2400" spc="-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depend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on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some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kind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injection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attack.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1040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web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application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likely to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use </a:t>
            </a:r>
            <a:r>
              <a:rPr b="0" lang="en-US" sz="2400" spc="-7" strike="noStrike">
                <a:solidFill>
                  <a:srgbClr val="006fc0"/>
                </a:solidFill>
                <a:latin typeface="Calibri"/>
                <a:ea typeface="DejaVu Sans"/>
              </a:rPr>
              <a:t>Structured </a:t>
            </a:r>
            <a:r>
              <a:rPr b="0" lang="en-US" sz="2400" spc="-1" strike="noStrike">
                <a:solidFill>
                  <a:srgbClr val="006fc0"/>
                </a:solidFill>
                <a:latin typeface="Calibri"/>
                <a:ea typeface="DejaVu Sans"/>
              </a:rPr>
              <a:t>Query </a:t>
            </a:r>
            <a:r>
              <a:rPr b="0" lang="en-US" sz="2400" spc="-12" strike="noStrike">
                <a:solidFill>
                  <a:srgbClr val="006fc0"/>
                </a:solidFill>
                <a:latin typeface="Calibri"/>
                <a:ea typeface="DejaVu Sans"/>
              </a:rPr>
              <a:t>Language </a:t>
            </a:r>
            <a:r>
              <a:rPr b="0" lang="en-US" sz="2400" spc="-7" strike="noStrike">
                <a:solidFill>
                  <a:srgbClr val="006fc0"/>
                </a:solidFill>
                <a:latin typeface="Calibri"/>
                <a:ea typeface="DejaVu Sans"/>
              </a:rPr>
              <a:t>(SQL)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read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write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information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from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database.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1001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main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database operations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are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performed by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SQL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statements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for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selecting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data </a:t>
            </a:r>
            <a:r>
              <a:rPr b="1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(SELECT)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, inserting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data </a:t>
            </a:r>
            <a:r>
              <a:rPr b="1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(INSERT)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, deleting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data </a:t>
            </a:r>
            <a:r>
              <a:rPr b="1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(DELETE)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, and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updating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data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400" spc="-35" strike="noStrike">
                <a:solidFill>
                  <a:srgbClr val="000000"/>
                </a:solidFill>
                <a:latin typeface="Calibri"/>
                <a:ea typeface="DejaVu Sans"/>
              </a:rPr>
              <a:t>(UPDATE)</a:t>
            </a:r>
            <a:r>
              <a:rPr b="0" lang="en-US" sz="2400" spc="-35" strike="noStrike">
                <a:solidFill>
                  <a:srgbClr val="000000"/>
                </a:solidFill>
                <a:latin typeface="Calibri"/>
                <a:ea typeface="DejaVu Sans"/>
              </a:rPr>
              <a:t>.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99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0" name="PlaceHolder 2"/>
          <p:cNvSpPr>
            <a:spLocks noGrp="1"/>
          </p:cNvSpPr>
          <p:nvPr>
            <p:ph type="ftr" idx="61"/>
          </p:nvPr>
        </p:nvSpPr>
        <p:spPr>
          <a:xfrm>
            <a:off x="916920" y="6451560"/>
            <a:ext cx="1022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4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201" name="PlaceHolder 3"/>
          <p:cNvSpPr>
            <a:spLocks noGrp="1"/>
          </p:cNvSpPr>
          <p:nvPr>
            <p:ph type="dt" idx="62"/>
          </p:nvPr>
        </p:nvSpPr>
        <p:spPr>
          <a:xfrm>
            <a:off x="5492520" y="6451560"/>
            <a:ext cx="11224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41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202" name="PlaceHolder 4"/>
          <p:cNvSpPr>
            <a:spLocks noGrp="1"/>
          </p:cNvSpPr>
          <p:nvPr>
            <p:ph type="sldNum" idx="63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404A41F4-F9AD-44EA-B92A-9C877E6A8CEC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8455680" cy="6868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35" strike="noStrike">
                <a:solidFill>
                  <a:srgbClr val="c00000"/>
                </a:solidFill>
                <a:latin typeface="Calibri Light"/>
              </a:rPr>
              <a:t>SECURE</a:t>
            </a:r>
            <a:r>
              <a:rPr b="0" lang="en-US" sz="3600" spc="-10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5" strike="noStrike">
                <a:solidFill>
                  <a:srgbClr val="c00000"/>
                </a:solidFill>
                <a:latin typeface="Calibri Light"/>
              </a:rPr>
              <a:t>CODING</a:t>
            </a:r>
            <a:r>
              <a:rPr b="0" lang="en-US" sz="3600" spc="-114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41" strike="noStrike">
                <a:solidFill>
                  <a:srgbClr val="c00000"/>
                </a:solidFill>
                <a:latin typeface="Calibri Light"/>
              </a:rPr>
              <a:t>TECHNIQUES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204" name="object 3"/>
          <p:cNvSpPr/>
          <p:nvPr/>
        </p:nvSpPr>
        <p:spPr>
          <a:xfrm>
            <a:off x="914400" y="1506960"/>
            <a:ext cx="9829800" cy="38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6520" bIns="0" anchor="t">
            <a:spAutoFit/>
          </a:bodyPr>
          <a:p>
            <a:pPr marL="241200" indent="-229320">
              <a:lnSpc>
                <a:spcPct val="100000"/>
              </a:lnSpc>
              <a:spcBef>
                <a:spcPts val="445"/>
              </a:spcBef>
              <a:buClr>
                <a:srgbClr val="006fc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6fc0"/>
                </a:solidFill>
                <a:latin typeface="Calibri"/>
                <a:ea typeface="DejaVu Sans"/>
              </a:rPr>
              <a:t>Input</a:t>
            </a:r>
            <a:r>
              <a:rPr b="0" lang="en-US" sz="2400" spc="-35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6fc0"/>
                </a:solidFill>
                <a:latin typeface="Calibri"/>
                <a:ea typeface="DejaVu Sans"/>
              </a:rPr>
              <a:t>Validation</a:t>
            </a:r>
            <a:endParaRPr b="0" lang="en-US" sz="2400" spc="-1" strike="noStrike">
              <a:latin typeface="Arial"/>
            </a:endParaRPr>
          </a:p>
          <a:p>
            <a:pPr lvl="1" marL="698400" indent="-229320">
              <a:lnSpc>
                <a:spcPct val="100000"/>
              </a:lnSpc>
              <a:spcBef>
                <a:spcPts val="289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primary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vector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for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attacking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applications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exploit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faulty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input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validation.</a:t>
            </a:r>
            <a:endParaRPr b="0" lang="en-US" sz="2000" spc="-1" strike="noStrike">
              <a:latin typeface="Arial"/>
            </a:endParaRPr>
          </a:p>
          <a:p>
            <a:pPr lvl="1" marL="698400" indent="-229320">
              <a:lnSpc>
                <a:spcPts val="2279"/>
              </a:lnSpc>
              <a:spcBef>
                <a:spcPts val="249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Input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could</a:t>
            </a:r>
            <a:r>
              <a:rPr b="0" lang="en-US" sz="20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include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user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data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entered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into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a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form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URL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passed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by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another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application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as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 URL</a:t>
            </a:r>
            <a:r>
              <a:rPr b="0" lang="en-US" sz="20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HTTP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32" strike="noStrike">
                <a:solidFill>
                  <a:srgbClr val="000000"/>
                </a:solidFill>
                <a:latin typeface="Calibri"/>
                <a:ea typeface="DejaVu Sans"/>
              </a:rPr>
              <a:t>header.</a:t>
            </a:r>
            <a:endParaRPr b="0" lang="en-US" sz="2000" spc="-1" strike="noStrike">
              <a:latin typeface="Arial"/>
            </a:endParaRPr>
          </a:p>
          <a:p>
            <a:pPr lvl="1" marL="698400" indent="-228600">
              <a:lnSpc>
                <a:spcPts val="2160"/>
              </a:lnSpc>
              <a:spcBef>
                <a:spcPts val="541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Malicious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input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could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crafted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perform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overflow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attack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some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type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of script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SQL </a:t>
            </a:r>
            <a:r>
              <a:rPr b="0" lang="en-US" sz="2000" spc="-4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injection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attack.</a:t>
            </a:r>
            <a:endParaRPr b="0" lang="en-US" sz="2000" spc="-1" strike="noStrike">
              <a:latin typeface="Arial"/>
            </a:endParaRPr>
          </a:p>
          <a:p>
            <a:pPr lvl="1" marL="698400" indent="-229320">
              <a:lnSpc>
                <a:spcPts val="2279"/>
              </a:lnSpc>
              <a:spcBef>
                <a:spcPts val="230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97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mitigate</a:t>
            </a:r>
            <a:r>
              <a:rPr b="0" lang="en-US" sz="2000" spc="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this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risk,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all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input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methods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should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documented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with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view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reducing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potential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attack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surface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exposed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by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application.</a:t>
            </a:r>
            <a:endParaRPr b="0" lang="en-US" sz="2000" spc="-1" strike="noStrike">
              <a:latin typeface="Arial"/>
            </a:endParaRPr>
          </a:p>
          <a:p>
            <a:pPr lvl="1" marL="698400" indent="-228600">
              <a:lnSpc>
                <a:spcPts val="2171"/>
              </a:lnSpc>
              <a:spcBef>
                <a:spcPts val="519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There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must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be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routines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check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user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input,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and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anything</a:t>
            </a:r>
            <a:r>
              <a:rPr b="0" lang="en-US" sz="20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does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not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conform</a:t>
            </a:r>
            <a:r>
              <a:rPr b="0" lang="en-US" sz="2000" spc="-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what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is </a:t>
            </a:r>
            <a:r>
              <a:rPr b="0" lang="en-US" sz="2000" spc="-440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required must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be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rejected.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05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6" name="PlaceHolder 2"/>
          <p:cNvSpPr>
            <a:spLocks noGrp="1"/>
          </p:cNvSpPr>
          <p:nvPr>
            <p:ph type="ftr" idx="64"/>
          </p:nvPr>
        </p:nvSpPr>
        <p:spPr>
          <a:xfrm>
            <a:off x="916920" y="6451560"/>
            <a:ext cx="1022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4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207" name="PlaceHolder 3"/>
          <p:cNvSpPr>
            <a:spLocks noGrp="1"/>
          </p:cNvSpPr>
          <p:nvPr>
            <p:ph type="dt" idx="65"/>
          </p:nvPr>
        </p:nvSpPr>
        <p:spPr>
          <a:xfrm>
            <a:off x="5492520" y="6451560"/>
            <a:ext cx="11224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41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208" name="PlaceHolder 4"/>
          <p:cNvSpPr>
            <a:spLocks noGrp="1"/>
          </p:cNvSpPr>
          <p:nvPr>
            <p:ph type="sldNum" idx="66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16DAE744-187E-4D42-9696-5F176450DA12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PlaceHolder 1"/>
          <p:cNvSpPr>
            <a:spLocks noGrp="1"/>
          </p:cNvSpPr>
          <p:nvPr>
            <p:ph type="title"/>
          </p:nvPr>
        </p:nvSpPr>
        <p:spPr>
          <a:xfrm>
            <a:off x="916920" y="914400"/>
            <a:ext cx="9598680" cy="92772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35" strike="noStrike">
                <a:solidFill>
                  <a:srgbClr val="c00000"/>
                </a:solidFill>
                <a:latin typeface="Calibri Light"/>
              </a:rPr>
              <a:t>SEC</a:t>
            </a:r>
            <a:r>
              <a:rPr b="0" lang="en-US" sz="3600" spc="-35" strike="noStrike">
                <a:solidFill>
                  <a:srgbClr val="c00000"/>
                </a:solidFill>
                <a:latin typeface="Calibri Light"/>
              </a:rPr>
              <a:t>URE</a:t>
            </a:r>
            <a:r>
              <a:rPr b="0" lang="en-US" sz="3600" spc="-92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5" strike="noStrike">
                <a:solidFill>
                  <a:srgbClr val="c00000"/>
                </a:solidFill>
                <a:latin typeface="Calibri Light"/>
              </a:rPr>
              <a:t>COD</a:t>
            </a:r>
            <a:r>
              <a:rPr b="0" lang="en-US" sz="3600" spc="-35" strike="noStrike">
                <a:solidFill>
                  <a:srgbClr val="c00000"/>
                </a:solidFill>
                <a:latin typeface="Calibri Light"/>
              </a:rPr>
              <a:t>ING</a:t>
            </a:r>
            <a:r>
              <a:rPr b="0" lang="en-US" sz="3600" spc="-111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41" strike="noStrike">
                <a:solidFill>
                  <a:srgbClr val="c00000"/>
                </a:solidFill>
                <a:latin typeface="Calibri Light"/>
              </a:rPr>
              <a:t>TEC</a:t>
            </a:r>
            <a:r>
              <a:rPr b="0" lang="en-US" sz="3600" spc="-41" strike="noStrike">
                <a:solidFill>
                  <a:srgbClr val="c00000"/>
                </a:solidFill>
                <a:latin typeface="Calibri Light"/>
              </a:rPr>
              <a:t>HNI</a:t>
            </a:r>
            <a:r>
              <a:rPr b="0" lang="en-US" sz="3600" spc="-41" strike="noStrike">
                <a:solidFill>
                  <a:srgbClr val="c00000"/>
                </a:solidFill>
                <a:latin typeface="Calibri Light"/>
              </a:rPr>
              <a:t>QUE</a:t>
            </a:r>
            <a:r>
              <a:rPr b="0" lang="en-US" sz="3600" spc="-41" strike="noStrike">
                <a:solidFill>
                  <a:srgbClr val="c00000"/>
                </a:solidFill>
                <a:latin typeface="Calibri Light"/>
              </a:rPr>
              <a:t>S</a:t>
            </a:r>
            <a:r>
              <a:rPr b="0" lang="en-US" sz="3600" spc="-92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(con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t.)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210" name="object 3"/>
          <p:cNvSpPr/>
          <p:nvPr/>
        </p:nvSpPr>
        <p:spPr>
          <a:xfrm>
            <a:off x="916920" y="1758960"/>
            <a:ext cx="10290600" cy="297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6520" bIns="0" anchor="t">
            <a:spAutoFit/>
          </a:bodyPr>
          <a:p>
            <a:pPr marL="241200" indent="-229320">
              <a:lnSpc>
                <a:spcPct val="100000"/>
              </a:lnSpc>
              <a:spcBef>
                <a:spcPts val="445"/>
              </a:spcBef>
              <a:buClr>
                <a:srgbClr val="006fc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2" strike="noStrike">
                <a:solidFill>
                  <a:srgbClr val="006fc0"/>
                </a:solidFill>
                <a:latin typeface="Calibri"/>
                <a:ea typeface="DejaVu Sans"/>
              </a:rPr>
              <a:t>Secure</a:t>
            </a:r>
            <a:r>
              <a:rPr b="0" lang="en-US" sz="2400" spc="-41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6fc0"/>
                </a:solidFill>
                <a:latin typeface="Calibri"/>
                <a:ea typeface="DejaVu Sans"/>
              </a:rPr>
              <a:t>Cookies</a:t>
            </a:r>
            <a:endParaRPr b="0" lang="en-US" sz="2400" spc="-1" strike="noStrike">
              <a:latin typeface="Arial"/>
            </a:endParaRPr>
          </a:p>
          <a:p>
            <a:pPr lvl="1" marL="698400" indent="-229320">
              <a:lnSpc>
                <a:spcPct val="100000"/>
              </a:lnSpc>
              <a:spcBef>
                <a:spcPts val="289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Avoid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using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persistent</a:t>
            </a:r>
            <a:r>
              <a:rPr b="0" lang="en-US" sz="2000" spc="2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cookies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for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session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authentication.</a:t>
            </a:r>
            <a:endParaRPr b="0" lang="en-US" sz="2000" spc="-1" strike="noStrike">
              <a:latin typeface="Arial"/>
            </a:endParaRPr>
          </a:p>
          <a:p>
            <a:pPr lvl="1" marL="698400" indent="-229320">
              <a:lnSpc>
                <a:spcPct val="100000"/>
              </a:lnSpc>
              <a:spcBef>
                <a:spcPts val="249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Always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use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new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cookie when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user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reauthenticates.</a:t>
            </a:r>
            <a:endParaRPr b="0" lang="en-US" sz="2000" spc="-1" strike="noStrike">
              <a:latin typeface="Arial"/>
            </a:endParaRPr>
          </a:p>
          <a:p>
            <a:pPr lvl="1" marL="698400" indent="-22932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Set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Secure</a:t>
            </a:r>
            <a:r>
              <a:rPr b="1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attribute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prevent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cookie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being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sent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over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unencrypted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55" strike="noStrike">
                <a:solidFill>
                  <a:srgbClr val="000000"/>
                </a:solidFill>
                <a:latin typeface="Calibri"/>
                <a:ea typeface="DejaVu Sans"/>
              </a:rPr>
              <a:t>HTTP.</a:t>
            </a:r>
            <a:endParaRPr b="0" lang="en-US" sz="2000" spc="-1" strike="noStrike">
              <a:latin typeface="Arial"/>
            </a:endParaRPr>
          </a:p>
          <a:p>
            <a:pPr lvl="1" marL="698400" indent="-228600">
              <a:lnSpc>
                <a:spcPts val="2160"/>
              </a:lnSpc>
              <a:spcBef>
                <a:spcPts val="536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Set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HttpOnly</a:t>
            </a:r>
            <a:r>
              <a:rPr b="1" lang="en-US" sz="20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attribute</a:t>
            </a:r>
            <a:r>
              <a:rPr b="0" lang="en-US" sz="2000" spc="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make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cookie inaccessible</a:t>
            </a:r>
            <a:r>
              <a:rPr b="0" lang="en-US" sz="2000" spc="2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document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object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model/client- </a:t>
            </a:r>
            <a:r>
              <a:rPr b="0" lang="en-US" sz="2000" spc="-440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side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scripting.</a:t>
            </a:r>
            <a:endParaRPr b="0" lang="en-US" sz="2000" spc="-1" strike="noStrike">
              <a:latin typeface="Arial"/>
            </a:endParaRPr>
          </a:p>
          <a:p>
            <a:pPr lvl="1" marL="698400" indent="-229320">
              <a:lnSpc>
                <a:spcPts val="2285"/>
              </a:lnSpc>
              <a:spcBef>
                <a:spcPts val="221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Use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SameSite</a:t>
            </a:r>
            <a:r>
              <a:rPr b="1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attribute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control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from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where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a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cookie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may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be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sent,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mitigating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request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forgery</a:t>
            </a:r>
            <a:r>
              <a:rPr b="0" lang="en-US" sz="2000" spc="-4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attacks.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11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2" name="PlaceHolder 2"/>
          <p:cNvSpPr>
            <a:spLocks noGrp="1"/>
          </p:cNvSpPr>
          <p:nvPr>
            <p:ph type="ftr" idx="67"/>
          </p:nvPr>
        </p:nvSpPr>
        <p:spPr>
          <a:xfrm>
            <a:off x="916920" y="6451560"/>
            <a:ext cx="1022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4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(SY0-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213" name="PlaceHolder 3"/>
          <p:cNvSpPr>
            <a:spLocks noGrp="1"/>
          </p:cNvSpPr>
          <p:nvPr>
            <p:ph type="dt" idx="68"/>
          </p:nvPr>
        </p:nvSpPr>
        <p:spPr>
          <a:xfrm>
            <a:off x="5492520" y="6451560"/>
            <a:ext cx="11224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41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214" name="PlaceHolder 4"/>
          <p:cNvSpPr>
            <a:spLocks noGrp="1"/>
          </p:cNvSpPr>
          <p:nvPr>
            <p:ph type="sldNum" idx="69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6D0B7688-B42B-41DE-9968-E9EF231CEBD4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2023-09-03T12:22:27Z</dcterms:created>
  <dc:creator>Ahmed Sultan</dc:creator>
  <dc:description/>
  <dc:language>en-US</dc:language>
  <cp:lastModifiedBy/>
  <dcterms:modified xsi:type="dcterms:W3CDTF">2023-09-06T19:49:21Z</dcterms:modified>
  <cp:revision>7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2021-12-02T00:00:00Z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2023-09-03T00:00:00Z</vt:filetime>
  </property>
  <property fmtid="{D5CDD505-2E9C-101B-9397-08002B2CF9AE}" pid="5" name="PresentationFormat">
    <vt:lpwstr>On-screen Show (4:3)</vt:lpwstr>
  </property>
</Properties>
</file>