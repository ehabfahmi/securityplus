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A92F4A-5B89-47A3-AB74-2106E0EEFB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EBEEC2-96E0-4559-AF46-7A792C1E9B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E440EF-D383-4B68-8436-BE16E1EF33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52779F-5D5F-401C-96F6-8781CCA2BF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46A48D-DE9B-4441-BD9B-0BB8E6726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BBCD67-8535-4D8E-A4BF-245D3AE246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268872-14BA-4968-988A-2B2E57A43B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D1EB94-39F0-4A2D-BEB1-8083E76602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71A660-87B1-435B-9EA9-8AEEC7E0C8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D40568-1325-4DD2-84B4-9775BFE7FE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11BA06-80C8-4FB0-BCCF-3DE6FE1352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5C2BD7-3FB4-4BA2-BB4C-F8EB9AFB8A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587173-F9E6-4FA5-A3EC-82F2768DD9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78E270-B946-4C9F-B514-9D648BED9E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B6A85C-2EAB-4BDC-A03A-F3C79B535D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115958-97EA-4E34-B177-3588E1B304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03EC5E-E179-4091-88FF-8B6C51FD1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526660-34B7-4802-8AEC-DEB4D2B89D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117970-1E9B-4F76-ACB7-905A8E8180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7D2C5A-6920-47FA-AB03-BBD74DD277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982B12-C27D-47D8-8D9C-08F58D3E7B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839557-CB8C-43B6-9B5F-990C8B3F7F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191107-EFD0-466A-9062-1ACDE3A3A0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25BAF0-DE35-4841-B7B0-C35BE968D2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B5E472F-5517-4457-979B-D764ECBCED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B4CC38-C186-4FBD-BE39-BB174ED752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14A0736-9261-46FE-BB43-34B4226A02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DFB184-1C4F-44EC-AC46-58848AAC03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DC334B-1D65-4761-B3A9-2E0A69F361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80F1B93-6848-4EC2-A9F0-88B0F0820A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4D276E-7201-47E6-9DB2-AF85239E9F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E667CE2-7077-424D-9762-1ED4CC0B72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33E950-509B-4FD0-9DEE-B7CAFBBC26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0E42929-F0CF-47D6-812A-4F577BCB18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6D0B7C-0B10-43A3-B64F-8103763C09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8F3B9E-DEE8-4290-ABE9-8C46A90AC2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83DD1CD-5D9B-4CC1-B002-ABE296964BE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A089A9F-C99F-47D5-9F1D-A700278A0A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B5E2011-0D99-4B8B-BB45-7145ACD524D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aws.amazon.com/ec2/" TargetMode="External"/><Relationship Id="rId2" Type="http://schemas.openxmlformats.org/officeDocument/2006/relationships/hyperlink" Target="https://azure.microsoft.com/en-us/services/virtual-machines/" TargetMode="External"/><Relationship Id="rId3" Type="http://schemas.openxmlformats.org/officeDocument/2006/relationships/hyperlink" Target="https://www.oracle.com/cloud/" TargetMode="External"/><Relationship Id="rId4" Type="http://schemas.openxmlformats.org/officeDocument/2006/relationships/hyperlink" Target="https://www.openstack.org/" TargetMode="External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microsoft.com/en-us/microsoft-365/enterprise" TargetMode="External"/><Relationship Id="rId2" Type="http://schemas.openxmlformats.org/officeDocument/2006/relationships/hyperlink" Target="https://www.salesforce.com/" TargetMode="External"/><Relationship Id="rId3" Type="http://schemas.openxmlformats.org/officeDocument/2006/relationships/hyperlink" Target="https://workspace.google.com/" TargetMode="External"/><Relationship Id="rId4" Type="http://schemas.openxmlformats.org/officeDocument/2006/relationships/hyperlink" Target="https://azure.microsoft.com/en-us/services/sql-database/" TargetMode="External"/><Relationship Id="rId5" Type="http://schemas.openxmlformats.org/officeDocument/2006/relationships/hyperlink" Target="https://azure.microsoft.com/en-us/services/sql-database/" TargetMode="External"/><Relationship Id="rId6" Type="http://schemas.openxmlformats.org/officeDocument/2006/relationships/hyperlink" Target="https://azure.microsoft.com/en-us/services/sql-database/" TargetMode="External"/><Relationship Id="rId7" Type="http://schemas.openxmlformats.org/officeDocument/2006/relationships/hyperlink" Target="https://azure.microsoft.com/en-us/services/sql-database/" TargetMode="External"/><Relationship Id="rId8" Type="http://schemas.openxmlformats.org/officeDocument/2006/relationships/hyperlink" Target="https://azure.microsoft.com/en-us/services/sql-database/" TargetMode="External"/><Relationship Id="rId9" Type="http://schemas.openxmlformats.org/officeDocument/2006/relationships/hyperlink" Target="https://azure.microsoft.com/en-us/services/sql-database/" TargetMode="External"/><Relationship Id="rId10" Type="http://schemas.openxmlformats.org/officeDocument/2006/relationships/hyperlink" Target="https://azure.microsoft.com/en-us/services/sql-database/" TargetMode="External"/><Relationship Id="rId11" Type="http://schemas.openxmlformats.org/officeDocument/2006/relationships/hyperlink" Target="https://azure.microsoft.com/en-us/services/sql-database/" TargetMode="External"/><Relationship Id="rId12" Type="http://schemas.openxmlformats.org/officeDocument/2006/relationships/hyperlink" Target="https://azure.microsoft.com/en-us/services/sql-database/" TargetMode="External"/><Relationship Id="rId13" Type="http://schemas.openxmlformats.org/officeDocument/2006/relationships/hyperlink" Target="https://azure.microsoft.com/en-us/services/sql-database/" TargetMode="External"/><Relationship Id="rId14" Type="http://schemas.openxmlformats.org/officeDocument/2006/relationships/hyperlink" Target="https://azure.microsoft.com/en-us/services/sql-database/" TargetMode="External"/><Relationship Id="rId15" Type="http://schemas.openxmlformats.org/officeDocument/2006/relationships/hyperlink" Target="https://azure.microsoft.com/en-us/services/sql-database/" TargetMode="External"/><Relationship Id="rId16" Type="http://schemas.openxmlformats.org/officeDocument/2006/relationships/hyperlink" Target="https://azure.microsoft.com/en-us/services/sql-database/" TargetMode="External"/><Relationship Id="rId17" Type="http://schemas.openxmlformats.org/officeDocument/2006/relationships/hyperlink" Target="https://azure.microsoft.com/en-us/services/sql-database/" TargetMode="External"/><Relationship Id="rId18" Type="http://schemas.openxmlformats.org/officeDocument/2006/relationships/hyperlink" Target="https://azure.microsoft.com/en-us/services/sql-database/" TargetMode="External"/><Relationship Id="rId19" Type="http://schemas.openxmlformats.org/officeDocument/2006/relationships/hyperlink" Target="https://azure.microsoft.com/en-us/services/sql-database/" TargetMode="External"/><Relationship Id="rId20" Type="http://schemas.openxmlformats.org/officeDocument/2006/relationships/hyperlink" Target="https://azure.microsoft.com/en-us/services/sql-database/" TargetMode="External"/><Relationship Id="rId21" Type="http://schemas.openxmlformats.org/officeDocument/2006/relationships/hyperlink" Target="https://azure.microsoft.com/en-us/services/sql-database/" TargetMode="External"/><Relationship Id="rId22" Type="http://schemas.openxmlformats.org/officeDocument/2006/relationships/hyperlink" Target="https://azure.microsoft.com/en-us/services/sql-database/" TargetMode="External"/><Relationship Id="rId23" Type="http://schemas.openxmlformats.org/officeDocument/2006/relationships/hyperlink" Target="https://cloud.google.com/appengine" TargetMode="External"/><Relationship Id="rId24" Type="http://schemas.openxmlformats.org/officeDocument/2006/relationships/hyperlink" Target="https://azure.microsoft.com/en-us/services/sql-database/" TargetMode="External"/><Relationship Id="rId2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docker.com/" TargetMode="External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cloud.google.com/firewalls" TargetMode="External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object 3"/>
          <p:cNvGrpSpPr/>
          <p:nvPr/>
        </p:nvGrpSpPr>
        <p:grpSpPr>
          <a:xfrm>
            <a:off x="2883240" y="3080160"/>
            <a:ext cx="6473160" cy="848160"/>
            <a:chOff x="2883240" y="3080160"/>
            <a:chExt cx="6473160" cy="848160"/>
          </a:xfrm>
        </p:grpSpPr>
        <p:pic>
          <p:nvPicPr>
            <p:cNvPr id="124" name="object 4" descr=""/>
            <p:cNvPicPr/>
            <p:nvPr/>
          </p:nvPicPr>
          <p:blipFill>
            <a:blip r:embed="rId1"/>
            <a:stretch/>
          </p:blipFill>
          <p:spPr>
            <a:xfrm>
              <a:off x="3006720" y="3159000"/>
              <a:ext cx="622800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5" name="object 5" descr=""/>
            <p:cNvPicPr/>
            <p:nvPr/>
          </p:nvPicPr>
          <p:blipFill>
            <a:blip r:embed="rId2"/>
            <a:stretch/>
          </p:blipFill>
          <p:spPr>
            <a:xfrm>
              <a:off x="2883240" y="3080160"/>
              <a:ext cx="647316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023640" y="3166920"/>
            <a:ext cx="74919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ctr">
            <a:noAutofit/>
          </a:bodyPr>
          <a:p>
            <a:pPr marL="9972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15-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Secure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Cloud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Solutions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7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128" name="object 1"/>
          <p:cNvSpPr/>
          <p:nvPr/>
        </p:nvSpPr>
        <p:spPr>
          <a:xfrm>
            <a:off x="6172200" y="572688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/>
          <p:nvPr/>
        </p:nvSpPr>
        <p:spPr>
          <a:xfrm>
            <a:off x="914400" y="684720"/>
            <a:ext cx="3885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  <a:ea typeface="DejaVu Sans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15040"/>
            <a:ext cx="891252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15.1-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Virtualization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Services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15.2-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1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1A1184D-473B-46A8-9F69-11E91AB0D4C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77698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DEPLOYMENT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6" name="object 3"/>
          <p:cNvSpPr/>
          <p:nvPr/>
        </p:nvSpPr>
        <p:spPr>
          <a:xfrm>
            <a:off x="916920" y="1711080"/>
            <a:ext cx="10314360" cy="35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cloud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deployment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model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owned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recognize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impacts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deployment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deployment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broadly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categorized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Public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(or multi-tenant)—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offered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providers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(CSPs)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consumers,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offer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subscriptions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pay-as-you-go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financing,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lower-tier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free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charge,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shared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resource,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risks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regarding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performance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security.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E60E2F3-E9EF-4250-97E1-AD19DE4E258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32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DEPLOYMENT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object 3"/>
          <p:cNvSpPr/>
          <p:nvPr/>
        </p:nvSpPr>
        <p:spPr>
          <a:xfrm>
            <a:off x="916920" y="1758960"/>
            <a:ext cx="10268640" cy="39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deployment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models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broadly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categorized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(cont.)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Private—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completely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case,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unit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dedicated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private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computing,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exercise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greater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delivery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geared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toward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banking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governmental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strict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their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ct val="90000"/>
              </a:lnSpc>
              <a:spcBef>
                <a:spcPts val="49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Community—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organizations share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costs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either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fully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is usually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done 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order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pool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common concern,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like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standardization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E1B9899-65AF-481E-A633-FC881011464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0866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916920" y="1802520"/>
            <a:ext cx="10286280" cy="42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differentiated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level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complexity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pre-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something.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 most common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implementations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infrastructure, software,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8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Infrastructure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service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(IaaS):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resources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load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balancers,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(SAN)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components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quickly,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purchase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components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links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as-needed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service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provider's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center,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Amazon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Elastic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 Cloud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aws.amazon.com/ec2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Microsoft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Azure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Virtual Machines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azure.microsoft.com/services/virtual-machines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Oracle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3"/>
              </a:rPr>
              <a:t>oracle.com/cloud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OpenStack 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4"/>
              </a:rPr>
              <a:t>openstack.org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6464971-4A1F-48C3-BC98-007BCB37FD7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228600" y="1343880"/>
            <a:ext cx="11658240" cy="5376240"/>
          </a:xfrm>
          <a:prstGeom prst="rect">
            <a:avLst/>
          </a:prstGeom>
          <a:noFill/>
          <a:ln w="0">
            <a:noFill/>
          </a:ln>
        </p:spPr>
        <p:txBody>
          <a:bodyPr lIns="0" rIns="0" tIns="43200" bIns="0" anchor="t">
            <a:noAutofit/>
          </a:bodyPr>
          <a:p>
            <a:pPr marL="666720" indent="-228600">
              <a:lnSpc>
                <a:spcPct val="90000"/>
              </a:lnSpc>
              <a:spcBef>
                <a:spcPts val="34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6744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Software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as</a:t>
            </a:r>
            <a:r>
              <a:rPr b="0" lang="en-US" sz="2000" spc="2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a</a:t>
            </a:r>
            <a:r>
              <a:rPr b="0" lang="en-US" sz="2000" spc="2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service</a:t>
            </a:r>
            <a:r>
              <a:rPr b="0" lang="en-US" sz="2000" spc="35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(SaaS):</a:t>
            </a:r>
            <a:r>
              <a:rPr b="0" lang="en-US" sz="2000" spc="4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different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model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provisioning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software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applications,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Rather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than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purchasing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software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licenses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given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number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seats,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business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would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software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hosted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supplier's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servers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pay-as-you-go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lease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arrangement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(on-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demand),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Virtual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infrastructure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allows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developers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provision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on-demand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applications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much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more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quickly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than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previously,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applications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developed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tested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cloud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without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need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test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deploy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client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computers,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</a:rPr>
              <a:t>Examples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include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Microsoft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Office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365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"/>
              </a:rPr>
              <a:t>microsoft.com/en-us/microsoft-365/enterprise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),</a:t>
            </a:r>
            <a:r>
              <a:rPr b="0" lang="en-US" sz="2000" spc="6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Salesforce</a:t>
            </a:r>
            <a:r>
              <a:rPr b="0" lang="en-US" sz="2000" spc="6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2"/>
              </a:rPr>
              <a:t>salesforce.com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),</a:t>
            </a:r>
            <a:r>
              <a:rPr b="0" lang="en-US" sz="2000" spc="6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Google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Suite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3"/>
              </a:rPr>
              <a:t>gsuite.google.com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).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None/>
              <a:tabLst>
                <a:tab algn="l" pos="667440"/>
              </a:tabLst>
            </a:pPr>
            <a:endParaRPr b="0" lang="en-US" sz="2550" spc="-1" strike="noStrike">
              <a:latin typeface="Arial"/>
            </a:endParaRPr>
          </a:p>
          <a:p>
            <a:pPr marL="666720" indent="-228600">
              <a:lnSpc>
                <a:spcPct val="90000"/>
              </a:lnSpc>
              <a:spcBef>
                <a:spcPts val="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6744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Platform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as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a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</a:rPr>
              <a:t>service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</a:rPr>
              <a:t>(PaaS):</a:t>
            </a:r>
            <a:r>
              <a:rPr b="0" lang="en-US" sz="2000" spc="35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provides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resources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somewhere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between SaaS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IaaS,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typical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PaaS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solution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would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provide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servers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storage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network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infrastructure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(as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per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IaaS)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also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provide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multi-tier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web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application/database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platform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top,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platform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be based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 Oracle 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SQL 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PHP and MySQL,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</a:rPr>
              <a:t>Examples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include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Oracle Database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4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5"/>
              </a:rPr>
              <a:t>oracle.com/database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6"/>
              </a:rPr>
              <a:t>), Microsoft 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hlinkClick r:id="rId7"/>
              </a:rPr>
              <a:t>Azure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8"/>
              </a:rPr>
              <a:t>SQL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9"/>
              </a:rPr>
              <a:t>Database 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0"/>
              </a:rPr>
              <a:t>azure.microsoft.com/services/sql-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11"/>
              </a:rPr>
              <a:t> 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12"/>
              </a:rPr>
              <a:t>database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13"/>
              </a:rPr>
              <a:t>),</a:t>
            </a:r>
            <a:r>
              <a:rPr b="0" lang="en-US" sz="2000" spc="1" strike="noStrike" u="sng">
                <a:solidFill>
                  <a:srgbClr val="0000ff"/>
                </a:solidFill>
                <a:uFillTx/>
                <a:latin typeface="Calibri"/>
                <a:hlinkClick r:id="rId14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15"/>
              </a:rPr>
              <a:t>and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16"/>
              </a:rPr>
              <a:t> Google</a:t>
            </a:r>
            <a:r>
              <a:rPr b="0" lang="en-US" sz="2000" spc="-15" strike="noStrike" u="sng">
                <a:solidFill>
                  <a:srgbClr val="0000ff"/>
                </a:solidFill>
                <a:uFillTx/>
                <a:latin typeface="Calibri"/>
                <a:hlinkClick r:id="rId17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18"/>
              </a:rPr>
              <a:t>App</a:t>
            </a:r>
            <a:r>
              <a:rPr b="0" lang="en-US" sz="2000" spc="-21" strike="noStrike" u="sng">
                <a:solidFill>
                  <a:srgbClr val="0000ff"/>
                </a:solidFill>
                <a:uFillTx/>
                <a:latin typeface="Calibri"/>
                <a:hlinkClick r:id="rId19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hlinkClick r:id="rId20"/>
              </a:rPr>
              <a:t>Engine</a:t>
            </a:r>
            <a:r>
              <a:rPr b="0" lang="en-US" sz="2000" spc="-21" strike="noStrike" u="sng">
                <a:solidFill>
                  <a:srgbClr val="0000ff"/>
                </a:solidFill>
                <a:uFillTx/>
                <a:latin typeface="Calibri"/>
                <a:hlinkClick r:id="rId21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22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hlinkClick r:id="rId23"/>
              </a:rPr>
              <a:t>cloud.google.com/appengine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hlinkClick r:id="rId24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PlaceHolder 3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8C17D99-3B6E-4E55-8175-3C1EF530E64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09360" y="437760"/>
            <a:ext cx="10372680" cy="1404360"/>
          </a:xfrm>
          <a:prstGeom prst="rect">
            <a:avLst/>
          </a:prstGeom>
          <a:noFill/>
          <a:ln w="0">
            <a:noFill/>
          </a:ln>
        </p:spPr>
        <p:txBody>
          <a:bodyPr lIns="0" rIns="0" tIns="259560" bIns="0" anchor="t">
            <a:noAutofit/>
          </a:bodyPr>
          <a:p>
            <a:pPr marL="198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VIRTUALIZATION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TECHNOLOGIES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HYPERVISOR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0" name="object 3"/>
          <p:cNvSpPr/>
          <p:nvPr/>
        </p:nvSpPr>
        <p:spPr>
          <a:xfrm>
            <a:off x="916920" y="1802520"/>
            <a:ext cx="10302120" cy="32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Virtualization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run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simultaneously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single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computer.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components:</a:t>
            </a:r>
            <a:endParaRPr b="0" lang="en-US" sz="2400" spc="-1" strike="noStrike">
              <a:latin typeface="Arial"/>
            </a:endParaRPr>
          </a:p>
          <a:p>
            <a:pPr lvl="1" marL="927000" indent="-457200">
              <a:lnSpc>
                <a:spcPts val="2160"/>
              </a:lnSpc>
              <a:spcBef>
                <a:spcPts val="556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hardware—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platform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Optionally,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together.</a:t>
            </a:r>
            <a:endParaRPr b="0" lang="en-US" sz="2000" spc="-1" strike="noStrike">
              <a:latin typeface="Arial"/>
            </a:endParaRPr>
          </a:p>
          <a:p>
            <a:pPr lvl="1" marL="927000" indent="-457200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Hypervisor/Virtual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Machine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Monitor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(VMM)—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machine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facilitates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interaction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927000" indent="-457920">
              <a:lnSpc>
                <a:spcPts val="2279"/>
              </a:lnSpc>
              <a:spcBef>
                <a:spcPts val="221"/>
              </a:spcBef>
              <a:buClr>
                <a:srgbClr val="ac172b"/>
              </a:buClr>
              <a:buFont typeface="StarSymbol"/>
              <a:buAutoNum type="arabicPeriod"/>
              <a:tabLst>
                <a:tab algn="l" pos="927000"/>
                <a:tab algn="l" pos="9277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Guest</a:t>
            </a:r>
            <a:r>
              <a:rPr b="0" lang="en-US" sz="2000" spc="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operating </a:t>
            </a: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systems,</a:t>
            </a:r>
            <a:r>
              <a:rPr b="0" lang="en-US" sz="2000" spc="29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Virtual</a:t>
            </a:r>
            <a:r>
              <a:rPr b="0" lang="en-US" sz="20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Machines</a:t>
            </a:r>
            <a:r>
              <a:rPr b="0" lang="en-US" sz="2000" spc="9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(VM)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 or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instances—operating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8AE7323-A369-4A40-A450-14514B7E3C2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09360" y="437760"/>
            <a:ext cx="11206080" cy="1576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8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VIRTUALIZATION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TECHNOLOGIES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HYPERVISOR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6" name="object 3"/>
          <p:cNvSpPr/>
          <p:nvPr/>
        </p:nvSpPr>
        <p:spPr>
          <a:xfrm>
            <a:off x="457200" y="1802520"/>
            <a:ext cx="11429640" cy="19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guest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OS (or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host-based)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 application (known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200" spc="-32" strike="noStrike">
                <a:solidFill>
                  <a:srgbClr val="ac172b"/>
                </a:solidFill>
                <a:latin typeface="Calibri"/>
                <a:ea typeface="DejaVu Sans"/>
              </a:rPr>
              <a:t>Type </a:t>
            </a:r>
            <a:r>
              <a:rPr b="0" lang="en-US" sz="2200" spc="-53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ac172b"/>
                </a:solidFill>
                <a:latin typeface="Calibri"/>
                <a:ea typeface="DejaVu Sans"/>
              </a:rPr>
              <a:t>II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hypervisor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itself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onto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host-based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VMware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ac172b"/>
                </a:solidFill>
                <a:latin typeface="Calibri"/>
                <a:ea typeface="DejaVu Sans"/>
              </a:rPr>
              <a:t>Workstation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Oracle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 Virtual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Box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Parallels</a:t>
            </a:r>
            <a:r>
              <a:rPr b="0" lang="en-US" sz="2200" spc="-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ac172b"/>
                </a:solidFill>
                <a:latin typeface="Calibri"/>
                <a:ea typeface="DejaVu Sans"/>
              </a:rPr>
              <a:t>Workstation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support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OS.</a:t>
            </a:r>
            <a:endParaRPr b="0" lang="en-US" sz="2200" spc="-1" strike="noStrike">
              <a:latin typeface="Arial"/>
            </a:endParaRPr>
          </a:p>
        </p:txBody>
      </p:sp>
      <p:grpSp>
        <p:nvGrpSpPr>
          <p:cNvPr id="167" name="object 4"/>
          <p:cNvGrpSpPr/>
          <p:nvPr/>
        </p:nvGrpSpPr>
        <p:grpSpPr>
          <a:xfrm>
            <a:off x="838080" y="4002120"/>
            <a:ext cx="10514880" cy="2626560"/>
            <a:chOff x="838080" y="4002120"/>
            <a:chExt cx="10514880" cy="2626560"/>
          </a:xfrm>
        </p:grpSpPr>
        <p:sp>
          <p:nvSpPr>
            <p:cNvPr id="168" name="object 5"/>
            <p:cNvSpPr/>
            <p:nvPr/>
          </p:nvSpPr>
          <p:spPr>
            <a:xfrm>
              <a:off x="838080" y="6400800"/>
              <a:ext cx="10514880" cy="227880"/>
            </a:xfrm>
            <a:custGeom>
              <a:avLst/>
              <a:gdLst/>
              <a:ahLst/>
              <a:rect l="l" t="t" r="r" b="b"/>
              <a:pathLst>
                <a:path w="10515600" h="228600">
                  <a:moveTo>
                    <a:pt x="10515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0515600" y="228600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69" name="object 6" descr=""/>
            <p:cNvPicPr/>
            <p:nvPr/>
          </p:nvPicPr>
          <p:blipFill>
            <a:blip r:embed="rId1"/>
            <a:stretch/>
          </p:blipFill>
          <p:spPr>
            <a:xfrm>
              <a:off x="3675960" y="4002120"/>
              <a:ext cx="4839480" cy="2419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0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DD41BEB-6349-4670-A698-39C8820E123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09360" y="437760"/>
            <a:ext cx="10372680" cy="1576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8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VIRTUALIZATION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TECHNOLOGIES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HYPERVISOR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4" name="object 3"/>
          <p:cNvSpPr/>
          <p:nvPr/>
        </p:nvSpPr>
        <p:spPr>
          <a:xfrm>
            <a:off x="916920" y="1802520"/>
            <a:ext cx="9929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bare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metal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200" spc="-21" strike="noStrike">
                <a:solidFill>
                  <a:srgbClr val="ac172b"/>
                </a:solidFill>
                <a:latin typeface="Calibri"/>
                <a:ea typeface="DejaVu Sans"/>
              </a:rPr>
              <a:t>Type </a:t>
            </a:r>
            <a:r>
              <a:rPr b="0" lang="en-US" sz="2200" spc="-1" strike="noStrike">
                <a:solidFill>
                  <a:srgbClr val="ac172b"/>
                </a:solidFill>
                <a:latin typeface="Calibri"/>
                <a:ea typeface="DejaVu Sans"/>
              </a:rPr>
              <a:t>I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hypervisor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directly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onto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manages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 </a:t>
            </a:r>
            <a:r>
              <a:rPr b="0" lang="en-US" sz="22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going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VMware</a:t>
            </a:r>
            <a:r>
              <a:rPr b="0" lang="en-US" sz="22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ESXi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ac172b"/>
                </a:solidFill>
                <a:latin typeface="Calibri"/>
                <a:ea typeface="DejaVu Sans"/>
              </a:rPr>
              <a:t>Server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Microsoft's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ac172b"/>
                </a:solidFill>
                <a:latin typeface="Calibri"/>
                <a:ea typeface="DejaVu Sans"/>
              </a:rPr>
              <a:t>Hyper-V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Citrix's</a:t>
            </a:r>
            <a:r>
              <a:rPr b="0" lang="en-US" sz="2200" spc="-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XEN </a:t>
            </a:r>
            <a:r>
              <a:rPr b="0" lang="en-US" sz="2200" spc="-52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ac172b"/>
                </a:solidFill>
                <a:latin typeface="Calibri"/>
                <a:ea typeface="DejaVu Sans"/>
              </a:rPr>
              <a:t>Server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7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6" name="object 5" descr=""/>
          <p:cNvPicPr/>
          <p:nvPr/>
        </p:nvPicPr>
        <p:blipFill>
          <a:blip r:embed="rId1"/>
          <a:stretch/>
        </p:blipFill>
        <p:spPr>
          <a:xfrm>
            <a:off x="3579840" y="3659040"/>
            <a:ext cx="5031360" cy="2397960"/>
          </a:xfrm>
          <a:prstGeom prst="rect">
            <a:avLst/>
          </a:prstGeom>
          <a:ln w="0">
            <a:noFill/>
          </a:ln>
        </p:spPr>
      </p:pic>
      <p:sp>
        <p:nvSpPr>
          <p:cNvPr id="177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B1CF843-B1C0-4CD6-AFDB-966F9346AFF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117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VIRTUAL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DESKTOP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INFRASTRUCTURE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THIN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CLIENTS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1" name="object 3"/>
          <p:cNvSpPr/>
          <p:nvPr/>
        </p:nvSpPr>
        <p:spPr>
          <a:xfrm>
            <a:off x="844920" y="1406520"/>
            <a:ext cx="10292760" cy="45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Virtual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desktop infrastructure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(VDI)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means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corporate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desktops.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VDI,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desktop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computers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replaced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low-spec,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low-power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computers.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thin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client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starts,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boots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minimal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OS, allowing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VM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desktop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(Microsoft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Desktop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Citrix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ICA,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has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correct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image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38F6FBB-EA92-4EB5-A26B-145F1D9B225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6920" y="437760"/>
            <a:ext cx="10117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VIRTUAL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DESKTOP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INFRASTRUCTURE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THIN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CLIENTS 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457200" y="1802520"/>
            <a:ext cx="11429640" cy="41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virtual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desktop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environment </a:t>
            </a:r>
            <a:r>
              <a:rPr b="0" lang="en-US" sz="2400" spc="-53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(VDE)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powerful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enough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display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screen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image,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play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audio,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mouse,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video,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audio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server,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easier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back 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desktop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VMs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easier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support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troubleshoot.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better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"locked"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against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unsecure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user practices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easily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overwritten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template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image.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VDI,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also easier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company 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completely offload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 IT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third-party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company.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BED880E-7BBC-4790-AD3E-6A501680F2B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19752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" name="object 3"/>
          <p:cNvSpPr/>
          <p:nvPr/>
        </p:nvSpPr>
        <p:spPr>
          <a:xfrm>
            <a:off x="916920" y="1802520"/>
            <a:ext cx="10176480" cy="31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virtualization dispenses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idea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instead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resource separation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level.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isolated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"cells"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in.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cell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allocated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CPU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memory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native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kernel.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best-known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virtualization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Docker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3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docker.com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6E84F49-474C-4B2A-A955-69D429E85D3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411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0" name="object 4" descr=""/>
          <p:cNvPicPr/>
          <p:nvPr/>
        </p:nvPicPr>
        <p:blipFill>
          <a:blip r:embed="rId1"/>
          <a:stretch/>
        </p:blipFill>
        <p:spPr>
          <a:xfrm>
            <a:off x="2851560" y="1841040"/>
            <a:ext cx="6136200" cy="376632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8E320FD-60CC-46C2-B6C6-5C19007AF2D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084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5" name="object 3"/>
          <p:cNvSpPr/>
          <p:nvPr/>
        </p:nvSpPr>
        <p:spPr>
          <a:xfrm>
            <a:off x="916920" y="1802520"/>
            <a:ext cx="10317240" cy="43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Clouds 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on-premises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access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 (IAM), endpoint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instances),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govern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services,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filter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traffic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logging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provide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audit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CSP's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native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functionality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cloud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Google's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native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cloud.google.com/firewalls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deployed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either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CSP's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console,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programmatically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via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line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interface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(CLI) or application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programming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(API).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ABECF80-9D10-4B19-B76D-C50919947E0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454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1" name="object 3"/>
          <p:cNvSpPr/>
          <p:nvPr/>
        </p:nvSpPr>
        <p:spPr>
          <a:xfrm>
            <a:off x="916920" y="1758960"/>
            <a:ext cx="9996120" cy="22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IAM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identity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and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management (IAM)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features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Just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on-premises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cloud-based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IAM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plus role-based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89B02CE-8A38-412A-815B-43EF0B7E81A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454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CLOUD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7" name="object 3"/>
          <p:cNvSpPr/>
          <p:nvPr/>
        </p:nvSpPr>
        <p:spPr>
          <a:xfrm>
            <a:off x="916920" y="1758960"/>
            <a:ext cx="9194760" cy="31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Secrets</a:t>
            </a:r>
            <a:r>
              <a:rPr b="0" lang="en-US" sz="2400" spc="-6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highly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remote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failure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actors.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699120"/>
              </a:tabLst>
            </a:pP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strong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risks: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9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1563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Do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CSP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day-to-day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logon</a:t>
            </a:r>
            <a:r>
              <a:rPr b="0" lang="en-US" sz="18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1800" spc="-1" strike="noStrike">
              <a:latin typeface="Arial"/>
            </a:endParaRPr>
          </a:p>
          <a:p>
            <a:pPr lvl="2" marL="1155600" indent="-228600">
              <a:lnSpc>
                <a:spcPts val="1939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1156320"/>
              </a:tabLst>
            </a:pP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18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strong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multifactor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(MFA)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interactive</a:t>
            </a:r>
            <a:r>
              <a:rPr b="0" lang="en-US" sz="18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logons.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conditional </a:t>
            </a:r>
            <a:r>
              <a:rPr b="0" lang="en-US" sz="1800" spc="-39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deny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warn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 risky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ECBECE7-7D16-4043-B8C0-136542A36F6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69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HIGH</a:t>
            </a:r>
            <a:r>
              <a:rPr b="0" lang="en-US" sz="3600" spc="-18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AVAILABILITY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3" name="object 3"/>
          <p:cNvSpPr/>
          <p:nvPr/>
        </p:nvSpPr>
        <p:spPr>
          <a:xfrm>
            <a:off x="304920" y="1406520"/>
            <a:ext cx="11581920" cy="45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benefits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resilient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failures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levels,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server,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center,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wide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area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CSP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virtualization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layer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ensure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compute,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availability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criteria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SLA.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performance tiers,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high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availability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(HA)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guarantee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99.999%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uptime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better.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on-premises architecture,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CSP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 redundancy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disk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controllers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pool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replicated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pools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groups,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pool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supported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 hardware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1AE762E-EA1B-4B26-8E90-8AB90B89DB3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2023-09-03T12:30:42Z</dcterms:created>
  <dc:creator>Ahmed Sultan</dc:creator>
  <dc:description/>
  <dc:language>en-US</dc:language>
  <cp:lastModifiedBy/>
  <dcterms:modified xsi:type="dcterms:W3CDTF">2023-09-06T20:09:38Z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