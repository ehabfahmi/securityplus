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D60A2B-B2BC-4951-941B-C6FA18EE0A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502B38-4708-4D35-8DC0-D5D3692ABD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7528CA-1D7E-48A0-A612-012E9743F5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58DDE9-27EA-456F-9402-1C5B4AB271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8DAE8A-E9BD-4FCD-979D-CAC7FA41CF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4C273E-EE35-4A2F-B95A-07E320C612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2D227F-EB44-4941-B57C-3C83C6B94D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B17FBB-D094-4386-8938-A09DC41B7E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E47A47-48E1-4ED3-94BD-1D4E7BBAFB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B70272-3B51-43CA-B84E-5434B1AFB3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850041-97C3-4CE5-B680-ECCEF654AD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4557C2-220E-4180-A33C-87A900756C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C99C23-88CC-43D2-A078-547FF260C9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BFE632-6802-40E0-8072-C6FAF327A7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5C5BD1C-A8F3-4377-B340-914CFFF27B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9E6EFFD-3722-4EF0-BECA-08675C7BA3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59869C-1D4C-439D-B7D2-4FF521DB54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896671-EB32-48E6-87FD-509221D1E8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E297D1-5137-4BA7-9A92-506964C2D8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0B722F-94E3-4852-AC7E-32A5C1F9E8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4D0124-D296-4891-9A08-5DE9AA1341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A58CFB1-B1FC-4BC3-B270-F75712DDCF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2B4234-BBEF-4B13-9F43-2E0A50CD3D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85B72F-1995-46E0-9513-8234DCCE65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63CDB3F-7BEB-4FBD-894F-0801DA12D5F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17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7B8825F-D3CA-49F9-B35D-82257269371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pcisecuritystandards.org/pci_security/" TargetMode="Externa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103120" y="3080160"/>
            <a:ext cx="8032320" cy="848160"/>
            <a:chOff x="2103120" y="3080160"/>
            <a:chExt cx="803232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187000" y="3159000"/>
              <a:ext cx="786780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103120" y="3080160"/>
              <a:ext cx="803232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203560" y="3166920"/>
            <a:ext cx="778428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3968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16-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Explaining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Data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Privacy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and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Protection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Concepts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6880"/>
            <a:ext cx="58813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 2"/>
          <p:cNvSpPr/>
          <p:nvPr/>
        </p:nvSpPr>
        <p:spPr>
          <a:xfrm>
            <a:off x="916920" y="684720"/>
            <a:ext cx="31975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  <a:ea typeface="DejaVu Sans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845532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16.1-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Sensitivity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16.2-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Protection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BCEC69B-DB29-4419-AEB3-322DA9147B7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4400" y="213840"/>
            <a:ext cx="100580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197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NC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763560" y="1166400"/>
            <a:ext cx="10208880" cy="47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thought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compromise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data's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confidentiality,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integrity,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(CIA)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triad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impact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organization.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surveying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 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solely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judge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secretly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kept,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workflows.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kept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securely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CIA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will mean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provides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read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read/write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authenticated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denies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otherwise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being encrypted,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instance).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ED4338B-3406-41AB-9727-E1B619CD9D4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PRIVACY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VS.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916920" y="1711080"/>
            <a:ext cx="10355040" cy="41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an equally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vital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factor.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Privacy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governance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requirement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arises when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collecting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Personal data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individual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1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6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r>
              <a:rPr b="0" lang="en-US" sz="2400" spc="4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6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focus</a:t>
            </a:r>
            <a:r>
              <a:rPr b="0" lang="en-US" sz="2400" spc="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6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6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CIA</a:t>
            </a:r>
            <a:r>
              <a:rPr b="0" lang="en-US" sz="2400" spc="4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attributes</a:t>
            </a:r>
            <a:r>
              <a:rPr b="0" lang="en-US" sz="2400" spc="5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5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6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privacy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storage,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retention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compliant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relevant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regulations,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limit 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only,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rights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subjects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review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held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7C0ACD2-9DCF-4686-A92D-C694F19F2D8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826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SP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628920" y="1371600"/>
            <a:ext cx="11029320" cy="45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governance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policy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each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stage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cycle.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4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important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institutional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governance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roles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oversight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94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cycle: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51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owner—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senior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(executive)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ultimate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maintaining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confidentiality,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integrity,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availability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49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steward—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primarily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responsible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quality,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tasks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ensuring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labeled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metadata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collected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with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values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comply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applicable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laws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regulations.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7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custodian—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handles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stored.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responsibility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enforcing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backup/recovery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measures.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Privacy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Officer</a:t>
            </a:r>
            <a:r>
              <a:rPr b="0" lang="en-US" sz="2000" spc="9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(DPO)—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oversight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personally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identifiable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(PII)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assets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company.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C473C5A-CE89-46C9-8DF3-9EE8FAAE556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520" cy="9151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ASS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916920" y="1586520"/>
            <a:ext cx="10162440" cy="453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classification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schema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decision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tree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applying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tags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labels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classification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schemas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based 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degree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confidentiality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Public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(unclassified)—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 restrictions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viewing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data,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disclosed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present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modified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available.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Confidential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(secret)—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highly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sensitive,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viewing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approved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owner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by trusted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under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NDA.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Critical</a:t>
            </a:r>
            <a:r>
              <a:rPr b="0" lang="en-US" sz="20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(top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secret)—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valuable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allow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capture,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Viewing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severely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restricted.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E377444-55BF-4CD9-8277-7965EC16753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4093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ASS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916920" y="1758960"/>
            <a:ext cx="9939600" cy="29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schema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identifies</a:t>
            </a:r>
            <a:r>
              <a:rPr b="1" lang="en-US" sz="24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kind of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asset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Proprietary—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proprietary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owned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company,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products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make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Private/personal</a:t>
            </a:r>
            <a:r>
              <a:rPr b="0" lang="en-US" sz="2000" spc="2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data—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relates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identity.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Sensitive—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label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usually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context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Privacy-sensitive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harm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 if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public.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D14BC36-DD79-470F-9D70-D3AA5AC587D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9720" y="124200"/>
            <a:ext cx="411192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457200" y="973800"/>
            <a:ext cx="11429640" cy="48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Personally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Identifiable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(PII)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Personally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identifiable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(PII)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identify,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contact,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locate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Social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(SSN)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good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PII.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birth,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telephone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number,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street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address,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biometric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such 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SSN,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unique;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uniquely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 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combination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example,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full name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birth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street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address).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PII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depending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context.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someone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browses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static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PII.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dynamically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considered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PII.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PII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reset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mechanisms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confirm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telephone.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ECFDF5D-FD76-438B-88CF-D144ABDBFC3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37080" y="442440"/>
            <a:ext cx="546336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937080" y="1246680"/>
            <a:ext cx="10169280" cy="42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1800" spc="-1" strike="noStrike">
                <a:solidFill>
                  <a:srgbClr val="006fc0"/>
                </a:solidFill>
                <a:latin typeface="Calibri"/>
                <a:ea typeface="DejaVu Sans"/>
              </a:rPr>
              <a:t>Health</a:t>
            </a:r>
            <a:r>
              <a:rPr b="0" lang="en-US" sz="1800" spc="-5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6fc0"/>
                </a:solidFill>
                <a:latin typeface="Calibri"/>
                <a:ea typeface="DejaVu Sans"/>
              </a:rPr>
              <a:t>Information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health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information (PHI)—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protected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health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information—refers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medical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insurance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records,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plus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associated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hospital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laboratory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results.</a:t>
            </a:r>
            <a:endParaRPr b="0" lang="en-US" sz="18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PHI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associated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anonymized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deidentified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18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research.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anonymized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identifying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removed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completely.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PHI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trades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high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values on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black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market,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making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attractive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target.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Criminals</a:t>
            </a:r>
            <a:r>
              <a:rPr b="0" lang="en-US" sz="18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seek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insurance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fraud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possibly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blackmail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victims.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PHI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extremely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sensitive</a:t>
            </a:r>
            <a:r>
              <a:rPr b="0" lang="en-US" sz="18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loss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permanent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effect.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Unlike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credit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bank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number,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changed.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Consequently,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reputational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damage that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would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caused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PHI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breach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huge.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567AE05-665E-4CC9-AFA0-9A2AE5B4BD3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76920" y="684720"/>
            <a:ext cx="5941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264600" y="2082960"/>
            <a:ext cx="11430000" cy="34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Financial</a:t>
            </a:r>
            <a:r>
              <a:rPr b="0" lang="en-US" sz="2400" spc="-5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Information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Financial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held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bank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investment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plus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payroll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tax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returns.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Payment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comprises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number,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expiry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three-digit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verification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value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(CVV).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associated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PIN,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never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transmitted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handled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merchant.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Abuse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holder's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registered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Payment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Industry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(PCI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DSS)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safe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handling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pcisecuritystandards.org/pci_security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2B439C4-F0DD-4C66-A59E-989701EA339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405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916920" y="1830960"/>
            <a:ext cx="10166400" cy="22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Government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Internally,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government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agencies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complex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collection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requirements.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federal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laws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requirements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institutions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collect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citizens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taxpayers.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shared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companies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analysis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under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strict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agreements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preserve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privacy.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54AC00B-4904-474A-9170-4A4A789EADB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4383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197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CH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ACH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916920" y="2018520"/>
            <a:ext cx="10017000" cy="29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breach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occurs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read,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modified,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deleted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"Read"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sense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media.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data</a:t>
            </a:r>
            <a:r>
              <a:rPr b="0" lang="en-US" sz="2400" spc="-12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breach</a:t>
            </a:r>
            <a:r>
              <a:rPr b="0" lang="en-US" sz="2400" spc="1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loss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(but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notably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corporate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intellectual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property),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privacy</a:t>
            </a:r>
            <a:r>
              <a:rPr b="0" lang="en-US" sz="2400" spc="-7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breach</a:t>
            </a:r>
            <a:r>
              <a:rPr b="0" lang="en-US" sz="2400" spc="-1" strike="noStrike" u="heavy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specifically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loss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disclosure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sensitive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99245B3-0D52-4E15-9C6F-268EA6123D2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797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916920" y="1371600"/>
            <a:ext cx="9949680" cy="45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 algn="just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1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states: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  <a:buNone/>
              <a:tabLst>
                <a:tab algn="l" pos="241920"/>
              </a:tabLst>
            </a:pPr>
            <a:endParaRPr b="0" lang="en-US" sz="3500" spc="-1" strike="noStrike">
              <a:latin typeface="Arial"/>
            </a:endParaRPr>
          </a:p>
          <a:p>
            <a:pPr marL="469800" indent="-457920" algn="just">
              <a:lnSpc>
                <a:spcPct val="100000"/>
              </a:lnSpc>
              <a:buClr>
                <a:srgbClr val="006fc0"/>
              </a:buClr>
              <a:buFont typeface="Arial MT"/>
              <a:buAutoNum type="arabicPeriod"/>
              <a:tabLst>
                <a:tab algn="l" pos="4705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at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rest</a:t>
            </a:r>
            <a:endParaRPr b="0" lang="en-US" sz="2400" spc="-1" strike="noStrike">
              <a:latin typeface="Arial"/>
            </a:endParaRPr>
          </a:p>
          <a:p>
            <a:pPr lvl="1" marL="698400" indent="-229320" algn="just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persistent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media.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Examples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 rest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financial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databases,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archived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audiovisual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media,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operational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management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documents,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state,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 possible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</a:t>
            </a:r>
            <a:r>
              <a:rPr b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whole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disk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encryption,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file-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folder-level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encryption.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apply permissions—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1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lists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(ACLs)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—to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read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modify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7A7A717-C821-4834-9A36-387FE8DFD17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3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781920" y="1371600"/>
            <a:ext cx="10876320" cy="44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99"/>
              </a:spcBef>
              <a:buClr>
                <a:srgbClr val="006fc0"/>
              </a:buClr>
              <a:buFont typeface="StarSymbol"/>
              <a:buAutoNum type="arabicPeriod" startAt="2"/>
              <a:tabLst>
                <a:tab algn="l" pos="469800"/>
                <a:tab algn="l" pos="470520"/>
              </a:tabLst>
            </a:pPr>
            <a:r>
              <a:rPr b="0" lang="en-US" sz="18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r>
              <a:rPr b="0" lang="en-US" sz="18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6fc0"/>
                </a:solidFill>
                <a:latin typeface="Calibri"/>
                <a:ea typeface="DejaVu Sans"/>
              </a:rPr>
              <a:t>in</a:t>
            </a:r>
            <a:r>
              <a:rPr b="0" lang="en-US" sz="18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6fc0"/>
                </a:solidFill>
                <a:latin typeface="Calibri"/>
                <a:ea typeface="DejaVu Sans"/>
              </a:rPr>
              <a:t>transit</a:t>
            </a:r>
            <a:r>
              <a:rPr b="0" lang="en-US" sz="18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6fc0"/>
                </a:solidFill>
                <a:latin typeface="Calibri"/>
                <a:ea typeface="DejaVu Sans"/>
              </a:rPr>
              <a:t>(or</a:t>
            </a:r>
            <a:r>
              <a:rPr b="0" lang="en-US" sz="1800" spc="-15" strike="noStrike">
                <a:solidFill>
                  <a:srgbClr val="006fc0"/>
                </a:solidFill>
                <a:latin typeface="Calibri"/>
                <a:ea typeface="DejaVu Sans"/>
              </a:rPr>
              <a:t> data</a:t>
            </a:r>
            <a:r>
              <a:rPr b="0" lang="en-US" sz="18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6fc0"/>
                </a:solidFill>
                <a:latin typeface="Calibri"/>
                <a:ea typeface="DejaVu Sans"/>
              </a:rPr>
              <a:t>in</a:t>
            </a:r>
            <a:r>
              <a:rPr b="0" lang="en-US" sz="18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6fc0"/>
                </a:solidFill>
                <a:latin typeface="Calibri"/>
                <a:ea typeface="DejaVu Sans"/>
              </a:rPr>
              <a:t>motion)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state</a:t>
            </a:r>
            <a:r>
              <a:rPr b="0" lang="en-US" sz="18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transmitted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1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transit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website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traffic,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traffic,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being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synchronized</a:t>
            </a:r>
            <a:r>
              <a:rPr b="0" lang="en-US" sz="18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cloud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repositories,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more.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state,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transport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protocol,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18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TLS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IPSec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1800" spc="-1" strike="noStrike">
              <a:latin typeface="Arial"/>
            </a:endParaRPr>
          </a:p>
          <a:p>
            <a:pPr marL="469800" indent="-457920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Font typeface="StarSymbol"/>
              <a:buAutoNum type="arabicPeriod" startAt="2"/>
              <a:tabLst>
                <a:tab algn="l" pos="469800"/>
                <a:tab algn="l" pos="470520"/>
              </a:tabLst>
            </a:pPr>
            <a:r>
              <a:rPr b="0" lang="en-US" sz="18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r>
              <a:rPr b="0" lang="en-US" sz="18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6fc0"/>
                </a:solidFill>
                <a:latin typeface="Calibri"/>
                <a:ea typeface="DejaVu Sans"/>
              </a:rPr>
              <a:t>in</a:t>
            </a:r>
            <a:r>
              <a:rPr b="0" lang="en-US" sz="18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6fc0"/>
                </a:solidFill>
                <a:latin typeface="Calibri"/>
                <a:ea typeface="DejaVu Sans"/>
              </a:rPr>
              <a:t>use</a:t>
            </a:r>
            <a:r>
              <a:rPr b="0" lang="en-US" sz="18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6fc0"/>
                </a:solidFill>
                <a:latin typeface="Calibri"/>
                <a:ea typeface="DejaVu Sans"/>
              </a:rPr>
              <a:t>(or</a:t>
            </a:r>
            <a:r>
              <a:rPr b="0" lang="en-US" sz="18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r>
              <a:rPr b="0" lang="en-US" sz="18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6fc0"/>
                </a:solidFill>
                <a:latin typeface="Calibri"/>
                <a:ea typeface="DejaVu Sans"/>
              </a:rPr>
              <a:t>in</a:t>
            </a:r>
            <a:r>
              <a:rPr b="0" lang="en-US" sz="1800" spc="-12" strike="noStrike">
                <a:solidFill>
                  <a:srgbClr val="006fc0"/>
                </a:solidFill>
                <a:latin typeface="Calibri"/>
                <a:ea typeface="DejaVu Sans"/>
              </a:rPr>
              <a:t> processing)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state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volatile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memory,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RAM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CPU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registers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cache.</a:t>
            </a:r>
            <a:endParaRPr b="0" lang="en-US" sz="18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Examples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documents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open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word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application,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currently being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modified,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b="0" lang="en-US" sz="18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running,</a:t>
            </a:r>
            <a:r>
              <a:rPr b="0" lang="en-US" sz="18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more.</a:t>
            </a:r>
            <a:endParaRPr b="0" lang="en-US" sz="18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works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needs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decrypted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goes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rest </a:t>
            </a:r>
            <a:r>
              <a:rPr b="0" lang="en-US" sz="18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use,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1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execution</a:t>
            </a:r>
            <a:r>
              <a:rPr b="1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</a:t>
            </a:r>
            <a:r>
              <a:rPr b="1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(TEE)</a:t>
            </a:r>
            <a:r>
              <a:rPr b="1" lang="en-US" sz="18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mechanisms,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Intel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Guard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Extensions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able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18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encrypt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exists</a:t>
            </a:r>
            <a:r>
              <a:rPr b="0" lang="en-US" sz="18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memory.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944B2F6-B24C-4BA0-9F8F-F7F077DFC45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855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X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457200" y="1451520"/>
            <a:ext cx="11429640" cy="494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exfiltration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primary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attackers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retrieve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valuable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identifiable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(PII)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payment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destined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later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sale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black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market.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exfiltration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wide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variety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mechanisms,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Copying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removable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device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USB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drive,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digital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camera,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smartphone.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Using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protocol,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HTTP,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66" strike="noStrike">
                <a:solidFill>
                  <a:srgbClr val="000000"/>
                </a:solidFill>
                <a:latin typeface="Calibri"/>
                <a:ea typeface="DejaVu Sans"/>
              </a:rPr>
              <a:t>FTP,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SSH,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Instant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Messaging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(IM)/chat.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telephone,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cell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phone,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Voice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over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(VoIP)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Cell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phone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text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possibility.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picture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video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data—if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text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converted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image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computer-based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original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image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data.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46F19DD-230E-42CB-B1C5-1517256F0DC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855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X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3" name="object 3"/>
          <p:cNvSpPr/>
          <p:nvPr/>
        </p:nvSpPr>
        <p:spPr>
          <a:xfrm>
            <a:off x="228600" y="1422360"/>
            <a:ext cx="11429640" cy="46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mitigate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through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less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easily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defeated.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protect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mechanisms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examined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previously: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sensitive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rest,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transferred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outside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mostly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useless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decryption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key.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Create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maintain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offsite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backups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targeted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destruction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ransom.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Restrict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channels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outside,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Disconnect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storing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archived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Train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 confidentiality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store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transmit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securely.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399502F-1C52-4A88-806B-ABE94B4F7BC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10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9" name="object 3"/>
          <p:cNvSpPr/>
          <p:nvPr/>
        </p:nvSpPr>
        <p:spPr>
          <a:xfrm>
            <a:off x="916920" y="1802520"/>
            <a:ext cx="10158120" cy="333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loss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prevention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(DLP)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automate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classification 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rules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viewed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transferred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proper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authorization.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consist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following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Policy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server—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classification,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confidentiality,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privacy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rules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compile reports.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Endpoint</a:t>
            </a:r>
            <a:r>
              <a:rPr b="0" lang="en-US" sz="20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agents—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policy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client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computers, even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connected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6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Network</a:t>
            </a:r>
            <a:r>
              <a:rPr b="0" lang="en-US" sz="2000" spc="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agents—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communications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borders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enforce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policy.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FDF0881-CE18-4890-AACA-EF5D2AECAD1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2023-09-03T12:32:16Z</dcterms:created>
  <dc:creator>Ahmed Sultan</dc:creator>
  <dc:description/>
  <dc:language>en-US</dc:language>
  <cp:lastModifiedBy/>
  <dcterms:modified xsi:type="dcterms:W3CDTF">2023-09-06T20:34:51Z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