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media/image1.png" ContentType="image/png"/>
  <Override PartName="/ppt/media/image3.jpeg" ContentType="image/jpeg"/>
  <Override PartName="/ppt/media/image2.png" ContentType="image/png"/>
  <Override PartName="/ppt/media/image4.jpeg" ContentType="image/jpeg"/>
  <Override PartName="/ppt/media/image5.jpeg" ContentType="image/jpeg"/>
  <Override PartName="/ppt/media/image6.png" ContentType="image/png"/>
  <Override PartName="/ppt/presProps.xml" ContentType="application/vnd.openxmlformats-officedocument.presentationml.presProps+xml"/>
  <Override PartName="/ppt/slides/slide29.xml" ContentType="application/vnd.openxmlformats-officedocument.presentationml.slide+xml"/>
  <Override PartName="/ppt/slides/slide28.xml" ContentType="application/vnd.openxmlformats-officedocument.presentationml.slide+xml"/>
  <Override PartName="/ppt/slides/slide27.xml" ContentType="application/vnd.openxmlformats-officedocument.presentationml.slide+xml"/>
  <Override PartName="/ppt/slides/slide26.xml" ContentType="application/vnd.openxmlformats-officedocument.presentationml.slide+xml"/>
  <Override PartName="/ppt/slides/slide25.xml" ContentType="application/vnd.openxmlformats-officedocument.presentationml.slide+xml"/>
  <Override PartName="/ppt/slides/slide24.xml" ContentType="application/vnd.openxmlformats-officedocument.presentationml.slide+xml"/>
  <Override PartName="/ppt/slides/slide23.xml" ContentType="application/vnd.openxmlformats-officedocument.presentationml.slide+xml"/>
  <Override PartName="/ppt/slides/slide13.xml" ContentType="application/vnd.openxmlformats-officedocument.presentationml.slide+xml"/>
  <Override PartName="/ppt/slides/_rels/slide22.xml.rels" ContentType="application/vnd.openxmlformats-package.relationships+xml"/>
  <Override PartName="/ppt/slides/_rels/slide3.xml.rels" ContentType="application/vnd.openxmlformats-package.relationships+xml"/>
  <Override PartName="/ppt/slides/_rels/slide9.xml.rels" ContentType="application/vnd.openxmlformats-package.relationships+xml"/>
  <Override PartName="/ppt/slides/_rels/slide28.xml.rels" ContentType="application/vnd.openxmlformats-package.relationships+xml"/>
  <Override PartName="/ppt/slides/_rels/slide19.xml.rels" ContentType="application/vnd.openxmlformats-package.relationships+xml"/>
  <Override PartName="/ppt/slides/_rels/slide13.xml.rels" ContentType="application/vnd.openxmlformats-package.relationships+xml"/>
  <Override PartName="/ppt/slides/_rels/slide30.xml.rels" ContentType="application/vnd.openxmlformats-package.relationships+xml"/>
  <Override PartName="/ppt/slides/_rels/slide29.xml.rels" ContentType="application/vnd.openxmlformats-package.relationships+xml"/>
  <Override PartName="/ppt/slides/_rels/slide14.xml.rels" ContentType="application/vnd.openxmlformats-package.relationships+xml"/>
  <Override PartName="/ppt/slides/_rels/slide23.xml.rels" ContentType="application/vnd.openxmlformats-package.relationships+xml"/>
  <Override PartName="/ppt/slides/_rels/slide10.xml.rels" ContentType="application/vnd.openxmlformats-package.relationships+xml"/>
  <Override PartName="/ppt/slides/_rels/slide25.xml.rels" ContentType="application/vnd.openxmlformats-package.relationships+xml"/>
  <Override PartName="/ppt/slides/_rels/slide16.xml.rels" ContentType="application/vnd.openxmlformats-package.relationships+xml"/>
  <Override PartName="/ppt/slides/_rels/slide32.xml.rels" ContentType="application/vnd.openxmlformats-package.relationships+xml"/>
  <Override PartName="/ppt/slides/_rels/slide15.xml.rels" ContentType="application/vnd.openxmlformats-package.relationships+xml"/>
  <Override PartName="/ppt/slides/_rels/slide31.xml.rels" ContentType="application/vnd.openxmlformats-package.relationships+xml"/>
  <Override PartName="/ppt/slides/_rels/slide24.xml.rels" ContentType="application/vnd.openxmlformats-package.relationships+xml"/>
  <Override PartName="/ppt/slides/_rels/slide8.xml.rels" ContentType="application/vnd.openxmlformats-package.relationships+xml"/>
  <Override PartName="/ppt/slides/_rels/slide27.xml.rels" ContentType="application/vnd.openxmlformats-package.relationships+xml"/>
  <Override PartName="/ppt/slides/_rels/slide2.xml.rels" ContentType="application/vnd.openxmlformats-package.relationships+xml"/>
  <Override PartName="/ppt/slides/_rels/slide36.xml.rels" ContentType="application/vnd.openxmlformats-package.relationships+xml"/>
  <Override PartName="/ppt/slides/_rels/slide21.xml.rels" ContentType="application/vnd.openxmlformats-package.relationships+xml"/>
  <Override PartName="/ppt/slides/_rels/slide35.xml.rels" ContentType="application/vnd.openxmlformats-package.relationships+xml"/>
  <Override PartName="/ppt/slides/_rels/slide20.xml.rels" ContentType="application/vnd.openxmlformats-package.relationships+xml"/>
  <Override PartName="/ppt/slides/_rels/slide1.xml.rels" ContentType="application/vnd.openxmlformats-package.relationships+xml"/>
  <Override PartName="/ppt/slides/_rels/slide7.xml.rels" ContentType="application/vnd.openxmlformats-package.relationships+xml"/>
  <Override PartName="/ppt/slides/_rels/slide34.xml.rels" ContentType="application/vnd.openxmlformats-package.relationships+xml"/>
  <Override PartName="/ppt/slides/_rels/slide6.xml.rels" ContentType="application/vnd.openxmlformats-package.relationships+xml"/>
  <Override PartName="/ppt/slides/_rels/slide33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26.xml.rels" ContentType="application/vnd.openxmlformats-package.relationships+xml"/>
  <Override PartName="/ppt/slides/_rels/slide11.xml.rels" ContentType="application/vnd.openxmlformats-package.relationships+xml"/>
  <Override PartName="/ppt/slides/_rels/slide17.xml.rels" ContentType="application/vnd.openxmlformats-package.relationships+xml"/>
  <Override PartName="/ppt/slides/_rels/slide18.xml.rels" ContentType="application/vnd.openxmlformats-package.relationships+xml"/>
  <Override PartName="/ppt/slides/_rels/slide12.xml.rels" ContentType="application/vnd.openxmlformats-package.relationships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10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11.xml" ContentType="application/vnd.openxmlformats-officedocument.presentationml.slide+xml"/>
  <Override PartName="/ppt/slides/slide34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2.xml" ContentType="application/vnd.openxmlformats-officedocument.presentationml.slide+xml"/>
  <Override PartName="/ppt/slides/slide1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0.xml" ContentType="application/vnd.openxmlformats-officedocument.presentationml.slide+xml"/>
  <Override PartName="/ppt/slides/slide19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slide" Target="slides/slide27.xml"/><Relationship Id="rId31" Type="http://schemas.openxmlformats.org/officeDocument/2006/relationships/slide" Target="slides/slide28.xml"/><Relationship Id="rId32" Type="http://schemas.openxmlformats.org/officeDocument/2006/relationships/slide" Target="slides/slide29.xml"/><Relationship Id="rId33" Type="http://schemas.openxmlformats.org/officeDocument/2006/relationships/slide" Target="slides/slide30.xml"/><Relationship Id="rId34" Type="http://schemas.openxmlformats.org/officeDocument/2006/relationships/slide" Target="slides/slide31.xml"/><Relationship Id="rId35" Type="http://schemas.openxmlformats.org/officeDocument/2006/relationships/slide" Target="slides/slide32.xml"/><Relationship Id="rId36" Type="http://schemas.openxmlformats.org/officeDocument/2006/relationships/slide" Target="slides/slide33.xml"/><Relationship Id="rId37" Type="http://schemas.openxmlformats.org/officeDocument/2006/relationships/slide" Target="slides/slide34.xml"/><Relationship Id="rId38" Type="http://schemas.openxmlformats.org/officeDocument/2006/relationships/slide" Target="slides/slide35.xml"/><Relationship Id="rId39" Type="http://schemas.openxmlformats.org/officeDocument/2006/relationships/slide" Target="slides/slide36.xml"/><Relationship Id="rId40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1EA0857F-F798-4166-A5E0-FE3CF3A07D94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7F21424E-F787-4F45-8F29-C8AB3353993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C07AC9BE-3B43-40CB-8681-45C5E8A33FC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DF3972F5-AB4C-422D-B019-4A34C1D72E2B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05849A64-457A-4816-9B04-0CC596FD8BC5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0E4137B8-455B-443F-9D7D-0B9CC152369B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548E581B-F262-43BE-89B0-783CB260FB5B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F87055B4-6C14-4249-B6C2-8F0920F14A77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AF81AE6D-44FA-4B2B-A1AF-E514AC2B7C2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45132723-AED6-4A3E-871A-648FE639A7BE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69ACD613-0260-4D9E-8C50-8DC44C931558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0E0E130C-192B-4812-A9B2-A16990031AD8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4DD3780E-59F8-4763-9648-9A9900BDEBE1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F4B897F5-9E9E-49D4-8515-71DA0D6E608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752FB806-00A4-4E6C-83B5-65C3863DB62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2F927FFE-188B-438F-A776-083BBFCBA024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ED077D39-4DA8-404F-97EF-9C031D9393B2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E726DF7D-BC0A-4987-8CF5-70149C7D067A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68A51BBA-D61B-406A-84A4-7C3246BCA44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65CB44A8-D94D-42A0-8DB1-B05EE6828452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6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65A07BEF-27EF-4BCD-8D4F-F3D0B0295A09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B8717724-F4D1-4A1E-8179-EEE3419D08A9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2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3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4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F3443AB4-8827-47CA-89FB-E77EDA785A37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9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80" name="PlaceHolder 6"/>
          <p:cNvSpPr>
            <a:spLocks noGrp="1"/>
          </p:cNvSpPr>
          <p:nvPr>
            <p:ph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81" name="PlaceHolder 7"/>
          <p:cNvSpPr>
            <a:spLocks noGrp="1"/>
          </p:cNvSpPr>
          <p:nvPr>
            <p:ph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9066853A-7379-46CC-A11F-37CE38BAB500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ftr" idx="1"/>
          </p:nvPr>
        </p:nvSpPr>
        <p:spPr>
          <a:xfrm>
            <a:off x="916920" y="6451560"/>
            <a:ext cx="1022400" cy="15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1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1" strike="noStrike">
                <a:solidFill>
                  <a:srgbClr val="ffffff"/>
                </a:solidFill>
                <a:latin typeface="Calibri"/>
              </a:rPr>
              <a:t>&lt;footer&gt;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sldNum" idx="2"/>
          </p:nvPr>
        </p:nvSpPr>
        <p:spPr>
          <a:xfrm>
            <a:off x="11098440" y="6451200"/>
            <a:ext cx="203400" cy="15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3816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38160">
              <a:lnSpc>
                <a:spcPts val="1046"/>
              </a:lnSpc>
              <a:buNone/>
            </a:pPr>
            <a:fld id="{E0961498-229D-4B84-82C4-4C86C6A94BBE}" type="slidenum">
              <a:rPr b="0" lang="en-US" sz="1000" spc="-7" strike="noStrike">
                <a:solidFill>
                  <a:srgbClr val="ffffff"/>
                </a:solidFill>
                <a:latin typeface="Calibri"/>
              </a:rPr>
              <a:t>&lt;number&gt;</a:t>
            </a:fld>
            <a:endParaRPr b="0" lang="en-US" sz="1000" spc="-1" strike="noStrike"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3"/>
          </p:nvPr>
        </p:nvSpPr>
        <p:spPr>
          <a:xfrm>
            <a:off x="5492520" y="6451560"/>
            <a:ext cx="1122120" cy="15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>
              <a:defRPr b="0" lang="en-US" sz="1400" spc="-1" strike="noStrike">
                <a:latin typeface="Times New Roman"/>
              </a:defRPr>
            </a:lvl1pPr>
          </a:lstStyle>
          <a:p>
            <a:r>
              <a:rPr b="0" lang="en-US" sz="1400" spc="-1" strike="noStrike">
                <a:latin typeface="Times New Roman"/>
              </a:rPr>
              <a:t>&lt;date/time&gt;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4400" spc="-1" strike="noStrike">
                <a:latin typeface="Arial"/>
              </a:rPr>
              <a:t>Click to edit the title </a:t>
            </a:r>
            <a:r>
              <a:rPr b="0" lang="en-US" sz="4400" spc="-1" strike="noStrike">
                <a:latin typeface="Arial"/>
              </a:rPr>
              <a:t>text format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Click to edit the outline text format</a:t>
            </a:r>
            <a:endParaRPr b="0" lang="en-U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latin typeface="Arial"/>
              </a:rPr>
              <a:t>Second Outline Level</a:t>
            </a:r>
            <a:endParaRPr b="0" lang="en-US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Third Outline Level</a:t>
            </a:r>
            <a:endParaRPr b="0" lang="en-US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latin typeface="Arial"/>
              </a:rPr>
              <a:t>Fourth Outline Level</a:t>
            </a:r>
            <a:endParaRPr b="0" lang="en-US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Fifth Outline Level</a:t>
            </a:r>
            <a:endParaRPr b="0" lang="en-US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Sixth Outline Level</a:t>
            </a:r>
            <a:endParaRPr b="0" lang="en-US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Seventh Outline Level</a:t>
            </a:r>
            <a:endParaRPr b="0" lang="en-US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ftr" idx="4"/>
          </p:nvPr>
        </p:nvSpPr>
        <p:spPr>
          <a:xfrm>
            <a:off x="916920" y="6451560"/>
            <a:ext cx="1022400" cy="15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1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1" strike="noStrike">
                <a:solidFill>
                  <a:srgbClr val="ffffff"/>
                </a:solidFill>
                <a:latin typeface="Calibri"/>
              </a:rPr>
              <a:t>&lt;footer&gt;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sldNum" idx="5"/>
          </p:nvPr>
        </p:nvSpPr>
        <p:spPr>
          <a:xfrm>
            <a:off x="11098440" y="6451200"/>
            <a:ext cx="203400" cy="15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3816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38160">
              <a:lnSpc>
                <a:spcPts val="1046"/>
              </a:lnSpc>
              <a:buNone/>
            </a:pPr>
            <a:fld id="{96691A81-8C4B-49F5-9DB8-C26B50B203D8}" type="slidenum">
              <a:rPr b="0" lang="en-US" sz="1000" spc="-7" strike="noStrike">
                <a:solidFill>
                  <a:srgbClr val="ffffff"/>
                </a:solidFill>
                <a:latin typeface="Calibri"/>
              </a:rPr>
              <a:t>&lt;number&gt;</a:t>
            </a:fld>
            <a:endParaRPr b="0" lang="en-US" sz="1000" spc="-1" strike="noStrike">
              <a:latin typeface="Times New Roman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dt" idx="6"/>
          </p:nvPr>
        </p:nvSpPr>
        <p:spPr>
          <a:xfrm>
            <a:off x="5492520" y="6451560"/>
            <a:ext cx="1122120" cy="15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>
              <a:defRPr b="0" lang="en-US" sz="1400" spc="-1" strike="noStrike">
                <a:latin typeface="Times New Roman"/>
              </a:defRPr>
            </a:lvl1pPr>
          </a:lstStyle>
          <a:p>
            <a:r>
              <a:rPr b="0" lang="en-US" sz="1400" spc="-1" strike="noStrike">
                <a:latin typeface="Times New Roman"/>
              </a:rPr>
              <a:t>&lt;date/time&gt;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4400" spc="-1" strike="noStrike">
                <a:latin typeface="Arial"/>
              </a:rPr>
              <a:t>Click to edit the title text format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45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Click to edit the outline text format</a:t>
            </a:r>
            <a:endParaRPr b="0" lang="en-U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latin typeface="Arial"/>
              </a:rPr>
              <a:t>Second Outline Level</a:t>
            </a:r>
            <a:endParaRPr b="0" lang="en-US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Third Outline Level</a:t>
            </a:r>
            <a:endParaRPr b="0" lang="en-US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latin typeface="Arial"/>
              </a:rPr>
              <a:t>Fourth Outline Level</a:t>
            </a:r>
            <a:endParaRPr b="0" lang="en-US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Fifth Outline Level</a:t>
            </a:r>
            <a:endParaRPr b="0" lang="en-US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Sixth Outline Level</a:t>
            </a:r>
            <a:endParaRPr b="0" lang="en-US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Seventh Outline Level</a:t>
            </a:r>
            <a:endParaRPr b="0" lang="en-US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jpeg"/><Relationship Id="rId4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hyperlink" Target="https://wmx-api-production.s3.amazonaws.com/courses/5721/supplementary/NIST.SP.800-61r2.pdf" TargetMode="External"/><Relationship Id="rId2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4.jpeg"/><Relationship Id="rId2" Type="http://schemas.openxmlformats.org/officeDocument/2006/relationships/slideLayout" Target="../slideLayouts/slideLayout13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5.jpeg"/><Relationship Id="rId2" Type="http://schemas.openxmlformats.org/officeDocument/2006/relationships/slideLayout" Target="../slideLayouts/slideLayout13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hyperlink" Target="https://attack.mitre.org/" TargetMode="External"/><Relationship Id="rId2" Type="http://schemas.openxmlformats.org/officeDocument/2006/relationships/slideLayout" Target="../slideLayouts/slideLayout1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1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hyperlink" Target="https://nxlog.co/" TargetMode="External"/><Relationship Id="rId2" Type="http://schemas.openxmlformats.org/officeDocument/2006/relationships/slideLayout" Target="../slideLayouts/slideLayout1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2" name="object 3"/>
          <p:cNvGrpSpPr/>
          <p:nvPr/>
        </p:nvGrpSpPr>
        <p:grpSpPr>
          <a:xfrm>
            <a:off x="3418200" y="3080160"/>
            <a:ext cx="5402880" cy="847800"/>
            <a:chOff x="3418200" y="3080160"/>
            <a:chExt cx="5402880" cy="847800"/>
          </a:xfrm>
        </p:grpSpPr>
        <p:pic>
          <p:nvPicPr>
            <p:cNvPr id="83" name="object 4" descr=""/>
            <p:cNvPicPr/>
            <p:nvPr/>
          </p:nvPicPr>
          <p:blipFill>
            <a:blip r:embed="rId1"/>
            <a:stretch/>
          </p:blipFill>
          <p:spPr>
            <a:xfrm>
              <a:off x="3528000" y="3159000"/>
              <a:ext cx="5185080" cy="59796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84" name="object 5" descr=""/>
            <p:cNvPicPr/>
            <p:nvPr/>
          </p:nvPicPr>
          <p:blipFill>
            <a:blip r:embed="rId2"/>
            <a:stretch/>
          </p:blipFill>
          <p:spPr>
            <a:xfrm>
              <a:off x="3418200" y="3080160"/>
              <a:ext cx="5402880" cy="847800"/>
            </a:xfrm>
            <a:prstGeom prst="rect">
              <a:avLst/>
            </a:prstGeom>
            <a:ln w="0">
              <a:noFill/>
            </a:ln>
          </p:spPr>
        </p:pic>
      </p:grpSp>
      <p:sp>
        <p:nvSpPr>
          <p:cNvPr id="85" name="PlaceHolder 1"/>
          <p:cNvSpPr>
            <a:spLocks noGrp="1"/>
          </p:cNvSpPr>
          <p:nvPr>
            <p:ph type="title"/>
          </p:nvPr>
        </p:nvSpPr>
        <p:spPr>
          <a:xfrm>
            <a:off x="3544920" y="3166920"/>
            <a:ext cx="5101920" cy="1167840"/>
          </a:xfrm>
          <a:prstGeom prst="rect">
            <a:avLst/>
          </a:prstGeom>
          <a:solidFill>
            <a:srgbClr val="e1221a"/>
          </a:solidFill>
          <a:ln w="0">
            <a:noFill/>
          </a:ln>
        </p:spPr>
        <p:txBody>
          <a:bodyPr lIns="0" rIns="0" tIns="23400" bIns="0" anchor="t">
            <a:noAutofit/>
          </a:bodyPr>
          <a:p>
            <a:pPr marL="113760">
              <a:lnSpc>
                <a:spcPct val="100000"/>
              </a:lnSpc>
              <a:spcBef>
                <a:spcPts val="184"/>
              </a:spcBef>
              <a:buNone/>
            </a:pPr>
            <a:r>
              <a:rPr b="0" lang="en-US" sz="2800" spc="-12" strike="noStrike">
                <a:solidFill>
                  <a:srgbClr val="ffffff"/>
                </a:solidFill>
                <a:latin typeface="Calibri"/>
              </a:rPr>
              <a:t>17-</a:t>
            </a:r>
            <a:r>
              <a:rPr b="0" lang="en-US" sz="2800" spc="7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2800" spc="-21" strike="noStrike">
                <a:solidFill>
                  <a:srgbClr val="ffffff"/>
                </a:solidFill>
                <a:latin typeface="Calibri"/>
              </a:rPr>
              <a:t>Performing</a:t>
            </a:r>
            <a:r>
              <a:rPr b="0" lang="en-US" sz="2800" spc="18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2800" spc="-12" strike="noStrike">
                <a:solidFill>
                  <a:srgbClr val="ffffff"/>
                </a:solidFill>
                <a:latin typeface="Calibri"/>
              </a:rPr>
              <a:t>Incident</a:t>
            </a:r>
            <a:r>
              <a:rPr b="0" lang="en-US" sz="2800" spc="7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2800" spc="-12" strike="noStrike">
                <a:solidFill>
                  <a:srgbClr val="ffffff"/>
                </a:solidFill>
                <a:latin typeface="Calibri"/>
              </a:rPr>
              <a:t>Response</a:t>
            </a:r>
            <a:endParaRPr b="0" lang="en-US" sz="2800" spc="-1" strike="noStrike">
              <a:latin typeface="Arial"/>
            </a:endParaRPr>
          </a:p>
        </p:txBody>
      </p:sp>
      <p:pic>
        <p:nvPicPr>
          <p:cNvPr id="86" name="object 7" descr=""/>
          <p:cNvPicPr/>
          <p:nvPr/>
        </p:nvPicPr>
        <p:blipFill>
          <a:blip r:embed="rId3"/>
          <a:stretch/>
        </p:blipFill>
        <p:spPr>
          <a:xfrm>
            <a:off x="5041440" y="339480"/>
            <a:ext cx="2100960" cy="1929960"/>
          </a:xfrm>
          <a:prstGeom prst="rect">
            <a:avLst/>
          </a:prstGeom>
          <a:ln w="0">
            <a:noFill/>
          </a:ln>
        </p:spPr>
      </p:pic>
      <p:sp>
        <p:nvSpPr>
          <p:cNvPr id="87" name="object 1"/>
          <p:cNvSpPr/>
          <p:nvPr/>
        </p:nvSpPr>
        <p:spPr>
          <a:xfrm>
            <a:off x="6172200" y="5727960"/>
            <a:ext cx="5880600" cy="57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38160" indent="561960">
              <a:lnSpc>
                <a:spcPct val="100000"/>
              </a:lnSpc>
              <a:spcBef>
                <a:spcPts val="99"/>
              </a:spcBef>
              <a:buNone/>
              <a:tabLst>
                <a:tab algn="l" pos="0"/>
              </a:tabLst>
            </a:pPr>
            <a:r>
              <a:rPr b="1" lang="en-US" sz="1800" spc="-7" strike="noStrike">
                <a:solidFill>
                  <a:srgbClr val="001f5f"/>
                </a:solidFill>
                <a:latin typeface="Calibri"/>
                <a:ea typeface="DejaVu Sans"/>
              </a:rPr>
              <a:t>Ehab Fahmi </a:t>
            </a:r>
            <a:r>
              <a:rPr b="1" lang="en-US" sz="1800" spc="-1" strike="noStrike">
                <a:solidFill>
                  <a:srgbClr val="001f5f"/>
                </a:solidFill>
                <a:latin typeface="Calibri"/>
                <a:ea typeface="DejaVu Sans"/>
              </a:rPr>
              <a:t> </a:t>
            </a:r>
            <a:endParaRPr b="0" lang="en-US" sz="1800" spc="-1" strike="noStrike">
              <a:latin typeface="Arial"/>
            </a:endParaRPr>
          </a:p>
          <a:p>
            <a:pPr marL="38160" indent="561960">
              <a:lnSpc>
                <a:spcPct val="100000"/>
              </a:lnSpc>
              <a:spcBef>
                <a:spcPts val="99"/>
              </a:spcBef>
              <a:buNone/>
              <a:tabLst>
                <a:tab algn="l" pos="0"/>
              </a:tabLst>
            </a:pPr>
            <a:r>
              <a:rPr b="0" lang="en-US" sz="1800" spc="-7" strike="noStrike">
                <a:solidFill>
                  <a:srgbClr val="000000"/>
                </a:solidFill>
                <a:latin typeface="Calibri"/>
                <a:ea typeface="DejaVu Sans"/>
              </a:rPr>
              <a:t>Senior Cyber Security Consultant - </a:t>
            </a:r>
            <a:r>
              <a:rPr b="0" lang="en-US" sz="18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1800" spc="-12" strike="noStrike">
                <a:solidFill>
                  <a:srgbClr val="000000"/>
                </a:solidFill>
                <a:latin typeface="Calibri"/>
                <a:ea typeface="DejaVu Sans"/>
              </a:rPr>
              <a:t>Instructor </a:t>
            </a:r>
            <a:endParaRPr b="0" lang="en-US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PlaceHolder 1"/>
          <p:cNvSpPr>
            <a:spLocks noGrp="1"/>
          </p:cNvSpPr>
          <p:nvPr>
            <p:ph type="title"/>
          </p:nvPr>
        </p:nvSpPr>
        <p:spPr>
          <a:xfrm>
            <a:off x="916920" y="684720"/>
            <a:ext cx="1534320" cy="115704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>
              <a:lnSpc>
                <a:spcPct val="100000"/>
              </a:lnSpc>
              <a:spcBef>
                <a:spcPts val="99"/>
              </a:spcBef>
              <a:buNone/>
            </a:pPr>
            <a:r>
              <a:rPr b="0" lang="en-US" sz="2800" spc="-26" strike="noStrike">
                <a:solidFill>
                  <a:srgbClr val="c00000"/>
                </a:solidFill>
                <a:latin typeface="Calibri Light"/>
              </a:rPr>
              <a:t>Outlines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89" name="object 3"/>
          <p:cNvSpPr/>
          <p:nvPr/>
        </p:nvSpPr>
        <p:spPr>
          <a:xfrm>
            <a:off x="916920" y="1715040"/>
            <a:ext cx="9597960" cy="230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05480" bIns="0" anchor="t">
            <a:spAutoFit/>
          </a:bodyPr>
          <a:p>
            <a:pPr marL="12600">
              <a:lnSpc>
                <a:spcPct val="100000"/>
              </a:lnSpc>
              <a:spcBef>
                <a:spcPts val="831"/>
              </a:spcBef>
              <a:buNone/>
            </a:pPr>
            <a:r>
              <a:rPr b="0" lang="en-US" sz="2200" spc="-7" strike="noStrike">
                <a:solidFill>
                  <a:srgbClr val="ba2709"/>
                </a:solidFill>
                <a:latin typeface="Calibri"/>
                <a:ea typeface="DejaVu Sans"/>
              </a:rPr>
              <a:t>17.1-</a:t>
            </a:r>
            <a:r>
              <a:rPr b="0" lang="en-US" sz="2200" spc="-12" strike="noStrike">
                <a:solidFill>
                  <a:srgbClr val="ba2709"/>
                </a:solidFill>
                <a:latin typeface="Calibri"/>
                <a:ea typeface="DejaVu Sans"/>
              </a:rPr>
              <a:t> </a:t>
            </a:r>
            <a:r>
              <a:rPr b="0" lang="en-US" sz="2200" spc="-15" strike="noStrike">
                <a:solidFill>
                  <a:srgbClr val="000000"/>
                </a:solidFill>
                <a:latin typeface="Calibri"/>
                <a:ea typeface="DejaVu Sans"/>
              </a:rPr>
              <a:t>Summarize</a:t>
            </a:r>
            <a:r>
              <a:rPr b="0" lang="en-US" sz="2200" spc="18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Incident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Response</a:t>
            </a:r>
            <a:r>
              <a:rPr b="0" lang="en-US" sz="22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Procedures</a:t>
            </a:r>
            <a:endParaRPr b="0" lang="en-US" sz="2200" spc="-1" strike="noStrike">
              <a:latin typeface="Arial"/>
            </a:endParaRPr>
          </a:p>
          <a:p>
            <a:pPr marL="12600">
              <a:lnSpc>
                <a:spcPts val="3379"/>
              </a:lnSpc>
              <a:spcBef>
                <a:spcPts val="230"/>
              </a:spcBef>
              <a:buNone/>
            </a:pPr>
            <a:r>
              <a:rPr b="0" lang="en-US" sz="2200" spc="-7" strike="noStrike">
                <a:solidFill>
                  <a:srgbClr val="ba2709"/>
                </a:solidFill>
                <a:latin typeface="Calibri"/>
                <a:ea typeface="DejaVu Sans"/>
              </a:rPr>
              <a:t>17.2- </a:t>
            </a:r>
            <a:r>
              <a:rPr b="0" lang="en-US" sz="2200" spc="-15" strike="noStrike">
                <a:solidFill>
                  <a:srgbClr val="000000"/>
                </a:solidFill>
                <a:latin typeface="Calibri"/>
                <a:ea typeface="DejaVu Sans"/>
              </a:rPr>
              <a:t>Utilize</a:t>
            </a:r>
            <a:r>
              <a:rPr b="0" lang="en-US" sz="2200" spc="18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5" strike="noStrike">
                <a:solidFill>
                  <a:srgbClr val="000000"/>
                </a:solidFill>
                <a:latin typeface="Calibri"/>
                <a:ea typeface="DejaVu Sans"/>
              </a:rPr>
              <a:t>Appropriate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21" strike="noStrike">
                <a:solidFill>
                  <a:srgbClr val="000000"/>
                </a:solidFill>
                <a:latin typeface="Calibri"/>
                <a:ea typeface="DejaVu Sans"/>
              </a:rPr>
              <a:t>Data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Sources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5" strike="noStrike">
                <a:solidFill>
                  <a:srgbClr val="000000"/>
                </a:solidFill>
                <a:latin typeface="Calibri"/>
                <a:ea typeface="DejaVu Sans"/>
              </a:rPr>
              <a:t>for</a:t>
            </a:r>
            <a:r>
              <a:rPr b="0" lang="en-US" sz="22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Incident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Response </a:t>
            </a:r>
            <a:r>
              <a:rPr b="0" lang="en-US" sz="2200" spc="-48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endParaRPr b="0" lang="en-US" sz="2200" spc="-1" strike="noStrike">
              <a:latin typeface="Arial"/>
            </a:endParaRPr>
          </a:p>
          <a:p>
            <a:pPr marL="12600">
              <a:lnSpc>
                <a:spcPts val="3379"/>
              </a:lnSpc>
              <a:spcBef>
                <a:spcPts val="230"/>
              </a:spcBef>
              <a:buNone/>
            </a:pPr>
            <a:r>
              <a:rPr b="0" lang="en-US" sz="2200" spc="-7" strike="noStrike">
                <a:solidFill>
                  <a:srgbClr val="ac172b"/>
                </a:solidFill>
                <a:latin typeface="Calibri"/>
                <a:ea typeface="DejaVu Sans"/>
              </a:rPr>
              <a:t>17.3-</a:t>
            </a:r>
            <a:r>
              <a:rPr b="0" lang="en-US" sz="2200" spc="-15" strike="noStrike">
                <a:solidFill>
                  <a:srgbClr val="ac172b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Apply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Mitigation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Controls</a:t>
            </a:r>
            <a:endParaRPr b="0" lang="en-US" sz="2200" spc="-1" strike="noStrike"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26"/>
              </a:spcBef>
              <a:buNone/>
            </a:pPr>
            <a:endParaRPr b="0" lang="en-US" sz="3000" spc="-1" strike="noStrike"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6"/>
              </a:spcBef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90" name="object 4"/>
          <p:cNvSpPr/>
          <p:nvPr/>
        </p:nvSpPr>
        <p:spPr>
          <a:xfrm>
            <a:off x="838080" y="6400800"/>
            <a:ext cx="10514520" cy="227520"/>
          </a:xfrm>
          <a:custGeom>
            <a:avLst/>
            <a:gdLst/>
            <a:ahLst/>
            <a:rect l="l" t="t" r="r" b="b"/>
            <a:pathLst>
              <a:path w="10515600" h="228600">
                <a:moveTo>
                  <a:pt x="10515600" y="0"/>
                </a:moveTo>
                <a:lnTo>
                  <a:pt x="0" y="0"/>
                </a:lnTo>
                <a:lnTo>
                  <a:pt x="0" y="228600"/>
                </a:lnTo>
                <a:lnTo>
                  <a:pt x="10515600" y="228600"/>
                </a:lnTo>
                <a:lnTo>
                  <a:pt x="10515600" y="0"/>
                </a:lnTo>
                <a:close/>
              </a:path>
            </a:pathLst>
          </a:custGeom>
          <a:solidFill>
            <a:srgbClr val="c00000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91" name="PlaceHolder 2"/>
          <p:cNvSpPr>
            <a:spLocks noGrp="1"/>
          </p:cNvSpPr>
          <p:nvPr>
            <p:ph type="ftr" idx="7"/>
          </p:nvPr>
        </p:nvSpPr>
        <p:spPr>
          <a:xfrm>
            <a:off x="916920" y="6451560"/>
            <a:ext cx="102240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Security+</a:t>
            </a:r>
            <a:r>
              <a:rPr b="0" lang="en-US" sz="1000" spc="-46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(SY0-601)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92" name="PlaceHolder 3"/>
          <p:cNvSpPr>
            <a:spLocks noGrp="1"/>
          </p:cNvSpPr>
          <p:nvPr>
            <p:ph type="dt" idx="8"/>
          </p:nvPr>
        </p:nvSpPr>
        <p:spPr>
          <a:xfrm>
            <a:off x="5492520" y="6451560"/>
            <a:ext cx="112212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©</a:t>
            </a:r>
            <a:r>
              <a:rPr b="0" lang="en-US" sz="1000" spc="-41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netriders.academy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93" name="PlaceHolder 4"/>
          <p:cNvSpPr>
            <a:spLocks noGrp="1"/>
          </p:cNvSpPr>
          <p:nvPr>
            <p:ph type="sldNum" idx="9"/>
          </p:nvPr>
        </p:nvSpPr>
        <p:spPr>
          <a:xfrm>
            <a:off x="11098440" y="6451200"/>
            <a:ext cx="20340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3816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38160">
              <a:lnSpc>
                <a:spcPts val="1046"/>
              </a:lnSpc>
              <a:buNone/>
            </a:pPr>
            <a:fld id="{12BC2D8D-E5F9-401F-8E63-9C9A68566970}" type="slidenum">
              <a:rPr b="0" lang="en-US" sz="1000" spc="-7" strike="noStrike">
                <a:solidFill>
                  <a:srgbClr val="ffffff"/>
                </a:solidFill>
                <a:latin typeface="Calibri"/>
              </a:rPr>
              <a:t>&lt;number&gt;</a:t>
            </a:fld>
            <a:endParaRPr b="0" lang="en-US" sz="10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916920" y="914400"/>
            <a:ext cx="7540920" cy="68544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>
              <a:lnSpc>
                <a:spcPct val="100000"/>
              </a:lnSpc>
              <a:spcBef>
                <a:spcPts val="99"/>
              </a:spcBef>
              <a:buNone/>
            </a:pPr>
            <a:r>
              <a:rPr b="0" lang="en-US" sz="3600" spc="-32" strike="noStrike">
                <a:solidFill>
                  <a:srgbClr val="c00000"/>
                </a:solidFill>
                <a:latin typeface="Calibri Light"/>
              </a:rPr>
              <a:t>INCIDENT</a:t>
            </a:r>
            <a:r>
              <a:rPr b="0" lang="en-US" sz="3600" spc="-100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35" strike="noStrike">
                <a:solidFill>
                  <a:srgbClr val="c00000"/>
                </a:solidFill>
                <a:latin typeface="Calibri Light"/>
              </a:rPr>
              <a:t>RESPONSE</a:t>
            </a:r>
            <a:r>
              <a:rPr b="0" lang="en-US" sz="3600" spc="-97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41" strike="noStrike">
                <a:solidFill>
                  <a:srgbClr val="c00000"/>
                </a:solidFill>
                <a:latin typeface="Calibri Light"/>
              </a:rPr>
              <a:t>PROCESS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95" name="object 3"/>
          <p:cNvSpPr/>
          <p:nvPr/>
        </p:nvSpPr>
        <p:spPr>
          <a:xfrm>
            <a:off x="916920" y="1802520"/>
            <a:ext cx="10240920" cy="40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54000" bIns="0" anchor="t">
            <a:spAutoFit/>
          </a:bodyPr>
          <a:p>
            <a:pPr marL="241200" indent="-229320">
              <a:lnSpc>
                <a:spcPts val="2591"/>
              </a:lnSpc>
              <a:spcBef>
                <a:spcPts val="425"/>
              </a:spcBef>
              <a:buClr>
                <a:srgbClr val="006fc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7" strike="noStrike">
                <a:solidFill>
                  <a:srgbClr val="006fc0"/>
                </a:solidFill>
                <a:latin typeface="Calibri"/>
                <a:ea typeface="DejaVu Sans"/>
              </a:rPr>
              <a:t>Incident response policy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sets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the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resources, processes,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and guidelines 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for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dealing </a:t>
            </a:r>
            <a:r>
              <a:rPr b="0" lang="en-US" sz="2400" spc="-53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with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security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incidents.</a:t>
            </a:r>
            <a:endParaRPr b="0" lang="en-US" sz="2400" spc="-1" strike="noStrike">
              <a:latin typeface="Arial"/>
            </a:endParaRPr>
          </a:p>
          <a:p>
            <a:pPr marL="241200" indent="-229320">
              <a:lnSpc>
                <a:spcPct val="100000"/>
              </a:lnSpc>
              <a:spcBef>
                <a:spcPts val="686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Incident</a:t>
            </a:r>
            <a:r>
              <a:rPr b="0" lang="en-US" sz="2400" spc="-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management</a:t>
            </a:r>
            <a:r>
              <a:rPr b="0" lang="en-US" sz="2400" spc="-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is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vital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to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mitigating</a:t>
            </a:r>
            <a:r>
              <a:rPr b="0" lang="en-US" sz="2400" spc="-5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risk.</a:t>
            </a:r>
            <a:endParaRPr b="0" lang="en-US" sz="2400" spc="-1" strike="noStrike">
              <a:latin typeface="Arial"/>
            </a:endParaRPr>
          </a:p>
          <a:p>
            <a:pPr marL="241200" indent="-229320">
              <a:lnSpc>
                <a:spcPts val="2591"/>
              </a:lnSpc>
              <a:spcBef>
                <a:spcPts val="1040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As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well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as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controlling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the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immediate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or specific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threat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to 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security,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effective </a:t>
            </a:r>
            <a:r>
              <a:rPr b="0" lang="en-US" sz="2400" spc="-53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incident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management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preserves</a:t>
            </a:r>
            <a:r>
              <a:rPr b="0" lang="en-US" sz="2400" spc="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an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organization's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reputation.</a:t>
            </a:r>
            <a:endParaRPr b="0" lang="en-US" sz="2400" spc="-1" strike="noStrike">
              <a:latin typeface="Arial"/>
            </a:endParaRPr>
          </a:p>
          <a:p>
            <a:pPr marL="241200" indent="-229320">
              <a:lnSpc>
                <a:spcPts val="2591"/>
              </a:lnSpc>
              <a:spcBef>
                <a:spcPts val="1001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Incident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response</a:t>
            </a:r>
            <a:r>
              <a:rPr b="0" lang="en-US" sz="2400" spc="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follows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a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well-structured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process,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such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as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that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set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out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in the </a:t>
            </a:r>
            <a:r>
              <a:rPr b="0" lang="en-US" sz="2400" spc="-52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NIST Computer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Security Incident Handling Guide special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publication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(</a:t>
            </a:r>
            <a:r>
              <a:rPr b="0" lang="en-US" sz="2400" spc="-15" strike="noStrike" u="heavy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ea typeface="DejaVu Sans"/>
                <a:hlinkClick r:id="rId1"/>
              </a:rPr>
              <a:t>nvlpubs.nist.gov/nistpubs/SpecialPublications/NIST.SP.800-61r2.pdf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).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96" name="object 4"/>
          <p:cNvSpPr/>
          <p:nvPr/>
        </p:nvSpPr>
        <p:spPr>
          <a:xfrm>
            <a:off x="838080" y="6400800"/>
            <a:ext cx="10514520" cy="227520"/>
          </a:xfrm>
          <a:custGeom>
            <a:avLst/>
            <a:gdLst/>
            <a:ahLst/>
            <a:rect l="l" t="t" r="r" b="b"/>
            <a:pathLst>
              <a:path w="10515600" h="228600">
                <a:moveTo>
                  <a:pt x="10515600" y="0"/>
                </a:moveTo>
                <a:lnTo>
                  <a:pt x="0" y="0"/>
                </a:lnTo>
                <a:lnTo>
                  <a:pt x="0" y="228600"/>
                </a:lnTo>
                <a:lnTo>
                  <a:pt x="10515600" y="228600"/>
                </a:lnTo>
                <a:lnTo>
                  <a:pt x="10515600" y="0"/>
                </a:lnTo>
                <a:close/>
              </a:path>
            </a:pathLst>
          </a:custGeom>
          <a:solidFill>
            <a:srgbClr val="c00000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97" name="PlaceHolder 2"/>
          <p:cNvSpPr>
            <a:spLocks noGrp="1"/>
          </p:cNvSpPr>
          <p:nvPr>
            <p:ph type="ftr" idx="10"/>
          </p:nvPr>
        </p:nvSpPr>
        <p:spPr>
          <a:xfrm>
            <a:off x="916920" y="6451560"/>
            <a:ext cx="102240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Security+</a:t>
            </a:r>
            <a:r>
              <a:rPr b="0" lang="en-US" sz="1000" spc="-46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(SY0-601)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98" name="PlaceHolder 3"/>
          <p:cNvSpPr>
            <a:spLocks noGrp="1"/>
          </p:cNvSpPr>
          <p:nvPr>
            <p:ph type="dt" idx="11"/>
          </p:nvPr>
        </p:nvSpPr>
        <p:spPr>
          <a:xfrm>
            <a:off x="5492520" y="6451560"/>
            <a:ext cx="112212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©</a:t>
            </a:r>
            <a:r>
              <a:rPr b="0" lang="en-US" sz="1000" spc="-41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netriders.academy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99" name="PlaceHolder 4"/>
          <p:cNvSpPr>
            <a:spLocks noGrp="1"/>
          </p:cNvSpPr>
          <p:nvPr>
            <p:ph type="sldNum" idx="12"/>
          </p:nvPr>
        </p:nvSpPr>
        <p:spPr>
          <a:xfrm>
            <a:off x="11098440" y="6451200"/>
            <a:ext cx="20340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3816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38160">
              <a:lnSpc>
                <a:spcPts val="1046"/>
              </a:lnSpc>
              <a:buNone/>
            </a:pPr>
            <a:fld id="{FA2A639B-2F7C-4996-A636-8117F7156CAE}" type="slidenum">
              <a:rPr b="0" lang="en-US" sz="1000" spc="-7" strike="noStrike">
                <a:solidFill>
                  <a:srgbClr val="ffffff"/>
                </a:solidFill>
                <a:latin typeface="Calibri"/>
              </a:rPr>
              <a:t>&lt;number&gt;</a:t>
            </a:fld>
            <a:endParaRPr b="0" lang="en-US" sz="10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916920" y="684720"/>
            <a:ext cx="10284480" cy="68688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>
              <a:lnSpc>
                <a:spcPct val="100000"/>
              </a:lnSpc>
              <a:spcBef>
                <a:spcPts val="99"/>
              </a:spcBef>
              <a:buNone/>
            </a:pPr>
            <a:r>
              <a:rPr b="0" lang="en-US" sz="3600" spc="-32" strike="noStrike">
                <a:solidFill>
                  <a:srgbClr val="c00000"/>
                </a:solidFill>
                <a:latin typeface="Calibri Light"/>
              </a:rPr>
              <a:t>INCIDENT</a:t>
            </a:r>
            <a:r>
              <a:rPr b="0" lang="en-US" sz="3600" spc="-97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35" strike="noStrike">
                <a:solidFill>
                  <a:srgbClr val="c00000"/>
                </a:solidFill>
                <a:latin typeface="Calibri Light"/>
              </a:rPr>
              <a:t>RESPONSE</a:t>
            </a:r>
            <a:r>
              <a:rPr b="0" lang="en-US" sz="3600" spc="-86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41" strike="noStrike">
                <a:solidFill>
                  <a:srgbClr val="c00000"/>
                </a:solidFill>
                <a:latin typeface="Calibri Light"/>
              </a:rPr>
              <a:t>PROCESS</a:t>
            </a:r>
            <a:r>
              <a:rPr b="0" lang="en-US" sz="3600" spc="-86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32" strike="noStrike">
                <a:solidFill>
                  <a:srgbClr val="c00000"/>
                </a:solidFill>
                <a:latin typeface="Calibri Light"/>
              </a:rPr>
              <a:t>(cont.)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101" name="object 3"/>
          <p:cNvSpPr/>
          <p:nvPr/>
        </p:nvSpPr>
        <p:spPr>
          <a:xfrm>
            <a:off x="863280" y="1600200"/>
            <a:ext cx="10338120" cy="461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56520" bIns="0" anchor="t">
            <a:spAutoFit/>
          </a:bodyPr>
          <a:p>
            <a:pPr marL="241200" indent="-229320">
              <a:lnSpc>
                <a:spcPct val="100000"/>
              </a:lnSpc>
              <a:spcBef>
                <a:spcPts val="445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following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are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principal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stages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in an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incident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response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life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cycle:</a:t>
            </a:r>
            <a:endParaRPr b="0" lang="en-US" sz="2400" spc="-1" strike="noStrike">
              <a:latin typeface="Arial"/>
            </a:endParaRPr>
          </a:p>
          <a:p>
            <a:pPr lvl="1" marL="698400" indent="-228600">
              <a:lnSpc>
                <a:spcPct val="90000"/>
              </a:lnSpc>
              <a:spcBef>
                <a:spcPts val="530"/>
              </a:spcBef>
              <a:buClr>
                <a:srgbClr val="ac172b"/>
              </a:buClr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000" spc="-12" strike="noStrike">
                <a:solidFill>
                  <a:srgbClr val="ac172b"/>
                </a:solidFill>
                <a:latin typeface="Calibri"/>
                <a:ea typeface="DejaVu Sans"/>
              </a:rPr>
              <a:t>Preparation—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make</a:t>
            </a:r>
            <a:r>
              <a:rPr b="0" lang="en-US" sz="2000" spc="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the </a:t>
            </a:r>
            <a:r>
              <a:rPr b="0" lang="en-US" sz="2000" spc="-21" strike="noStrike">
                <a:solidFill>
                  <a:srgbClr val="000000"/>
                </a:solidFill>
                <a:latin typeface="Calibri"/>
                <a:ea typeface="DejaVu Sans"/>
              </a:rPr>
              <a:t>system</a:t>
            </a:r>
            <a:r>
              <a:rPr b="0" lang="en-US" sz="2000" spc="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resilient</a:t>
            </a:r>
            <a:r>
              <a:rPr b="0" lang="en-US" sz="2000" spc="3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to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attack</a:t>
            </a:r>
            <a:r>
              <a:rPr b="0" lang="en-US" sz="2000" spc="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in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the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first</a:t>
            </a:r>
            <a:r>
              <a:rPr b="0" lang="en-US" sz="2000" spc="2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place, This</a:t>
            </a:r>
            <a:r>
              <a:rPr b="0" lang="en-US" sz="2000" spc="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includes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hardening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systems,</a:t>
            </a:r>
            <a:r>
              <a:rPr b="0" lang="en-US" sz="2000" spc="18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writing policies</a:t>
            </a:r>
            <a:r>
              <a:rPr b="0" lang="en-US" sz="2000" spc="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and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procedures,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and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setting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up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confidential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lines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of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communication, </a:t>
            </a:r>
            <a:r>
              <a:rPr b="0" lang="en-US" sz="2000" spc="-43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It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also</a:t>
            </a:r>
            <a:r>
              <a:rPr b="0" lang="en-US" sz="2000" spc="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implies</a:t>
            </a:r>
            <a:r>
              <a:rPr b="0" lang="en-US" sz="2000" spc="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creating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incident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response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resources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and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procedures.</a:t>
            </a:r>
            <a:endParaRPr b="0" lang="en-US" sz="2000" spc="-1" strike="noStrike">
              <a:latin typeface="Arial"/>
            </a:endParaRPr>
          </a:p>
          <a:p>
            <a:pPr lvl="1" marL="698400" indent="-228600">
              <a:lnSpc>
                <a:spcPts val="2160"/>
              </a:lnSpc>
              <a:spcBef>
                <a:spcPts val="519"/>
              </a:spcBef>
              <a:buClr>
                <a:srgbClr val="ac172b"/>
              </a:buClr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000" spc="-7" strike="noStrike">
                <a:solidFill>
                  <a:srgbClr val="ac172b"/>
                </a:solidFill>
                <a:latin typeface="Calibri"/>
                <a:ea typeface="DejaVu Sans"/>
              </a:rPr>
              <a:t>Identification—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from</a:t>
            </a:r>
            <a:r>
              <a:rPr b="0" lang="en-US" sz="2000" spc="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the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information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in</a:t>
            </a:r>
            <a:r>
              <a:rPr b="0" lang="en-US" sz="2000" spc="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an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alert</a:t>
            </a:r>
            <a:r>
              <a:rPr b="0" lang="en-US" sz="2000" spc="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or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report,</a:t>
            </a:r>
            <a:r>
              <a:rPr b="0" lang="en-US" sz="2000" spc="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determine</a:t>
            </a:r>
            <a:r>
              <a:rPr b="0" lang="en-US" sz="2000" spc="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whether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an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incident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has </a:t>
            </a:r>
            <a:r>
              <a:rPr b="0" lang="en-US" sz="2000" spc="-43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21" strike="noStrike">
                <a:solidFill>
                  <a:srgbClr val="000000"/>
                </a:solidFill>
                <a:latin typeface="Calibri"/>
                <a:ea typeface="DejaVu Sans"/>
              </a:rPr>
              <a:t>taken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place,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assess</a:t>
            </a:r>
            <a:r>
              <a:rPr b="0" lang="en-US" sz="2000" spc="18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how</a:t>
            </a:r>
            <a:r>
              <a:rPr b="0" lang="en-US" sz="20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severe</a:t>
            </a:r>
            <a:r>
              <a:rPr b="0" lang="en-US" sz="2000" spc="18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it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might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be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(triage),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and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notify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stakeholders.</a:t>
            </a:r>
            <a:endParaRPr b="0" lang="en-US" sz="2000" spc="-1" strike="noStrike">
              <a:latin typeface="Arial"/>
            </a:endParaRPr>
          </a:p>
          <a:p>
            <a:pPr lvl="1" marL="698400" indent="-228600" algn="just">
              <a:lnSpc>
                <a:spcPts val="2160"/>
              </a:lnSpc>
              <a:spcBef>
                <a:spcPts val="505"/>
              </a:spcBef>
              <a:buClr>
                <a:srgbClr val="ac172b"/>
              </a:buClr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000" spc="-12" strike="noStrike">
                <a:solidFill>
                  <a:srgbClr val="ac172b"/>
                </a:solidFill>
                <a:latin typeface="Calibri"/>
                <a:ea typeface="DejaVu Sans"/>
              </a:rPr>
              <a:t>Containment—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limit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the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scope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and magnitude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of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the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incident, The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principal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aim of incident </a:t>
            </a:r>
            <a:r>
              <a:rPr b="0" lang="en-US" sz="2000" spc="-440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response is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to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secure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data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while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limiting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the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immediate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impact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on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customers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and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business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partners.</a:t>
            </a:r>
            <a:endParaRPr b="0" lang="en-US" sz="2000" spc="-1" strike="noStrike">
              <a:latin typeface="Arial"/>
            </a:endParaRPr>
          </a:p>
          <a:p>
            <a:pPr lvl="1" marL="698400" indent="-228600" algn="just">
              <a:lnSpc>
                <a:spcPts val="2160"/>
              </a:lnSpc>
              <a:spcBef>
                <a:spcPts val="505"/>
              </a:spcBef>
              <a:buClr>
                <a:srgbClr val="ac172b"/>
              </a:buClr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000" spc="-7" strike="noStrike">
                <a:solidFill>
                  <a:srgbClr val="ac172b"/>
                </a:solidFill>
                <a:latin typeface="Calibri"/>
                <a:ea typeface="DejaVu Sans"/>
              </a:rPr>
              <a:t>Eradication—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once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the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incident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is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contained,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remove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the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cause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and </a:t>
            </a:r>
            <a:r>
              <a:rPr b="0" lang="en-US" sz="2000" spc="-21" strike="noStrike">
                <a:solidFill>
                  <a:srgbClr val="000000"/>
                </a:solidFill>
                <a:latin typeface="Calibri"/>
                <a:ea typeface="DejaVu Sans"/>
              </a:rPr>
              <a:t>restore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the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affected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21" strike="noStrike">
                <a:solidFill>
                  <a:srgbClr val="000000"/>
                </a:solidFill>
                <a:latin typeface="Calibri"/>
                <a:ea typeface="DejaVu Sans"/>
              </a:rPr>
              <a:t>system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to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a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secure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21" strike="noStrike">
                <a:solidFill>
                  <a:srgbClr val="000000"/>
                </a:solidFill>
                <a:latin typeface="Calibri"/>
                <a:ea typeface="DejaVu Sans"/>
              </a:rPr>
              <a:t>state</a:t>
            </a:r>
            <a:r>
              <a:rPr b="0" lang="en-US" sz="2000" spc="2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by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applying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secure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configuration</a:t>
            </a:r>
            <a:r>
              <a:rPr b="0" lang="en-US" sz="2000" spc="-3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settings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and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installing</a:t>
            </a:r>
            <a:r>
              <a:rPr b="0" lang="en-US" sz="2000" spc="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patches.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102" name="object 4"/>
          <p:cNvSpPr/>
          <p:nvPr/>
        </p:nvSpPr>
        <p:spPr>
          <a:xfrm>
            <a:off x="838080" y="6400800"/>
            <a:ext cx="10514520" cy="227520"/>
          </a:xfrm>
          <a:custGeom>
            <a:avLst/>
            <a:gdLst/>
            <a:ahLst/>
            <a:rect l="l" t="t" r="r" b="b"/>
            <a:pathLst>
              <a:path w="10515600" h="228600">
                <a:moveTo>
                  <a:pt x="10515600" y="0"/>
                </a:moveTo>
                <a:lnTo>
                  <a:pt x="0" y="0"/>
                </a:lnTo>
                <a:lnTo>
                  <a:pt x="0" y="228600"/>
                </a:lnTo>
                <a:lnTo>
                  <a:pt x="10515600" y="228600"/>
                </a:lnTo>
                <a:lnTo>
                  <a:pt x="10515600" y="0"/>
                </a:lnTo>
                <a:close/>
              </a:path>
            </a:pathLst>
          </a:custGeom>
          <a:solidFill>
            <a:srgbClr val="c00000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03" name="PlaceHolder 2"/>
          <p:cNvSpPr>
            <a:spLocks noGrp="1"/>
          </p:cNvSpPr>
          <p:nvPr>
            <p:ph type="ftr" idx="13"/>
          </p:nvPr>
        </p:nvSpPr>
        <p:spPr>
          <a:xfrm>
            <a:off x="916920" y="6451560"/>
            <a:ext cx="102240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Security+</a:t>
            </a:r>
            <a:r>
              <a:rPr b="0" lang="en-US" sz="1000" spc="-46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(SY0-601)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104" name="PlaceHolder 3"/>
          <p:cNvSpPr>
            <a:spLocks noGrp="1"/>
          </p:cNvSpPr>
          <p:nvPr>
            <p:ph type="dt" idx="14"/>
          </p:nvPr>
        </p:nvSpPr>
        <p:spPr>
          <a:xfrm>
            <a:off x="5492520" y="6451560"/>
            <a:ext cx="112212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©</a:t>
            </a:r>
            <a:r>
              <a:rPr b="0" lang="en-US" sz="1000" spc="-41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netriders.academy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105" name="PlaceHolder 4"/>
          <p:cNvSpPr>
            <a:spLocks noGrp="1"/>
          </p:cNvSpPr>
          <p:nvPr>
            <p:ph type="sldNum" idx="15"/>
          </p:nvPr>
        </p:nvSpPr>
        <p:spPr>
          <a:xfrm>
            <a:off x="11098440" y="6451200"/>
            <a:ext cx="20340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3816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38160">
              <a:lnSpc>
                <a:spcPts val="1046"/>
              </a:lnSpc>
              <a:buNone/>
            </a:pPr>
            <a:fld id="{BAC69274-D5E6-4515-B9CB-37F2E2743587}" type="slidenum">
              <a:rPr b="0" lang="en-US" sz="1000" spc="-7" strike="noStrike">
                <a:solidFill>
                  <a:srgbClr val="ffffff"/>
                </a:solidFill>
                <a:latin typeface="Calibri"/>
              </a:rPr>
              <a:t>&lt;number&gt;</a:t>
            </a:fld>
            <a:endParaRPr b="0" lang="en-US" sz="10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PlaceHolder 1"/>
          <p:cNvSpPr>
            <a:spLocks noGrp="1"/>
          </p:cNvSpPr>
          <p:nvPr>
            <p:ph type="title"/>
          </p:nvPr>
        </p:nvSpPr>
        <p:spPr>
          <a:xfrm>
            <a:off x="916920" y="684720"/>
            <a:ext cx="9370080" cy="91548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>
              <a:lnSpc>
                <a:spcPct val="100000"/>
              </a:lnSpc>
              <a:spcBef>
                <a:spcPts val="99"/>
              </a:spcBef>
              <a:buNone/>
            </a:pPr>
            <a:r>
              <a:rPr b="0" lang="en-US" sz="3600" spc="-32" strike="noStrike">
                <a:solidFill>
                  <a:srgbClr val="c00000"/>
                </a:solidFill>
                <a:latin typeface="Calibri Light"/>
              </a:rPr>
              <a:t>INCIDENT</a:t>
            </a:r>
            <a:r>
              <a:rPr b="0" lang="en-US" sz="3600" spc="-97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35" strike="noStrike">
                <a:solidFill>
                  <a:srgbClr val="c00000"/>
                </a:solidFill>
                <a:latin typeface="Calibri Light"/>
              </a:rPr>
              <a:t>RESPONSE</a:t>
            </a:r>
            <a:r>
              <a:rPr b="0" lang="en-US" sz="3600" spc="-86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41" strike="noStrike">
                <a:solidFill>
                  <a:srgbClr val="c00000"/>
                </a:solidFill>
                <a:latin typeface="Calibri Light"/>
              </a:rPr>
              <a:t>PROCESS</a:t>
            </a:r>
            <a:r>
              <a:rPr b="0" lang="en-US" sz="3600" spc="-86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32" strike="noStrike">
                <a:solidFill>
                  <a:srgbClr val="c00000"/>
                </a:solidFill>
                <a:latin typeface="Calibri Light"/>
              </a:rPr>
              <a:t>(cont.)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107" name="object 3"/>
          <p:cNvSpPr/>
          <p:nvPr/>
        </p:nvSpPr>
        <p:spPr>
          <a:xfrm>
            <a:off x="736920" y="1686960"/>
            <a:ext cx="10693080" cy="393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56520" bIns="0" anchor="t">
            <a:spAutoFit/>
          </a:bodyPr>
          <a:p>
            <a:pPr marL="241200" indent="-229320">
              <a:lnSpc>
                <a:spcPct val="100000"/>
              </a:lnSpc>
              <a:spcBef>
                <a:spcPts val="445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following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are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the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principal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stages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in an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incident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response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life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cycle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(cont.)</a:t>
            </a:r>
            <a:endParaRPr b="0" lang="en-US" sz="2400" spc="-1" strike="noStrike">
              <a:latin typeface="Arial"/>
            </a:endParaRPr>
          </a:p>
          <a:p>
            <a:pPr lvl="1" marL="698400" indent="-228600">
              <a:lnSpc>
                <a:spcPct val="90000"/>
              </a:lnSpc>
              <a:spcBef>
                <a:spcPts val="530"/>
              </a:spcBef>
              <a:buClr>
                <a:srgbClr val="ac172b"/>
              </a:buClr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000" spc="-12" strike="noStrike">
                <a:solidFill>
                  <a:srgbClr val="ac172b"/>
                </a:solidFill>
                <a:latin typeface="Calibri"/>
                <a:ea typeface="DejaVu Sans"/>
              </a:rPr>
              <a:t>Recovery—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with</a:t>
            </a:r>
            <a:r>
              <a:rPr b="0" lang="en-US" sz="2000" spc="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the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cause</a:t>
            </a:r>
            <a:r>
              <a:rPr b="0" lang="en-US" sz="2000" spc="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of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the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incident</a:t>
            </a:r>
            <a:r>
              <a:rPr b="0" lang="en-US" sz="2000" spc="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eradicated,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the </a:t>
            </a:r>
            <a:r>
              <a:rPr b="0" lang="en-US" sz="2000" spc="-21" strike="noStrike">
                <a:solidFill>
                  <a:srgbClr val="000000"/>
                </a:solidFill>
                <a:latin typeface="Calibri"/>
                <a:ea typeface="DejaVu Sans"/>
              </a:rPr>
              <a:t>system</a:t>
            </a:r>
            <a:r>
              <a:rPr b="0" lang="en-US" sz="2000" spc="2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can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be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reintegrated</a:t>
            </a:r>
            <a:r>
              <a:rPr b="0" lang="en-US" sz="2000" spc="2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into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the </a:t>
            </a:r>
            <a:r>
              <a:rPr b="0" lang="en-US" sz="2000" spc="-440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business</a:t>
            </a:r>
            <a:r>
              <a:rPr b="0" lang="en-US" sz="2000" spc="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process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that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it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supports,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This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recovery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phase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may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involve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restoration</a:t>
            </a:r>
            <a:r>
              <a:rPr b="0" lang="en-US" sz="2000" spc="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of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data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from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backup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and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security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testing,</a:t>
            </a:r>
            <a:r>
              <a:rPr b="0" lang="en-US" sz="2000" spc="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Systems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must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be</a:t>
            </a:r>
            <a:r>
              <a:rPr b="0" lang="en-US" sz="2000" spc="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monitored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more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closely</a:t>
            </a:r>
            <a:r>
              <a:rPr b="0" lang="en-US" sz="2000" spc="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for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period</a:t>
            </a:r>
            <a:r>
              <a:rPr b="0" lang="en-US" sz="2000" spc="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to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detect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and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prevent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any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reoccurrence of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attack,</a:t>
            </a:r>
            <a:r>
              <a:rPr b="0" lang="en-US" sz="2000" spc="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The response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process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may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21" strike="noStrike">
                <a:solidFill>
                  <a:srgbClr val="000000"/>
                </a:solidFill>
                <a:latin typeface="Calibri"/>
                <a:ea typeface="DejaVu Sans"/>
              </a:rPr>
              <a:t>have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to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21" strike="noStrike">
                <a:solidFill>
                  <a:srgbClr val="000000"/>
                </a:solidFill>
                <a:latin typeface="Calibri"/>
                <a:ea typeface="DejaVu Sans"/>
              </a:rPr>
              <a:t>iterate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through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multiple</a:t>
            </a:r>
            <a:r>
              <a:rPr b="0" lang="en-US" sz="2000" spc="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phases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of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identification,</a:t>
            </a:r>
            <a:r>
              <a:rPr b="0" lang="en-US" sz="2000" spc="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containment,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eradication,</a:t>
            </a:r>
            <a:r>
              <a:rPr b="0" lang="en-US" sz="2000" spc="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and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recovery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to</a:t>
            </a:r>
            <a:r>
              <a:rPr b="0" lang="en-US" sz="2000" spc="2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effect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 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complete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resolution.</a:t>
            </a:r>
            <a:endParaRPr b="0" lang="en-US" sz="2000" spc="-1" strike="noStrike">
              <a:latin typeface="Arial"/>
            </a:endParaRPr>
          </a:p>
          <a:p>
            <a:pPr lvl="1" marL="698400" indent="-228600">
              <a:lnSpc>
                <a:spcPct val="90000"/>
              </a:lnSpc>
              <a:spcBef>
                <a:spcPts val="490"/>
              </a:spcBef>
              <a:buClr>
                <a:srgbClr val="ac172b"/>
              </a:buClr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000" spc="-7" strike="noStrike">
                <a:solidFill>
                  <a:srgbClr val="ac172b"/>
                </a:solidFill>
                <a:latin typeface="Calibri"/>
                <a:ea typeface="DejaVu Sans"/>
              </a:rPr>
              <a:t>Lessons</a:t>
            </a:r>
            <a:r>
              <a:rPr b="0" lang="en-US" sz="2000" spc="-1" strike="noStrike">
                <a:solidFill>
                  <a:srgbClr val="ac172b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ac172b"/>
                </a:solidFill>
                <a:latin typeface="Calibri"/>
                <a:ea typeface="DejaVu Sans"/>
              </a:rPr>
              <a:t>learned—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analyze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the</a:t>
            </a:r>
            <a:r>
              <a:rPr b="0" lang="en-US" sz="2000" spc="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incident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and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responses</a:t>
            </a:r>
            <a:r>
              <a:rPr b="0" lang="en-US" sz="2000" spc="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to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identify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whether</a:t>
            </a:r>
            <a:r>
              <a:rPr b="0" lang="en-US" sz="2000" spc="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procedures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or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21" strike="noStrike">
                <a:solidFill>
                  <a:srgbClr val="000000"/>
                </a:solidFill>
                <a:latin typeface="Calibri"/>
                <a:ea typeface="DejaVu Sans"/>
              </a:rPr>
              <a:t>systems</a:t>
            </a:r>
            <a:r>
              <a:rPr b="0" lang="en-US" sz="2000" spc="18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could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be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improved,</a:t>
            </a:r>
            <a:r>
              <a:rPr b="0" lang="en-US" sz="2000" spc="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It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is</a:t>
            </a:r>
            <a:r>
              <a:rPr b="0" lang="en-US" sz="2000" spc="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imperative</a:t>
            </a:r>
            <a:r>
              <a:rPr b="0" lang="en-US" sz="2000" spc="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to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document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000" spc="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incident,</a:t>
            </a:r>
            <a:r>
              <a:rPr b="0" lang="en-US" sz="2000" spc="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The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outputs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from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this </a:t>
            </a:r>
            <a:r>
              <a:rPr b="0" lang="en-US" sz="2000" spc="-440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phase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feed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back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into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new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preparation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phase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in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the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cycle.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108" name="object 4"/>
          <p:cNvSpPr/>
          <p:nvPr/>
        </p:nvSpPr>
        <p:spPr>
          <a:xfrm>
            <a:off x="838080" y="6400800"/>
            <a:ext cx="10514520" cy="227520"/>
          </a:xfrm>
          <a:custGeom>
            <a:avLst/>
            <a:gdLst/>
            <a:ahLst/>
            <a:rect l="l" t="t" r="r" b="b"/>
            <a:pathLst>
              <a:path w="10515600" h="228600">
                <a:moveTo>
                  <a:pt x="10515600" y="0"/>
                </a:moveTo>
                <a:lnTo>
                  <a:pt x="0" y="0"/>
                </a:lnTo>
                <a:lnTo>
                  <a:pt x="0" y="228600"/>
                </a:lnTo>
                <a:lnTo>
                  <a:pt x="10515600" y="228600"/>
                </a:lnTo>
                <a:lnTo>
                  <a:pt x="10515600" y="0"/>
                </a:lnTo>
                <a:close/>
              </a:path>
            </a:pathLst>
          </a:custGeom>
          <a:solidFill>
            <a:srgbClr val="c00000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09" name="PlaceHolder 2"/>
          <p:cNvSpPr>
            <a:spLocks noGrp="1"/>
          </p:cNvSpPr>
          <p:nvPr>
            <p:ph type="ftr" idx="16"/>
          </p:nvPr>
        </p:nvSpPr>
        <p:spPr>
          <a:xfrm>
            <a:off x="916920" y="6451560"/>
            <a:ext cx="102240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Security+</a:t>
            </a:r>
            <a:r>
              <a:rPr b="0" lang="en-US" sz="1000" spc="-46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(SY0-601)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110" name="PlaceHolder 3"/>
          <p:cNvSpPr>
            <a:spLocks noGrp="1"/>
          </p:cNvSpPr>
          <p:nvPr>
            <p:ph type="dt" idx="17"/>
          </p:nvPr>
        </p:nvSpPr>
        <p:spPr>
          <a:xfrm>
            <a:off x="5492520" y="6451560"/>
            <a:ext cx="112212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©</a:t>
            </a:r>
            <a:r>
              <a:rPr b="0" lang="en-US" sz="1000" spc="-41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netriders.academy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111" name="PlaceHolder 4"/>
          <p:cNvSpPr>
            <a:spLocks noGrp="1"/>
          </p:cNvSpPr>
          <p:nvPr>
            <p:ph type="sldNum" idx="18"/>
          </p:nvPr>
        </p:nvSpPr>
        <p:spPr>
          <a:xfrm>
            <a:off x="11098440" y="6451200"/>
            <a:ext cx="20340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3816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38160">
              <a:lnSpc>
                <a:spcPts val="1046"/>
              </a:lnSpc>
              <a:buNone/>
            </a:pPr>
            <a:fld id="{38920A78-A77C-458D-AE5E-66DEAF9A591A}" type="slidenum">
              <a:rPr b="0" lang="en-US" sz="1000" spc="-7" strike="noStrike">
                <a:solidFill>
                  <a:srgbClr val="ffffff"/>
                </a:solidFill>
                <a:latin typeface="Calibri"/>
              </a:rPr>
              <a:t>&lt;number&gt;</a:t>
            </a:fld>
            <a:endParaRPr b="0" lang="en-US" sz="10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PlaceHolder 1"/>
          <p:cNvSpPr>
            <a:spLocks noGrp="1"/>
          </p:cNvSpPr>
          <p:nvPr>
            <p:ph type="title"/>
          </p:nvPr>
        </p:nvSpPr>
        <p:spPr>
          <a:xfrm>
            <a:off x="916920" y="684720"/>
            <a:ext cx="6757920" cy="115704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>
              <a:lnSpc>
                <a:spcPct val="100000"/>
              </a:lnSpc>
              <a:spcBef>
                <a:spcPts val="99"/>
              </a:spcBef>
              <a:buNone/>
            </a:pPr>
            <a:r>
              <a:rPr b="0" lang="en-US" sz="3600" spc="-32" strike="noStrike">
                <a:solidFill>
                  <a:srgbClr val="c00000"/>
                </a:solidFill>
                <a:latin typeface="Calibri Light"/>
              </a:rPr>
              <a:t>INCIDENT</a:t>
            </a:r>
            <a:r>
              <a:rPr b="0" lang="en-US" sz="3600" spc="-97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35" strike="noStrike">
                <a:solidFill>
                  <a:srgbClr val="c00000"/>
                </a:solidFill>
                <a:latin typeface="Calibri Light"/>
              </a:rPr>
              <a:t>RESPONSE</a:t>
            </a:r>
            <a:r>
              <a:rPr b="0" lang="en-US" sz="3600" spc="-86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41" strike="noStrike">
                <a:solidFill>
                  <a:srgbClr val="c00000"/>
                </a:solidFill>
                <a:latin typeface="Calibri Light"/>
              </a:rPr>
              <a:t>PROCESS</a:t>
            </a:r>
            <a:r>
              <a:rPr b="0" lang="en-US" sz="3600" spc="-86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32" strike="noStrike">
                <a:solidFill>
                  <a:srgbClr val="c00000"/>
                </a:solidFill>
                <a:latin typeface="Calibri Light"/>
              </a:rPr>
              <a:t>(cont.)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113" name="object 3"/>
          <p:cNvSpPr/>
          <p:nvPr/>
        </p:nvSpPr>
        <p:spPr>
          <a:xfrm>
            <a:off x="838080" y="6400800"/>
            <a:ext cx="10514520" cy="227520"/>
          </a:xfrm>
          <a:custGeom>
            <a:avLst/>
            <a:gdLst/>
            <a:ahLst/>
            <a:rect l="l" t="t" r="r" b="b"/>
            <a:pathLst>
              <a:path w="10515600" h="228600">
                <a:moveTo>
                  <a:pt x="10515600" y="0"/>
                </a:moveTo>
                <a:lnTo>
                  <a:pt x="0" y="0"/>
                </a:lnTo>
                <a:lnTo>
                  <a:pt x="0" y="228600"/>
                </a:lnTo>
                <a:lnTo>
                  <a:pt x="10515600" y="228600"/>
                </a:lnTo>
                <a:lnTo>
                  <a:pt x="10515600" y="0"/>
                </a:lnTo>
                <a:close/>
              </a:path>
            </a:pathLst>
          </a:custGeom>
          <a:solidFill>
            <a:srgbClr val="c00000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114" name="object 4" descr=""/>
          <p:cNvPicPr/>
          <p:nvPr/>
        </p:nvPicPr>
        <p:blipFill>
          <a:blip r:embed="rId1"/>
          <a:stretch/>
        </p:blipFill>
        <p:spPr>
          <a:xfrm>
            <a:off x="1219320" y="1901880"/>
            <a:ext cx="9752400" cy="4285800"/>
          </a:xfrm>
          <a:prstGeom prst="rect">
            <a:avLst/>
          </a:prstGeom>
          <a:ln w="0">
            <a:noFill/>
          </a:ln>
        </p:spPr>
      </p:pic>
      <p:sp>
        <p:nvSpPr>
          <p:cNvPr id="115" name="PlaceHolder 2"/>
          <p:cNvSpPr>
            <a:spLocks noGrp="1"/>
          </p:cNvSpPr>
          <p:nvPr>
            <p:ph type="ftr" idx="19"/>
          </p:nvPr>
        </p:nvSpPr>
        <p:spPr>
          <a:xfrm>
            <a:off x="916920" y="6451560"/>
            <a:ext cx="102240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Security+</a:t>
            </a:r>
            <a:r>
              <a:rPr b="0" lang="en-US" sz="1000" spc="-46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(SY0-601)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116" name="PlaceHolder 3"/>
          <p:cNvSpPr>
            <a:spLocks noGrp="1"/>
          </p:cNvSpPr>
          <p:nvPr>
            <p:ph type="dt" idx="20"/>
          </p:nvPr>
        </p:nvSpPr>
        <p:spPr>
          <a:xfrm>
            <a:off x="5492520" y="6451560"/>
            <a:ext cx="112212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©</a:t>
            </a:r>
            <a:r>
              <a:rPr b="0" lang="en-US" sz="1000" spc="-41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netriders.academy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117" name="PlaceHolder 4"/>
          <p:cNvSpPr>
            <a:spLocks noGrp="1"/>
          </p:cNvSpPr>
          <p:nvPr>
            <p:ph type="sldNum" idx="21"/>
          </p:nvPr>
        </p:nvSpPr>
        <p:spPr>
          <a:xfrm>
            <a:off x="11098440" y="6451200"/>
            <a:ext cx="20340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3816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38160">
              <a:lnSpc>
                <a:spcPts val="1046"/>
              </a:lnSpc>
              <a:buNone/>
            </a:pPr>
            <a:fld id="{7029A6C6-C62D-4767-B8BB-6575CAC2402A}" type="slidenum">
              <a:rPr b="0" lang="en-US" sz="1000" spc="-7" strike="noStrike">
                <a:solidFill>
                  <a:srgbClr val="ffffff"/>
                </a:solidFill>
                <a:latin typeface="Calibri"/>
              </a:rPr>
              <a:t>&lt;number&gt;</a:t>
            </a:fld>
            <a:endParaRPr b="0" lang="en-US" sz="10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PlaceHolder 1"/>
          <p:cNvSpPr>
            <a:spLocks noGrp="1"/>
          </p:cNvSpPr>
          <p:nvPr>
            <p:ph type="title"/>
          </p:nvPr>
        </p:nvSpPr>
        <p:spPr>
          <a:xfrm>
            <a:off x="916920" y="684720"/>
            <a:ext cx="8912160" cy="56088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>
              <a:lnSpc>
                <a:spcPct val="100000"/>
              </a:lnSpc>
              <a:spcBef>
                <a:spcPts val="99"/>
              </a:spcBef>
              <a:buNone/>
            </a:pPr>
            <a:r>
              <a:rPr b="0" lang="en-US" sz="3600" spc="-26" strike="noStrike">
                <a:solidFill>
                  <a:srgbClr val="c00000"/>
                </a:solidFill>
                <a:latin typeface="Calibri Light"/>
              </a:rPr>
              <a:t>CYBER</a:t>
            </a:r>
            <a:r>
              <a:rPr b="0" lang="en-US" sz="3600" spc="-100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32" strike="noStrike">
                <a:solidFill>
                  <a:srgbClr val="c00000"/>
                </a:solidFill>
                <a:latin typeface="Calibri Light"/>
              </a:rPr>
              <a:t>INCIDENT</a:t>
            </a:r>
            <a:r>
              <a:rPr b="0" lang="en-US" sz="3600" spc="-97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35" strike="noStrike">
                <a:solidFill>
                  <a:srgbClr val="c00000"/>
                </a:solidFill>
                <a:latin typeface="Calibri Light"/>
              </a:rPr>
              <a:t>RESPONSE</a:t>
            </a:r>
            <a:r>
              <a:rPr b="0" lang="en-US" sz="3600" spc="-86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32" strike="noStrike">
                <a:solidFill>
                  <a:srgbClr val="c00000"/>
                </a:solidFill>
                <a:latin typeface="Calibri Light"/>
              </a:rPr>
              <a:t>TEAM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119" name="object 3"/>
          <p:cNvSpPr/>
          <p:nvPr/>
        </p:nvSpPr>
        <p:spPr>
          <a:xfrm>
            <a:off x="628920" y="1442520"/>
            <a:ext cx="10571760" cy="412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54000" bIns="0" anchor="t">
            <a:spAutoFit/>
          </a:bodyPr>
          <a:p>
            <a:pPr marL="241200" indent="-229320">
              <a:lnSpc>
                <a:spcPts val="2591"/>
              </a:lnSpc>
              <a:spcBef>
                <a:spcPts val="425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Preparing </a:t>
            </a:r>
            <a:r>
              <a:rPr b="0" lang="en-US" sz="2000" spc="-21" strike="noStrike">
                <a:solidFill>
                  <a:srgbClr val="000000"/>
                </a:solidFill>
                <a:latin typeface="Calibri"/>
                <a:ea typeface="DejaVu Sans"/>
              </a:rPr>
              <a:t>for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incident response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means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establishing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the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policies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and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procedures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21" strike="noStrike">
                <a:solidFill>
                  <a:srgbClr val="000000"/>
                </a:solidFill>
                <a:latin typeface="Calibri"/>
                <a:ea typeface="DejaVu Sans"/>
              </a:rPr>
              <a:t>for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dealing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with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security breaches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and the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personnel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and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resources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to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implement </a:t>
            </a:r>
            <a:r>
              <a:rPr b="0" lang="en-US" sz="2000" spc="-53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those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policies.</a:t>
            </a:r>
            <a:endParaRPr b="0" lang="en-US" sz="2000" spc="-1" strike="noStrike">
              <a:latin typeface="Arial"/>
            </a:endParaRPr>
          </a:p>
          <a:p>
            <a:pPr marL="241200" indent="-229320">
              <a:lnSpc>
                <a:spcPct val="100000"/>
              </a:lnSpc>
              <a:spcBef>
                <a:spcPts val="689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One of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the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first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challenges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lies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in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defining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and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categorizing</a:t>
            </a:r>
            <a:r>
              <a:rPr b="0" lang="en-US" sz="2000" spc="-3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types</a:t>
            </a:r>
            <a:r>
              <a:rPr b="0" lang="en-US" sz="20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of incidents.</a:t>
            </a:r>
            <a:endParaRPr b="0" lang="en-US" sz="2000" spc="-1" strike="noStrike">
              <a:latin typeface="Arial"/>
            </a:endParaRPr>
          </a:p>
          <a:p>
            <a:pPr marL="241200" indent="-229320">
              <a:lnSpc>
                <a:spcPts val="2591"/>
              </a:lnSpc>
              <a:spcBef>
                <a:spcPts val="1035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An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incident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is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generally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described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as an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event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where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security</a:t>
            </a:r>
            <a:r>
              <a:rPr b="0" lang="en-US" sz="20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is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breached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or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there </a:t>
            </a:r>
            <a:r>
              <a:rPr b="0" lang="en-US" sz="2000" spc="-52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is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an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attempted</a:t>
            </a:r>
            <a:r>
              <a:rPr b="0" lang="en-US" sz="20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breach.</a:t>
            </a:r>
            <a:endParaRPr b="0" lang="en-US" sz="2000" spc="-1" strike="noStrike">
              <a:latin typeface="Arial"/>
            </a:endParaRPr>
          </a:p>
          <a:p>
            <a:pPr marL="241200" indent="-229320">
              <a:lnSpc>
                <a:spcPts val="2735"/>
              </a:lnSpc>
              <a:spcBef>
                <a:spcPts val="675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NIST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describes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an </a:t>
            </a:r>
            <a:r>
              <a:rPr b="0" lang="en-US" sz="2000" spc="-7" strike="noStrike">
                <a:solidFill>
                  <a:srgbClr val="006fc0"/>
                </a:solidFill>
                <a:latin typeface="Calibri"/>
                <a:ea typeface="DejaVu Sans"/>
              </a:rPr>
              <a:t>incident</a:t>
            </a:r>
            <a:r>
              <a:rPr b="0" lang="en-US" sz="2000" spc="-15" strike="noStrike">
                <a:solidFill>
                  <a:srgbClr val="006fc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as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 u="heavy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  <a:ea typeface="DejaVu Sans"/>
              </a:rPr>
              <a:t>"the act</a:t>
            </a:r>
            <a:r>
              <a:rPr b="0" lang="en-US" sz="2000" spc="-12" strike="noStrike" u="heavy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  <a:ea typeface="DejaVu Sans"/>
              </a:rPr>
              <a:t> </a:t>
            </a:r>
            <a:r>
              <a:rPr b="0" lang="en-US" sz="2000" spc="-7" strike="noStrike" u="heavy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  <a:ea typeface="DejaVu Sans"/>
              </a:rPr>
              <a:t>of</a:t>
            </a:r>
            <a:r>
              <a:rPr b="0" lang="en-US" sz="2000" spc="-15" strike="noStrike" u="heavy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  <a:ea typeface="DejaVu Sans"/>
              </a:rPr>
              <a:t> </a:t>
            </a:r>
            <a:r>
              <a:rPr b="0" lang="en-US" sz="2000" spc="-7" strike="noStrike" u="heavy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  <a:ea typeface="DejaVu Sans"/>
              </a:rPr>
              <a:t>violating </a:t>
            </a:r>
            <a:r>
              <a:rPr b="0" lang="en-US" sz="2000" spc="-1" strike="noStrike" u="heavy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  <a:ea typeface="DejaVu Sans"/>
              </a:rPr>
              <a:t>an </a:t>
            </a:r>
            <a:r>
              <a:rPr b="0" lang="en-US" sz="2000" spc="-12" strike="noStrike" u="heavy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  <a:ea typeface="DejaVu Sans"/>
              </a:rPr>
              <a:t>explicit</a:t>
            </a:r>
            <a:r>
              <a:rPr b="0" lang="en-US" sz="2000" spc="-26" strike="noStrike" u="heavy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  <a:ea typeface="DejaVu Sans"/>
              </a:rPr>
              <a:t> </a:t>
            </a:r>
            <a:r>
              <a:rPr b="0" lang="en-US" sz="2000" spc="-7" strike="noStrike" u="heavy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  <a:ea typeface="DejaVu Sans"/>
              </a:rPr>
              <a:t>or </a:t>
            </a:r>
            <a:r>
              <a:rPr b="0" lang="en-US" sz="2000" spc="-1" strike="noStrike" u="heavy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  <a:ea typeface="DejaVu Sans"/>
              </a:rPr>
              <a:t>implied</a:t>
            </a:r>
            <a:r>
              <a:rPr b="0" lang="en-US" sz="2000" spc="-12" strike="noStrike" u="heavy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  <a:ea typeface="DejaVu Sans"/>
              </a:rPr>
              <a:t> </a:t>
            </a:r>
            <a:r>
              <a:rPr b="0" lang="en-US" sz="2000" spc="-7" strike="noStrike" u="heavy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  <a:ea typeface="DejaVu Sans"/>
              </a:rPr>
              <a:t>security </a:t>
            </a:r>
            <a:r>
              <a:rPr b="0" lang="en-US" sz="2000" spc="-26" strike="noStrike" u="heavy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  <a:ea typeface="DejaVu Sans"/>
              </a:rPr>
              <a:t>policy."</a:t>
            </a:r>
            <a:endParaRPr b="0" lang="en-US" sz="2000" spc="-1" strike="noStrike">
              <a:latin typeface="Arial"/>
            </a:endParaRPr>
          </a:p>
          <a:p>
            <a:pPr marL="241200" indent="-229320">
              <a:lnSpc>
                <a:spcPts val="2591"/>
              </a:lnSpc>
              <a:spcBef>
                <a:spcPts val="1046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In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order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to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identify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and</a:t>
            </a:r>
            <a:r>
              <a:rPr b="0" lang="en-US" sz="2000" spc="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manage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incidents,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you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should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develop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some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method</a:t>
            </a:r>
            <a:r>
              <a:rPr b="0" lang="en-US" sz="2000" spc="-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of </a:t>
            </a:r>
            <a:r>
              <a:rPr b="0" lang="en-US" sz="2000" spc="-52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reporting,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categorizing,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and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prioritizing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them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(triage),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in the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same </a:t>
            </a:r>
            <a:r>
              <a:rPr b="0" lang="en-US" sz="2000" spc="-26" strike="noStrike">
                <a:solidFill>
                  <a:srgbClr val="000000"/>
                </a:solidFill>
                <a:latin typeface="Calibri"/>
                <a:ea typeface="DejaVu Sans"/>
              </a:rPr>
              <a:t>way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that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troubleshooting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support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incidents</a:t>
            </a:r>
            <a:r>
              <a:rPr b="0" lang="en-US" sz="20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can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be logged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and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managed.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120" name="object 4"/>
          <p:cNvSpPr/>
          <p:nvPr/>
        </p:nvSpPr>
        <p:spPr>
          <a:xfrm>
            <a:off x="838080" y="6400800"/>
            <a:ext cx="10514520" cy="227520"/>
          </a:xfrm>
          <a:custGeom>
            <a:avLst/>
            <a:gdLst/>
            <a:ahLst/>
            <a:rect l="l" t="t" r="r" b="b"/>
            <a:pathLst>
              <a:path w="10515600" h="228600">
                <a:moveTo>
                  <a:pt x="10515600" y="0"/>
                </a:moveTo>
                <a:lnTo>
                  <a:pt x="0" y="0"/>
                </a:lnTo>
                <a:lnTo>
                  <a:pt x="0" y="228600"/>
                </a:lnTo>
                <a:lnTo>
                  <a:pt x="10515600" y="228600"/>
                </a:lnTo>
                <a:lnTo>
                  <a:pt x="10515600" y="0"/>
                </a:lnTo>
                <a:close/>
              </a:path>
            </a:pathLst>
          </a:custGeom>
          <a:solidFill>
            <a:srgbClr val="c00000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21" name="PlaceHolder 2"/>
          <p:cNvSpPr>
            <a:spLocks noGrp="1"/>
          </p:cNvSpPr>
          <p:nvPr>
            <p:ph type="ftr" idx="22"/>
          </p:nvPr>
        </p:nvSpPr>
        <p:spPr>
          <a:xfrm>
            <a:off x="916920" y="6451560"/>
            <a:ext cx="102240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Security+</a:t>
            </a:r>
            <a:r>
              <a:rPr b="0" lang="en-US" sz="1000" spc="-46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(SY0-601)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122" name="PlaceHolder 3"/>
          <p:cNvSpPr>
            <a:spLocks noGrp="1"/>
          </p:cNvSpPr>
          <p:nvPr>
            <p:ph type="dt" idx="23"/>
          </p:nvPr>
        </p:nvSpPr>
        <p:spPr>
          <a:xfrm>
            <a:off x="5492520" y="6451560"/>
            <a:ext cx="112212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©</a:t>
            </a:r>
            <a:r>
              <a:rPr b="0" lang="en-US" sz="1000" spc="-41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netriders.academy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123" name="PlaceHolder 4"/>
          <p:cNvSpPr>
            <a:spLocks noGrp="1"/>
          </p:cNvSpPr>
          <p:nvPr>
            <p:ph type="sldNum" idx="24"/>
          </p:nvPr>
        </p:nvSpPr>
        <p:spPr>
          <a:xfrm>
            <a:off x="11098440" y="6451200"/>
            <a:ext cx="20340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3816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38160">
              <a:lnSpc>
                <a:spcPts val="1046"/>
              </a:lnSpc>
              <a:buNone/>
            </a:pPr>
            <a:fld id="{77421619-1797-42D7-BD8E-33B8F00BED20}" type="slidenum">
              <a:rPr b="0" lang="en-US" sz="1000" spc="-7" strike="noStrike">
                <a:solidFill>
                  <a:srgbClr val="ffffff"/>
                </a:solidFill>
                <a:latin typeface="Calibri"/>
              </a:rPr>
              <a:t>&lt;number&gt;</a:t>
            </a:fld>
            <a:endParaRPr b="0" lang="en-US" sz="10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PlaceHolder 1"/>
          <p:cNvSpPr>
            <a:spLocks noGrp="1"/>
          </p:cNvSpPr>
          <p:nvPr>
            <p:ph type="title"/>
          </p:nvPr>
        </p:nvSpPr>
        <p:spPr>
          <a:xfrm>
            <a:off x="916920" y="684720"/>
            <a:ext cx="9598680" cy="115704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>
              <a:lnSpc>
                <a:spcPct val="100000"/>
              </a:lnSpc>
              <a:spcBef>
                <a:spcPts val="99"/>
              </a:spcBef>
              <a:buNone/>
            </a:pPr>
            <a:r>
              <a:rPr b="0" lang="en-US" sz="3600" spc="-26" strike="noStrike">
                <a:solidFill>
                  <a:srgbClr val="c00000"/>
                </a:solidFill>
                <a:latin typeface="Calibri Light"/>
              </a:rPr>
              <a:t>CYBER</a:t>
            </a:r>
            <a:r>
              <a:rPr b="0" lang="en-US" sz="3600" spc="-97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32" strike="noStrike">
                <a:solidFill>
                  <a:srgbClr val="c00000"/>
                </a:solidFill>
                <a:latin typeface="Calibri Light"/>
              </a:rPr>
              <a:t>INCIDENT</a:t>
            </a:r>
            <a:r>
              <a:rPr b="0" lang="en-US" sz="3600" spc="-92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35" strike="noStrike">
                <a:solidFill>
                  <a:srgbClr val="c00000"/>
                </a:solidFill>
                <a:latin typeface="Calibri Light"/>
              </a:rPr>
              <a:t>RESPONSE</a:t>
            </a:r>
            <a:r>
              <a:rPr b="0" lang="en-US" sz="3600" spc="-86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32" strike="noStrike">
                <a:solidFill>
                  <a:srgbClr val="c00000"/>
                </a:solidFill>
                <a:latin typeface="Calibri Light"/>
              </a:rPr>
              <a:t>TEAM</a:t>
            </a:r>
            <a:r>
              <a:rPr b="0" lang="en-US" sz="3600" spc="-111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32" strike="noStrike">
                <a:solidFill>
                  <a:srgbClr val="c00000"/>
                </a:solidFill>
                <a:latin typeface="Calibri Light"/>
              </a:rPr>
              <a:t>(cont.)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125" name="object 3"/>
          <p:cNvSpPr/>
          <p:nvPr/>
        </p:nvSpPr>
        <p:spPr>
          <a:xfrm>
            <a:off x="916920" y="2054520"/>
            <a:ext cx="9860400" cy="296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54000" bIns="0" anchor="t">
            <a:spAutoFit/>
          </a:bodyPr>
          <a:p>
            <a:pPr marL="241200" indent="-229320">
              <a:lnSpc>
                <a:spcPts val="2591"/>
              </a:lnSpc>
              <a:spcBef>
                <a:spcPts val="425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As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well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as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investment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in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appropriate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detection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and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analysis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software,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incident </a:t>
            </a:r>
            <a:r>
              <a:rPr b="0" lang="en-US" sz="2400" spc="-53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response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requires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expert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staffing.</a:t>
            </a:r>
            <a:endParaRPr b="0" lang="en-US" sz="2400" spc="-1" strike="noStrike">
              <a:latin typeface="Arial"/>
            </a:endParaRPr>
          </a:p>
          <a:p>
            <a:pPr marL="241200" indent="-229320">
              <a:lnSpc>
                <a:spcPct val="100000"/>
              </a:lnSpc>
              <a:spcBef>
                <a:spcPts val="686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This team</a:t>
            </a:r>
            <a:r>
              <a:rPr b="0" lang="en-US" sz="2400" spc="-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is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variously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described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as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</a:t>
            </a:r>
            <a:endParaRPr b="0" lang="en-US" sz="2400" spc="-1" strike="noStrike">
              <a:latin typeface="Arial"/>
            </a:endParaRPr>
          </a:p>
          <a:p>
            <a:pPr lvl="1" marL="698400" indent="-229320">
              <a:lnSpc>
                <a:spcPct val="100000"/>
              </a:lnSpc>
              <a:spcBef>
                <a:spcPts val="283"/>
              </a:spcBef>
              <a:buClr>
                <a:srgbClr val="006fc0"/>
              </a:buClr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000" spc="-1" strike="noStrike">
                <a:solidFill>
                  <a:srgbClr val="006fc0"/>
                </a:solidFill>
                <a:latin typeface="Calibri"/>
                <a:ea typeface="DejaVu Sans"/>
              </a:rPr>
              <a:t>Cyber</a:t>
            </a:r>
            <a:r>
              <a:rPr b="0" lang="en-US" sz="2000" spc="-32" strike="noStrike">
                <a:solidFill>
                  <a:srgbClr val="006fc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6fc0"/>
                </a:solidFill>
                <a:latin typeface="Calibri"/>
                <a:ea typeface="DejaVu Sans"/>
              </a:rPr>
              <a:t>Incident</a:t>
            </a:r>
            <a:r>
              <a:rPr b="0" lang="en-US" sz="2000" spc="-12" strike="noStrike">
                <a:solidFill>
                  <a:srgbClr val="006fc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6fc0"/>
                </a:solidFill>
                <a:latin typeface="Calibri"/>
                <a:ea typeface="DejaVu Sans"/>
              </a:rPr>
              <a:t>Response</a:t>
            </a:r>
            <a:r>
              <a:rPr b="0" lang="en-US" sz="2000" spc="-1" strike="noStrike">
                <a:solidFill>
                  <a:srgbClr val="006fc0"/>
                </a:solidFill>
                <a:latin typeface="Calibri"/>
                <a:ea typeface="DejaVu Sans"/>
              </a:rPr>
              <a:t> </a:t>
            </a:r>
            <a:r>
              <a:rPr b="0" lang="en-US" sz="2000" spc="-46" strike="noStrike">
                <a:solidFill>
                  <a:srgbClr val="006fc0"/>
                </a:solidFill>
                <a:latin typeface="Calibri"/>
                <a:ea typeface="DejaVu Sans"/>
              </a:rPr>
              <a:t>Team</a:t>
            </a:r>
            <a:r>
              <a:rPr b="0" lang="en-US" sz="2000" spc="-1" strike="noStrike">
                <a:solidFill>
                  <a:srgbClr val="006fc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6fc0"/>
                </a:solidFill>
                <a:latin typeface="Calibri"/>
                <a:ea typeface="DejaVu Sans"/>
              </a:rPr>
              <a:t>(CIRT)</a:t>
            </a:r>
            <a:r>
              <a:rPr b="0" lang="en-US" sz="2000" spc="-21" strike="noStrike">
                <a:solidFill>
                  <a:srgbClr val="006fc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or</a:t>
            </a:r>
            <a:endParaRPr b="0" lang="en-US" sz="2000" spc="-1" strike="noStrike">
              <a:latin typeface="Arial"/>
            </a:endParaRPr>
          </a:p>
          <a:p>
            <a:pPr lvl="1" marL="698400" indent="-229320">
              <a:lnSpc>
                <a:spcPct val="100000"/>
              </a:lnSpc>
              <a:spcBef>
                <a:spcPts val="264"/>
              </a:spcBef>
              <a:buClr>
                <a:srgbClr val="006fc0"/>
              </a:buClr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000" spc="-7" strike="noStrike">
                <a:solidFill>
                  <a:srgbClr val="006fc0"/>
                </a:solidFill>
                <a:latin typeface="Calibri"/>
                <a:ea typeface="DejaVu Sans"/>
              </a:rPr>
              <a:t>Computer</a:t>
            </a:r>
            <a:r>
              <a:rPr b="0" lang="en-US" sz="2000" spc="-15" strike="noStrike">
                <a:solidFill>
                  <a:srgbClr val="006fc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6fc0"/>
                </a:solidFill>
                <a:latin typeface="Calibri"/>
                <a:ea typeface="DejaVu Sans"/>
              </a:rPr>
              <a:t>Security</a:t>
            </a:r>
            <a:r>
              <a:rPr b="0" lang="en-US" sz="2000" spc="-12" strike="noStrike">
                <a:solidFill>
                  <a:srgbClr val="006fc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6fc0"/>
                </a:solidFill>
                <a:latin typeface="Calibri"/>
                <a:ea typeface="DejaVu Sans"/>
              </a:rPr>
              <a:t>Incident</a:t>
            </a:r>
            <a:r>
              <a:rPr b="0" lang="en-US" sz="2000" spc="-12" strike="noStrike">
                <a:solidFill>
                  <a:srgbClr val="006fc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6fc0"/>
                </a:solidFill>
                <a:latin typeface="Calibri"/>
                <a:ea typeface="DejaVu Sans"/>
              </a:rPr>
              <a:t>Response</a:t>
            </a:r>
            <a:r>
              <a:rPr b="0" lang="en-US" sz="2000" spc="-1" strike="noStrike">
                <a:solidFill>
                  <a:srgbClr val="006fc0"/>
                </a:solidFill>
                <a:latin typeface="Calibri"/>
                <a:ea typeface="DejaVu Sans"/>
              </a:rPr>
              <a:t> </a:t>
            </a:r>
            <a:r>
              <a:rPr b="0" lang="en-US" sz="2000" spc="-46" strike="noStrike">
                <a:solidFill>
                  <a:srgbClr val="006fc0"/>
                </a:solidFill>
                <a:latin typeface="Calibri"/>
                <a:ea typeface="DejaVu Sans"/>
              </a:rPr>
              <a:t>Team</a:t>
            </a:r>
            <a:r>
              <a:rPr b="0" lang="en-US" sz="2000" spc="-1" strike="noStrike">
                <a:solidFill>
                  <a:srgbClr val="006fc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6fc0"/>
                </a:solidFill>
                <a:latin typeface="Calibri"/>
                <a:ea typeface="DejaVu Sans"/>
              </a:rPr>
              <a:t>(CSIRT)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or</a:t>
            </a:r>
            <a:endParaRPr b="0" lang="en-US" sz="2000" spc="-1" strike="noStrike">
              <a:latin typeface="Arial"/>
            </a:endParaRPr>
          </a:p>
          <a:p>
            <a:pPr lvl="1" marL="698400" indent="-229320">
              <a:lnSpc>
                <a:spcPct val="100000"/>
              </a:lnSpc>
              <a:spcBef>
                <a:spcPts val="249"/>
              </a:spcBef>
              <a:buClr>
                <a:srgbClr val="006fc0"/>
              </a:buClr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000" spc="-7" strike="noStrike">
                <a:solidFill>
                  <a:srgbClr val="006fc0"/>
                </a:solidFill>
                <a:latin typeface="Calibri"/>
                <a:ea typeface="DejaVu Sans"/>
              </a:rPr>
              <a:t>Computer</a:t>
            </a:r>
            <a:r>
              <a:rPr b="0" lang="en-US" sz="2000" spc="-26" strike="noStrike">
                <a:solidFill>
                  <a:srgbClr val="006fc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6fc0"/>
                </a:solidFill>
                <a:latin typeface="Calibri"/>
                <a:ea typeface="DejaVu Sans"/>
              </a:rPr>
              <a:t>Emergency</a:t>
            </a:r>
            <a:r>
              <a:rPr b="0" lang="en-US" sz="2000" spc="-41" strike="noStrike">
                <a:solidFill>
                  <a:srgbClr val="006fc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6fc0"/>
                </a:solidFill>
                <a:latin typeface="Calibri"/>
                <a:ea typeface="DejaVu Sans"/>
              </a:rPr>
              <a:t>Response </a:t>
            </a:r>
            <a:r>
              <a:rPr b="0" lang="en-US" sz="2000" spc="-46" strike="noStrike">
                <a:solidFill>
                  <a:srgbClr val="006fc0"/>
                </a:solidFill>
                <a:latin typeface="Calibri"/>
                <a:ea typeface="DejaVu Sans"/>
              </a:rPr>
              <a:t>Team</a:t>
            </a:r>
            <a:r>
              <a:rPr b="0" lang="en-US" sz="2000" spc="-21" strike="noStrike">
                <a:solidFill>
                  <a:srgbClr val="006fc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6fc0"/>
                </a:solidFill>
                <a:latin typeface="Calibri"/>
                <a:ea typeface="DejaVu Sans"/>
              </a:rPr>
              <a:t>(CERT).</a:t>
            </a:r>
            <a:endParaRPr b="0" lang="en-US" sz="2000" spc="-1" strike="noStrike">
              <a:latin typeface="Arial"/>
            </a:endParaRPr>
          </a:p>
          <a:p>
            <a:pPr marL="241200" indent="-229320">
              <a:lnSpc>
                <a:spcPts val="2735"/>
              </a:lnSpc>
              <a:spcBef>
                <a:spcPts val="689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Incident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response</a:t>
            </a:r>
            <a:r>
              <a:rPr b="0" lang="en-US" sz="2400" spc="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might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also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involve</a:t>
            </a:r>
            <a:r>
              <a:rPr b="0" lang="en-US" sz="2400" spc="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or be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wholly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located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within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ac172b"/>
                </a:solidFill>
                <a:latin typeface="Calibri"/>
                <a:ea typeface="DejaVu Sans"/>
              </a:rPr>
              <a:t>security </a:t>
            </a:r>
            <a:r>
              <a:rPr b="0" lang="en-US" sz="2400" spc="-12" strike="noStrike">
                <a:solidFill>
                  <a:srgbClr val="ac172b"/>
                </a:solidFill>
                <a:latin typeface="Calibri"/>
                <a:ea typeface="DejaVu Sans"/>
              </a:rPr>
              <a:t>operations</a:t>
            </a:r>
            <a:r>
              <a:rPr b="0" lang="en-US" sz="2400" spc="-35" strike="noStrike">
                <a:solidFill>
                  <a:srgbClr val="ac172b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ac172b"/>
                </a:solidFill>
                <a:latin typeface="Calibri"/>
                <a:ea typeface="DejaVu Sans"/>
              </a:rPr>
              <a:t>center</a:t>
            </a:r>
            <a:r>
              <a:rPr b="0" lang="en-US" sz="2400" spc="-32" strike="noStrike">
                <a:solidFill>
                  <a:srgbClr val="ac172b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ac172b"/>
                </a:solidFill>
                <a:latin typeface="Calibri"/>
                <a:ea typeface="DejaVu Sans"/>
              </a:rPr>
              <a:t>(SOC)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.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126" name="object 4"/>
          <p:cNvSpPr/>
          <p:nvPr/>
        </p:nvSpPr>
        <p:spPr>
          <a:xfrm>
            <a:off x="838080" y="6400800"/>
            <a:ext cx="10514520" cy="227520"/>
          </a:xfrm>
          <a:custGeom>
            <a:avLst/>
            <a:gdLst/>
            <a:ahLst/>
            <a:rect l="l" t="t" r="r" b="b"/>
            <a:pathLst>
              <a:path w="10515600" h="228600">
                <a:moveTo>
                  <a:pt x="10515600" y="0"/>
                </a:moveTo>
                <a:lnTo>
                  <a:pt x="0" y="0"/>
                </a:lnTo>
                <a:lnTo>
                  <a:pt x="0" y="228600"/>
                </a:lnTo>
                <a:lnTo>
                  <a:pt x="10515600" y="228600"/>
                </a:lnTo>
                <a:lnTo>
                  <a:pt x="10515600" y="0"/>
                </a:lnTo>
                <a:close/>
              </a:path>
            </a:pathLst>
          </a:custGeom>
          <a:solidFill>
            <a:srgbClr val="c00000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27" name="PlaceHolder 2"/>
          <p:cNvSpPr>
            <a:spLocks noGrp="1"/>
          </p:cNvSpPr>
          <p:nvPr>
            <p:ph type="ftr" idx="25"/>
          </p:nvPr>
        </p:nvSpPr>
        <p:spPr>
          <a:xfrm>
            <a:off x="916920" y="6451560"/>
            <a:ext cx="102240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Security+</a:t>
            </a:r>
            <a:r>
              <a:rPr b="0" lang="en-US" sz="1000" spc="-46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(SY0-601)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128" name="PlaceHolder 3"/>
          <p:cNvSpPr>
            <a:spLocks noGrp="1"/>
          </p:cNvSpPr>
          <p:nvPr>
            <p:ph type="dt" idx="26"/>
          </p:nvPr>
        </p:nvSpPr>
        <p:spPr>
          <a:xfrm>
            <a:off x="5492520" y="6451560"/>
            <a:ext cx="112212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©</a:t>
            </a:r>
            <a:r>
              <a:rPr b="0" lang="en-US" sz="1000" spc="-41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netriders.academy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129" name="PlaceHolder 4"/>
          <p:cNvSpPr>
            <a:spLocks noGrp="1"/>
          </p:cNvSpPr>
          <p:nvPr>
            <p:ph type="sldNum" idx="27"/>
          </p:nvPr>
        </p:nvSpPr>
        <p:spPr>
          <a:xfrm>
            <a:off x="11098440" y="6451200"/>
            <a:ext cx="20340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3816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38160">
              <a:lnSpc>
                <a:spcPts val="1046"/>
              </a:lnSpc>
              <a:buNone/>
            </a:pPr>
            <a:fld id="{97012A02-BAB8-4CAB-AFC2-A4CB34D37034}" type="slidenum">
              <a:rPr b="0" lang="en-US" sz="1000" spc="-7" strike="noStrike">
                <a:solidFill>
                  <a:srgbClr val="ffffff"/>
                </a:solidFill>
                <a:latin typeface="Calibri"/>
              </a:rPr>
              <a:t>&lt;number&gt;</a:t>
            </a:fld>
            <a:endParaRPr b="0" lang="en-US" sz="10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PlaceHolder 1"/>
          <p:cNvSpPr>
            <a:spLocks noGrp="1"/>
          </p:cNvSpPr>
          <p:nvPr>
            <p:ph type="title"/>
          </p:nvPr>
        </p:nvSpPr>
        <p:spPr>
          <a:xfrm>
            <a:off x="914400" y="228600"/>
            <a:ext cx="7083360" cy="68616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>
              <a:lnSpc>
                <a:spcPct val="100000"/>
              </a:lnSpc>
              <a:spcBef>
                <a:spcPts val="99"/>
              </a:spcBef>
              <a:buNone/>
            </a:pPr>
            <a:r>
              <a:rPr b="0" lang="en-US" sz="3600" spc="-32" strike="noStrike">
                <a:solidFill>
                  <a:srgbClr val="c00000"/>
                </a:solidFill>
                <a:latin typeface="Calibri Light"/>
              </a:rPr>
              <a:t>INCIDENT</a:t>
            </a:r>
            <a:r>
              <a:rPr b="0" lang="en-US" sz="3600" spc="-111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35" strike="noStrike">
                <a:solidFill>
                  <a:srgbClr val="c00000"/>
                </a:solidFill>
                <a:latin typeface="Calibri Light"/>
              </a:rPr>
              <a:t>RESPONSE</a:t>
            </a:r>
            <a:r>
              <a:rPr b="0" lang="en-US" sz="3600" spc="-100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21" strike="noStrike">
                <a:solidFill>
                  <a:srgbClr val="c00000"/>
                </a:solidFill>
                <a:latin typeface="Calibri Light"/>
              </a:rPr>
              <a:t>PLAN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131" name="object 3"/>
          <p:cNvSpPr/>
          <p:nvPr/>
        </p:nvSpPr>
        <p:spPr>
          <a:xfrm>
            <a:off x="916920" y="765720"/>
            <a:ext cx="10740960" cy="50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83880" bIns="0" anchor="t">
            <a:spAutoFit/>
          </a:bodyPr>
          <a:p>
            <a:pPr marL="241200" indent="-229320">
              <a:lnSpc>
                <a:spcPts val="2299"/>
              </a:lnSpc>
              <a:spcBef>
                <a:spcPts val="660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An </a:t>
            </a:r>
            <a:r>
              <a:rPr b="0" lang="en-US" sz="2400" spc="-7" strike="noStrike">
                <a:solidFill>
                  <a:srgbClr val="006fc0"/>
                </a:solidFill>
                <a:latin typeface="Calibri"/>
                <a:ea typeface="DejaVu Sans"/>
              </a:rPr>
              <a:t>incident response plan (IRP)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lists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the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procedures, contacts,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and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resources </a:t>
            </a:r>
            <a:r>
              <a:rPr b="0" lang="en-US" sz="2400" spc="-53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available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to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responders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for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various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incident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categories.</a:t>
            </a:r>
            <a:endParaRPr b="0" lang="en-US" sz="2400" spc="-1" strike="noStrike">
              <a:latin typeface="Arial"/>
            </a:endParaRPr>
          </a:p>
          <a:p>
            <a:pPr marL="241200" indent="-229320">
              <a:lnSpc>
                <a:spcPct val="80000"/>
              </a:lnSpc>
              <a:spcBef>
                <a:spcPts val="1015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4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6fc0"/>
                </a:solidFill>
                <a:latin typeface="Calibri"/>
                <a:ea typeface="DejaVu Sans"/>
              </a:rPr>
              <a:t>CSIRT</a:t>
            </a:r>
            <a:r>
              <a:rPr b="0" lang="en-US" sz="2400" spc="-15" strike="noStrike">
                <a:solidFill>
                  <a:srgbClr val="006fc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should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develop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profiles</a:t>
            </a:r>
            <a:r>
              <a:rPr b="0" lang="en-US" sz="2400" spc="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or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scenarios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of typical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incidents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(DDoS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attack, </a:t>
            </a:r>
            <a:r>
              <a:rPr b="0" lang="en-US" sz="2400" spc="-52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virus/worm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outbreak,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data exfiltration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by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an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external </a:t>
            </a:r>
            <a:r>
              <a:rPr b="0" lang="en-US" sz="2400" spc="-26" strike="noStrike">
                <a:solidFill>
                  <a:srgbClr val="000000"/>
                </a:solidFill>
                <a:latin typeface="Calibri"/>
                <a:ea typeface="DejaVu Sans"/>
              </a:rPr>
              <a:t>adversary,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data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modification</a:t>
            </a:r>
            <a:r>
              <a:rPr b="0" lang="en-US" sz="2400" spc="-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by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an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internal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26" strike="noStrike">
                <a:solidFill>
                  <a:srgbClr val="000000"/>
                </a:solidFill>
                <a:latin typeface="Calibri"/>
                <a:ea typeface="DejaVu Sans"/>
              </a:rPr>
              <a:t>adversary,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and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so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on).</a:t>
            </a:r>
            <a:endParaRPr b="0" lang="en-US" sz="2400" spc="-1" strike="noStrike">
              <a:latin typeface="Arial"/>
            </a:endParaRPr>
          </a:p>
          <a:p>
            <a:pPr marL="241200" indent="-229320">
              <a:lnSpc>
                <a:spcPct val="100000"/>
              </a:lnSpc>
              <a:spcBef>
                <a:spcPts val="434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This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will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guide 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investigators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in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determining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priorities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and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remediation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plans.</a:t>
            </a:r>
            <a:endParaRPr b="0" lang="en-US" sz="2400" spc="-1" strike="noStrike">
              <a:latin typeface="Arial"/>
            </a:endParaRPr>
          </a:p>
          <a:p>
            <a:pPr marL="241200" indent="-229320">
              <a:lnSpc>
                <a:spcPct val="80000"/>
              </a:lnSpc>
              <a:spcBef>
                <a:spcPts val="995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6fc0"/>
                </a:solidFill>
                <a:latin typeface="Calibri"/>
                <a:ea typeface="DejaVu Sans"/>
              </a:rPr>
              <a:t>playbook</a:t>
            </a:r>
            <a:r>
              <a:rPr b="0" lang="en-US" sz="2400" spc="-7" strike="noStrike">
                <a:solidFill>
                  <a:srgbClr val="006fc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(or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runbook)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is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data-driven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standard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operating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procedure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(SOP)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to </a:t>
            </a:r>
            <a:r>
              <a:rPr b="0" lang="en-US" sz="2400" spc="-52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assist junior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analysts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in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detecting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and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responding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to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specific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cyberthreat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scenarios, such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as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phishing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attempts,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SQL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injection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data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exfiltration, connection </a:t>
            </a:r>
            <a:r>
              <a:rPr b="0" lang="en-US" sz="2400" spc="-53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to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block-listed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IP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range,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and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so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on.</a:t>
            </a:r>
            <a:endParaRPr b="0" lang="en-US" sz="2400" spc="-1" strike="noStrike">
              <a:latin typeface="Arial"/>
            </a:endParaRPr>
          </a:p>
          <a:p>
            <a:pPr marL="241200" indent="-229320">
              <a:lnSpc>
                <a:spcPts val="2299"/>
              </a:lnSpc>
              <a:spcBef>
                <a:spcPts val="981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The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playbook starts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with a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SIEM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report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and query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designed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to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detect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the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incident </a:t>
            </a:r>
            <a:r>
              <a:rPr b="0" lang="en-US" sz="2400" spc="-53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and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identify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the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32" strike="noStrike">
                <a:solidFill>
                  <a:srgbClr val="000000"/>
                </a:solidFill>
                <a:latin typeface="Calibri"/>
                <a:ea typeface="DejaVu Sans"/>
              </a:rPr>
              <a:t>key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detection,</a:t>
            </a:r>
            <a:r>
              <a:rPr b="0" lang="en-US" sz="2400" spc="-3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containment,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and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eradication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steps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to</a:t>
            </a:r>
            <a:r>
              <a:rPr b="0" lang="en-US" sz="2400" spc="-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take.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132" name="object 4"/>
          <p:cNvSpPr/>
          <p:nvPr/>
        </p:nvSpPr>
        <p:spPr>
          <a:xfrm>
            <a:off x="838080" y="6400800"/>
            <a:ext cx="10514520" cy="227520"/>
          </a:xfrm>
          <a:custGeom>
            <a:avLst/>
            <a:gdLst/>
            <a:ahLst/>
            <a:rect l="l" t="t" r="r" b="b"/>
            <a:pathLst>
              <a:path w="10515600" h="228600">
                <a:moveTo>
                  <a:pt x="10515600" y="0"/>
                </a:moveTo>
                <a:lnTo>
                  <a:pt x="0" y="0"/>
                </a:lnTo>
                <a:lnTo>
                  <a:pt x="0" y="228600"/>
                </a:lnTo>
                <a:lnTo>
                  <a:pt x="10515600" y="228600"/>
                </a:lnTo>
                <a:lnTo>
                  <a:pt x="10515600" y="0"/>
                </a:lnTo>
                <a:close/>
              </a:path>
            </a:pathLst>
          </a:custGeom>
          <a:solidFill>
            <a:srgbClr val="c00000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33" name="PlaceHolder 2"/>
          <p:cNvSpPr>
            <a:spLocks noGrp="1"/>
          </p:cNvSpPr>
          <p:nvPr>
            <p:ph type="ftr" idx="28"/>
          </p:nvPr>
        </p:nvSpPr>
        <p:spPr>
          <a:xfrm>
            <a:off x="916920" y="6451560"/>
            <a:ext cx="102240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Security+</a:t>
            </a:r>
            <a:r>
              <a:rPr b="0" lang="en-US" sz="1000" spc="-46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(SY0-601)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134" name="PlaceHolder 3"/>
          <p:cNvSpPr>
            <a:spLocks noGrp="1"/>
          </p:cNvSpPr>
          <p:nvPr>
            <p:ph type="dt" idx="29"/>
          </p:nvPr>
        </p:nvSpPr>
        <p:spPr>
          <a:xfrm>
            <a:off x="5492520" y="6451560"/>
            <a:ext cx="112212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©</a:t>
            </a:r>
            <a:r>
              <a:rPr b="0" lang="en-US" sz="1000" spc="-41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netriders.academy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135" name="PlaceHolder 4"/>
          <p:cNvSpPr>
            <a:spLocks noGrp="1"/>
          </p:cNvSpPr>
          <p:nvPr>
            <p:ph type="sldNum" idx="30"/>
          </p:nvPr>
        </p:nvSpPr>
        <p:spPr>
          <a:xfrm>
            <a:off x="11098440" y="6451200"/>
            <a:ext cx="20340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3816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38160">
              <a:lnSpc>
                <a:spcPts val="1046"/>
              </a:lnSpc>
              <a:buNone/>
            </a:pPr>
            <a:fld id="{CF0C9ABC-5FBC-4082-BC66-9742C6D17E2A}" type="slidenum">
              <a:rPr b="0" lang="en-US" sz="1000" spc="-7" strike="noStrike">
                <a:solidFill>
                  <a:srgbClr val="ffffff"/>
                </a:solidFill>
                <a:latin typeface="Calibri"/>
              </a:rPr>
              <a:t>&lt;number&gt;</a:t>
            </a:fld>
            <a:endParaRPr b="0" lang="en-US" sz="10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PlaceHolder 1"/>
          <p:cNvSpPr>
            <a:spLocks noGrp="1"/>
          </p:cNvSpPr>
          <p:nvPr>
            <p:ph type="title"/>
          </p:nvPr>
        </p:nvSpPr>
        <p:spPr>
          <a:xfrm>
            <a:off x="916920" y="684720"/>
            <a:ext cx="9597960" cy="68616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>
              <a:lnSpc>
                <a:spcPct val="100000"/>
              </a:lnSpc>
              <a:spcBef>
                <a:spcPts val="99"/>
              </a:spcBef>
              <a:buNone/>
            </a:pPr>
            <a:r>
              <a:rPr b="0" lang="en-US" sz="3600" spc="-15" strike="noStrike">
                <a:solidFill>
                  <a:srgbClr val="c00000"/>
                </a:solidFill>
                <a:latin typeface="Calibri Light"/>
              </a:rPr>
              <a:t>C</a:t>
            </a:r>
            <a:r>
              <a:rPr b="0" lang="en-US" sz="3600" spc="-26" strike="noStrike">
                <a:solidFill>
                  <a:srgbClr val="c00000"/>
                </a:solidFill>
                <a:latin typeface="Calibri Light"/>
              </a:rPr>
              <a:t>Y</a:t>
            </a:r>
            <a:r>
              <a:rPr b="0" lang="en-US" sz="3600" spc="-32" strike="noStrike">
                <a:solidFill>
                  <a:srgbClr val="c00000"/>
                </a:solidFill>
                <a:latin typeface="Calibri Light"/>
              </a:rPr>
              <a:t>B</a:t>
            </a:r>
            <a:r>
              <a:rPr b="0" lang="en-US" sz="3600" spc="-35" strike="noStrike">
                <a:solidFill>
                  <a:srgbClr val="c00000"/>
                </a:solidFill>
                <a:latin typeface="Calibri Light"/>
              </a:rPr>
              <a:t>E</a:t>
            </a:r>
            <a:r>
              <a:rPr b="0" lang="en-US" sz="3600" spc="-1" strike="noStrike">
                <a:solidFill>
                  <a:srgbClr val="c00000"/>
                </a:solidFill>
                <a:latin typeface="Calibri Light"/>
              </a:rPr>
              <a:t>R</a:t>
            </a:r>
            <a:r>
              <a:rPr b="0" lang="en-US" sz="3600" spc="-92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15" strike="noStrike">
                <a:solidFill>
                  <a:srgbClr val="c00000"/>
                </a:solidFill>
                <a:latin typeface="Calibri Light"/>
              </a:rPr>
              <a:t>K</a:t>
            </a:r>
            <a:r>
              <a:rPr b="0" lang="en-US" sz="3600" spc="-7" strike="noStrike">
                <a:solidFill>
                  <a:srgbClr val="c00000"/>
                </a:solidFill>
                <a:latin typeface="Calibri Light"/>
              </a:rPr>
              <a:t>I</a:t>
            </a:r>
            <a:r>
              <a:rPr b="0" lang="en-US" sz="3600" spc="-41" strike="noStrike">
                <a:solidFill>
                  <a:srgbClr val="c00000"/>
                </a:solidFill>
                <a:latin typeface="Calibri Light"/>
              </a:rPr>
              <a:t>L</a:t>
            </a:r>
            <a:r>
              <a:rPr b="0" lang="en-US" sz="3600" spc="-1" strike="noStrike">
                <a:solidFill>
                  <a:srgbClr val="c00000"/>
                </a:solidFill>
                <a:latin typeface="Calibri Light"/>
              </a:rPr>
              <a:t>L</a:t>
            </a:r>
            <a:r>
              <a:rPr b="0" lang="en-US" sz="3600" spc="-80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15" strike="noStrike">
                <a:solidFill>
                  <a:srgbClr val="c00000"/>
                </a:solidFill>
                <a:latin typeface="Calibri Light"/>
              </a:rPr>
              <a:t>C</a:t>
            </a:r>
            <a:r>
              <a:rPr b="0" lang="en-US" sz="3600" spc="-32" strike="noStrike">
                <a:solidFill>
                  <a:srgbClr val="c00000"/>
                </a:solidFill>
                <a:latin typeface="Calibri Light"/>
              </a:rPr>
              <a:t>H</a:t>
            </a:r>
            <a:r>
              <a:rPr b="0" lang="en-US" sz="3600" spc="-35" strike="noStrike">
                <a:solidFill>
                  <a:srgbClr val="c00000"/>
                </a:solidFill>
                <a:latin typeface="Calibri Light"/>
              </a:rPr>
              <a:t>A</a:t>
            </a:r>
            <a:r>
              <a:rPr b="0" lang="en-US" sz="3600" spc="-15" strike="noStrike">
                <a:solidFill>
                  <a:srgbClr val="c00000"/>
                </a:solidFill>
                <a:latin typeface="Calibri Light"/>
              </a:rPr>
              <a:t>I</a:t>
            </a:r>
            <a:r>
              <a:rPr b="0" lang="en-US" sz="3600" spc="-1" strike="noStrike">
                <a:solidFill>
                  <a:srgbClr val="c00000"/>
                </a:solidFill>
                <a:latin typeface="Calibri Light"/>
              </a:rPr>
              <a:t>N</a:t>
            </a:r>
            <a:r>
              <a:rPr b="0" lang="en-US" sz="3600" spc="-100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307" strike="noStrike">
                <a:solidFill>
                  <a:srgbClr val="c00000"/>
                </a:solidFill>
                <a:latin typeface="Calibri Light"/>
              </a:rPr>
              <a:t>A</a:t>
            </a:r>
            <a:r>
              <a:rPr b="0" lang="en-US" sz="3600" spc="24" strike="noStrike">
                <a:solidFill>
                  <a:srgbClr val="c00000"/>
                </a:solidFill>
                <a:latin typeface="Calibri Light"/>
              </a:rPr>
              <a:t>T</a:t>
            </a:r>
            <a:r>
              <a:rPr b="0" lang="en-US" sz="3600" spc="-307" strike="noStrike">
                <a:solidFill>
                  <a:srgbClr val="c00000"/>
                </a:solidFill>
                <a:latin typeface="Calibri Light"/>
              </a:rPr>
              <a:t>T</a:t>
            </a:r>
            <a:r>
              <a:rPr b="0" lang="en-US" sz="3600" spc="-60" strike="noStrike">
                <a:solidFill>
                  <a:srgbClr val="c00000"/>
                </a:solidFill>
                <a:latin typeface="Calibri Light"/>
              </a:rPr>
              <a:t>A</a:t>
            </a:r>
            <a:r>
              <a:rPr b="0" lang="en-US" sz="3600" spc="-46" strike="noStrike">
                <a:solidFill>
                  <a:srgbClr val="c00000"/>
                </a:solidFill>
                <a:latin typeface="Calibri Light"/>
              </a:rPr>
              <a:t>C</a:t>
            </a:r>
            <a:r>
              <a:rPr b="0" lang="en-US" sz="3600" spc="-1" strike="noStrike">
                <a:solidFill>
                  <a:srgbClr val="c00000"/>
                </a:solidFill>
                <a:latin typeface="Calibri Light"/>
              </a:rPr>
              <a:t>K</a:t>
            </a:r>
            <a:r>
              <a:rPr b="0" lang="en-US" sz="3600" spc="-75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15" strike="noStrike">
                <a:solidFill>
                  <a:srgbClr val="c00000"/>
                </a:solidFill>
                <a:latin typeface="Calibri Light"/>
              </a:rPr>
              <a:t>F</a:t>
            </a:r>
            <a:r>
              <a:rPr b="0" lang="en-US" sz="3600" spc="-32" strike="noStrike">
                <a:solidFill>
                  <a:srgbClr val="c00000"/>
                </a:solidFill>
                <a:latin typeface="Calibri Light"/>
              </a:rPr>
              <a:t>R</a:t>
            </a:r>
            <a:r>
              <a:rPr b="0" lang="en-US" sz="3600" spc="-35" strike="noStrike">
                <a:solidFill>
                  <a:srgbClr val="c00000"/>
                </a:solidFill>
                <a:latin typeface="Calibri Light"/>
              </a:rPr>
              <a:t>A</a:t>
            </a:r>
            <a:r>
              <a:rPr b="0" lang="en-US" sz="3600" spc="-52" strike="noStrike">
                <a:solidFill>
                  <a:srgbClr val="c00000"/>
                </a:solidFill>
                <a:latin typeface="Calibri Light"/>
              </a:rPr>
              <a:t>M</a:t>
            </a:r>
            <a:r>
              <a:rPr b="0" lang="en-US" sz="3600" spc="-35" strike="noStrike">
                <a:solidFill>
                  <a:srgbClr val="c00000"/>
                </a:solidFill>
                <a:latin typeface="Calibri Light"/>
              </a:rPr>
              <a:t>E</a:t>
            </a:r>
            <a:r>
              <a:rPr b="0" lang="en-US" sz="3600" spc="-100" strike="noStrike">
                <a:solidFill>
                  <a:srgbClr val="c00000"/>
                </a:solidFill>
                <a:latin typeface="Calibri Light"/>
              </a:rPr>
              <a:t>W</a:t>
            </a:r>
            <a:r>
              <a:rPr b="0" lang="en-US" sz="3600" spc="-41" strike="noStrike">
                <a:solidFill>
                  <a:srgbClr val="c00000"/>
                </a:solidFill>
                <a:latin typeface="Calibri Light"/>
              </a:rPr>
              <a:t>O</a:t>
            </a:r>
            <a:r>
              <a:rPr b="0" lang="en-US" sz="3600" spc="-46" strike="noStrike">
                <a:solidFill>
                  <a:srgbClr val="c00000"/>
                </a:solidFill>
                <a:latin typeface="Calibri Light"/>
              </a:rPr>
              <a:t>R</a:t>
            </a:r>
            <a:r>
              <a:rPr b="0" lang="en-US" sz="3600" spc="-1" strike="noStrike">
                <a:solidFill>
                  <a:srgbClr val="c00000"/>
                </a:solidFill>
                <a:latin typeface="Calibri Light"/>
              </a:rPr>
              <a:t>K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137" name="object 3"/>
          <p:cNvSpPr/>
          <p:nvPr/>
        </p:nvSpPr>
        <p:spPr>
          <a:xfrm>
            <a:off x="916920" y="1711080"/>
            <a:ext cx="10268640" cy="328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04040" bIns="0" anchor="t">
            <a:spAutoFit/>
          </a:bodyPr>
          <a:p>
            <a:pPr marL="241200" indent="-229320">
              <a:lnSpc>
                <a:spcPct val="100000"/>
              </a:lnSpc>
              <a:spcBef>
                <a:spcPts val="819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26" strike="noStrike">
                <a:solidFill>
                  <a:srgbClr val="000000"/>
                </a:solidFill>
                <a:latin typeface="Calibri"/>
                <a:ea typeface="DejaVu Sans"/>
              </a:rPr>
              <a:t>Effective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incident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response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depends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on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6fc0"/>
                </a:solidFill>
                <a:latin typeface="Calibri"/>
                <a:ea typeface="DejaVu Sans"/>
              </a:rPr>
              <a:t>threat</a:t>
            </a:r>
            <a:r>
              <a:rPr b="0" lang="en-US" sz="2400" spc="-15" strike="noStrike">
                <a:solidFill>
                  <a:srgbClr val="006fc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6fc0"/>
                </a:solidFill>
                <a:latin typeface="Calibri"/>
                <a:ea typeface="DejaVu Sans"/>
              </a:rPr>
              <a:t>intelligence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.</a:t>
            </a:r>
            <a:endParaRPr b="0" lang="en-US" sz="2400" spc="-1" strike="noStrike">
              <a:latin typeface="Arial"/>
            </a:endParaRPr>
          </a:p>
          <a:p>
            <a:pPr marL="241200" indent="-229320">
              <a:lnSpc>
                <a:spcPts val="2591"/>
              </a:lnSpc>
              <a:spcBef>
                <a:spcPts val="1046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Threat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research provides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insight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into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adversary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6fc0"/>
                </a:solidFill>
                <a:latin typeface="Calibri"/>
                <a:ea typeface="DejaVu Sans"/>
              </a:rPr>
              <a:t>tactics,</a:t>
            </a:r>
            <a:r>
              <a:rPr b="0" lang="en-US" sz="2400" spc="-21" strike="noStrike">
                <a:solidFill>
                  <a:srgbClr val="006fc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6fc0"/>
                </a:solidFill>
                <a:latin typeface="Calibri"/>
                <a:ea typeface="DejaVu Sans"/>
              </a:rPr>
              <a:t>techniques,</a:t>
            </a:r>
            <a:r>
              <a:rPr b="0" lang="en-US" sz="2400" spc="-15" strike="noStrike">
                <a:solidFill>
                  <a:srgbClr val="006fc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6fc0"/>
                </a:solidFill>
                <a:latin typeface="Calibri"/>
                <a:ea typeface="DejaVu Sans"/>
              </a:rPr>
              <a:t>and </a:t>
            </a:r>
            <a:r>
              <a:rPr b="0" lang="en-US" sz="2400" spc="-525" strike="noStrike">
                <a:solidFill>
                  <a:srgbClr val="006fc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6fc0"/>
                </a:solidFill>
                <a:latin typeface="Calibri"/>
                <a:ea typeface="DejaVu Sans"/>
              </a:rPr>
              <a:t>procedures</a:t>
            </a:r>
            <a:r>
              <a:rPr b="0" lang="en-US" sz="2400" spc="-7" strike="noStrike">
                <a:solidFill>
                  <a:srgbClr val="006fc0"/>
                </a:solidFill>
                <a:latin typeface="Calibri"/>
                <a:ea typeface="DejaVu Sans"/>
              </a:rPr>
              <a:t> (TTPs)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.</a:t>
            </a:r>
            <a:endParaRPr b="0" lang="en-US" sz="2400" spc="-1" strike="noStrike">
              <a:latin typeface="Arial"/>
            </a:endParaRPr>
          </a:p>
          <a:p>
            <a:pPr marL="241200" indent="-229320">
              <a:lnSpc>
                <a:spcPts val="2591"/>
              </a:lnSpc>
              <a:spcBef>
                <a:spcPts val="1006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Insights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from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threat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research can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be used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to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develop</a:t>
            </a:r>
            <a:r>
              <a:rPr b="0" lang="en-US" sz="2400" spc="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specific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tools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and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playbooks </a:t>
            </a:r>
            <a:r>
              <a:rPr b="0" lang="en-US" sz="2400" spc="-52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to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deal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with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event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scenarios.</a:t>
            </a:r>
            <a:endParaRPr b="0" lang="en-US" sz="2400" spc="-1" strike="noStrike">
              <a:latin typeface="Arial"/>
            </a:endParaRPr>
          </a:p>
          <a:p>
            <a:pPr marL="241200" indent="-229320">
              <a:lnSpc>
                <a:spcPts val="2591"/>
              </a:lnSpc>
              <a:spcBef>
                <a:spcPts val="1001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26" strike="noStrike">
                <a:solidFill>
                  <a:srgbClr val="000000"/>
                </a:solidFill>
                <a:latin typeface="Calibri"/>
                <a:ea typeface="DejaVu Sans"/>
              </a:rPr>
              <a:t>key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tool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for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threat research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is a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framework</a:t>
            </a:r>
            <a:r>
              <a:rPr b="0" lang="en-US" sz="2400" spc="-3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to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use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to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describe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the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stages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of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an </a:t>
            </a:r>
            <a:r>
              <a:rPr b="0" lang="en-US" sz="2400" spc="-52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attack.</a:t>
            </a:r>
            <a:endParaRPr b="0" lang="en-US" sz="2400" spc="-1" strike="noStrike">
              <a:latin typeface="Arial"/>
            </a:endParaRPr>
          </a:p>
          <a:p>
            <a:pPr marL="241200" indent="-229320">
              <a:lnSpc>
                <a:spcPct val="100000"/>
              </a:lnSpc>
              <a:spcBef>
                <a:spcPts val="686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These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stages are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often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referred</a:t>
            </a:r>
            <a:r>
              <a:rPr b="0" lang="en-US" sz="2400" spc="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to</a:t>
            </a:r>
            <a:r>
              <a:rPr b="0" lang="en-US" sz="2400" spc="-3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as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 </a:t>
            </a:r>
            <a:r>
              <a:rPr b="0" lang="en-US" sz="2400" spc="-7" strike="noStrike">
                <a:solidFill>
                  <a:srgbClr val="ac172b"/>
                </a:solidFill>
                <a:latin typeface="Calibri"/>
                <a:ea typeface="DejaVu Sans"/>
              </a:rPr>
              <a:t>Cyber</a:t>
            </a:r>
            <a:r>
              <a:rPr b="0" lang="en-US" sz="2400" spc="-15" strike="noStrike">
                <a:solidFill>
                  <a:srgbClr val="ac172b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ac172b"/>
                </a:solidFill>
                <a:latin typeface="Calibri"/>
                <a:ea typeface="DejaVu Sans"/>
              </a:rPr>
              <a:t>Kill</a:t>
            </a:r>
            <a:r>
              <a:rPr b="0" lang="en-US" sz="2400" spc="-15" strike="noStrike">
                <a:solidFill>
                  <a:srgbClr val="ac172b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ac172b"/>
                </a:solidFill>
                <a:latin typeface="Calibri"/>
                <a:ea typeface="DejaVu Sans"/>
              </a:rPr>
              <a:t>Chain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.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138" name="object 4"/>
          <p:cNvSpPr/>
          <p:nvPr/>
        </p:nvSpPr>
        <p:spPr>
          <a:xfrm>
            <a:off x="838080" y="6400800"/>
            <a:ext cx="10514520" cy="227520"/>
          </a:xfrm>
          <a:custGeom>
            <a:avLst/>
            <a:gdLst/>
            <a:ahLst/>
            <a:rect l="l" t="t" r="r" b="b"/>
            <a:pathLst>
              <a:path w="10515600" h="228600">
                <a:moveTo>
                  <a:pt x="10515600" y="0"/>
                </a:moveTo>
                <a:lnTo>
                  <a:pt x="0" y="0"/>
                </a:lnTo>
                <a:lnTo>
                  <a:pt x="0" y="228600"/>
                </a:lnTo>
                <a:lnTo>
                  <a:pt x="10515600" y="228600"/>
                </a:lnTo>
                <a:lnTo>
                  <a:pt x="10515600" y="0"/>
                </a:lnTo>
                <a:close/>
              </a:path>
            </a:pathLst>
          </a:custGeom>
          <a:solidFill>
            <a:srgbClr val="c00000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39" name="PlaceHolder 2"/>
          <p:cNvSpPr>
            <a:spLocks noGrp="1"/>
          </p:cNvSpPr>
          <p:nvPr>
            <p:ph type="ftr" idx="31"/>
          </p:nvPr>
        </p:nvSpPr>
        <p:spPr>
          <a:xfrm>
            <a:off x="916920" y="6451560"/>
            <a:ext cx="102240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Security+</a:t>
            </a:r>
            <a:r>
              <a:rPr b="0" lang="en-US" sz="1000" spc="-46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(SY0-601)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140" name="PlaceHolder 3"/>
          <p:cNvSpPr>
            <a:spLocks noGrp="1"/>
          </p:cNvSpPr>
          <p:nvPr>
            <p:ph type="dt" idx="32"/>
          </p:nvPr>
        </p:nvSpPr>
        <p:spPr>
          <a:xfrm>
            <a:off x="5492520" y="6451560"/>
            <a:ext cx="112212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©</a:t>
            </a:r>
            <a:r>
              <a:rPr b="0" lang="en-US" sz="1000" spc="-41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netriders.academy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141" name="PlaceHolder 4"/>
          <p:cNvSpPr>
            <a:spLocks noGrp="1"/>
          </p:cNvSpPr>
          <p:nvPr>
            <p:ph type="sldNum" idx="33"/>
          </p:nvPr>
        </p:nvSpPr>
        <p:spPr>
          <a:xfrm>
            <a:off x="11098440" y="6451200"/>
            <a:ext cx="20340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3816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38160">
              <a:lnSpc>
                <a:spcPts val="1046"/>
              </a:lnSpc>
              <a:buNone/>
            </a:pPr>
            <a:fld id="{FA5E9747-6A94-4B27-85EE-CA0555204506}" type="slidenum">
              <a:rPr b="0" lang="en-US" sz="1000" spc="-7" strike="noStrike">
                <a:solidFill>
                  <a:srgbClr val="ffffff"/>
                </a:solidFill>
                <a:latin typeface="Calibri"/>
              </a:rPr>
              <a:t>&lt;number&gt;</a:t>
            </a:fld>
            <a:endParaRPr b="0" lang="en-US" sz="10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PlaceHolder 1"/>
          <p:cNvSpPr>
            <a:spLocks noGrp="1"/>
          </p:cNvSpPr>
          <p:nvPr>
            <p:ph type="title"/>
          </p:nvPr>
        </p:nvSpPr>
        <p:spPr>
          <a:xfrm>
            <a:off x="916920" y="684720"/>
            <a:ext cx="10740960" cy="91476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>
              <a:lnSpc>
                <a:spcPct val="100000"/>
              </a:lnSpc>
              <a:spcBef>
                <a:spcPts val="99"/>
              </a:spcBef>
              <a:buNone/>
            </a:pPr>
            <a:r>
              <a:rPr b="0" lang="en-US" sz="3600" spc="-26" strike="noStrike">
                <a:solidFill>
                  <a:srgbClr val="c00000"/>
                </a:solidFill>
                <a:latin typeface="Calibri Light"/>
              </a:rPr>
              <a:t>CYBER</a:t>
            </a:r>
            <a:r>
              <a:rPr b="0" lang="en-US" sz="3600" spc="-100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15" strike="noStrike">
                <a:solidFill>
                  <a:srgbClr val="c00000"/>
                </a:solidFill>
                <a:latin typeface="Calibri Light"/>
              </a:rPr>
              <a:t>KILL</a:t>
            </a:r>
            <a:r>
              <a:rPr b="0" lang="en-US" sz="3600" spc="-92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21" strike="noStrike">
                <a:solidFill>
                  <a:srgbClr val="c00000"/>
                </a:solidFill>
                <a:latin typeface="Calibri Light"/>
              </a:rPr>
              <a:t>CHAIN</a:t>
            </a:r>
            <a:r>
              <a:rPr b="0" lang="en-US" sz="3600" spc="-111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114" strike="noStrike">
                <a:solidFill>
                  <a:srgbClr val="c00000"/>
                </a:solidFill>
                <a:latin typeface="Calibri Light"/>
              </a:rPr>
              <a:t>ATTACK</a:t>
            </a:r>
            <a:r>
              <a:rPr b="0" lang="en-US" sz="3600" spc="-86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41" strike="noStrike">
                <a:solidFill>
                  <a:srgbClr val="c00000"/>
                </a:solidFill>
                <a:latin typeface="Calibri Light"/>
              </a:rPr>
              <a:t>FRAMEWORK</a:t>
            </a:r>
            <a:r>
              <a:rPr b="0" lang="en-US" sz="3600" spc="-86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32" strike="noStrike">
                <a:solidFill>
                  <a:srgbClr val="c00000"/>
                </a:solidFill>
                <a:latin typeface="Calibri Light"/>
              </a:rPr>
              <a:t>(cont.)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143" name="object 3"/>
          <p:cNvSpPr/>
          <p:nvPr/>
        </p:nvSpPr>
        <p:spPr>
          <a:xfrm>
            <a:off x="838080" y="6400800"/>
            <a:ext cx="10514520" cy="227520"/>
          </a:xfrm>
          <a:custGeom>
            <a:avLst/>
            <a:gdLst/>
            <a:ahLst/>
            <a:rect l="l" t="t" r="r" b="b"/>
            <a:pathLst>
              <a:path w="10515600" h="228600">
                <a:moveTo>
                  <a:pt x="10515600" y="0"/>
                </a:moveTo>
                <a:lnTo>
                  <a:pt x="0" y="0"/>
                </a:lnTo>
                <a:lnTo>
                  <a:pt x="0" y="228600"/>
                </a:lnTo>
                <a:lnTo>
                  <a:pt x="10515600" y="228600"/>
                </a:lnTo>
                <a:lnTo>
                  <a:pt x="10515600" y="0"/>
                </a:lnTo>
                <a:close/>
              </a:path>
            </a:pathLst>
          </a:custGeom>
          <a:solidFill>
            <a:srgbClr val="c00000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144" name="object 4" descr=""/>
          <p:cNvPicPr/>
          <p:nvPr/>
        </p:nvPicPr>
        <p:blipFill>
          <a:blip r:embed="rId1"/>
          <a:stretch/>
        </p:blipFill>
        <p:spPr>
          <a:xfrm>
            <a:off x="1329120" y="2068200"/>
            <a:ext cx="9551160" cy="4023720"/>
          </a:xfrm>
          <a:prstGeom prst="rect">
            <a:avLst/>
          </a:prstGeom>
          <a:ln w="0">
            <a:noFill/>
          </a:ln>
        </p:spPr>
      </p:pic>
      <p:sp>
        <p:nvSpPr>
          <p:cNvPr id="145" name="PlaceHolder 2"/>
          <p:cNvSpPr>
            <a:spLocks noGrp="1"/>
          </p:cNvSpPr>
          <p:nvPr>
            <p:ph type="ftr" idx="34"/>
          </p:nvPr>
        </p:nvSpPr>
        <p:spPr>
          <a:xfrm>
            <a:off x="916920" y="6451560"/>
            <a:ext cx="102240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Security+</a:t>
            </a:r>
            <a:r>
              <a:rPr b="0" lang="en-US" sz="1000" spc="-46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(SY0-601)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146" name="PlaceHolder 3"/>
          <p:cNvSpPr>
            <a:spLocks noGrp="1"/>
          </p:cNvSpPr>
          <p:nvPr>
            <p:ph type="dt" idx="35"/>
          </p:nvPr>
        </p:nvSpPr>
        <p:spPr>
          <a:xfrm>
            <a:off x="5492520" y="6451560"/>
            <a:ext cx="112212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©</a:t>
            </a:r>
            <a:r>
              <a:rPr b="0" lang="en-US" sz="1000" spc="-41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netriders.academy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147" name="PlaceHolder 4"/>
          <p:cNvSpPr>
            <a:spLocks noGrp="1"/>
          </p:cNvSpPr>
          <p:nvPr>
            <p:ph type="sldNum" idx="36"/>
          </p:nvPr>
        </p:nvSpPr>
        <p:spPr>
          <a:xfrm>
            <a:off x="11098440" y="6451200"/>
            <a:ext cx="20340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3816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38160">
              <a:lnSpc>
                <a:spcPts val="1046"/>
              </a:lnSpc>
              <a:buNone/>
            </a:pPr>
            <a:fld id="{AAAC4F38-8BC8-4B43-A0BC-408EAF87391D}" type="slidenum">
              <a:rPr b="0" lang="en-US" sz="1000" spc="-7" strike="noStrike">
                <a:solidFill>
                  <a:srgbClr val="ffffff"/>
                </a:solidFill>
                <a:latin typeface="Calibri"/>
              </a:rPr>
              <a:t>&lt;number&gt;</a:t>
            </a:fld>
            <a:endParaRPr b="0" lang="en-US" sz="10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PlaceHolder 1"/>
          <p:cNvSpPr>
            <a:spLocks noGrp="1"/>
          </p:cNvSpPr>
          <p:nvPr>
            <p:ph type="title"/>
          </p:nvPr>
        </p:nvSpPr>
        <p:spPr>
          <a:xfrm>
            <a:off x="916920" y="684720"/>
            <a:ext cx="10740960" cy="68616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>
              <a:lnSpc>
                <a:spcPct val="100000"/>
              </a:lnSpc>
              <a:spcBef>
                <a:spcPts val="99"/>
              </a:spcBef>
              <a:buNone/>
            </a:pPr>
            <a:r>
              <a:rPr b="0" lang="en-US" sz="3600" spc="-26" strike="noStrike">
                <a:solidFill>
                  <a:srgbClr val="c00000"/>
                </a:solidFill>
                <a:latin typeface="Calibri Light"/>
              </a:rPr>
              <a:t>CYBER</a:t>
            </a:r>
            <a:r>
              <a:rPr b="0" lang="en-US" sz="3600" spc="-100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15" strike="noStrike">
                <a:solidFill>
                  <a:srgbClr val="c00000"/>
                </a:solidFill>
                <a:latin typeface="Calibri Light"/>
              </a:rPr>
              <a:t>KILL</a:t>
            </a:r>
            <a:r>
              <a:rPr b="0" lang="en-US" sz="3600" spc="-92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21" strike="noStrike">
                <a:solidFill>
                  <a:srgbClr val="c00000"/>
                </a:solidFill>
                <a:latin typeface="Calibri Light"/>
              </a:rPr>
              <a:t>CHAIN</a:t>
            </a:r>
            <a:r>
              <a:rPr b="0" lang="en-US" sz="3600" spc="-111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114" strike="noStrike">
                <a:solidFill>
                  <a:srgbClr val="c00000"/>
                </a:solidFill>
                <a:latin typeface="Calibri Light"/>
              </a:rPr>
              <a:t>ATTACK</a:t>
            </a:r>
            <a:r>
              <a:rPr b="0" lang="en-US" sz="3600" spc="-86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41" strike="noStrike">
                <a:solidFill>
                  <a:srgbClr val="c00000"/>
                </a:solidFill>
                <a:latin typeface="Calibri Light"/>
              </a:rPr>
              <a:t>FRAMEWORK</a:t>
            </a:r>
            <a:r>
              <a:rPr b="0" lang="en-US" sz="3600" spc="-86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32" strike="noStrike">
                <a:solidFill>
                  <a:srgbClr val="c00000"/>
                </a:solidFill>
                <a:latin typeface="Calibri Light"/>
              </a:rPr>
              <a:t>(cont.)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149" name="object 3"/>
          <p:cNvSpPr/>
          <p:nvPr/>
        </p:nvSpPr>
        <p:spPr>
          <a:xfrm>
            <a:off x="592920" y="1557720"/>
            <a:ext cx="10969560" cy="455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85680" bIns="0" anchor="t">
            <a:spAutoFit/>
          </a:bodyPr>
          <a:p>
            <a:pPr marL="469800" indent="-457920">
              <a:lnSpc>
                <a:spcPct val="80000"/>
              </a:lnSpc>
              <a:spcBef>
                <a:spcPts val="675"/>
              </a:spcBef>
              <a:buClr>
                <a:srgbClr val="006fc0"/>
              </a:buClr>
              <a:buFont typeface="StarSymbol"/>
              <a:buAutoNum type="arabicPeriod"/>
              <a:tabLst>
                <a:tab algn="l" pos="469800"/>
                <a:tab algn="l" pos="470520"/>
              </a:tabLst>
            </a:pPr>
            <a:r>
              <a:rPr b="0" lang="en-US" sz="2400" spc="-7" strike="noStrike">
                <a:solidFill>
                  <a:srgbClr val="006fc0"/>
                </a:solidFill>
                <a:latin typeface="Calibri"/>
                <a:ea typeface="DejaVu Sans"/>
              </a:rPr>
              <a:t>Reconnaissance—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in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this 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stage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the 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attacker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determines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what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methods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to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use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to </a:t>
            </a:r>
            <a:r>
              <a:rPr b="0" lang="en-US" sz="2400" spc="-53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complete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the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phases of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the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attack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and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gathers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information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about the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target's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personnel,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computer 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systems,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and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supply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chain.</a:t>
            </a:r>
            <a:endParaRPr b="0" lang="en-US" sz="2400" spc="-1" strike="noStrike">
              <a:latin typeface="Arial"/>
            </a:endParaRPr>
          </a:p>
          <a:p>
            <a:pPr marL="469800" indent="-457920">
              <a:lnSpc>
                <a:spcPts val="2299"/>
              </a:lnSpc>
              <a:spcBef>
                <a:spcPts val="981"/>
              </a:spcBef>
              <a:buClr>
                <a:srgbClr val="006fc0"/>
              </a:buClr>
              <a:buFont typeface="StarSymbol"/>
              <a:buAutoNum type="arabicPeriod"/>
              <a:tabLst>
                <a:tab algn="l" pos="469800"/>
                <a:tab algn="l" pos="470520"/>
              </a:tabLst>
            </a:pPr>
            <a:r>
              <a:rPr b="0" lang="en-US" sz="2400" spc="-15" strike="noStrike">
                <a:solidFill>
                  <a:srgbClr val="006fc0"/>
                </a:solidFill>
                <a:latin typeface="Calibri"/>
                <a:ea typeface="DejaVu Sans"/>
              </a:rPr>
              <a:t>Weaponization—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attacker</a:t>
            </a:r>
            <a:r>
              <a:rPr b="0" lang="en-US" sz="2400" spc="-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couples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payload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code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that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will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enable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access</a:t>
            </a:r>
            <a:r>
              <a:rPr b="0" lang="en-US" sz="2400" spc="-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with </a:t>
            </a:r>
            <a:r>
              <a:rPr b="0" lang="en-US" sz="2400" spc="-52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exploit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code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that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will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use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vulnerability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to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execute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on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the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target</a:t>
            </a:r>
            <a:r>
              <a:rPr b="0" lang="en-US" sz="2400" spc="-3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system.</a:t>
            </a:r>
            <a:endParaRPr b="0" lang="en-US" sz="2400" spc="-1" strike="noStrike">
              <a:latin typeface="Arial"/>
            </a:endParaRPr>
          </a:p>
          <a:p>
            <a:pPr marL="469800" indent="-457920">
              <a:lnSpc>
                <a:spcPts val="2299"/>
              </a:lnSpc>
              <a:spcBef>
                <a:spcPts val="1018"/>
              </a:spcBef>
              <a:buClr>
                <a:srgbClr val="006fc0"/>
              </a:buClr>
              <a:buFont typeface="StarSymbol"/>
              <a:buAutoNum type="arabicPeriod"/>
              <a:tabLst>
                <a:tab algn="l" pos="469800"/>
                <a:tab algn="l" pos="470520"/>
              </a:tabLst>
            </a:pPr>
            <a:r>
              <a:rPr b="0" lang="en-US" sz="2400" spc="-7" strike="noStrike">
                <a:solidFill>
                  <a:srgbClr val="006fc0"/>
                </a:solidFill>
                <a:latin typeface="Calibri"/>
                <a:ea typeface="DejaVu Sans"/>
              </a:rPr>
              <a:t>Delivery—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the 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attacker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identifies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vector by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which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to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transmit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the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weaponized </a:t>
            </a:r>
            <a:r>
              <a:rPr b="0" lang="en-US" sz="2400" spc="-53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code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to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the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target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environment,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such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as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via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an email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attachment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or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on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USB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drive.</a:t>
            </a:r>
            <a:endParaRPr b="0" lang="en-US" sz="2400" spc="-1" strike="noStrike">
              <a:latin typeface="Arial"/>
            </a:endParaRPr>
          </a:p>
          <a:p>
            <a:pPr marL="469800" indent="-457920">
              <a:lnSpc>
                <a:spcPts val="2299"/>
              </a:lnSpc>
              <a:spcBef>
                <a:spcPts val="1009"/>
              </a:spcBef>
              <a:buClr>
                <a:srgbClr val="006fc0"/>
              </a:buClr>
              <a:buFont typeface="StarSymbol"/>
              <a:buAutoNum type="arabicPeriod"/>
              <a:tabLst>
                <a:tab algn="l" pos="469800"/>
                <a:tab algn="l" pos="470520"/>
              </a:tabLst>
            </a:pPr>
            <a:r>
              <a:rPr b="0" lang="en-US" sz="2400" spc="-7" strike="noStrike">
                <a:solidFill>
                  <a:srgbClr val="006fc0"/>
                </a:solidFill>
                <a:latin typeface="Calibri"/>
                <a:ea typeface="DejaVu Sans"/>
              </a:rPr>
              <a:t>Exploitation—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the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weaponized code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is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executed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on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the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target </a:t>
            </a:r>
            <a:r>
              <a:rPr b="0" lang="en-US" sz="2400" spc="-26" strike="noStrike">
                <a:solidFill>
                  <a:srgbClr val="000000"/>
                </a:solidFill>
                <a:latin typeface="Calibri"/>
                <a:ea typeface="DejaVu Sans"/>
              </a:rPr>
              <a:t>system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by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this 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mechanism, </a:t>
            </a:r>
            <a:r>
              <a:rPr b="1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For example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,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phishing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email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may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trick the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user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into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running the 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code,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while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drive-by-download</a:t>
            </a:r>
            <a:r>
              <a:rPr b="0" lang="en-US" sz="24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would 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execute</a:t>
            </a:r>
            <a:r>
              <a:rPr b="0" lang="en-US" sz="2400" spc="-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on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vulnerable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26" strike="noStrike">
                <a:solidFill>
                  <a:srgbClr val="000000"/>
                </a:solidFill>
                <a:latin typeface="Calibri"/>
                <a:ea typeface="DejaVu Sans"/>
              </a:rPr>
              <a:t>system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without </a:t>
            </a:r>
            <a:r>
              <a:rPr b="0" lang="en-US" sz="2400" spc="-53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user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intervention.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150" name="object 4"/>
          <p:cNvSpPr/>
          <p:nvPr/>
        </p:nvSpPr>
        <p:spPr>
          <a:xfrm>
            <a:off x="838080" y="6400800"/>
            <a:ext cx="10514520" cy="227520"/>
          </a:xfrm>
          <a:custGeom>
            <a:avLst/>
            <a:gdLst/>
            <a:ahLst/>
            <a:rect l="l" t="t" r="r" b="b"/>
            <a:pathLst>
              <a:path w="10515600" h="228600">
                <a:moveTo>
                  <a:pt x="10515600" y="0"/>
                </a:moveTo>
                <a:lnTo>
                  <a:pt x="0" y="0"/>
                </a:lnTo>
                <a:lnTo>
                  <a:pt x="0" y="228600"/>
                </a:lnTo>
                <a:lnTo>
                  <a:pt x="10515600" y="228600"/>
                </a:lnTo>
                <a:lnTo>
                  <a:pt x="10515600" y="0"/>
                </a:lnTo>
                <a:close/>
              </a:path>
            </a:pathLst>
          </a:custGeom>
          <a:solidFill>
            <a:srgbClr val="c00000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51" name="PlaceHolder 2"/>
          <p:cNvSpPr>
            <a:spLocks noGrp="1"/>
          </p:cNvSpPr>
          <p:nvPr>
            <p:ph type="ftr" idx="37"/>
          </p:nvPr>
        </p:nvSpPr>
        <p:spPr>
          <a:xfrm>
            <a:off x="916920" y="6451560"/>
            <a:ext cx="102240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Security+</a:t>
            </a:r>
            <a:r>
              <a:rPr b="0" lang="en-US" sz="1000" spc="-46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(SY0-601)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152" name="PlaceHolder 3"/>
          <p:cNvSpPr>
            <a:spLocks noGrp="1"/>
          </p:cNvSpPr>
          <p:nvPr>
            <p:ph type="dt" idx="38"/>
          </p:nvPr>
        </p:nvSpPr>
        <p:spPr>
          <a:xfrm>
            <a:off x="5492520" y="6451560"/>
            <a:ext cx="112212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©</a:t>
            </a:r>
            <a:r>
              <a:rPr b="0" lang="en-US" sz="1000" spc="-41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netriders.academy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153" name="PlaceHolder 4"/>
          <p:cNvSpPr>
            <a:spLocks noGrp="1"/>
          </p:cNvSpPr>
          <p:nvPr>
            <p:ph type="sldNum" idx="39"/>
          </p:nvPr>
        </p:nvSpPr>
        <p:spPr>
          <a:xfrm>
            <a:off x="11098440" y="6451200"/>
            <a:ext cx="20340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3816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38160">
              <a:lnSpc>
                <a:spcPts val="1046"/>
              </a:lnSpc>
              <a:buNone/>
            </a:pPr>
            <a:fld id="{3FFE9673-D204-4FF6-9B06-FAA4E1FFE959}" type="slidenum">
              <a:rPr b="0" lang="en-US" sz="1000" spc="-7" strike="noStrike">
                <a:solidFill>
                  <a:srgbClr val="ffffff"/>
                </a:solidFill>
                <a:latin typeface="Calibri"/>
              </a:rPr>
              <a:t>&lt;number&gt;</a:t>
            </a:fld>
            <a:endParaRPr b="0" lang="en-US" sz="10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PlaceHolder 1"/>
          <p:cNvSpPr>
            <a:spLocks noGrp="1"/>
          </p:cNvSpPr>
          <p:nvPr>
            <p:ph type="title"/>
          </p:nvPr>
        </p:nvSpPr>
        <p:spPr>
          <a:xfrm>
            <a:off x="843120" y="685800"/>
            <a:ext cx="10814760" cy="115704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>
              <a:lnSpc>
                <a:spcPct val="100000"/>
              </a:lnSpc>
              <a:spcBef>
                <a:spcPts val="99"/>
              </a:spcBef>
              <a:buNone/>
            </a:pPr>
            <a:r>
              <a:rPr b="0" lang="en-US" sz="3600" spc="-26" strike="noStrike">
                <a:solidFill>
                  <a:srgbClr val="c00000"/>
                </a:solidFill>
                <a:latin typeface="Calibri Light"/>
              </a:rPr>
              <a:t>CYBER</a:t>
            </a:r>
            <a:r>
              <a:rPr b="0" lang="en-US" sz="3600" spc="-100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15" strike="noStrike">
                <a:solidFill>
                  <a:srgbClr val="c00000"/>
                </a:solidFill>
                <a:latin typeface="Calibri Light"/>
              </a:rPr>
              <a:t>KILL</a:t>
            </a:r>
            <a:r>
              <a:rPr b="0" lang="en-US" sz="3600" spc="-92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21" strike="noStrike">
                <a:solidFill>
                  <a:srgbClr val="c00000"/>
                </a:solidFill>
                <a:latin typeface="Calibri Light"/>
              </a:rPr>
              <a:t>CHAIN</a:t>
            </a:r>
            <a:r>
              <a:rPr b="0" lang="en-US" sz="3600" spc="-111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114" strike="noStrike">
                <a:solidFill>
                  <a:srgbClr val="c00000"/>
                </a:solidFill>
                <a:latin typeface="Calibri Light"/>
              </a:rPr>
              <a:t>ATTACK</a:t>
            </a:r>
            <a:r>
              <a:rPr b="0" lang="en-US" sz="3600" spc="-86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41" strike="noStrike">
                <a:solidFill>
                  <a:srgbClr val="c00000"/>
                </a:solidFill>
                <a:latin typeface="Calibri Light"/>
              </a:rPr>
              <a:t>FRAMEWORK</a:t>
            </a:r>
            <a:r>
              <a:rPr b="0" lang="en-US" sz="3600" spc="-86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32" strike="noStrike">
                <a:solidFill>
                  <a:srgbClr val="c00000"/>
                </a:solidFill>
                <a:latin typeface="Calibri Light"/>
              </a:rPr>
              <a:t>(cont.)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155" name="object 3"/>
          <p:cNvSpPr/>
          <p:nvPr/>
        </p:nvSpPr>
        <p:spPr>
          <a:xfrm>
            <a:off x="916920" y="1802520"/>
            <a:ext cx="10198800" cy="425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54000" bIns="0" anchor="t">
            <a:spAutoFit/>
          </a:bodyPr>
          <a:p>
            <a:pPr marL="469800" indent="-457920">
              <a:lnSpc>
                <a:spcPts val="2591"/>
              </a:lnSpc>
              <a:spcBef>
                <a:spcPts val="425"/>
              </a:spcBef>
              <a:buClr>
                <a:srgbClr val="006fc0"/>
              </a:buClr>
              <a:buFont typeface="StarSymbol"/>
              <a:buAutoNum type="arabicPeriod" startAt="5"/>
              <a:tabLst>
                <a:tab algn="l" pos="469800"/>
                <a:tab algn="l" pos="470520"/>
              </a:tabLst>
            </a:pPr>
            <a:r>
              <a:rPr b="0" lang="en-US" sz="2400" spc="-12" strike="noStrike">
                <a:solidFill>
                  <a:srgbClr val="006fc0"/>
                </a:solidFill>
                <a:latin typeface="Calibri"/>
                <a:ea typeface="DejaVu Sans"/>
              </a:rPr>
              <a:t>Installation—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this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mechanism</a:t>
            </a:r>
            <a:r>
              <a:rPr b="0" lang="en-US" sz="2400" spc="-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enables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the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weaponized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code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to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run a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remote </a:t>
            </a:r>
            <a:r>
              <a:rPr b="0" lang="en-US" sz="2400" spc="-52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access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tool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and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achieve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persistence</a:t>
            </a:r>
            <a:r>
              <a:rPr b="0" lang="en-US" sz="2400" spc="-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on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target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system.</a:t>
            </a:r>
            <a:endParaRPr b="0" lang="en-US" sz="2400" spc="-1" strike="noStrike">
              <a:latin typeface="Arial"/>
            </a:endParaRPr>
          </a:p>
          <a:p>
            <a:pPr marL="469800" indent="-457920">
              <a:lnSpc>
                <a:spcPct val="90000"/>
              </a:lnSpc>
              <a:spcBef>
                <a:spcPts val="975"/>
              </a:spcBef>
              <a:buClr>
                <a:srgbClr val="006fc0"/>
              </a:buClr>
              <a:buFont typeface="StarSymbol"/>
              <a:buAutoNum type="arabicPeriod" startAt="5"/>
              <a:tabLst>
                <a:tab algn="l" pos="469800"/>
                <a:tab algn="l" pos="470520"/>
              </a:tabLst>
            </a:pPr>
            <a:r>
              <a:rPr b="0" lang="en-US" sz="2400" spc="-7" strike="noStrike">
                <a:solidFill>
                  <a:srgbClr val="006fc0"/>
                </a:solidFill>
                <a:latin typeface="Calibri"/>
                <a:ea typeface="DejaVu Sans"/>
              </a:rPr>
              <a:t>Command </a:t>
            </a:r>
            <a:r>
              <a:rPr b="0" lang="en-US" sz="2400" spc="-1" strike="noStrike">
                <a:solidFill>
                  <a:srgbClr val="006fc0"/>
                </a:solidFill>
                <a:latin typeface="Calibri"/>
                <a:ea typeface="DejaVu Sans"/>
              </a:rPr>
              <a:t>and </a:t>
            </a:r>
            <a:r>
              <a:rPr b="0" lang="en-US" sz="2400" spc="-15" strike="noStrike">
                <a:solidFill>
                  <a:srgbClr val="006fc0"/>
                </a:solidFill>
                <a:latin typeface="Calibri"/>
                <a:ea typeface="DejaVu Sans"/>
              </a:rPr>
              <a:t>control </a:t>
            </a:r>
            <a:r>
              <a:rPr b="0" lang="en-US" sz="2400" spc="-7" strike="noStrike">
                <a:solidFill>
                  <a:srgbClr val="006fc0"/>
                </a:solidFill>
                <a:latin typeface="Calibri"/>
                <a:ea typeface="DejaVu Sans"/>
              </a:rPr>
              <a:t>(C2 or </a:t>
            </a:r>
            <a:r>
              <a:rPr b="0" lang="en-US" sz="2400" spc="-1" strike="noStrike">
                <a:solidFill>
                  <a:srgbClr val="006fc0"/>
                </a:solidFill>
                <a:latin typeface="Calibri"/>
                <a:ea typeface="DejaVu Sans"/>
              </a:rPr>
              <a:t>C&amp;C)—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the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weaponized code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establishes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an 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outbound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channel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to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remote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server</a:t>
            </a:r>
            <a:r>
              <a:rPr b="0" lang="en-US" sz="2400" spc="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that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can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then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be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used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to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control</a:t>
            </a:r>
            <a:r>
              <a:rPr b="0" lang="en-US" sz="2400" spc="-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the </a:t>
            </a:r>
            <a:r>
              <a:rPr b="0" lang="en-US" sz="2400" spc="-52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remote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access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tool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and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possibly download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additional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tools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to progress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the </a:t>
            </a:r>
            <a:r>
              <a:rPr b="0" lang="en-US" sz="2400" spc="-53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attack.</a:t>
            </a:r>
            <a:endParaRPr b="0" lang="en-US" sz="2400" spc="-1" strike="noStrike">
              <a:latin typeface="Arial"/>
            </a:endParaRPr>
          </a:p>
          <a:p>
            <a:pPr marL="469800" indent="-457920">
              <a:lnSpc>
                <a:spcPct val="90000"/>
              </a:lnSpc>
              <a:spcBef>
                <a:spcPts val="995"/>
              </a:spcBef>
              <a:buClr>
                <a:srgbClr val="006fc0"/>
              </a:buClr>
              <a:buFont typeface="StarSymbol"/>
              <a:buAutoNum type="arabicPeriod" startAt="5"/>
              <a:tabLst>
                <a:tab algn="l" pos="469800"/>
                <a:tab algn="l" pos="470520"/>
              </a:tabLst>
            </a:pPr>
            <a:r>
              <a:rPr b="0" lang="en-US" sz="2400" spc="-1" strike="noStrike">
                <a:solidFill>
                  <a:srgbClr val="006fc0"/>
                </a:solidFill>
                <a:latin typeface="Calibri"/>
                <a:ea typeface="DejaVu Sans"/>
              </a:rPr>
              <a:t>Actions </a:t>
            </a:r>
            <a:r>
              <a:rPr b="0" lang="en-US" sz="2400" spc="-7" strike="noStrike">
                <a:solidFill>
                  <a:srgbClr val="006fc0"/>
                </a:solidFill>
                <a:latin typeface="Calibri"/>
                <a:ea typeface="DejaVu Sans"/>
              </a:rPr>
              <a:t>on objectives—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in this phase,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the 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attacker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typically uses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the access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he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has achieved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to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covertly collect</a:t>
            </a:r>
            <a:r>
              <a:rPr b="0" lang="en-US" sz="2400" spc="-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information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from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target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systems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and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transfer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it </a:t>
            </a:r>
            <a:r>
              <a:rPr b="0" lang="en-US" sz="2400" spc="-52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to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remote </a:t>
            </a:r>
            <a:r>
              <a:rPr b="0" lang="en-US" sz="2400" spc="-26" strike="noStrike">
                <a:solidFill>
                  <a:srgbClr val="000000"/>
                </a:solidFill>
                <a:latin typeface="Calibri"/>
                <a:ea typeface="DejaVu Sans"/>
              </a:rPr>
              <a:t>system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(data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exfiltration),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An 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attacker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may 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have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other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goals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or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motives, </a:t>
            </a:r>
            <a:r>
              <a:rPr b="0" lang="en-US" sz="2400" spc="-41" strike="noStrike">
                <a:solidFill>
                  <a:srgbClr val="000000"/>
                </a:solidFill>
                <a:latin typeface="Calibri"/>
                <a:ea typeface="DejaVu Sans"/>
              </a:rPr>
              <a:t>however.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156" name="object 4"/>
          <p:cNvSpPr/>
          <p:nvPr/>
        </p:nvSpPr>
        <p:spPr>
          <a:xfrm>
            <a:off x="838080" y="6400800"/>
            <a:ext cx="10514520" cy="227520"/>
          </a:xfrm>
          <a:custGeom>
            <a:avLst/>
            <a:gdLst/>
            <a:ahLst/>
            <a:rect l="l" t="t" r="r" b="b"/>
            <a:pathLst>
              <a:path w="10515600" h="228600">
                <a:moveTo>
                  <a:pt x="10515600" y="0"/>
                </a:moveTo>
                <a:lnTo>
                  <a:pt x="0" y="0"/>
                </a:lnTo>
                <a:lnTo>
                  <a:pt x="0" y="228600"/>
                </a:lnTo>
                <a:lnTo>
                  <a:pt x="10515600" y="228600"/>
                </a:lnTo>
                <a:lnTo>
                  <a:pt x="10515600" y="0"/>
                </a:lnTo>
                <a:close/>
              </a:path>
            </a:pathLst>
          </a:custGeom>
          <a:solidFill>
            <a:srgbClr val="c00000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57" name="PlaceHolder 2"/>
          <p:cNvSpPr>
            <a:spLocks noGrp="1"/>
          </p:cNvSpPr>
          <p:nvPr>
            <p:ph type="ftr" idx="40"/>
          </p:nvPr>
        </p:nvSpPr>
        <p:spPr>
          <a:xfrm>
            <a:off x="916920" y="6451560"/>
            <a:ext cx="102240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Security+</a:t>
            </a:r>
            <a:r>
              <a:rPr b="0" lang="en-US" sz="1000" spc="-46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(SY0-601)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158" name="PlaceHolder 3"/>
          <p:cNvSpPr>
            <a:spLocks noGrp="1"/>
          </p:cNvSpPr>
          <p:nvPr>
            <p:ph type="dt" idx="41"/>
          </p:nvPr>
        </p:nvSpPr>
        <p:spPr>
          <a:xfrm>
            <a:off x="5492520" y="6451560"/>
            <a:ext cx="112212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©</a:t>
            </a:r>
            <a:r>
              <a:rPr b="0" lang="en-US" sz="1000" spc="-41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netriders.academy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159" name="PlaceHolder 4"/>
          <p:cNvSpPr>
            <a:spLocks noGrp="1"/>
          </p:cNvSpPr>
          <p:nvPr>
            <p:ph type="sldNum" idx="42"/>
          </p:nvPr>
        </p:nvSpPr>
        <p:spPr>
          <a:xfrm>
            <a:off x="11098440" y="6451200"/>
            <a:ext cx="20340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3816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38160">
              <a:lnSpc>
                <a:spcPts val="1046"/>
              </a:lnSpc>
              <a:buNone/>
            </a:pPr>
            <a:fld id="{CC5F759C-44D4-46C9-89A7-1DA9E400B54B}" type="slidenum">
              <a:rPr b="0" lang="en-US" sz="1000" spc="-7" strike="noStrike">
                <a:solidFill>
                  <a:srgbClr val="ffffff"/>
                </a:solidFill>
                <a:latin typeface="Calibri"/>
              </a:rPr>
              <a:t>&lt;number&gt;</a:t>
            </a:fld>
            <a:endParaRPr b="0" lang="en-US" sz="10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PlaceHolder 1"/>
          <p:cNvSpPr>
            <a:spLocks noGrp="1"/>
          </p:cNvSpPr>
          <p:nvPr>
            <p:ph type="title"/>
          </p:nvPr>
        </p:nvSpPr>
        <p:spPr>
          <a:xfrm>
            <a:off x="916920" y="684720"/>
            <a:ext cx="7540920" cy="115704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>
              <a:lnSpc>
                <a:spcPct val="100000"/>
              </a:lnSpc>
              <a:spcBef>
                <a:spcPts val="99"/>
              </a:spcBef>
              <a:buNone/>
            </a:pPr>
            <a:r>
              <a:rPr b="0" lang="en-US" sz="3600" spc="-137" strike="noStrike">
                <a:solidFill>
                  <a:srgbClr val="c00000"/>
                </a:solidFill>
                <a:latin typeface="Calibri Light"/>
              </a:rPr>
              <a:t>O</a:t>
            </a:r>
            <a:r>
              <a:rPr b="0" lang="en-US" sz="3600" spc="-15" strike="noStrike">
                <a:solidFill>
                  <a:srgbClr val="c00000"/>
                </a:solidFill>
                <a:latin typeface="Calibri Light"/>
              </a:rPr>
              <a:t>T</a:t>
            </a:r>
            <a:r>
              <a:rPr b="0" lang="en-US" sz="3600" spc="-32" strike="noStrike">
                <a:solidFill>
                  <a:srgbClr val="c00000"/>
                </a:solidFill>
                <a:latin typeface="Calibri Light"/>
              </a:rPr>
              <a:t>H</a:t>
            </a:r>
            <a:r>
              <a:rPr b="0" lang="en-US" sz="3600" spc="-35" strike="noStrike">
                <a:solidFill>
                  <a:srgbClr val="c00000"/>
                </a:solidFill>
                <a:latin typeface="Calibri Light"/>
              </a:rPr>
              <a:t>E</a:t>
            </a:r>
            <a:r>
              <a:rPr b="0" lang="en-US" sz="3600" spc="-1" strike="noStrike">
                <a:solidFill>
                  <a:srgbClr val="c00000"/>
                </a:solidFill>
                <a:latin typeface="Calibri Light"/>
              </a:rPr>
              <a:t>R</a:t>
            </a:r>
            <a:r>
              <a:rPr b="0" lang="en-US" sz="3600" spc="-92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307" strike="noStrike">
                <a:solidFill>
                  <a:srgbClr val="c00000"/>
                </a:solidFill>
                <a:latin typeface="Calibri Light"/>
              </a:rPr>
              <a:t>A</a:t>
            </a:r>
            <a:r>
              <a:rPr b="0" lang="en-US" sz="3600" spc="12" strike="noStrike">
                <a:solidFill>
                  <a:srgbClr val="c00000"/>
                </a:solidFill>
                <a:latin typeface="Calibri Light"/>
              </a:rPr>
              <a:t>T</a:t>
            </a:r>
            <a:r>
              <a:rPr b="0" lang="en-US" sz="3600" spc="-307" strike="noStrike">
                <a:solidFill>
                  <a:srgbClr val="c00000"/>
                </a:solidFill>
                <a:latin typeface="Calibri Light"/>
              </a:rPr>
              <a:t>T</a:t>
            </a:r>
            <a:r>
              <a:rPr b="0" lang="en-US" sz="3600" spc="-60" strike="noStrike">
                <a:solidFill>
                  <a:srgbClr val="c00000"/>
                </a:solidFill>
                <a:latin typeface="Calibri Light"/>
              </a:rPr>
              <a:t>A</a:t>
            </a:r>
            <a:r>
              <a:rPr b="0" lang="en-US" sz="3600" spc="-32" strike="noStrike">
                <a:solidFill>
                  <a:srgbClr val="c00000"/>
                </a:solidFill>
                <a:latin typeface="Calibri Light"/>
              </a:rPr>
              <a:t>C</a:t>
            </a:r>
            <a:r>
              <a:rPr b="0" lang="en-US" sz="3600" spc="-1" strike="noStrike">
                <a:solidFill>
                  <a:srgbClr val="c00000"/>
                </a:solidFill>
                <a:latin typeface="Calibri Light"/>
              </a:rPr>
              <a:t>K</a:t>
            </a:r>
            <a:r>
              <a:rPr b="0" lang="en-US" sz="3600" spc="-86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15" strike="noStrike">
                <a:solidFill>
                  <a:srgbClr val="c00000"/>
                </a:solidFill>
                <a:latin typeface="Calibri Light"/>
              </a:rPr>
              <a:t>F</a:t>
            </a:r>
            <a:r>
              <a:rPr b="0" lang="en-US" sz="3600" spc="-32" strike="noStrike">
                <a:solidFill>
                  <a:srgbClr val="c00000"/>
                </a:solidFill>
                <a:latin typeface="Calibri Light"/>
              </a:rPr>
              <a:t>R</a:t>
            </a:r>
            <a:r>
              <a:rPr b="0" lang="en-US" sz="3600" spc="-35" strike="noStrike">
                <a:solidFill>
                  <a:srgbClr val="c00000"/>
                </a:solidFill>
                <a:latin typeface="Calibri Light"/>
              </a:rPr>
              <a:t>A</a:t>
            </a:r>
            <a:r>
              <a:rPr b="0" lang="en-US" sz="3600" spc="-52" strike="noStrike">
                <a:solidFill>
                  <a:srgbClr val="c00000"/>
                </a:solidFill>
                <a:latin typeface="Calibri Light"/>
              </a:rPr>
              <a:t>M</a:t>
            </a:r>
            <a:r>
              <a:rPr b="0" lang="en-US" sz="3600" spc="-35" strike="noStrike">
                <a:solidFill>
                  <a:srgbClr val="c00000"/>
                </a:solidFill>
                <a:latin typeface="Calibri Light"/>
              </a:rPr>
              <a:t>E</a:t>
            </a:r>
            <a:r>
              <a:rPr b="0" lang="en-US" sz="3600" spc="-92" strike="noStrike">
                <a:solidFill>
                  <a:srgbClr val="c00000"/>
                </a:solidFill>
                <a:latin typeface="Calibri Light"/>
              </a:rPr>
              <a:t>W</a:t>
            </a:r>
            <a:r>
              <a:rPr b="0" lang="en-US" sz="3600" spc="-52" strike="noStrike">
                <a:solidFill>
                  <a:srgbClr val="c00000"/>
                </a:solidFill>
                <a:latin typeface="Calibri Light"/>
              </a:rPr>
              <a:t>O</a:t>
            </a:r>
            <a:r>
              <a:rPr b="0" lang="en-US" sz="3600" spc="-32" strike="noStrike">
                <a:solidFill>
                  <a:srgbClr val="c00000"/>
                </a:solidFill>
                <a:latin typeface="Calibri Light"/>
              </a:rPr>
              <a:t>R</a:t>
            </a:r>
            <a:r>
              <a:rPr b="0" lang="en-US" sz="3600" spc="-66" strike="noStrike">
                <a:solidFill>
                  <a:srgbClr val="c00000"/>
                </a:solidFill>
                <a:latin typeface="Calibri Light"/>
              </a:rPr>
              <a:t>K</a:t>
            </a:r>
            <a:r>
              <a:rPr b="0" lang="en-US" sz="3600" spc="-1" strike="noStrike">
                <a:solidFill>
                  <a:srgbClr val="c00000"/>
                </a:solidFill>
                <a:latin typeface="Calibri Light"/>
              </a:rPr>
              <a:t>S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161" name="object 3"/>
          <p:cNvSpPr/>
          <p:nvPr/>
        </p:nvSpPr>
        <p:spPr>
          <a:xfrm>
            <a:off x="916920" y="1758960"/>
            <a:ext cx="10233720" cy="285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56520" bIns="0" anchor="t">
            <a:spAutoFit/>
          </a:bodyPr>
          <a:p>
            <a:pPr marL="241200" indent="-229320">
              <a:lnSpc>
                <a:spcPct val="100000"/>
              </a:lnSpc>
              <a:spcBef>
                <a:spcPts val="445"/>
              </a:spcBef>
              <a:buClr>
                <a:srgbClr val="006fc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7" strike="noStrike">
                <a:solidFill>
                  <a:srgbClr val="006fc0"/>
                </a:solidFill>
                <a:latin typeface="Calibri"/>
                <a:ea typeface="DejaVu Sans"/>
              </a:rPr>
              <a:t>MITRE</a:t>
            </a:r>
            <a:r>
              <a:rPr b="0" lang="en-US" sz="2400" spc="-32" strike="noStrike">
                <a:solidFill>
                  <a:srgbClr val="006fc0"/>
                </a:solidFill>
                <a:latin typeface="Calibri"/>
                <a:ea typeface="DejaVu Sans"/>
              </a:rPr>
              <a:t> </a:t>
            </a:r>
            <a:r>
              <a:rPr b="0" lang="en-US" sz="2400" spc="-35" strike="noStrike">
                <a:solidFill>
                  <a:srgbClr val="006fc0"/>
                </a:solidFill>
                <a:latin typeface="Calibri"/>
                <a:ea typeface="DejaVu Sans"/>
              </a:rPr>
              <a:t>ATT&amp;CK</a:t>
            </a:r>
            <a:endParaRPr b="0" lang="en-US" sz="2400" spc="-1" strike="noStrike">
              <a:latin typeface="Arial"/>
            </a:endParaRPr>
          </a:p>
          <a:p>
            <a:pPr lvl="1" marL="698400" indent="-229320">
              <a:lnSpc>
                <a:spcPts val="2279"/>
              </a:lnSpc>
              <a:spcBef>
                <a:spcPts val="289"/>
              </a:spcBef>
              <a:buClr>
                <a:srgbClr val="000000"/>
              </a:buClr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c00000"/>
                </a:solidFill>
                <a:latin typeface="Calibri"/>
                <a:ea typeface="DejaVu Sans"/>
              </a:rPr>
              <a:t>MITRE</a:t>
            </a:r>
            <a:r>
              <a:rPr b="0" lang="en-US" sz="2000" spc="-7" strike="noStrike">
                <a:solidFill>
                  <a:srgbClr val="c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c00000"/>
                </a:solidFill>
                <a:latin typeface="Calibri"/>
                <a:ea typeface="DejaVu Sans"/>
              </a:rPr>
              <a:t>Corporation's</a:t>
            </a:r>
            <a:r>
              <a:rPr b="0" lang="en-US" sz="2000" spc="-15" strike="noStrike">
                <a:solidFill>
                  <a:srgbClr val="c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c00000"/>
                </a:solidFill>
                <a:latin typeface="Calibri"/>
                <a:ea typeface="DejaVu Sans"/>
              </a:rPr>
              <a:t>Adversarial</a:t>
            </a:r>
            <a:r>
              <a:rPr b="0" lang="en-US" sz="2000" spc="18" strike="noStrike">
                <a:solidFill>
                  <a:srgbClr val="c00000"/>
                </a:solidFill>
                <a:latin typeface="Calibri"/>
                <a:ea typeface="DejaVu Sans"/>
              </a:rPr>
              <a:t> </a:t>
            </a:r>
            <a:r>
              <a:rPr b="0" lang="en-US" sz="2000" spc="-21" strike="noStrike">
                <a:solidFill>
                  <a:srgbClr val="c00000"/>
                </a:solidFill>
                <a:latin typeface="Calibri"/>
                <a:ea typeface="DejaVu Sans"/>
              </a:rPr>
              <a:t>Tactics,</a:t>
            </a:r>
            <a:r>
              <a:rPr b="0" lang="en-US" sz="2000" spc="18" strike="noStrike">
                <a:solidFill>
                  <a:srgbClr val="c00000"/>
                </a:solidFill>
                <a:latin typeface="Calibri"/>
                <a:ea typeface="DejaVu Sans"/>
              </a:rPr>
              <a:t> </a:t>
            </a:r>
            <a:r>
              <a:rPr b="0" lang="en-US" sz="2000" spc="-21" strike="noStrike">
                <a:solidFill>
                  <a:srgbClr val="c00000"/>
                </a:solidFill>
                <a:latin typeface="Calibri"/>
                <a:ea typeface="DejaVu Sans"/>
              </a:rPr>
              <a:t>Techniques,</a:t>
            </a:r>
            <a:r>
              <a:rPr b="0" lang="en-US" sz="2000" spc="-1" strike="noStrike">
                <a:solidFill>
                  <a:srgbClr val="c00000"/>
                </a:solidFill>
                <a:latin typeface="Calibri"/>
                <a:ea typeface="DejaVu Sans"/>
              </a:rPr>
              <a:t> and </a:t>
            </a:r>
            <a:r>
              <a:rPr b="0" lang="en-US" sz="2000" spc="-7" strike="noStrike">
                <a:solidFill>
                  <a:srgbClr val="c00000"/>
                </a:solidFill>
                <a:latin typeface="Calibri"/>
                <a:ea typeface="DejaVu Sans"/>
              </a:rPr>
              <a:t>Common</a:t>
            </a:r>
            <a:r>
              <a:rPr b="0" lang="en-US" sz="2000" spc="-12" strike="noStrike">
                <a:solidFill>
                  <a:srgbClr val="c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c00000"/>
                </a:solidFill>
                <a:latin typeface="Calibri"/>
                <a:ea typeface="DejaVu Sans"/>
              </a:rPr>
              <a:t>Knowledge</a:t>
            </a:r>
            <a:r>
              <a:rPr b="0" lang="en-US" sz="2000" spc="-21" strike="noStrike">
                <a:solidFill>
                  <a:srgbClr val="c00000"/>
                </a:solidFill>
                <a:latin typeface="Calibri"/>
                <a:ea typeface="DejaVu Sans"/>
              </a:rPr>
              <a:t> (ATT&amp;CK)</a:t>
            </a:r>
            <a:endParaRPr b="0" lang="en-US" sz="2000" spc="-1" strike="noStrike">
              <a:latin typeface="Arial"/>
            </a:endParaRPr>
          </a:p>
          <a:p>
            <a:pPr marL="698400">
              <a:lnSpc>
                <a:spcPts val="2279"/>
              </a:lnSpc>
              <a:buNone/>
              <a:tabLst>
                <a:tab algn="l" pos="699120"/>
              </a:tabLst>
            </a:pP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matrices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provide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access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to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database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of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known</a:t>
            </a:r>
            <a:r>
              <a:rPr b="0" lang="en-US" sz="20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TTPs.</a:t>
            </a:r>
            <a:endParaRPr b="0" lang="en-US" sz="2000" spc="-1" strike="noStrike">
              <a:latin typeface="Arial"/>
            </a:endParaRPr>
          </a:p>
          <a:p>
            <a:pPr lvl="1" marL="698400" indent="-228600">
              <a:lnSpc>
                <a:spcPts val="2160"/>
              </a:lnSpc>
              <a:spcBef>
                <a:spcPts val="524"/>
              </a:spcBef>
              <a:buClr>
                <a:srgbClr val="000000"/>
              </a:buClr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This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freely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available</a:t>
            </a:r>
            <a:r>
              <a:rPr b="0" lang="en-US" sz="2000" spc="2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resource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(</a:t>
            </a:r>
            <a:r>
              <a:rPr b="0" lang="en-US" sz="2000" spc="-12" strike="noStrike" u="heavy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ea typeface="DejaVu Sans"/>
                <a:hlinkClick r:id="rId1"/>
              </a:rPr>
              <a:t>attack.mitre.org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)</a:t>
            </a:r>
            <a:r>
              <a:rPr b="0" lang="en-US" sz="2000" spc="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tags</a:t>
            </a:r>
            <a:r>
              <a:rPr b="0" lang="en-US" sz="2000" spc="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each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technique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with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</a:t>
            </a:r>
            <a:r>
              <a:rPr b="0" lang="en-US" sz="2000" spc="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unique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ID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and </a:t>
            </a:r>
            <a:r>
              <a:rPr b="0" lang="en-US" sz="2000" spc="-440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places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it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in one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or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more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tactic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categories,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such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as initial</a:t>
            </a:r>
            <a:r>
              <a:rPr b="0" lang="en-US" sz="2000" spc="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access,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persistence,</a:t>
            </a:r>
            <a:r>
              <a:rPr b="0" lang="en-US" sz="2000" spc="2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lateral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movement,</a:t>
            </a:r>
            <a:r>
              <a:rPr b="0" lang="en-US" sz="2000" spc="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or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command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and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control.</a:t>
            </a:r>
            <a:endParaRPr b="0" lang="en-US" sz="2000" spc="-1" strike="noStrike">
              <a:latin typeface="Arial"/>
            </a:endParaRPr>
          </a:p>
          <a:p>
            <a:pPr lvl="1" marL="698400" indent="-229320">
              <a:lnSpc>
                <a:spcPct val="100000"/>
              </a:lnSpc>
              <a:spcBef>
                <a:spcPts val="235"/>
              </a:spcBef>
              <a:buClr>
                <a:srgbClr val="000000"/>
              </a:buClr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sequence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in which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21" strike="noStrike">
                <a:solidFill>
                  <a:srgbClr val="000000"/>
                </a:solidFill>
                <a:latin typeface="Calibri"/>
                <a:ea typeface="DejaVu Sans"/>
              </a:rPr>
              <a:t>attackers</a:t>
            </a:r>
            <a:r>
              <a:rPr b="0" lang="en-US" sz="2000" spc="18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may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deploy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any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given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tactic</a:t>
            </a:r>
            <a:r>
              <a:rPr b="0" lang="en-US" sz="2000" spc="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category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is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not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made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explicit.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162" name="object 4"/>
          <p:cNvSpPr/>
          <p:nvPr/>
        </p:nvSpPr>
        <p:spPr>
          <a:xfrm>
            <a:off x="838080" y="6400800"/>
            <a:ext cx="10514520" cy="227520"/>
          </a:xfrm>
          <a:custGeom>
            <a:avLst/>
            <a:gdLst/>
            <a:ahLst/>
            <a:rect l="l" t="t" r="r" b="b"/>
            <a:pathLst>
              <a:path w="10515600" h="228600">
                <a:moveTo>
                  <a:pt x="10515600" y="0"/>
                </a:moveTo>
                <a:lnTo>
                  <a:pt x="0" y="0"/>
                </a:lnTo>
                <a:lnTo>
                  <a:pt x="0" y="228600"/>
                </a:lnTo>
                <a:lnTo>
                  <a:pt x="10515600" y="228600"/>
                </a:lnTo>
                <a:lnTo>
                  <a:pt x="10515600" y="0"/>
                </a:lnTo>
                <a:close/>
              </a:path>
            </a:pathLst>
          </a:custGeom>
          <a:solidFill>
            <a:srgbClr val="c00000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63" name="PlaceHolder 2"/>
          <p:cNvSpPr>
            <a:spLocks noGrp="1"/>
          </p:cNvSpPr>
          <p:nvPr>
            <p:ph type="ftr" idx="43"/>
          </p:nvPr>
        </p:nvSpPr>
        <p:spPr>
          <a:xfrm>
            <a:off x="916920" y="6451560"/>
            <a:ext cx="102240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Security+</a:t>
            </a:r>
            <a:r>
              <a:rPr b="0" lang="en-US" sz="1000" spc="-46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(SY0-601)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164" name="PlaceHolder 3"/>
          <p:cNvSpPr>
            <a:spLocks noGrp="1"/>
          </p:cNvSpPr>
          <p:nvPr>
            <p:ph type="dt" idx="44"/>
          </p:nvPr>
        </p:nvSpPr>
        <p:spPr>
          <a:xfrm>
            <a:off x="5492520" y="6451560"/>
            <a:ext cx="112212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©</a:t>
            </a:r>
            <a:r>
              <a:rPr b="0" lang="en-US" sz="1000" spc="-41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netriders.academy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165" name="PlaceHolder 4"/>
          <p:cNvSpPr>
            <a:spLocks noGrp="1"/>
          </p:cNvSpPr>
          <p:nvPr>
            <p:ph type="sldNum" idx="45"/>
          </p:nvPr>
        </p:nvSpPr>
        <p:spPr>
          <a:xfrm>
            <a:off x="11098440" y="6451200"/>
            <a:ext cx="20340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3816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38160">
              <a:lnSpc>
                <a:spcPts val="1046"/>
              </a:lnSpc>
              <a:buNone/>
            </a:pPr>
            <a:fld id="{C8F6CCE2-C854-4417-B6AF-5532529843F5}" type="slidenum">
              <a:rPr b="0" lang="en-US" sz="1000" spc="-7" strike="noStrike">
                <a:solidFill>
                  <a:srgbClr val="ffffff"/>
                </a:solidFill>
                <a:latin typeface="Calibri"/>
              </a:rPr>
              <a:t>&lt;number&gt;</a:t>
            </a:fld>
            <a:endParaRPr b="0" lang="en-US" sz="10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PlaceHolder 1"/>
          <p:cNvSpPr>
            <a:spLocks noGrp="1"/>
          </p:cNvSpPr>
          <p:nvPr>
            <p:ph type="title"/>
          </p:nvPr>
        </p:nvSpPr>
        <p:spPr>
          <a:xfrm>
            <a:off x="916920" y="684720"/>
            <a:ext cx="10283760" cy="68616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>
              <a:lnSpc>
                <a:spcPct val="100000"/>
              </a:lnSpc>
              <a:spcBef>
                <a:spcPts val="99"/>
              </a:spcBef>
              <a:buNone/>
            </a:pPr>
            <a:r>
              <a:rPr b="0" lang="en-US" sz="3600" spc="-137" strike="noStrike">
                <a:solidFill>
                  <a:srgbClr val="c00000"/>
                </a:solidFill>
                <a:latin typeface="Calibri Light"/>
              </a:rPr>
              <a:t>O</a:t>
            </a:r>
            <a:r>
              <a:rPr b="0" lang="en-US" sz="3600" spc="-15" strike="noStrike">
                <a:solidFill>
                  <a:srgbClr val="c00000"/>
                </a:solidFill>
                <a:latin typeface="Calibri Light"/>
              </a:rPr>
              <a:t>T</a:t>
            </a:r>
            <a:r>
              <a:rPr b="0" lang="en-US" sz="3600" spc="-32" strike="noStrike">
                <a:solidFill>
                  <a:srgbClr val="c00000"/>
                </a:solidFill>
                <a:latin typeface="Calibri Light"/>
              </a:rPr>
              <a:t>H</a:t>
            </a:r>
            <a:r>
              <a:rPr b="0" lang="en-US" sz="3600" spc="-35" strike="noStrike">
                <a:solidFill>
                  <a:srgbClr val="c00000"/>
                </a:solidFill>
                <a:latin typeface="Calibri Light"/>
              </a:rPr>
              <a:t>E</a:t>
            </a:r>
            <a:r>
              <a:rPr b="0" lang="en-US" sz="3600" spc="-1" strike="noStrike">
                <a:solidFill>
                  <a:srgbClr val="c00000"/>
                </a:solidFill>
                <a:latin typeface="Calibri Light"/>
              </a:rPr>
              <a:t>R</a:t>
            </a:r>
            <a:r>
              <a:rPr b="0" lang="en-US" sz="3600" spc="-92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307" strike="noStrike">
                <a:solidFill>
                  <a:srgbClr val="c00000"/>
                </a:solidFill>
                <a:latin typeface="Calibri Light"/>
              </a:rPr>
              <a:t>A</a:t>
            </a:r>
            <a:r>
              <a:rPr b="0" lang="en-US" sz="3600" spc="12" strike="noStrike">
                <a:solidFill>
                  <a:srgbClr val="c00000"/>
                </a:solidFill>
                <a:latin typeface="Calibri Light"/>
              </a:rPr>
              <a:t>T</a:t>
            </a:r>
            <a:r>
              <a:rPr b="0" lang="en-US" sz="3600" spc="-307" strike="noStrike">
                <a:solidFill>
                  <a:srgbClr val="c00000"/>
                </a:solidFill>
                <a:latin typeface="Calibri Light"/>
              </a:rPr>
              <a:t>T</a:t>
            </a:r>
            <a:r>
              <a:rPr b="0" lang="en-US" sz="3600" spc="-60" strike="noStrike">
                <a:solidFill>
                  <a:srgbClr val="c00000"/>
                </a:solidFill>
                <a:latin typeface="Calibri Light"/>
              </a:rPr>
              <a:t>A</a:t>
            </a:r>
            <a:r>
              <a:rPr b="0" lang="en-US" sz="3600" spc="-32" strike="noStrike">
                <a:solidFill>
                  <a:srgbClr val="c00000"/>
                </a:solidFill>
                <a:latin typeface="Calibri Light"/>
              </a:rPr>
              <a:t>C</a:t>
            </a:r>
            <a:r>
              <a:rPr b="0" lang="en-US" sz="3600" spc="-1" strike="noStrike">
                <a:solidFill>
                  <a:srgbClr val="c00000"/>
                </a:solidFill>
                <a:latin typeface="Calibri Light"/>
              </a:rPr>
              <a:t>K</a:t>
            </a:r>
            <a:r>
              <a:rPr b="0" lang="en-US" sz="3600" spc="-86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15" strike="noStrike">
                <a:solidFill>
                  <a:srgbClr val="c00000"/>
                </a:solidFill>
                <a:latin typeface="Calibri Light"/>
              </a:rPr>
              <a:t>F</a:t>
            </a:r>
            <a:r>
              <a:rPr b="0" lang="en-US" sz="3600" spc="-32" strike="noStrike">
                <a:solidFill>
                  <a:srgbClr val="c00000"/>
                </a:solidFill>
                <a:latin typeface="Calibri Light"/>
              </a:rPr>
              <a:t>R</a:t>
            </a:r>
            <a:r>
              <a:rPr b="0" lang="en-US" sz="3600" spc="-35" strike="noStrike">
                <a:solidFill>
                  <a:srgbClr val="c00000"/>
                </a:solidFill>
                <a:latin typeface="Calibri Light"/>
              </a:rPr>
              <a:t>A</a:t>
            </a:r>
            <a:r>
              <a:rPr b="0" lang="en-US" sz="3600" spc="-52" strike="noStrike">
                <a:solidFill>
                  <a:srgbClr val="c00000"/>
                </a:solidFill>
                <a:latin typeface="Calibri Light"/>
              </a:rPr>
              <a:t>M</a:t>
            </a:r>
            <a:r>
              <a:rPr b="0" lang="en-US" sz="3600" spc="-35" strike="noStrike">
                <a:solidFill>
                  <a:srgbClr val="c00000"/>
                </a:solidFill>
                <a:latin typeface="Calibri Light"/>
              </a:rPr>
              <a:t>E</a:t>
            </a:r>
            <a:r>
              <a:rPr b="0" lang="en-US" sz="3600" spc="-92" strike="noStrike">
                <a:solidFill>
                  <a:srgbClr val="c00000"/>
                </a:solidFill>
                <a:latin typeface="Calibri Light"/>
              </a:rPr>
              <a:t>W</a:t>
            </a:r>
            <a:r>
              <a:rPr b="0" lang="en-US" sz="3600" spc="-52" strike="noStrike">
                <a:solidFill>
                  <a:srgbClr val="c00000"/>
                </a:solidFill>
                <a:latin typeface="Calibri Light"/>
              </a:rPr>
              <a:t>O</a:t>
            </a:r>
            <a:r>
              <a:rPr b="0" lang="en-US" sz="3600" spc="-32" strike="noStrike">
                <a:solidFill>
                  <a:srgbClr val="c00000"/>
                </a:solidFill>
                <a:latin typeface="Calibri Light"/>
              </a:rPr>
              <a:t>R</a:t>
            </a:r>
            <a:r>
              <a:rPr b="0" lang="en-US" sz="3600" spc="-66" strike="noStrike">
                <a:solidFill>
                  <a:srgbClr val="c00000"/>
                </a:solidFill>
                <a:latin typeface="Calibri Light"/>
              </a:rPr>
              <a:t>K</a:t>
            </a:r>
            <a:r>
              <a:rPr b="0" lang="en-US" sz="3600" spc="-1" strike="noStrike">
                <a:solidFill>
                  <a:srgbClr val="c00000"/>
                </a:solidFill>
                <a:latin typeface="Calibri Light"/>
              </a:rPr>
              <a:t>S</a:t>
            </a:r>
            <a:r>
              <a:rPr b="0" lang="en-US" sz="3600" spc="-86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1" strike="noStrike">
                <a:solidFill>
                  <a:srgbClr val="c00000"/>
                </a:solidFill>
                <a:latin typeface="Calibri Light"/>
              </a:rPr>
              <a:t>(</a:t>
            </a:r>
            <a:r>
              <a:rPr b="0" lang="en-US" sz="3600" spc="-66" strike="noStrike">
                <a:solidFill>
                  <a:srgbClr val="c00000"/>
                </a:solidFill>
                <a:latin typeface="Calibri Light"/>
              </a:rPr>
              <a:t>c</a:t>
            </a:r>
            <a:r>
              <a:rPr b="0" lang="en-US" sz="3600" spc="-32" strike="noStrike">
                <a:solidFill>
                  <a:srgbClr val="c00000"/>
                </a:solidFill>
                <a:latin typeface="Calibri Light"/>
              </a:rPr>
              <a:t>o</a:t>
            </a:r>
            <a:r>
              <a:rPr b="0" lang="en-US" sz="3600" spc="-72" strike="noStrike">
                <a:solidFill>
                  <a:srgbClr val="c00000"/>
                </a:solidFill>
                <a:latin typeface="Calibri Light"/>
              </a:rPr>
              <a:t>n</a:t>
            </a:r>
            <a:r>
              <a:rPr b="0" lang="en-US" sz="3600" spc="-26" strike="noStrike">
                <a:solidFill>
                  <a:srgbClr val="c00000"/>
                </a:solidFill>
                <a:latin typeface="Calibri Light"/>
              </a:rPr>
              <a:t>t</a:t>
            </a:r>
            <a:r>
              <a:rPr b="0" lang="en-US" sz="3600" spc="-21" strike="noStrike">
                <a:solidFill>
                  <a:srgbClr val="c00000"/>
                </a:solidFill>
                <a:latin typeface="Calibri Light"/>
              </a:rPr>
              <a:t>.</a:t>
            </a:r>
            <a:r>
              <a:rPr b="0" lang="en-US" sz="3600" spc="-1" strike="noStrike">
                <a:solidFill>
                  <a:srgbClr val="c00000"/>
                </a:solidFill>
                <a:latin typeface="Calibri Light"/>
              </a:rPr>
              <a:t>)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167" name="object 3"/>
          <p:cNvSpPr/>
          <p:nvPr/>
        </p:nvSpPr>
        <p:spPr>
          <a:xfrm>
            <a:off x="916920" y="1290960"/>
            <a:ext cx="10294920" cy="2517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56520" bIns="0" anchor="t">
            <a:spAutoFit/>
          </a:bodyPr>
          <a:p>
            <a:pPr marL="241200" indent="-229320">
              <a:lnSpc>
                <a:spcPct val="100000"/>
              </a:lnSpc>
              <a:spcBef>
                <a:spcPts val="445"/>
              </a:spcBef>
              <a:buClr>
                <a:srgbClr val="006fc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7" strike="noStrike">
                <a:solidFill>
                  <a:srgbClr val="006fc0"/>
                </a:solidFill>
                <a:latin typeface="Calibri"/>
                <a:ea typeface="DejaVu Sans"/>
              </a:rPr>
              <a:t>The</a:t>
            </a:r>
            <a:r>
              <a:rPr b="0" lang="en-US" sz="2400" spc="-12" strike="noStrike">
                <a:solidFill>
                  <a:srgbClr val="006fc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6fc0"/>
                </a:solidFill>
                <a:latin typeface="Calibri"/>
                <a:ea typeface="DejaVu Sans"/>
              </a:rPr>
              <a:t>Diamond</a:t>
            </a:r>
            <a:r>
              <a:rPr b="0" lang="en-US" sz="2400" spc="-26" strike="noStrike">
                <a:solidFill>
                  <a:srgbClr val="006fc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6fc0"/>
                </a:solidFill>
                <a:latin typeface="Calibri"/>
                <a:ea typeface="DejaVu Sans"/>
              </a:rPr>
              <a:t>Model</a:t>
            </a:r>
            <a:r>
              <a:rPr b="0" lang="en-US" sz="2400" spc="-15" strike="noStrike">
                <a:solidFill>
                  <a:srgbClr val="006fc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6fc0"/>
                </a:solidFill>
                <a:latin typeface="Calibri"/>
                <a:ea typeface="DejaVu Sans"/>
              </a:rPr>
              <a:t>of</a:t>
            </a:r>
            <a:r>
              <a:rPr b="0" lang="en-US" sz="2400" spc="-12" strike="noStrike">
                <a:solidFill>
                  <a:srgbClr val="006fc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6fc0"/>
                </a:solidFill>
                <a:latin typeface="Calibri"/>
                <a:ea typeface="DejaVu Sans"/>
              </a:rPr>
              <a:t>Intrusion</a:t>
            </a:r>
            <a:r>
              <a:rPr b="0" lang="en-US" sz="2400" spc="-21" strike="noStrike">
                <a:solidFill>
                  <a:srgbClr val="006fc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6fc0"/>
                </a:solidFill>
                <a:latin typeface="Calibri"/>
                <a:ea typeface="DejaVu Sans"/>
              </a:rPr>
              <a:t>Analysis</a:t>
            </a:r>
            <a:endParaRPr b="0" lang="en-US" sz="2400" spc="-1" strike="noStrike">
              <a:latin typeface="Arial"/>
            </a:endParaRPr>
          </a:p>
          <a:p>
            <a:pPr lvl="1" marL="698400" indent="-229320">
              <a:lnSpc>
                <a:spcPts val="2279"/>
              </a:lnSpc>
              <a:spcBef>
                <a:spcPts val="289"/>
              </a:spcBef>
              <a:buClr>
                <a:srgbClr val="c00000"/>
              </a:buClr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000" spc="-7" strike="noStrike">
                <a:solidFill>
                  <a:srgbClr val="c00000"/>
                </a:solidFill>
                <a:latin typeface="Calibri"/>
                <a:ea typeface="DejaVu Sans"/>
              </a:rPr>
              <a:t>The</a:t>
            </a:r>
            <a:r>
              <a:rPr b="0" lang="en-US" sz="2000" spc="-1" strike="noStrike">
                <a:solidFill>
                  <a:srgbClr val="c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c00000"/>
                </a:solidFill>
                <a:latin typeface="Calibri"/>
                <a:ea typeface="DejaVu Sans"/>
              </a:rPr>
              <a:t>Diamond</a:t>
            </a:r>
            <a:r>
              <a:rPr b="0" lang="en-US" sz="2000" spc="-15" strike="noStrike">
                <a:solidFill>
                  <a:srgbClr val="c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c00000"/>
                </a:solidFill>
                <a:latin typeface="Calibri"/>
                <a:ea typeface="DejaVu Sans"/>
              </a:rPr>
              <a:t>Model</a:t>
            </a:r>
            <a:r>
              <a:rPr b="0" lang="en-US" sz="2000" spc="-12" strike="noStrike">
                <a:solidFill>
                  <a:srgbClr val="c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c00000"/>
                </a:solidFill>
                <a:latin typeface="Calibri"/>
                <a:ea typeface="DejaVu Sans"/>
              </a:rPr>
              <a:t>of Intrusion</a:t>
            </a:r>
            <a:r>
              <a:rPr b="0" lang="en-US" sz="2000" spc="-1" strike="noStrike">
                <a:solidFill>
                  <a:srgbClr val="c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c00000"/>
                </a:solidFill>
                <a:latin typeface="Calibri"/>
                <a:ea typeface="DejaVu Sans"/>
              </a:rPr>
              <a:t>Analysis</a:t>
            </a:r>
            <a:r>
              <a:rPr b="0" lang="en-US" sz="2000" spc="24" strike="noStrike">
                <a:solidFill>
                  <a:srgbClr val="c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suggests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framework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to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analyze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an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intrusion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event</a:t>
            </a:r>
            <a:endParaRPr b="0" lang="en-US" sz="2000" spc="-1" strike="noStrike">
              <a:latin typeface="Arial"/>
            </a:endParaRPr>
          </a:p>
          <a:p>
            <a:pPr marL="698400">
              <a:lnSpc>
                <a:spcPts val="2160"/>
              </a:lnSpc>
              <a:buNone/>
              <a:tabLst>
                <a:tab algn="l" pos="69912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(E)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by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exploring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the</a:t>
            </a:r>
            <a:r>
              <a:rPr b="0" lang="en-US" sz="2000" spc="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relationships</a:t>
            </a:r>
            <a:r>
              <a:rPr b="0" lang="en-US" sz="2000" spc="18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between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four</a:t>
            </a:r>
            <a:r>
              <a:rPr b="0" lang="en-US" sz="20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core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features:</a:t>
            </a:r>
            <a:r>
              <a:rPr b="0" lang="en-US" sz="2000" spc="3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1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adversary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,</a:t>
            </a:r>
            <a:r>
              <a:rPr b="0" lang="en-US" sz="2000" spc="18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1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capability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,</a:t>
            </a:r>
            <a:endParaRPr b="0" lang="en-US" sz="2000" spc="-1" strike="noStrike">
              <a:latin typeface="Arial"/>
            </a:endParaRPr>
          </a:p>
          <a:p>
            <a:pPr marL="698400">
              <a:lnSpc>
                <a:spcPts val="2279"/>
              </a:lnSpc>
              <a:buNone/>
              <a:tabLst>
                <a:tab algn="l" pos="699120"/>
              </a:tabLst>
            </a:pPr>
            <a:r>
              <a:rPr b="1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infrastructure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,</a:t>
            </a:r>
            <a:r>
              <a:rPr b="0" lang="en-US" sz="2000" spc="-3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and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1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victim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.</a:t>
            </a:r>
            <a:endParaRPr b="0" lang="en-US" sz="2000" spc="-1" strike="noStrike">
              <a:latin typeface="Arial"/>
            </a:endParaRPr>
          </a:p>
          <a:p>
            <a:pPr lvl="1" marL="698400" indent="-229320">
              <a:lnSpc>
                <a:spcPct val="100000"/>
              </a:lnSpc>
              <a:spcBef>
                <a:spcPts val="249"/>
              </a:spcBef>
              <a:buClr>
                <a:srgbClr val="000000"/>
              </a:buClr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These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four</a:t>
            </a:r>
            <a:r>
              <a:rPr b="0" lang="en-US" sz="20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features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are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represented</a:t>
            </a:r>
            <a:r>
              <a:rPr b="0" lang="en-US" sz="2000" spc="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by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the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four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vertices</a:t>
            </a:r>
            <a:r>
              <a:rPr b="0" lang="en-US" sz="2000" spc="2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of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diamond shape.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168" name="object 4"/>
          <p:cNvSpPr/>
          <p:nvPr/>
        </p:nvSpPr>
        <p:spPr>
          <a:xfrm>
            <a:off x="838080" y="6400800"/>
            <a:ext cx="10514520" cy="227520"/>
          </a:xfrm>
          <a:custGeom>
            <a:avLst/>
            <a:gdLst/>
            <a:ahLst/>
            <a:rect l="l" t="t" r="r" b="b"/>
            <a:pathLst>
              <a:path w="10515600" h="228600">
                <a:moveTo>
                  <a:pt x="10515600" y="0"/>
                </a:moveTo>
                <a:lnTo>
                  <a:pt x="0" y="0"/>
                </a:lnTo>
                <a:lnTo>
                  <a:pt x="0" y="228600"/>
                </a:lnTo>
                <a:lnTo>
                  <a:pt x="10515600" y="228600"/>
                </a:lnTo>
                <a:lnTo>
                  <a:pt x="10515600" y="0"/>
                </a:lnTo>
                <a:close/>
              </a:path>
            </a:pathLst>
          </a:custGeom>
          <a:solidFill>
            <a:srgbClr val="c00000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169" name="object 5" descr=""/>
          <p:cNvPicPr/>
          <p:nvPr/>
        </p:nvPicPr>
        <p:blipFill>
          <a:blip r:embed="rId1"/>
          <a:stretch/>
        </p:blipFill>
        <p:spPr>
          <a:xfrm>
            <a:off x="4058640" y="3699000"/>
            <a:ext cx="3872520" cy="2362320"/>
          </a:xfrm>
          <a:prstGeom prst="rect">
            <a:avLst/>
          </a:prstGeom>
          <a:ln w="0">
            <a:noFill/>
          </a:ln>
        </p:spPr>
      </p:pic>
      <p:sp>
        <p:nvSpPr>
          <p:cNvPr id="170" name="PlaceHolder 2"/>
          <p:cNvSpPr>
            <a:spLocks noGrp="1"/>
          </p:cNvSpPr>
          <p:nvPr>
            <p:ph type="ftr" idx="46"/>
          </p:nvPr>
        </p:nvSpPr>
        <p:spPr>
          <a:xfrm>
            <a:off x="916920" y="6451560"/>
            <a:ext cx="102240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Security+</a:t>
            </a:r>
            <a:r>
              <a:rPr b="0" lang="en-US" sz="1000" spc="-46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(SY0-601)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171" name="PlaceHolder 3"/>
          <p:cNvSpPr>
            <a:spLocks noGrp="1"/>
          </p:cNvSpPr>
          <p:nvPr>
            <p:ph type="dt" idx="47"/>
          </p:nvPr>
        </p:nvSpPr>
        <p:spPr>
          <a:xfrm>
            <a:off x="5492520" y="6451560"/>
            <a:ext cx="112212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©</a:t>
            </a:r>
            <a:r>
              <a:rPr b="0" lang="en-US" sz="1000" spc="-41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netriders.academy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172" name="PlaceHolder 4"/>
          <p:cNvSpPr>
            <a:spLocks noGrp="1"/>
          </p:cNvSpPr>
          <p:nvPr>
            <p:ph type="sldNum" idx="48"/>
          </p:nvPr>
        </p:nvSpPr>
        <p:spPr>
          <a:xfrm>
            <a:off x="11098440" y="6451200"/>
            <a:ext cx="20340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3816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38160">
              <a:lnSpc>
                <a:spcPts val="1046"/>
              </a:lnSpc>
              <a:buNone/>
            </a:pPr>
            <a:fld id="{4834DC2A-2753-48CE-B0EB-A7DC2A255DC7}" type="slidenum">
              <a:rPr b="0" lang="en-US" sz="1000" spc="-7" strike="noStrike">
                <a:solidFill>
                  <a:srgbClr val="ffffff"/>
                </a:solidFill>
                <a:latin typeface="Calibri"/>
              </a:rPr>
              <a:t>&lt;number&gt;</a:t>
            </a:fld>
            <a:endParaRPr b="0" lang="en-US" sz="10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PlaceHolder 1"/>
          <p:cNvSpPr>
            <a:spLocks noGrp="1"/>
          </p:cNvSpPr>
          <p:nvPr>
            <p:ph type="title"/>
          </p:nvPr>
        </p:nvSpPr>
        <p:spPr>
          <a:xfrm>
            <a:off x="916920" y="684720"/>
            <a:ext cx="6397920" cy="115704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>
              <a:lnSpc>
                <a:spcPct val="100000"/>
              </a:lnSpc>
              <a:spcBef>
                <a:spcPts val="99"/>
              </a:spcBef>
              <a:buNone/>
            </a:pPr>
            <a:r>
              <a:rPr b="0" lang="en-US" sz="3600" spc="-32" strike="noStrike">
                <a:solidFill>
                  <a:srgbClr val="c00000"/>
                </a:solidFill>
                <a:latin typeface="Calibri Light"/>
              </a:rPr>
              <a:t>INCIDENT</a:t>
            </a:r>
            <a:r>
              <a:rPr b="0" lang="en-US" sz="3600" spc="-120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52" strike="noStrike">
                <a:solidFill>
                  <a:srgbClr val="c00000"/>
                </a:solidFill>
                <a:latin typeface="Calibri Light"/>
              </a:rPr>
              <a:t>IDENTIFICATION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174" name="object 3"/>
          <p:cNvSpPr/>
          <p:nvPr/>
        </p:nvSpPr>
        <p:spPr>
          <a:xfrm>
            <a:off x="916920" y="1758960"/>
            <a:ext cx="10185480" cy="4230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56520" bIns="0" anchor="t">
            <a:spAutoFit/>
          </a:bodyPr>
          <a:p>
            <a:pPr marL="241200" indent="-229320">
              <a:lnSpc>
                <a:spcPct val="100000"/>
              </a:lnSpc>
              <a:spcBef>
                <a:spcPts val="445"/>
              </a:spcBef>
              <a:buClr>
                <a:srgbClr val="006fc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7" strike="noStrike">
                <a:solidFill>
                  <a:srgbClr val="006fc0"/>
                </a:solidFill>
                <a:latin typeface="Calibri"/>
                <a:ea typeface="DejaVu Sans"/>
              </a:rPr>
              <a:t>Identification</a:t>
            </a:r>
            <a:endParaRPr b="0" lang="en-US" sz="2400" spc="-1" strike="noStrike">
              <a:latin typeface="Arial"/>
            </a:endParaRPr>
          </a:p>
          <a:p>
            <a:pPr lvl="1" marL="698400" indent="-229320">
              <a:lnSpc>
                <a:spcPts val="2279"/>
              </a:lnSpc>
              <a:spcBef>
                <a:spcPts val="289"/>
              </a:spcBef>
              <a:buClr>
                <a:srgbClr val="000000"/>
              </a:buClr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is the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process</a:t>
            </a:r>
            <a:r>
              <a:rPr b="0" lang="en-US" sz="2000" spc="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of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collating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events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and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determining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whether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any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of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them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should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be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managed</a:t>
            </a:r>
            <a:endParaRPr b="0" lang="en-US" sz="2000" spc="-1" strike="noStrike">
              <a:latin typeface="Arial"/>
            </a:endParaRPr>
          </a:p>
          <a:p>
            <a:pPr marL="698400">
              <a:lnSpc>
                <a:spcPts val="2279"/>
              </a:lnSpc>
              <a:buNone/>
              <a:tabLst>
                <a:tab algn="l" pos="69912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as</a:t>
            </a:r>
            <a:r>
              <a:rPr b="0" lang="en-US" sz="2000" spc="-3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incidents.</a:t>
            </a:r>
            <a:endParaRPr b="0" lang="en-US" sz="2000" spc="-1" strike="noStrike">
              <a:latin typeface="Arial"/>
            </a:endParaRPr>
          </a:p>
          <a:p>
            <a:pPr marL="698400">
              <a:lnSpc>
                <a:spcPct val="100000"/>
              </a:lnSpc>
              <a:spcBef>
                <a:spcPts val="51"/>
              </a:spcBef>
              <a:buNone/>
              <a:tabLst>
                <a:tab algn="l" pos="699120"/>
              </a:tabLst>
            </a:pPr>
            <a:endParaRPr b="0" lang="en-US" sz="2700" spc="-1" strike="noStrike">
              <a:latin typeface="Arial"/>
            </a:endParaRPr>
          </a:p>
          <a:p>
            <a:pPr marL="241200" indent="-229320">
              <a:lnSpc>
                <a:spcPct val="100000"/>
              </a:lnSpc>
              <a:buClr>
                <a:srgbClr val="006fc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15" strike="noStrike">
                <a:solidFill>
                  <a:srgbClr val="006fc0"/>
                </a:solidFill>
                <a:latin typeface="Calibri"/>
                <a:ea typeface="DejaVu Sans"/>
              </a:rPr>
              <a:t>First</a:t>
            </a:r>
            <a:r>
              <a:rPr b="0" lang="en-US" sz="2400" spc="-72" strike="noStrike">
                <a:solidFill>
                  <a:srgbClr val="006fc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6fc0"/>
                </a:solidFill>
                <a:latin typeface="Calibri"/>
                <a:ea typeface="DejaVu Sans"/>
              </a:rPr>
              <a:t>Responder</a:t>
            </a:r>
            <a:endParaRPr b="0" lang="en-US" sz="2400" spc="-1" strike="noStrike">
              <a:latin typeface="Arial"/>
            </a:endParaRPr>
          </a:p>
          <a:p>
            <a:pPr lvl="1" marL="698400" indent="-228600">
              <a:lnSpc>
                <a:spcPts val="2160"/>
              </a:lnSpc>
              <a:spcBef>
                <a:spcPts val="556"/>
              </a:spcBef>
              <a:buClr>
                <a:srgbClr val="000000"/>
              </a:buClr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When</a:t>
            </a:r>
            <a:r>
              <a:rPr b="0" lang="en-US" sz="20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suspicious</a:t>
            </a:r>
            <a:r>
              <a:rPr b="0" lang="en-US" sz="2000" spc="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event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is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detected,</a:t>
            </a:r>
            <a:r>
              <a:rPr b="0" lang="en-US" sz="2000" spc="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it</a:t>
            </a:r>
            <a:r>
              <a:rPr b="0" lang="en-US" sz="2000" spc="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is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critical</a:t>
            </a:r>
            <a:r>
              <a:rPr b="0" lang="en-US" sz="2000" spc="18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that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the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appropriate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person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on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000" spc="18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ac172b"/>
                </a:solidFill>
                <a:latin typeface="Calibri"/>
                <a:ea typeface="DejaVu Sans"/>
              </a:rPr>
              <a:t>CIRT</a:t>
            </a:r>
            <a:r>
              <a:rPr b="0" lang="en-US" sz="2000" spc="-7" strike="noStrike">
                <a:solidFill>
                  <a:srgbClr val="ac172b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be </a:t>
            </a:r>
            <a:r>
              <a:rPr b="0" lang="en-US" sz="2000" spc="-43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notified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so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that</a:t>
            </a:r>
            <a:r>
              <a:rPr b="0" lang="en-US" sz="2000" spc="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they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can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26" strike="noStrike">
                <a:solidFill>
                  <a:srgbClr val="000000"/>
                </a:solidFill>
                <a:latin typeface="Calibri"/>
                <a:ea typeface="DejaVu Sans"/>
              </a:rPr>
              <a:t>take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charge</a:t>
            </a:r>
            <a:r>
              <a:rPr b="0" lang="en-US" sz="20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of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situation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and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formulate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appropriate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response.</a:t>
            </a:r>
            <a:endParaRPr b="0" lang="en-US" sz="2000" spc="-1" strike="noStrike">
              <a:latin typeface="Arial"/>
            </a:endParaRPr>
          </a:p>
          <a:p>
            <a:pPr lvl="1" marL="698400" indent="-229320">
              <a:lnSpc>
                <a:spcPct val="100000"/>
              </a:lnSpc>
              <a:spcBef>
                <a:spcPts val="235"/>
              </a:spcBef>
              <a:buClr>
                <a:srgbClr val="000000"/>
              </a:buClr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This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person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is</a:t>
            </a:r>
            <a:r>
              <a:rPr b="0" lang="en-US" sz="2000" spc="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referred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to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as</a:t>
            </a:r>
            <a:r>
              <a:rPr b="0" lang="en-US" sz="2000" spc="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21" strike="noStrike">
                <a:solidFill>
                  <a:srgbClr val="ac172b"/>
                </a:solidFill>
                <a:latin typeface="Calibri"/>
                <a:ea typeface="DejaVu Sans"/>
              </a:rPr>
              <a:t>first</a:t>
            </a:r>
            <a:r>
              <a:rPr b="0" lang="en-US" sz="2000" spc="18" strike="noStrike">
                <a:solidFill>
                  <a:srgbClr val="ac172b"/>
                </a:solidFill>
                <a:latin typeface="Calibri"/>
                <a:ea typeface="DejaVu Sans"/>
              </a:rPr>
              <a:t> </a:t>
            </a:r>
            <a:r>
              <a:rPr b="0" lang="en-US" sz="2000" spc="-26" strike="noStrike">
                <a:solidFill>
                  <a:srgbClr val="ac172b"/>
                </a:solidFill>
                <a:latin typeface="Calibri"/>
                <a:ea typeface="DejaVu Sans"/>
              </a:rPr>
              <a:t>responder</a:t>
            </a:r>
            <a:r>
              <a:rPr b="0" lang="en-US" sz="2000" spc="-26" strike="noStrike">
                <a:solidFill>
                  <a:srgbClr val="000000"/>
                </a:solidFill>
                <a:latin typeface="Calibri"/>
                <a:ea typeface="DejaVu Sans"/>
              </a:rPr>
              <a:t>.</a:t>
            </a:r>
            <a:endParaRPr b="0" lang="en-US" sz="2000" spc="-1" strike="noStrike">
              <a:latin typeface="Arial"/>
            </a:endParaRPr>
          </a:p>
          <a:p>
            <a:pPr lvl="1" marL="698400" indent="-228600">
              <a:lnSpc>
                <a:spcPts val="2160"/>
              </a:lnSpc>
              <a:spcBef>
                <a:spcPts val="536"/>
              </a:spcBef>
              <a:buClr>
                <a:srgbClr val="000000"/>
              </a:buClr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This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means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that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employees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at</a:t>
            </a:r>
            <a:r>
              <a:rPr b="0" lang="en-US" sz="2000" spc="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all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levels</a:t>
            </a:r>
            <a:r>
              <a:rPr b="0" lang="en-US" sz="2000" spc="2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of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organization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must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be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trained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to recognize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and </a:t>
            </a:r>
            <a:r>
              <a:rPr b="0" lang="en-US" sz="2000" spc="-440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respond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appropriately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to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actual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or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suspected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security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incidents.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175" name="object 4"/>
          <p:cNvSpPr/>
          <p:nvPr/>
        </p:nvSpPr>
        <p:spPr>
          <a:xfrm>
            <a:off x="838080" y="6400800"/>
            <a:ext cx="10514520" cy="227520"/>
          </a:xfrm>
          <a:custGeom>
            <a:avLst/>
            <a:gdLst/>
            <a:ahLst/>
            <a:rect l="l" t="t" r="r" b="b"/>
            <a:pathLst>
              <a:path w="10515600" h="228600">
                <a:moveTo>
                  <a:pt x="10515600" y="0"/>
                </a:moveTo>
                <a:lnTo>
                  <a:pt x="0" y="0"/>
                </a:lnTo>
                <a:lnTo>
                  <a:pt x="0" y="228600"/>
                </a:lnTo>
                <a:lnTo>
                  <a:pt x="10515600" y="228600"/>
                </a:lnTo>
                <a:lnTo>
                  <a:pt x="10515600" y="0"/>
                </a:lnTo>
                <a:close/>
              </a:path>
            </a:pathLst>
          </a:custGeom>
          <a:solidFill>
            <a:srgbClr val="c00000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76" name="PlaceHolder 2"/>
          <p:cNvSpPr>
            <a:spLocks noGrp="1"/>
          </p:cNvSpPr>
          <p:nvPr>
            <p:ph type="ftr" idx="49"/>
          </p:nvPr>
        </p:nvSpPr>
        <p:spPr>
          <a:xfrm>
            <a:off x="916920" y="6451560"/>
            <a:ext cx="102240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Security+</a:t>
            </a:r>
            <a:r>
              <a:rPr b="0" lang="en-US" sz="1000" spc="-46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(SY0-601)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177" name="PlaceHolder 3"/>
          <p:cNvSpPr>
            <a:spLocks noGrp="1"/>
          </p:cNvSpPr>
          <p:nvPr>
            <p:ph type="dt" idx="50"/>
          </p:nvPr>
        </p:nvSpPr>
        <p:spPr>
          <a:xfrm>
            <a:off x="5492520" y="6451560"/>
            <a:ext cx="112212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©</a:t>
            </a:r>
            <a:r>
              <a:rPr b="0" lang="en-US" sz="1000" spc="-41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netriders.academy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178" name="PlaceHolder 4"/>
          <p:cNvSpPr>
            <a:spLocks noGrp="1"/>
          </p:cNvSpPr>
          <p:nvPr>
            <p:ph type="sldNum" idx="51"/>
          </p:nvPr>
        </p:nvSpPr>
        <p:spPr>
          <a:xfrm>
            <a:off x="11098440" y="6451200"/>
            <a:ext cx="20340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3816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38160">
              <a:lnSpc>
                <a:spcPts val="1046"/>
              </a:lnSpc>
              <a:buNone/>
            </a:pPr>
            <a:fld id="{778CF0E6-C32A-4C8F-9E24-7D74EE01AD5D}" type="slidenum">
              <a:rPr b="0" lang="en-US" sz="1000" spc="-7" strike="noStrike">
                <a:solidFill>
                  <a:srgbClr val="ffffff"/>
                </a:solidFill>
                <a:latin typeface="Calibri"/>
              </a:rPr>
              <a:t>&lt;number&gt;</a:t>
            </a:fld>
            <a:endParaRPr b="0" lang="en-US" sz="10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PlaceHolder 1"/>
          <p:cNvSpPr>
            <a:spLocks noGrp="1"/>
          </p:cNvSpPr>
          <p:nvPr>
            <p:ph type="title"/>
          </p:nvPr>
        </p:nvSpPr>
        <p:spPr>
          <a:xfrm>
            <a:off x="914400" y="437760"/>
            <a:ext cx="10972800" cy="1218600"/>
          </a:xfrm>
          <a:prstGeom prst="rect">
            <a:avLst/>
          </a:prstGeom>
          <a:noFill/>
          <a:ln w="0">
            <a:noFill/>
          </a:ln>
        </p:spPr>
        <p:txBody>
          <a:bodyPr lIns="0" rIns="0" tIns="74160" bIns="0" anchor="t">
            <a:noAutofit/>
          </a:bodyPr>
          <a:p>
            <a:pPr marL="12600">
              <a:lnSpc>
                <a:spcPts val="3889"/>
              </a:lnSpc>
              <a:spcBef>
                <a:spcPts val="584"/>
              </a:spcBef>
              <a:buNone/>
            </a:pPr>
            <a:r>
              <a:rPr b="0" lang="en-US" sz="3600" spc="-32" strike="noStrike">
                <a:solidFill>
                  <a:srgbClr val="c00000"/>
                </a:solidFill>
                <a:latin typeface="Calibri Light"/>
              </a:rPr>
              <a:t>SECURITY</a:t>
            </a:r>
            <a:r>
              <a:rPr b="0" lang="en-US" sz="3600" spc="-100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60" strike="noStrike">
                <a:solidFill>
                  <a:srgbClr val="c00000"/>
                </a:solidFill>
                <a:latin typeface="Calibri Light"/>
              </a:rPr>
              <a:t>INFORMATION</a:t>
            </a:r>
            <a:r>
              <a:rPr b="0" lang="en-US" sz="3600" spc="-114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21" strike="noStrike">
                <a:solidFill>
                  <a:srgbClr val="c00000"/>
                </a:solidFill>
                <a:latin typeface="Calibri Light"/>
              </a:rPr>
              <a:t>AND</a:t>
            </a:r>
            <a:r>
              <a:rPr b="0" lang="en-US" sz="3600" spc="-97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26" strike="noStrike">
                <a:solidFill>
                  <a:srgbClr val="c00000"/>
                </a:solidFill>
                <a:latin typeface="Calibri Light"/>
              </a:rPr>
              <a:t>EVENT</a:t>
            </a:r>
            <a:r>
              <a:rPr b="0" lang="en-US" sz="3600" spc="-100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41" strike="noStrike">
                <a:solidFill>
                  <a:srgbClr val="c00000"/>
                </a:solidFill>
                <a:latin typeface="Calibri Light"/>
              </a:rPr>
              <a:t>MANAGEMENT </a:t>
            </a:r>
            <a:r>
              <a:rPr b="0" lang="en-US" sz="3600" spc="-800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26" strike="noStrike">
                <a:solidFill>
                  <a:srgbClr val="c00000"/>
                </a:solidFill>
                <a:latin typeface="Calibri Light"/>
              </a:rPr>
              <a:t>(SIEM)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180" name="object 3"/>
          <p:cNvSpPr/>
          <p:nvPr/>
        </p:nvSpPr>
        <p:spPr>
          <a:xfrm>
            <a:off x="916920" y="1802520"/>
            <a:ext cx="10305720" cy="294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54000" bIns="0" anchor="t">
            <a:spAutoFit/>
          </a:bodyPr>
          <a:p>
            <a:pPr marL="241200" indent="-229320">
              <a:lnSpc>
                <a:spcPts val="2591"/>
              </a:lnSpc>
              <a:spcBef>
                <a:spcPts val="425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Coupled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with an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attack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framework, notification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will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provide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general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sense of </a:t>
            </a:r>
            <a:r>
              <a:rPr b="0" lang="en-US" sz="2400" spc="-53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where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to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look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for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or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expect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indicators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of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malicious</a:t>
            </a:r>
            <a:r>
              <a:rPr b="0" lang="en-US" sz="2400" spc="-3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activity.</a:t>
            </a:r>
            <a:endParaRPr b="0" lang="en-US" sz="2400" spc="-1" strike="noStrike">
              <a:latin typeface="Arial"/>
            </a:endParaRPr>
          </a:p>
          <a:p>
            <a:pPr marL="241200" indent="-229320">
              <a:lnSpc>
                <a:spcPts val="2741"/>
              </a:lnSpc>
              <a:spcBef>
                <a:spcPts val="686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Incident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analysis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is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greatly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facilitated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by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a </a:t>
            </a:r>
            <a:r>
              <a:rPr b="0" lang="en-US" sz="2400" spc="-7" strike="noStrike">
                <a:solidFill>
                  <a:srgbClr val="006fc0"/>
                </a:solidFill>
                <a:latin typeface="Calibri"/>
                <a:ea typeface="DejaVu Sans"/>
              </a:rPr>
              <a:t>security</a:t>
            </a:r>
            <a:r>
              <a:rPr b="0" lang="en-US" sz="2400" spc="-21" strike="noStrike">
                <a:solidFill>
                  <a:srgbClr val="006fc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6fc0"/>
                </a:solidFill>
                <a:latin typeface="Calibri"/>
                <a:ea typeface="DejaVu Sans"/>
              </a:rPr>
              <a:t>information</a:t>
            </a:r>
            <a:r>
              <a:rPr b="0" lang="en-US" sz="2400" spc="-15" strike="noStrike">
                <a:solidFill>
                  <a:srgbClr val="006fc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6fc0"/>
                </a:solidFill>
                <a:latin typeface="Calibri"/>
                <a:ea typeface="DejaVu Sans"/>
              </a:rPr>
              <a:t>and </a:t>
            </a:r>
            <a:r>
              <a:rPr b="0" lang="en-US" sz="2400" spc="-15" strike="noStrike">
                <a:solidFill>
                  <a:srgbClr val="006fc0"/>
                </a:solidFill>
                <a:latin typeface="Calibri"/>
                <a:ea typeface="DejaVu Sans"/>
              </a:rPr>
              <a:t>event </a:t>
            </a:r>
            <a:r>
              <a:rPr b="0" lang="en-US" sz="2400" spc="-7" strike="noStrike">
                <a:solidFill>
                  <a:srgbClr val="006fc0"/>
                </a:solidFill>
                <a:latin typeface="Calibri"/>
                <a:ea typeface="DejaVu Sans"/>
              </a:rPr>
              <a:t>management</a:t>
            </a:r>
            <a:r>
              <a:rPr b="0" lang="en-US" sz="2400" spc="-32" strike="noStrike">
                <a:solidFill>
                  <a:srgbClr val="006fc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6fc0"/>
                </a:solidFill>
                <a:latin typeface="Calibri"/>
                <a:ea typeface="DejaVu Sans"/>
              </a:rPr>
              <a:t>(SIEM)</a:t>
            </a:r>
            <a:r>
              <a:rPr b="0" lang="en-US" sz="2400" spc="-35" strike="noStrike">
                <a:solidFill>
                  <a:srgbClr val="006fc0"/>
                </a:solidFill>
                <a:latin typeface="Calibri"/>
                <a:ea typeface="DejaVu Sans"/>
              </a:rPr>
              <a:t> 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system.</a:t>
            </a:r>
            <a:endParaRPr b="0" lang="en-US" sz="2400" spc="-1" strike="noStrike">
              <a:latin typeface="Arial"/>
            </a:endParaRPr>
          </a:p>
          <a:p>
            <a:pPr marL="241200" indent="-229320">
              <a:lnSpc>
                <a:spcPts val="2591"/>
              </a:lnSpc>
              <a:spcBef>
                <a:spcPts val="1035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 </a:t>
            </a:r>
            <a:r>
              <a:rPr b="0" lang="en-US" sz="2400" spc="-7" strike="noStrike">
                <a:solidFill>
                  <a:srgbClr val="006fc0"/>
                </a:solidFill>
                <a:latin typeface="Calibri"/>
                <a:ea typeface="DejaVu Sans"/>
              </a:rPr>
              <a:t>SIEM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parses network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traffic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and log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data from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multiple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sensors,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appliances, and </a:t>
            </a:r>
            <a:r>
              <a:rPr b="0" lang="en-US" sz="2400" spc="-53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hosts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and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normalizes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information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to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standard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field types.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181" name="object 4"/>
          <p:cNvSpPr/>
          <p:nvPr/>
        </p:nvSpPr>
        <p:spPr>
          <a:xfrm>
            <a:off x="838080" y="6400800"/>
            <a:ext cx="10514520" cy="227520"/>
          </a:xfrm>
          <a:custGeom>
            <a:avLst/>
            <a:gdLst/>
            <a:ahLst/>
            <a:rect l="l" t="t" r="r" b="b"/>
            <a:pathLst>
              <a:path w="10515600" h="228600">
                <a:moveTo>
                  <a:pt x="10515600" y="0"/>
                </a:moveTo>
                <a:lnTo>
                  <a:pt x="0" y="0"/>
                </a:lnTo>
                <a:lnTo>
                  <a:pt x="0" y="228600"/>
                </a:lnTo>
                <a:lnTo>
                  <a:pt x="10515600" y="228600"/>
                </a:lnTo>
                <a:lnTo>
                  <a:pt x="10515600" y="0"/>
                </a:lnTo>
                <a:close/>
              </a:path>
            </a:pathLst>
          </a:custGeom>
          <a:solidFill>
            <a:srgbClr val="c00000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82" name="PlaceHolder 2"/>
          <p:cNvSpPr>
            <a:spLocks noGrp="1"/>
          </p:cNvSpPr>
          <p:nvPr>
            <p:ph type="ftr" idx="52"/>
          </p:nvPr>
        </p:nvSpPr>
        <p:spPr>
          <a:xfrm>
            <a:off x="916920" y="6451560"/>
            <a:ext cx="102240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Security+</a:t>
            </a:r>
            <a:r>
              <a:rPr b="0" lang="en-US" sz="1000" spc="-46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(SY0-601)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183" name="PlaceHolder 3"/>
          <p:cNvSpPr>
            <a:spLocks noGrp="1"/>
          </p:cNvSpPr>
          <p:nvPr>
            <p:ph type="dt" idx="53"/>
          </p:nvPr>
        </p:nvSpPr>
        <p:spPr>
          <a:xfrm>
            <a:off x="5492520" y="6451560"/>
            <a:ext cx="112212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©</a:t>
            </a:r>
            <a:r>
              <a:rPr b="0" lang="en-US" sz="1000" spc="-41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netriders.academy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184" name="PlaceHolder 4"/>
          <p:cNvSpPr>
            <a:spLocks noGrp="1"/>
          </p:cNvSpPr>
          <p:nvPr>
            <p:ph type="sldNum" idx="54"/>
          </p:nvPr>
        </p:nvSpPr>
        <p:spPr>
          <a:xfrm>
            <a:off x="11098440" y="6451200"/>
            <a:ext cx="20340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3816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38160">
              <a:lnSpc>
                <a:spcPts val="1046"/>
              </a:lnSpc>
              <a:buNone/>
            </a:pPr>
            <a:fld id="{A952409F-5E3C-4B9D-920C-ABADCBDB982C}" type="slidenum">
              <a:rPr b="0" lang="en-US" sz="1000" spc="-7" strike="noStrike">
                <a:solidFill>
                  <a:srgbClr val="ffffff"/>
                </a:solidFill>
                <a:latin typeface="Calibri"/>
              </a:rPr>
              <a:t>&lt;number&gt;</a:t>
            </a:fld>
            <a:endParaRPr b="0" lang="en-US" sz="10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PlaceHolder 1"/>
          <p:cNvSpPr>
            <a:spLocks noGrp="1"/>
          </p:cNvSpPr>
          <p:nvPr>
            <p:ph type="title"/>
          </p:nvPr>
        </p:nvSpPr>
        <p:spPr>
          <a:xfrm>
            <a:off x="914400" y="437760"/>
            <a:ext cx="10972080" cy="157608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>
              <a:lnSpc>
                <a:spcPts val="4105"/>
              </a:lnSpc>
              <a:spcBef>
                <a:spcPts val="99"/>
              </a:spcBef>
              <a:buNone/>
            </a:pPr>
            <a:r>
              <a:rPr b="0" lang="en-US" sz="2400" spc="-32" strike="noStrike">
                <a:solidFill>
                  <a:srgbClr val="c00000"/>
                </a:solidFill>
                <a:latin typeface="Calibri Light"/>
              </a:rPr>
              <a:t>SECURITY</a:t>
            </a:r>
            <a:r>
              <a:rPr b="0" lang="en-US" sz="2400" spc="-100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2400" spc="-60" strike="noStrike">
                <a:solidFill>
                  <a:srgbClr val="c00000"/>
                </a:solidFill>
                <a:latin typeface="Calibri Light"/>
              </a:rPr>
              <a:t>INFORMATION</a:t>
            </a:r>
            <a:r>
              <a:rPr b="0" lang="en-US" sz="2400" spc="-114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2400" spc="-21" strike="noStrike">
                <a:solidFill>
                  <a:srgbClr val="c00000"/>
                </a:solidFill>
                <a:latin typeface="Calibri Light"/>
              </a:rPr>
              <a:t>AND</a:t>
            </a:r>
            <a:r>
              <a:rPr b="0" lang="en-US" sz="2400" spc="-97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2400" spc="-26" strike="noStrike">
                <a:solidFill>
                  <a:srgbClr val="c00000"/>
                </a:solidFill>
                <a:latin typeface="Calibri Light"/>
              </a:rPr>
              <a:t>EVENT </a:t>
            </a:r>
            <a:r>
              <a:rPr b="0" lang="en-US" sz="2400" spc="-41" strike="noStrike">
                <a:solidFill>
                  <a:srgbClr val="c00000"/>
                </a:solidFill>
                <a:latin typeface="Calibri Light"/>
              </a:rPr>
              <a:t>MANAGEMENT </a:t>
            </a:r>
            <a:r>
              <a:rPr b="0" lang="en-US" sz="2400" spc="-26" strike="noStrike">
                <a:solidFill>
                  <a:srgbClr val="c00000"/>
                </a:solidFill>
                <a:latin typeface="Calibri Light"/>
              </a:rPr>
              <a:t>(SIEM)</a:t>
            </a:r>
            <a:r>
              <a:rPr b="0" lang="en-US" sz="2400" spc="-86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2400" spc="-32" strike="noStrike">
                <a:solidFill>
                  <a:srgbClr val="c00000"/>
                </a:solidFill>
                <a:latin typeface="Calibri Light"/>
              </a:rPr>
              <a:t>(cont.)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186" name="object 3"/>
          <p:cNvSpPr/>
          <p:nvPr/>
        </p:nvSpPr>
        <p:spPr>
          <a:xfrm>
            <a:off x="916920" y="1600200"/>
            <a:ext cx="10121400" cy="382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56520" bIns="0" anchor="t">
            <a:spAutoFit/>
          </a:bodyPr>
          <a:p>
            <a:pPr marL="241200" indent="-229320">
              <a:lnSpc>
                <a:spcPct val="100000"/>
              </a:lnSpc>
              <a:spcBef>
                <a:spcPts val="445"/>
              </a:spcBef>
              <a:buClr>
                <a:srgbClr val="006fc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12" strike="noStrike">
                <a:solidFill>
                  <a:srgbClr val="006fc0"/>
                </a:solidFill>
                <a:latin typeface="Calibri"/>
                <a:ea typeface="DejaVu Sans"/>
              </a:rPr>
              <a:t>Correlation</a:t>
            </a:r>
            <a:endParaRPr b="0" lang="en-US" sz="2400" spc="-1" strike="noStrike">
              <a:latin typeface="Arial"/>
            </a:endParaRPr>
          </a:p>
          <a:p>
            <a:pPr lvl="1" marL="698400" indent="-229320">
              <a:lnSpc>
                <a:spcPts val="2279"/>
              </a:lnSpc>
              <a:spcBef>
                <a:spcPts val="289"/>
              </a:spcBef>
              <a:buClr>
                <a:srgbClr val="000000"/>
              </a:buClr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SIEM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can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then</a:t>
            </a:r>
            <a:r>
              <a:rPr b="0" lang="en-US" sz="2000" spc="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run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correlation</a:t>
            </a:r>
            <a:r>
              <a:rPr b="0" lang="en-US" sz="2000" spc="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rules</a:t>
            </a:r>
            <a:r>
              <a:rPr b="0" lang="en-US" sz="2000" spc="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on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indicators</a:t>
            </a:r>
            <a:r>
              <a:rPr b="0" lang="en-US" sz="2000" spc="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extracted</a:t>
            </a:r>
            <a:r>
              <a:rPr b="0" lang="en-US" sz="2000" spc="18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from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the</a:t>
            </a:r>
            <a:r>
              <a:rPr b="0" lang="en-US" sz="2000" spc="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data</a:t>
            </a:r>
            <a:r>
              <a:rPr b="0" lang="en-US" sz="2000" spc="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sources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to</a:t>
            </a:r>
            <a:endParaRPr b="0" lang="en-US" sz="2000" spc="-1" strike="noStrike">
              <a:latin typeface="Arial"/>
            </a:endParaRPr>
          </a:p>
          <a:p>
            <a:pPr marL="698400">
              <a:lnSpc>
                <a:spcPts val="2279"/>
              </a:lnSpc>
              <a:buNone/>
              <a:tabLst>
                <a:tab algn="l" pos="699120"/>
              </a:tabLst>
            </a:pP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detect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events</a:t>
            </a:r>
            <a:r>
              <a:rPr b="0" lang="en-US" sz="2000" spc="18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that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should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be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investigated</a:t>
            </a:r>
            <a:r>
              <a:rPr b="0" lang="en-US" sz="2000" spc="2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as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potential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incidents.</a:t>
            </a:r>
            <a:endParaRPr b="0" lang="en-US" sz="2000" spc="-1" strike="noStrike">
              <a:latin typeface="Arial"/>
            </a:endParaRPr>
          </a:p>
          <a:p>
            <a:pPr lvl="1" marL="698400" indent="-229320">
              <a:lnSpc>
                <a:spcPct val="100000"/>
              </a:lnSpc>
              <a:spcBef>
                <a:spcPts val="255"/>
              </a:spcBef>
              <a:buClr>
                <a:srgbClr val="000000"/>
              </a:buClr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000" spc="-52" strike="noStrike">
                <a:solidFill>
                  <a:srgbClr val="000000"/>
                </a:solidFill>
                <a:latin typeface="Calibri"/>
                <a:ea typeface="DejaVu Sans"/>
              </a:rPr>
              <a:t>You</a:t>
            </a:r>
            <a:r>
              <a:rPr b="0" lang="en-US" sz="20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can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also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filter</a:t>
            </a:r>
            <a:r>
              <a:rPr b="0" lang="en-US" sz="2000" spc="18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or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query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the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data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based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on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the type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of incident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that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has been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reported.</a:t>
            </a:r>
            <a:endParaRPr b="0" lang="en-US" sz="2000" spc="-1" strike="noStrike">
              <a:latin typeface="Arial"/>
            </a:endParaRPr>
          </a:p>
          <a:p>
            <a:pPr lvl="1" marL="698400" indent="-228600">
              <a:lnSpc>
                <a:spcPts val="2160"/>
              </a:lnSpc>
              <a:spcBef>
                <a:spcPts val="536"/>
              </a:spcBef>
              <a:buClr>
                <a:srgbClr val="000000"/>
              </a:buClr>
              <a:buFont typeface="Wingdings" charset="2"/>
              <a:buChar char=""/>
              <a:tabLst>
                <a:tab algn="l" pos="699120"/>
              </a:tabLst>
            </a:pPr>
            <a:r>
              <a:rPr b="1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Correlation</a:t>
            </a:r>
            <a:r>
              <a:rPr b="1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means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interpreting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the</a:t>
            </a:r>
            <a:r>
              <a:rPr b="0" lang="en-US" sz="2000" spc="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relationship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between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individual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data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points</a:t>
            </a:r>
            <a:r>
              <a:rPr b="0" lang="en-US" sz="2000" spc="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to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diagnose </a:t>
            </a:r>
            <a:r>
              <a:rPr b="0" lang="en-US" sz="2000" spc="-43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incidents</a:t>
            </a:r>
            <a:r>
              <a:rPr b="0" lang="en-US" sz="2000" spc="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of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significance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to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the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security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team.</a:t>
            </a:r>
            <a:endParaRPr b="0" lang="en-US" sz="2000" spc="-1" strike="noStrike">
              <a:latin typeface="Arial"/>
            </a:endParaRPr>
          </a:p>
          <a:p>
            <a:pPr lvl="1" marL="698400" indent="-229320">
              <a:lnSpc>
                <a:spcPct val="100000"/>
              </a:lnSpc>
              <a:spcBef>
                <a:spcPts val="235"/>
              </a:spcBef>
              <a:buClr>
                <a:srgbClr val="000000"/>
              </a:buClr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 </a:t>
            </a:r>
            <a:r>
              <a:rPr b="1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SIEM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correlation</a:t>
            </a:r>
            <a:r>
              <a:rPr b="0" lang="en-US" sz="2000" spc="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rule is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statement</a:t>
            </a:r>
            <a:r>
              <a:rPr b="0" lang="en-US" sz="2000" spc="3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that</a:t>
            </a:r>
            <a:r>
              <a:rPr b="0" lang="en-US" sz="2000" spc="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matches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certain</a:t>
            </a:r>
            <a:r>
              <a:rPr b="0" lang="en-US" sz="2000" spc="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conditions.</a:t>
            </a:r>
            <a:endParaRPr b="0" lang="en-US" sz="2000" spc="-1" strike="noStrike">
              <a:latin typeface="Arial"/>
            </a:endParaRPr>
          </a:p>
          <a:p>
            <a:pPr lvl="1" marL="698400" indent="-229320">
              <a:lnSpc>
                <a:spcPts val="2279"/>
              </a:lnSpc>
              <a:spcBef>
                <a:spcPts val="249"/>
              </a:spcBef>
              <a:buClr>
                <a:srgbClr val="000000"/>
              </a:buClr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These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rules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use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logical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expressions,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such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as</a:t>
            </a:r>
            <a:r>
              <a:rPr b="0" lang="en-US" sz="2000" spc="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1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AND</a:t>
            </a:r>
            <a:r>
              <a:rPr b="1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and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1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OR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,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and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operators,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such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as</a:t>
            </a:r>
            <a:r>
              <a:rPr b="0" lang="en-US" sz="2000" spc="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1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==</a:t>
            </a:r>
            <a:endParaRPr b="0" lang="en-US" sz="2000" spc="-1" strike="noStrike">
              <a:latin typeface="Arial"/>
            </a:endParaRPr>
          </a:p>
          <a:p>
            <a:pPr marL="698400">
              <a:lnSpc>
                <a:spcPts val="2279"/>
              </a:lnSpc>
              <a:buNone/>
              <a:tabLst>
                <a:tab algn="l" pos="699120"/>
              </a:tabLst>
            </a:pP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(matches),</a:t>
            </a:r>
            <a:r>
              <a:rPr b="0" lang="en-US" sz="2000" spc="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1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&lt;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(less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than), </a:t>
            </a:r>
            <a:r>
              <a:rPr b="1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&gt;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(greater</a:t>
            </a:r>
            <a:r>
              <a:rPr b="0" lang="en-US" sz="2000" spc="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than),</a:t>
            </a:r>
            <a:r>
              <a:rPr b="0" lang="en-US" sz="20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and </a:t>
            </a:r>
            <a:r>
              <a:rPr b="1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in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(contains).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187" name="object 4"/>
          <p:cNvSpPr/>
          <p:nvPr/>
        </p:nvSpPr>
        <p:spPr>
          <a:xfrm>
            <a:off x="838080" y="6400800"/>
            <a:ext cx="10514520" cy="227520"/>
          </a:xfrm>
          <a:custGeom>
            <a:avLst/>
            <a:gdLst/>
            <a:ahLst/>
            <a:rect l="l" t="t" r="r" b="b"/>
            <a:pathLst>
              <a:path w="10515600" h="228600">
                <a:moveTo>
                  <a:pt x="10515600" y="0"/>
                </a:moveTo>
                <a:lnTo>
                  <a:pt x="0" y="0"/>
                </a:lnTo>
                <a:lnTo>
                  <a:pt x="0" y="228600"/>
                </a:lnTo>
                <a:lnTo>
                  <a:pt x="10515600" y="228600"/>
                </a:lnTo>
                <a:lnTo>
                  <a:pt x="10515600" y="0"/>
                </a:lnTo>
                <a:close/>
              </a:path>
            </a:pathLst>
          </a:custGeom>
          <a:solidFill>
            <a:srgbClr val="c00000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88" name="PlaceHolder 2"/>
          <p:cNvSpPr>
            <a:spLocks noGrp="1"/>
          </p:cNvSpPr>
          <p:nvPr>
            <p:ph type="ftr" idx="55"/>
          </p:nvPr>
        </p:nvSpPr>
        <p:spPr>
          <a:xfrm>
            <a:off x="916920" y="6451560"/>
            <a:ext cx="102240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Security+</a:t>
            </a:r>
            <a:r>
              <a:rPr b="0" lang="en-US" sz="1000" spc="-46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(SY0-601)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189" name="PlaceHolder 3"/>
          <p:cNvSpPr>
            <a:spLocks noGrp="1"/>
          </p:cNvSpPr>
          <p:nvPr>
            <p:ph type="dt" idx="56"/>
          </p:nvPr>
        </p:nvSpPr>
        <p:spPr>
          <a:xfrm>
            <a:off x="5492520" y="6451560"/>
            <a:ext cx="112212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©</a:t>
            </a:r>
            <a:r>
              <a:rPr b="0" lang="en-US" sz="1000" spc="-41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netriders.academy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190" name="PlaceHolder 4"/>
          <p:cNvSpPr>
            <a:spLocks noGrp="1"/>
          </p:cNvSpPr>
          <p:nvPr>
            <p:ph type="sldNum" idx="57"/>
          </p:nvPr>
        </p:nvSpPr>
        <p:spPr>
          <a:xfrm>
            <a:off x="11098440" y="6451200"/>
            <a:ext cx="20340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3816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38160">
              <a:lnSpc>
                <a:spcPts val="1046"/>
              </a:lnSpc>
              <a:buNone/>
            </a:pPr>
            <a:fld id="{E9A3C401-61F0-4952-BC9C-6DA74893D705}" type="slidenum">
              <a:rPr b="0" lang="en-US" sz="1000" spc="-7" strike="noStrike">
                <a:solidFill>
                  <a:srgbClr val="ffffff"/>
                </a:solidFill>
                <a:latin typeface="Calibri"/>
              </a:rPr>
              <a:t>&lt;number&gt;</a:t>
            </a:fld>
            <a:endParaRPr b="0" lang="en-US" sz="10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PlaceHolder 1"/>
          <p:cNvSpPr>
            <a:spLocks noGrp="1"/>
          </p:cNvSpPr>
          <p:nvPr>
            <p:ph type="title"/>
          </p:nvPr>
        </p:nvSpPr>
        <p:spPr>
          <a:xfrm>
            <a:off x="916920" y="437760"/>
            <a:ext cx="10741680" cy="70524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>
              <a:lnSpc>
                <a:spcPts val="4105"/>
              </a:lnSpc>
              <a:spcBef>
                <a:spcPts val="99"/>
              </a:spcBef>
              <a:buNone/>
            </a:pPr>
            <a:r>
              <a:rPr b="0" lang="en-US" sz="2600" spc="-32" strike="noStrike">
                <a:solidFill>
                  <a:srgbClr val="c00000"/>
                </a:solidFill>
                <a:latin typeface="Calibri Light"/>
              </a:rPr>
              <a:t>SECURITY</a:t>
            </a:r>
            <a:r>
              <a:rPr b="0" lang="en-US" sz="2600" spc="-100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2600" spc="-60" strike="noStrike">
                <a:solidFill>
                  <a:srgbClr val="c00000"/>
                </a:solidFill>
                <a:latin typeface="Calibri Light"/>
              </a:rPr>
              <a:t>INFORMATION</a:t>
            </a:r>
            <a:r>
              <a:rPr b="0" lang="en-US" sz="2600" spc="-114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2600" spc="-21" strike="noStrike">
                <a:solidFill>
                  <a:srgbClr val="c00000"/>
                </a:solidFill>
                <a:latin typeface="Calibri Light"/>
              </a:rPr>
              <a:t>AND</a:t>
            </a:r>
            <a:r>
              <a:rPr b="0" lang="en-US" sz="2600" spc="-97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2600" spc="-26" strike="noStrike">
                <a:solidFill>
                  <a:srgbClr val="c00000"/>
                </a:solidFill>
                <a:latin typeface="Calibri Light"/>
              </a:rPr>
              <a:t>EVENT</a:t>
            </a:r>
            <a:r>
              <a:rPr b="0" lang="en-US" sz="2600" spc="-100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2600" spc="-41" strike="noStrike">
                <a:solidFill>
                  <a:srgbClr val="c00000"/>
                </a:solidFill>
                <a:latin typeface="Calibri Light"/>
              </a:rPr>
              <a:t>MANAGEMENT </a:t>
            </a:r>
            <a:r>
              <a:rPr b="0" lang="en-US" sz="2600" spc="-26" strike="noStrike">
                <a:solidFill>
                  <a:srgbClr val="c00000"/>
                </a:solidFill>
                <a:latin typeface="Calibri Light"/>
              </a:rPr>
              <a:t>(SIEM)</a:t>
            </a:r>
            <a:r>
              <a:rPr b="0" lang="en-US" sz="2600" spc="-86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2600" spc="-32" strike="noStrike">
                <a:solidFill>
                  <a:srgbClr val="c00000"/>
                </a:solidFill>
                <a:latin typeface="Calibri Light"/>
              </a:rPr>
              <a:t>(cont.)</a:t>
            </a:r>
            <a:endParaRPr b="0" lang="en-US" sz="2600" spc="-1" strike="noStrike">
              <a:latin typeface="Arial"/>
            </a:endParaRPr>
          </a:p>
        </p:txBody>
      </p:sp>
      <p:sp>
        <p:nvSpPr>
          <p:cNvPr id="192" name="object 3"/>
          <p:cNvSpPr/>
          <p:nvPr/>
        </p:nvSpPr>
        <p:spPr>
          <a:xfrm>
            <a:off x="628920" y="1146960"/>
            <a:ext cx="10956960" cy="465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56520" bIns="0" anchor="t">
            <a:spAutoFit/>
          </a:bodyPr>
          <a:p>
            <a:pPr marL="241200" indent="-229320">
              <a:lnSpc>
                <a:spcPct val="100000"/>
              </a:lnSpc>
              <a:spcBef>
                <a:spcPts val="445"/>
              </a:spcBef>
              <a:buClr>
                <a:srgbClr val="006fc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200" spc="-12" strike="noStrike">
                <a:solidFill>
                  <a:srgbClr val="006fc0"/>
                </a:solidFill>
                <a:latin typeface="Calibri"/>
                <a:ea typeface="DejaVu Sans"/>
              </a:rPr>
              <a:t>Correlation</a:t>
            </a:r>
            <a:r>
              <a:rPr b="0" lang="en-US" sz="2200" spc="-41" strike="noStrike">
                <a:solidFill>
                  <a:srgbClr val="006fc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6fc0"/>
                </a:solidFill>
                <a:latin typeface="Calibri"/>
                <a:ea typeface="DejaVu Sans"/>
              </a:rPr>
              <a:t>(cont.)</a:t>
            </a:r>
            <a:endParaRPr b="0" lang="en-US" sz="2200" spc="-1" strike="noStrike">
              <a:latin typeface="Arial"/>
            </a:endParaRPr>
          </a:p>
          <a:p>
            <a:pPr lvl="1" marL="698400" indent="-229320">
              <a:lnSpc>
                <a:spcPct val="100000"/>
              </a:lnSpc>
              <a:spcBef>
                <a:spcPts val="289"/>
              </a:spcBef>
              <a:buClr>
                <a:srgbClr val="000000"/>
              </a:buClr>
              <a:buFont typeface="Wingdings" charset="2"/>
              <a:buChar char=""/>
              <a:tabLst>
                <a:tab algn="l" pos="699120"/>
              </a:tabLst>
            </a:pPr>
            <a:r>
              <a:rPr b="1" lang="en-US" sz="1800" spc="-7" strike="noStrike">
                <a:solidFill>
                  <a:srgbClr val="000000"/>
                </a:solidFill>
                <a:latin typeface="Calibri"/>
                <a:ea typeface="DejaVu Sans"/>
              </a:rPr>
              <a:t>For</a:t>
            </a:r>
            <a:r>
              <a:rPr b="1" lang="en-US" sz="18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1" lang="en-US" sz="1800" spc="-7" strike="noStrike">
                <a:solidFill>
                  <a:srgbClr val="000000"/>
                </a:solidFill>
                <a:latin typeface="Calibri"/>
                <a:ea typeface="DejaVu Sans"/>
              </a:rPr>
              <a:t>Example</a:t>
            </a:r>
            <a:r>
              <a:rPr b="0" lang="en-US" sz="1800" spc="-7" strike="noStrike">
                <a:solidFill>
                  <a:srgbClr val="000000"/>
                </a:solidFill>
                <a:latin typeface="Calibri"/>
                <a:ea typeface="DejaVu Sans"/>
              </a:rPr>
              <a:t>,</a:t>
            </a:r>
            <a:r>
              <a:rPr b="0" lang="en-US" sz="1800" spc="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a</a:t>
            </a:r>
            <a:r>
              <a:rPr b="0" lang="en-US" sz="1800" spc="-7" strike="noStrike">
                <a:solidFill>
                  <a:srgbClr val="000000"/>
                </a:solidFill>
                <a:latin typeface="Calibri"/>
                <a:ea typeface="DejaVu Sans"/>
              </a:rPr>
              <a:t> single-user</a:t>
            </a:r>
            <a:r>
              <a:rPr b="0" lang="en-US" sz="1800" spc="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1800" spc="-7" strike="noStrike">
                <a:solidFill>
                  <a:srgbClr val="000000"/>
                </a:solidFill>
                <a:latin typeface="Calibri"/>
                <a:ea typeface="DejaVu Sans"/>
              </a:rPr>
              <a:t>logon</a:t>
            </a:r>
            <a:r>
              <a:rPr b="0" lang="en-US" sz="18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1800" spc="-12" strike="noStrike">
                <a:solidFill>
                  <a:srgbClr val="000000"/>
                </a:solidFill>
                <a:latin typeface="Calibri"/>
                <a:ea typeface="DejaVu Sans"/>
              </a:rPr>
              <a:t>failure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 is</a:t>
            </a:r>
            <a:r>
              <a:rPr b="0" lang="en-US" sz="1800" spc="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1800" spc="-7" strike="noStrike">
                <a:solidFill>
                  <a:srgbClr val="000000"/>
                </a:solidFill>
                <a:latin typeface="Calibri"/>
                <a:ea typeface="DejaVu Sans"/>
              </a:rPr>
              <a:t>not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 a </a:t>
            </a:r>
            <a:r>
              <a:rPr b="0" lang="en-US" sz="1800" spc="-7" strike="noStrike">
                <a:solidFill>
                  <a:srgbClr val="000000"/>
                </a:solidFill>
                <a:latin typeface="Calibri"/>
                <a:ea typeface="DejaVu Sans"/>
              </a:rPr>
              <a:t>condition</a:t>
            </a:r>
            <a:r>
              <a:rPr b="0" lang="en-US" sz="1800" spc="-3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1800" spc="-7" strike="noStrike">
                <a:solidFill>
                  <a:srgbClr val="000000"/>
                </a:solidFill>
                <a:latin typeface="Calibri"/>
                <a:ea typeface="DejaVu Sans"/>
              </a:rPr>
              <a:t>that</a:t>
            </a:r>
            <a:r>
              <a:rPr b="0" lang="en-US" sz="18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1800" spc="-7" strike="noStrike">
                <a:solidFill>
                  <a:srgbClr val="000000"/>
                </a:solidFill>
                <a:latin typeface="Calibri"/>
                <a:ea typeface="DejaVu Sans"/>
              </a:rPr>
              <a:t>should</a:t>
            </a:r>
            <a:r>
              <a:rPr b="0" lang="en-US" sz="18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1800" spc="-12" strike="noStrike">
                <a:solidFill>
                  <a:srgbClr val="000000"/>
                </a:solidFill>
                <a:latin typeface="Calibri"/>
                <a:ea typeface="DejaVu Sans"/>
              </a:rPr>
              <a:t>raise</a:t>
            </a:r>
            <a:r>
              <a:rPr b="0" lang="en-US" sz="18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an</a:t>
            </a:r>
            <a:r>
              <a:rPr b="0" lang="en-US" sz="1800" spc="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1800" spc="-7" strike="noStrike">
                <a:solidFill>
                  <a:srgbClr val="000000"/>
                </a:solidFill>
                <a:latin typeface="Calibri"/>
                <a:ea typeface="DejaVu Sans"/>
              </a:rPr>
              <a:t>alert.</a:t>
            </a:r>
            <a:endParaRPr b="0" lang="en-US" sz="1800" spc="-1" strike="noStrike">
              <a:latin typeface="Arial"/>
            </a:endParaRPr>
          </a:p>
          <a:p>
            <a:pPr lvl="1" marL="698400" indent="-229320">
              <a:lnSpc>
                <a:spcPts val="2279"/>
              </a:lnSpc>
              <a:spcBef>
                <a:spcPts val="249"/>
              </a:spcBef>
              <a:buClr>
                <a:srgbClr val="000000"/>
              </a:buClr>
              <a:buFont typeface="Wingdings" charset="2"/>
              <a:buChar char=""/>
              <a:tabLst>
                <a:tab algn="l" pos="69912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Multiple</a:t>
            </a:r>
            <a:r>
              <a:rPr b="0" lang="en-US" sz="18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1800" spc="-7" strike="noStrike">
                <a:solidFill>
                  <a:srgbClr val="000000"/>
                </a:solidFill>
                <a:latin typeface="Calibri"/>
                <a:ea typeface="DejaVu Sans"/>
              </a:rPr>
              <a:t>user</a:t>
            </a:r>
            <a:r>
              <a:rPr b="0" lang="en-US" sz="1800" spc="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1800" spc="-7" strike="noStrike">
                <a:solidFill>
                  <a:srgbClr val="000000"/>
                </a:solidFill>
                <a:latin typeface="Calibri"/>
                <a:ea typeface="DejaVu Sans"/>
              </a:rPr>
              <a:t>logon</a:t>
            </a:r>
            <a:r>
              <a:rPr b="0" lang="en-US" sz="1800" spc="-3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1800" spc="-12" strike="noStrike">
                <a:solidFill>
                  <a:srgbClr val="000000"/>
                </a:solidFill>
                <a:latin typeface="Calibri"/>
                <a:ea typeface="DejaVu Sans"/>
              </a:rPr>
              <a:t>failures</a:t>
            </a:r>
            <a:r>
              <a:rPr b="0" lang="en-US" sz="1800" spc="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1800" spc="-15" strike="noStrike">
                <a:solidFill>
                  <a:srgbClr val="000000"/>
                </a:solidFill>
                <a:latin typeface="Calibri"/>
                <a:ea typeface="DejaVu Sans"/>
              </a:rPr>
              <a:t>for 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the </a:t>
            </a:r>
            <a:r>
              <a:rPr b="0" lang="en-US" sz="1800" spc="-7" strike="noStrike">
                <a:solidFill>
                  <a:srgbClr val="000000"/>
                </a:solidFill>
                <a:latin typeface="Calibri"/>
                <a:ea typeface="DejaVu Sans"/>
              </a:rPr>
              <a:t>same</a:t>
            </a:r>
            <a:r>
              <a:rPr b="0" lang="en-US" sz="18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1800" spc="-7" strike="noStrike">
                <a:solidFill>
                  <a:srgbClr val="000000"/>
                </a:solidFill>
                <a:latin typeface="Calibri"/>
                <a:ea typeface="DejaVu Sans"/>
              </a:rPr>
              <a:t>account,</a:t>
            </a:r>
            <a:r>
              <a:rPr b="0" lang="en-US" sz="18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1800" spc="-7" strike="noStrike">
                <a:solidFill>
                  <a:srgbClr val="000000"/>
                </a:solidFill>
                <a:latin typeface="Calibri"/>
                <a:ea typeface="DejaVu Sans"/>
              </a:rPr>
              <a:t>taking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1800" spc="-7" strike="noStrike">
                <a:solidFill>
                  <a:srgbClr val="000000"/>
                </a:solidFill>
                <a:latin typeface="Calibri"/>
                <a:ea typeface="DejaVu Sans"/>
              </a:rPr>
              <a:t>place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 within</a:t>
            </a:r>
            <a:r>
              <a:rPr b="0" lang="en-US" sz="18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the </a:t>
            </a:r>
            <a:r>
              <a:rPr b="0" lang="en-US" sz="1800" spc="-7" strike="noStrike">
                <a:solidFill>
                  <a:srgbClr val="000000"/>
                </a:solidFill>
                <a:latin typeface="Calibri"/>
                <a:ea typeface="DejaVu Sans"/>
              </a:rPr>
              <a:t>space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 of</a:t>
            </a:r>
            <a:r>
              <a:rPr b="0" lang="en-US" sz="18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one</a:t>
            </a:r>
            <a:r>
              <a:rPr b="0" lang="en-US" sz="18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1800" spc="-35" strike="noStrike">
                <a:solidFill>
                  <a:srgbClr val="000000"/>
                </a:solidFill>
                <a:latin typeface="Calibri"/>
                <a:ea typeface="DejaVu Sans"/>
              </a:rPr>
              <a:t>hour,</a:t>
            </a:r>
            <a:endParaRPr b="0" lang="en-US" sz="1800" spc="-1" strike="noStrike">
              <a:latin typeface="Arial"/>
            </a:endParaRPr>
          </a:p>
          <a:p>
            <a:pPr marL="698400">
              <a:lnSpc>
                <a:spcPts val="2279"/>
              </a:lnSpc>
              <a:buNone/>
              <a:tabLst>
                <a:tab algn="l" pos="69912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is</a:t>
            </a:r>
            <a:r>
              <a:rPr b="0" lang="en-US" sz="1800" spc="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1800" spc="-12" strike="noStrike">
                <a:solidFill>
                  <a:srgbClr val="000000"/>
                </a:solidFill>
                <a:latin typeface="Calibri"/>
                <a:ea typeface="DejaVu Sans"/>
              </a:rPr>
              <a:t>more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1800" spc="-15" strike="noStrike">
                <a:solidFill>
                  <a:srgbClr val="000000"/>
                </a:solidFill>
                <a:latin typeface="Calibri"/>
                <a:ea typeface="DejaVu Sans"/>
              </a:rPr>
              <a:t>likely</a:t>
            </a:r>
            <a:r>
              <a:rPr b="0" lang="en-US" sz="1800" spc="18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1800" spc="-15" strike="noStrike">
                <a:solidFill>
                  <a:srgbClr val="000000"/>
                </a:solidFill>
                <a:latin typeface="Calibri"/>
                <a:ea typeface="DejaVu Sans"/>
              </a:rPr>
              <a:t>to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1800" spc="-12" strike="noStrike">
                <a:solidFill>
                  <a:srgbClr val="000000"/>
                </a:solidFill>
                <a:latin typeface="Calibri"/>
                <a:ea typeface="DejaVu Sans"/>
              </a:rPr>
              <a:t>require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1800" spc="-15" strike="noStrike">
                <a:solidFill>
                  <a:srgbClr val="000000"/>
                </a:solidFill>
                <a:latin typeface="Calibri"/>
                <a:ea typeface="DejaVu Sans"/>
              </a:rPr>
              <a:t>investigation</a:t>
            </a:r>
            <a:r>
              <a:rPr b="0" lang="en-US" sz="1800" spc="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and</a:t>
            </a:r>
            <a:r>
              <a:rPr b="0" lang="en-US" sz="18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is</a:t>
            </a:r>
            <a:r>
              <a:rPr b="0" lang="en-US" sz="1800" spc="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a</a:t>
            </a:r>
            <a:r>
              <a:rPr b="0" lang="en-US" sz="1800" spc="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1800" spc="-7" strike="noStrike">
                <a:solidFill>
                  <a:srgbClr val="000000"/>
                </a:solidFill>
                <a:latin typeface="Calibri"/>
                <a:ea typeface="DejaVu Sans"/>
              </a:rPr>
              <a:t>candidate </a:t>
            </a:r>
            <a:r>
              <a:rPr b="0" lang="en-US" sz="1800" spc="-15" strike="noStrike">
                <a:solidFill>
                  <a:srgbClr val="000000"/>
                </a:solidFill>
                <a:latin typeface="Calibri"/>
                <a:ea typeface="DejaVu Sans"/>
              </a:rPr>
              <a:t>for</a:t>
            </a:r>
            <a:r>
              <a:rPr b="0" lang="en-US" sz="1800" spc="-7" strike="noStrike">
                <a:solidFill>
                  <a:srgbClr val="000000"/>
                </a:solidFill>
                <a:latin typeface="Calibri"/>
                <a:ea typeface="DejaVu Sans"/>
              </a:rPr>
              <a:t> detection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1800" spc="-7" strike="noStrike">
                <a:solidFill>
                  <a:srgbClr val="000000"/>
                </a:solidFill>
                <a:latin typeface="Calibri"/>
                <a:ea typeface="DejaVu Sans"/>
              </a:rPr>
              <a:t>by</a:t>
            </a:r>
            <a:r>
              <a:rPr b="0" lang="en-US" sz="18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a </a:t>
            </a:r>
            <a:r>
              <a:rPr b="0" lang="en-US" sz="1800" spc="-12" strike="noStrike">
                <a:solidFill>
                  <a:srgbClr val="000000"/>
                </a:solidFill>
                <a:latin typeface="Calibri"/>
                <a:ea typeface="DejaVu Sans"/>
              </a:rPr>
              <a:t>correlation</a:t>
            </a:r>
            <a:r>
              <a:rPr b="0" lang="en-US" sz="1800" spc="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rule.</a:t>
            </a:r>
            <a:endParaRPr b="0" lang="en-US" sz="1800" spc="-1" strike="noStrike">
              <a:latin typeface="Arial"/>
            </a:endParaRPr>
          </a:p>
          <a:p>
            <a:pPr marL="698400">
              <a:lnSpc>
                <a:spcPct val="100000"/>
              </a:lnSpc>
              <a:spcBef>
                <a:spcPts val="45"/>
              </a:spcBef>
              <a:buNone/>
              <a:tabLst>
                <a:tab algn="l" pos="699120"/>
              </a:tabLst>
            </a:pPr>
            <a:endParaRPr b="0" lang="en-US" sz="2400" spc="-1" strike="noStrike">
              <a:latin typeface="Arial"/>
            </a:endParaRPr>
          </a:p>
          <a:p>
            <a:pPr marL="844560">
              <a:lnSpc>
                <a:spcPct val="100000"/>
              </a:lnSpc>
              <a:buNone/>
              <a:tabLst>
                <a:tab algn="l" pos="699120"/>
              </a:tabLst>
            </a:pPr>
            <a:r>
              <a:rPr b="0" i="1" lang="en-US" sz="1600" spc="-7" strike="noStrike">
                <a:solidFill>
                  <a:srgbClr val="c55a11"/>
                </a:solidFill>
                <a:latin typeface="Consolas"/>
                <a:ea typeface="DejaVu Sans"/>
              </a:rPr>
              <a:t>Error.LogonFailure</a:t>
            </a:r>
            <a:r>
              <a:rPr b="0" i="1" lang="en-US" sz="1600" spc="-21" strike="noStrike">
                <a:solidFill>
                  <a:srgbClr val="c55a11"/>
                </a:solidFill>
                <a:latin typeface="Consolas"/>
                <a:ea typeface="DejaVu Sans"/>
              </a:rPr>
              <a:t> </a:t>
            </a:r>
            <a:r>
              <a:rPr b="0" i="1" lang="en-US" sz="1600" spc="-1" strike="noStrike">
                <a:solidFill>
                  <a:srgbClr val="c55a11"/>
                </a:solidFill>
                <a:latin typeface="Consolas"/>
                <a:ea typeface="DejaVu Sans"/>
              </a:rPr>
              <a:t>&gt;</a:t>
            </a:r>
            <a:r>
              <a:rPr b="0" i="1" lang="en-US" sz="1600" spc="-7" strike="noStrike">
                <a:solidFill>
                  <a:srgbClr val="c55a11"/>
                </a:solidFill>
                <a:latin typeface="Consolas"/>
                <a:ea typeface="DejaVu Sans"/>
              </a:rPr>
              <a:t> </a:t>
            </a:r>
            <a:r>
              <a:rPr b="0" i="1" lang="en-US" sz="1600" spc="-1" strike="noStrike">
                <a:solidFill>
                  <a:srgbClr val="c55a11"/>
                </a:solidFill>
                <a:latin typeface="Consolas"/>
                <a:ea typeface="DejaVu Sans"/>
              </a:rPr>
              <a:t>3</a:t>
            </a:r>
            <a:r>
              <a:rPr b="0" i="1" lang="en-US" sz="1600" spc="-15" strike="noStrike">
                <a:solidFill>
                  <a:srgbClr val="c55a11"/>
                </a:solidFill>
                <a:latin typeface="Consolas"/>
                <a:ea typeface="DejaVu Sans"/>
              </a:rPr>
              <a:t> </a:t>
            </a:r>
            <a:r>
              <a:rPr b="0" i="1" lang="en-US" sz="1600" spc="-7" strike="noStrike">
                <a:solidFill>
                  <a:srgbClr val="c55a11"/>
                </a:solidFill>
                <a:latin typeface="Consolas"/>
                <a:ea typeface="DejaVu Sans"/>
              </a:rPr>
              <a:t>AND LogonFailure.User</a:t>
            </a:r>
            <a:r>
              <a:rPr b="0" i="1" lang="en-US" sz="1600" spc="-12" strike="noStrike">
                <a:solidFill>
                  <a:srgbClr val="c55a11"/>
                </a:solidFill>
                <a:latin typeface="Consolas"/>
                <a:ea typeface="DejaVu Sans"/>
              </a:rPr>
              <a:t> </a:t>
            </a:r>
            <a:r>
              <a:rPr b="0" i="1" lang="en-US" sz="1600" spc="-7" strike="noStrike">
                <a:solidFill>
                  <a:srgbClr val="c55a11"/>
                </a:solidFill>
                <a:latin typeface="Consolas"/>
                <a:ea typeface="DejaVu Sans"/>
              </a:rPr>
              <a:t>AND</a:t>
            </a:r>
            <a:r>
              <a:rPr b="0" i="1" lang="en-US" sz="1600" spc="-15" strike="noStrike">
                <a:solidFill>
                  <a:srgbClr val="c55a11"/>
                </a:solidFill>
                <a:latin typeface="Consolas"/>
                <a:ea typeface="DejaVu Sans"/>
              </a:rPr>
              <a:t> </a:t>
            </a:r>
            <a:r>
              <a:rPr b="0" i="1" lang="en-US" sz="1600" spc="-7" strike="noStrike">
                <a:solidFill>
                  <a:srgbClr val="c55a11"/>
                </a:solidFill>
                <a:latin typeface="Consolas"/>
                <a:ea typeface="DejaVu Sans"/>
              </a:rPr>
              <a:t>Duration </a:t>
            </a:r>
            <a:r>
              <a:rPr b="0" i="1" lang="en-US" sz="1600" spc="-1" strike="noStrike">
                <a:solidFill>
                  <a:srgbClr val="c55a11"/>
                </a:solidFill>
                <a:latin typeface="Consolas"/>
                <a:ea typeface="DejaVu Sans"/>
              </a:rPr>
              <a:t>&lt;</a:t>
            </a:r>
            <a:r>
              <a:rPr b="0" i="1" lang="en-US" sz="1600" spc="-15" strike="noStrike">
                <a:solidFill>
                  <a:srgbClr val="c55a11"/>
                </a:solidFill>
                <a:latin typeface="Consolas"/>
                <a:ea typeface="DejaVu Sans"/>
              </a:rPr>
              <a:t> </a:t>
            </a:r>
            <a:r>
              <a:rPr b="0" i="1" lang="en-US" sz="1600" spc="-1" strike="noStrike">
                <a:solidFill>
                  <a:srgbClr val="c55a11"/>
                </a:solidFill>
                <a:latin typeface="Consolas"/>
                <a:ea typeface="DejaVu Sans"/>
              </a:rPr>
              <a:t>1</a:t>
            </a:r>
            <a:r>
              <a:rPr b="0" i="1" lang="en-US" sz="1600" spc="-7" strike="noStrike">
                <a:solidFill>
                  <a:srgbClr val="c55a11"/>
                </a:solidFill>
                <a:latin typeface="Consolas"/>
                <a:ea typeface="DejaVu Sans"/>
              </a:rPr>
              <a:t> hour</a:t>
            </a:r>
            <a:endParaRPr b="0" lang="en-US" sz="1600" spc="-1" strike="noStrike">
              <a:latin typeface="Arial"/>
            </a:endParaRPr>
          </a:p>
          <a:p>
            <a:pPr marL="844560">
              <a:lnSpc>
                <a:spcPct val="100000"/>
              </a:lnSpc>
              <a:spcBef>
                <a:spcPts val="45"/>
              </a:spcBef>
              <a:buNone/>
              <a:tabLst>
                <a:tab algn="l" pos="699120"/>
              </a:tabLst>
            </a:pPr>
            <a:endParaRPr b="0" lang="en-US" sz="2250" spc="-1" strike="noStrike">
              <a:latin typeface="Arial"/>
            </a:endParaRPr>
          </a:p>
          <a:p>
            <a:pPr lvl="1" marL="698400" indent="-229320">
              <a:lnSpc>
                <a:spcPts val="2279"/>
              </a:lnSpc>
              <a:buClr>
                <a:srgbClr val="000000"/>
              </a:buClr>
              <a:buFont typeface="Wingdings" charset="2"/>
              <a:buChar char=""/>
              <a:tabLst>
                <a:tab algn="l" pos="69912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As </a:t>
            </a:r>
            <a:r>
              <a:rPr b="0" lang="en-US" sz="1800" spc="-7" strike="noStrike">
                <a:solidFill>
                  <a:srgbClr val="000000"/>
                </a:solidFill>
                <a:latin typeface="Calibri"/>
                <a:ea typeface="DejaVu Sans"/>
              </a:rPr>
              <a:t>well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 as</a:t>
            </a:r>
            <a:r>
              <a:rPr b="0" lang="en-US" sz="1800" spc="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1800" spc="-12" strike="noStrike">
                <a:solidFill>
                  <a:srgbClr val="000000"/>
                </a:solidFill>
                <a:latin typeface="Calibri"/>
                <a:ea typeface="DejaVu Sans"/>
              </a:rPr>
              <a:t>correlation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1800" spc="-7" strike="noStrike">
                <a:solidFill>
                  <a:srgbClr val="000000"/>
                </a:solidFill>
                <a:latin typeface="Calibri"/>
                <a:ea typeface="DejaVu Sans"/>
              </a:rPr>
              <a:t>between </a:t>
            </a:r>
            <a:r>
              <a:rPr b="0" lang="en-US" sz="1800" spc="-12" strike="noStrike">
                <a:solidFill>
                  <a:srgbClr val="000000"/>
                </a:solidFill>
                <a:latin typeface="Calibri"/>
                <a:ea typeface="DejaVu Sans"/>
              </a:rPr>
              <a:t>indicators</a:t>
            </a:r>
            <a:r>
              <a:rPr b="0" lang="en-US" sz="1800" spc="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1800" spc="-7" strike="noStrike">
                <a:solidFill>
                  <a:srgbClr val="000000"/>
                </a:solidFill>
                <a:latin typeface="Calibri"/>
                <a:ea typeface="DejaVu Sans"/>
              </a:rPr>
              <a:t>observed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 on</a:t>
            </a:r>
            <a:r>
              <a:rPr b="0" lang="en-US" sz="18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the </a:t>
            </a:r>
            <a:r>
              <a:rPr b="0" lang="en-US" sz="1800" spc="-12" strike="noStrike">
                <a:solidFill>
                  <a:srgbClr val="000000"/>
                </a:solidFill>
                <a:latin typeface="Calibri"/>
                <a:ea typeface="DejaVu Sans"/>
              </a:rPr>
              <a:t>network,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 a</a:t>
            </a:r>
            <a:r>
              <a:rPr b="0" lang="en-US" sz="18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1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SIEM</a:t>
            </a:r>
            <a:r>
              <a:rPr b="1" lang="en-US" sz="18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is </a:t>
            </a:r>
            <a:r>
              <a:rPr b="0" lang="en-US" sz="1800" spc="-15" strike="noStrike">
                <a:solidFill>
                  <a:srgbClr val="000000"/>
                </a:solidFill>
                <a:latin typeface="Calibri"/>
                <a:ea typeface="DejaVu Sans"/>
              </a:rPr>
              <a:t>likely</a:t>
            </a:r>
            <a:r>
              <a:rPr b="0" lang="en-US" sz="1800" spc="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1800" spc="-12" strike="noStrike">
                <a:solidFill>
                  <a:srgbClr val="000000"/>
                </a:solidFill>
                <a:latin typeface="Calibri"/>
                <a:ea typeface="DejaVu Sans"/>
              </a:rPr>
              <a:t>to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1800" spc="-7" strike="noStrike">
                <a:solidFill>
                  <a:srgbClr val="000000"/>
                </a:solidFill>
                <a:latin typeface="Calibri"/>
                <a:ea typeface="DejaVu Sans"/>
              </a:rPr>
              <a:t>be</a:t>
            </a:r>
            <a:endParaRPr b="0" lang="en-US" sz="1800" spc="-1" strike="noStrike">
              <a:latin typeface="Arial"/>
            </a:endParaRPr>
          </a:p>
          <a:p>
            <a:pPr marL="698400">
              <a:lnSpc>
                <a:spcPts val="2279"/>
              </a:lnSpc>
              <a:buNone/>
              <a:tabLst>
                <a:tab algn="l" pos="699120"/>
              </a:tabLst>
            </a:pPr>
            <a:r>
              <a:rPr b="0" lang="en-US" sz="1800" spc="-12" strike="noStrike">
                <a:solidFill>
                  <a:srgbClr val="000000"/>
                </a:solidFill>
                <a:latin typeface="Calibri"/>
                <a:ea typeface="DejaVu Sans"/>
              </a:rPr>
              <a:t>configured</a:t>
            </a:r>
            <a:r>
              <a:rPr b="0" lang="en-US" sz="1800" spc="-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1800" spc="-7" strike="noStrike">
                <a:solidFill>
                  <a:srgbClr val="000000"/>
                </a:solidFill>
                <a:latin typeface="Calibri"/>
                <a:ea typeface="DejaVu Sans"/>
              </a:rPr>
              <a:t>with</a:t>
            </a:r>
            <a:r>
              <a:rPr b="0" lang="en-US" sz="1800" spc="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a </a:t>
            </a:r>
            <a:r>
              <a:rPr b="0" lang="en-US" sz="1800" spc="-12" strike="noStrike">
                <a:solidFill>
                  <a:srgbClr val="000000"/>
                </a:solidFill>
                <a:latin typeface="Calibri"/>
                <a:ea typeface="DejaVu Sans"/>
              </a:rPr>
              <a:t>threat</a:t>
            </a:r>
            <a:r>
              <a:rPr b="0" lang="en-US" sz="18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1800" spc="-12" strike="noStrike">
                <a:solidFill>
                  <a:srgbClr val="000000"/>
                </a:solidFill>
                <a:latin typeface="Calibri"/>
                <a:ea typeface="DejaVu Sans"/>
              </a:rPr>
              <a:t>intelligence</a:t>
            </a:r>
            <a:r>
              <a:rPr b="0" lang="en-US" sz="1800" spc="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1800" spc="-12" strike="noStrike">
                <a:solidFill>
                  <a:srgbClr val="000000"/>
                </a:solidFill>
                <a:latin typeface="Calibri"/>
                <a:ea typeface="DejaVu Sans"/>
              </a:rPr>
              <a:t>feed.</a:t>
            </a:r>
            <a:endParaRPr b="0" lang="en-US" sz="1800" spc="-1" strike="noStrike">
              <a:latin typeface="Arial"/>
            </a:endParaRPr>
          </a:p>
          <a:p>
            <a:pPr lvl="1" marL="698400" indent="-228600">
              <a:lnSpc>
                <a:spcPts val="2160"/>
              </a:lnSpc>
              <a:spcBef>
                <a:spcPts val="536"/>
              </a:spcBef>
              <a:buClr>
                <a:srgbClr val="000000"/>
              </a:buClr>
              <a:buFont typeface="Wingdings" charset="2"/>
              <a:buChar char=""/>
              <a:tabLst>
                <a:tab algn="l" pos="699120"/>
              </a:tabLst>
            </a:pPr>
            <a:r>
              <a:rPr b="0" lang="en-US" sz="1800" spc="-7" strike="noStrike">
                <a:solidFill>
                  <a:srgbClr val="000000"/>
                </a:solidFill>
                <a:latin typeface="Calibri"/>
                <a:ea typeface="DejaVu Sans"/>
              </a:rPr>
              <a:t>This</a:t>
            </a:r>
            <a:r>
              <a:rPr b="0" lang="en-US" sz="18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means</a:t>
            </a:r>
            <a:r>
              <a:rPr b="0" lang="en-US" sz="18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1800" spc="-7" strike="noStrike">
                <a:solidFill>
                  <a:srgbClr val="000000"/>
                </a:solidFill>
                <a:latin typeface="Calibri"/>
                <a:ea typeface="DejaVu Sans"/>
              </a:rPr>
              <a:t>that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1800" spc="-12" strike="noStrike">
                <a:solidFill>
                  <a:srgbClr val="000000"/>
                </a:solidFill>
                <a:latin typeface="Calibri"/>
                <a:ea typeface="DejaVu Sans"/>
              </a:rPr>
              <a:t>data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1800" spc="-7" strike="noStrike">
                <a:solidFill>
                  <a:srgbClr val="000000"/>
                </a:solidFill>
                <a:latin typeface="Calibri"/>
                <a:ea typeface="DejaVu Sans"/>
              </a:rPr>
              <a:t>points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1800" spc="-7" strike="noStrike">
                <a:solidFill>
                  <a:srgbClr val="000000"/>
                </a:solidFill>
                <a:latin typeface="Calibri"/>
                <a:ea typeface="DejaVu Sans"/>
              </a:rPr>
              <a:t>observed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1800" spc="-7" strike="noStrike">
                <a:solidFill>
                  <a:srgbClr val="000000"/>
                </a:solidFill>
                <a:latin typeface="Calibri"/>
                <a:ea typeface="DejaVu Sans"/>
              </a:rPr>
              <a:t>on</a:t>
            </a:r>
            <a:r>
              <a:rPr b="0" lang="en-US" sz="18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the </a:t>
            </a:r>
            <a:r>
              <a:rPr b="0" lang="en-US" sz="1800" spc="-12" strike="noStrike">
                <a:solidFill>
                  <a:srgbClr val="000000"/>
                </a:solidFill>
                <a:latin typeface="Calibri"/>
                <a:ea typeface="DejaVu Sans"/>
              </a:rPr>
              <a:t>network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1800" spc="-7" strike="noStrike">
                <a:solidFill>
                  <a:srgbClr val="000000"/>
                </a:solidFill>
                <a:latin typeface="Calibri"/>
                <a:ea typeface="DejaVu Sans"/>
              </a:rPr>
              <a:t>can</a:t>
            </a:r>
            <a:r>
              <a:rPr b="0" lang="en-US" sz="18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1800" spc="-7" strike="noStrike">
                <a:solidFill>
                  <a:srgbClr val="000000"/>
                </a:solidFill>
                <a:latin typeface="Calibri"/>
                <a:ea typeface="DejaVu Sans"/>
              </a:rPr>
              <a:t>be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1800" spc="-7" strike="noStrike">
                <a:solidFill>
                  <a:srgbClr val="000000"/>
                </a:solidFill>
                <a:latin typeface="Calibri"/>
                <a:ea typeface="DejaVu Sans"/>
              </a:rPr>
              <a:t>associated</a:t>
            </a:r>
            <a:r>
              <a:rPr b="0" lang="en-US" sz="1800" spc="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1800" spc="-7" strike="noStrike">
                <a:solidFill>
                  <a:srgbClr val="000000"/>
                </a:solidFill>
                <a:latin typeface="Calibri"/>
                <a:ea typeface="DejaVu Sans"/>
              </a:rPr>
              <a:t>with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 known</a:t>
            </a:r>
            <a:r>
              <a:rPr b="0" lang="en-US" sz="18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1800" spc="-12" strike="noStrike">
                <a:solidFill>
                  <a:srgbClr val="000000"/>
                </a:solidFill>
                <a:latin typeface="Calibri"/>
                <a:ea typeface="DejaVu Sans"/>
              </a:rPr>
              <a:t>threat </a:t>
            </a:r>
            <a:r>
              <a:rPr b="0" lang="en-US" sz="1800" spc="-43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1800" spc="-7" strike="noStrike">
                <a:solidFill>
                  <a:srgbClr val="000000"/>
                </a:solidFill>
                <a:latin typeface="Calibri"/>
                <a:ea typeface="DejaVu Sans"/>
              </a:rPr>
              <a:t>actor </a:t>
            </a:r>
            <a:r>
              <a:rPr b="0" lang="en-US" sz="1800" spc="-12" strike="noStrike">
                <a:solidFill>
                  <a:srgbClr val="000000"/>
                </a:solidFill>
                <a:latin typeface="Calibri"/>
                <a:ea typeface="DejaVu Sans"/>
              </a:rPr>
              <a:t>indicators,</a:t>
            </a:r>
            <a:r>
              <a:rPr b="0" lang="en-US" sz="1800" spc="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1800" spc="-7" strike="noStrike">
                <a:solidFill>
                  <a:srgbClr val="000000"/>
                </a:solidFill>
                <a:latin typeface="Calibri"/>
                <a:ea typeface="DejaVu Sans"/>
              </a:rPr>
              <a:t>such 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as IP </a:t>
            </a:r>
            <a:r>
              <a:rPr b="0" lang="en-US" sz="1800" spc="-7" strike="noStrike">
                <a:solidFill>
                  <a:srgbClr val="000000"/>
                </a:solidFill>
                <a:latin typeface="Calibri"/>
                <a:ea typeface="DejaVu Sans"/>
              </a:rPr>
              <a:t>addresses</a:t>
            </a:r>
            <a:r>
              <a:rPr b="0" lang="en-US" sz="1800" spc="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and</a:t>
            </a:r>
            <a:r>
              <a:rPr b="0" lang="en-US" sz="1800" spc="-7" strike="noStrike">
                <a:solidFill>
                  <a:srgbClr val="000000"/>
                </a:solidFill>
                <a:latin typeface="Calibri"/>
                <a:ea typeface="DejaVu Sans"/>
              </a:rPr>
              <a:t> domain names.</a:t>
            </a:r>
            <a:endParaRPr b="0" lang="en-US" sz="1800" spc="-1" strike="noStrike">
              <a:latin typeface="Arial"/>
            </a:endParaRPr>
          </a:p>
          <a:p>
            <a:pPr lvl="1" marL="698400" indent="-229320">
              <a:lnSpc>
                <a:spcPts val="2279"/>
              </a:lnSpc>
              <a:spcBef>
                <a:spcPts val="221"/>
              </a:spcBef>
              <a:buClr>
                <a:srgbClr val="000000"/>
              </a:buClr>
              <a:buFont typeface="Wingdings" charset="2"/>
              <a:buChar char=""/>
              <a:tabLst>
                <a:tab algn="l" pos="699120"/>
              </a:tabLst>
            </a:pPr>
            <a:r>
              <a:rPr b="0" lang="en-US" sz="1800" spc="-12" strike="noStrike">
                <a:solidFill>
                  <a:srgbClr val="000000"/>
                </a:solidFill>
                <a:latin typeface="Calibri"/>
                <a:ea typeface="DejaVu Sans"/>
              </a:rPr>
              <a:t>AI-assisted</a:t>
            </a:r>
            <a:r>
              <a:rPr b="0" lang="en-US" sz="1800" spc="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1800" spc="-7" strike="noStrike">
                <a:solidFill>
                  <a:srgbClr val="000000"/>
                </a:solidFill>
                <a:latin typeface="Calibri"/>
                <a:ea typeface="DejaVu Sans"/>
              </a:rPr>
              <a:t>analysis</a:t>
            </a:r>
            <a:r>
              <a:rPr b="0" lang="en-US" sz="1800" spc="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enables</a:t>
            </a:r>
            <a:r>
              <a:rPr b="0" lang="en-US" sz="1800" spc="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1800" spc="-12" strike="noStrike">
                <a:solidFill>
                  <a:srgbClr val="000000"/>
                </a:solidFill>
                <a:latin typeface="Calibri"/>
                <a:ea typeface="DejaVu Sans"/>
              </a:rPr>
              <a:t>more</a:t>
            </a:r>
            <a:r>
              <a:rPr b="0" lang="en-US" sz="18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1800" spc="-12" strike="noStrike">
                <a:solidFill>
                  <a:srgbClr val="000000"/>
                </a:solidFill>
                <a:latin typeface="Calibri"/>
                <a:ea typeface="DejaVu Sans"/>
              </a:rPr>
              <a:t>sophisticated</a:t>
            </a:r>
            <a:r>
              <a:rPr b="0" lang="en-US" sz="1800" spc="18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1800" spc="-7" strike="noStrike">
                <a:solidFill>
                  <a:srgbClr val="000000"/>
                </a:solidFill>
                <a:latin typeface="Calibri"/>
                <a:ea typeface="DejaVu Sans"/>
              </a:rPr>
              <a:t>alerting</a:t>
            </a:r>
            <a:r>
              <a:rPr b="0" lang="en-US" sz="18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and </a:t>
            </a:r>
            <a:r>
              <a:rPr b="0" lang="en-US" sz="1800" spc="-7" strike="noStrike">
                <a:solidFill>
                  <a:srgbClr val="000000"/>
                </a:solidFill>
                <a:latin typeface="Calibri"/>
                <a:ea typeface="DejaVu Sans"/>
              </a:rPr>
              <a:t>detection</a:t>
            </a:r>
            <a:r>
              <a:rPr b="0" lang="en-US" sz="18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1800" spc="-7" strike="noStrike">
                <a:solidFill>
                  <a:srgbClr val="000000"/>
                </a:solidFill>
                <a:latin typeface="Calibri"/>
                <a:ea typeface="DejaVu Sans"/>
              </a:rPr>
              <a:t>of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1800" spc="-7" strike="noStrike">
                <a:solidFill>
                  <a:srgbClr val="000000"/>
                </a:solidFill>
                <a:latin typeface="Calibri"/>
                <a:ea typeface="DejaVu Sans"/>
              </a:rPr>
              <a:t>anomalous</a:t>
            </a:r>
            <a:endParaRPr b="0" lang="en-US" sz="1800" spc="-1" strike="noStrike">
              <a:latin typeface="Arial"/>
            </a:endParaRPr>
          </a:p>
          <a:p>
            <a:pPr marL="698400">
              <a:lnSpc>
                <a:spcPts val="2279"/>
              </a:lnSpc>
              <a:buNone/>
              <a:tabLst>
                <a:tab algn="l" pos="699120"/>
              </a:tabLst>
            </a:pPr>
            <a:r>
              <a:rPr b="0" lang="en-US" sz="1800" spc="-32" strike="noStrike">
                <a:solidFill>
                  <a:srgbClr val="000000"/>
                </a:solidFill>
                <a:latin typeface="Calibri"/>
                <a:ea typeface="DejaVu Sans"/>
              </a:rPr>
              <a:t>behavior.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93" name="object 4"/>
          <p:cNvSpPr/>
          <p:nvPr/>
        </p:nvSpPr>
        <p:spPr>
          <a:xfrm>
            <a:off x="838080" y="6400800"/>
            <a:ext cx="10514520" cy="227520"/>
          </a:xfrm>
          <a:custGeom>
            <a:avLst/>
            <a:gdLst/>
            <a:ahLst/>
            <a:rect l="l" t="t" r="r" b="b"/>
            <a:pathLst>
              <a:path w="10515600" h="228600">
                <a:moveTo>
                  <a:pt x="10515600" y="0"/>
                </a:moveTo>
                <a:lnTo>
                  <a:pt x="0" y="0"/>
                </a:lnTo>
                <a:lnTo>
                  <a:pt x="0" y="228600"/>
                </a:lnTo>
                <a:lnTo>
                  <a:pt x="10515600" y="228600"/>
                </a:lnTo>
                <a:lnTo>
                  <a:pt x="10515600" y="0"/>
                </a:lnTo>
                <a:close/>
              </a:path>
            </a:pathLst>
          </a:custGeom>
          <a:solidFill>
            <a:srgbClr val="c00000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94" name="PlaceHolder 2"/>
          <p:cNvSpPr>
            <a:spLocks noGrp="1"/>
          </p:cNvSpPr>
          <p:nvPr>
            <p:ph type="ftr" idx="58"/>
          </p:nvPr>
        </p:nvSpPr>
        <p:spPr>
          <a:xfrm>
            <a:off x="916920" y="6451560"/>
            <a:ext cx="102240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Security+</a:t>
            </a:r>
            <a:r>
              <a:rPr b="0" lang="en-US" sz="1000" spc="-46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(SY0-601)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195" name="PlaceHolder 3"/>
          <p:cNvSpPr>
            <a:spLocks noGrp="1"/>
          </p:cNvSpPr>
          <p:nvPr>
            <p:ph type="dt" idx="59"/>
          </p:nvPr>
        </p:nvSpPr>
        <p:spPr>
          <a:xfrm>
            <a:off x="5492520" y="6451560"/>
            <a:ext cx="112212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©</a:t>
            </a:r>
            <a:r>
              <a:rPr b="0" lang="en-US" sz="1000" spc="-41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netriders.academy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196" name="PlaceHolder 4"/>
          <p:cNvSpPr>
            <a:spLocks noGrp="1"/>
          </p:cNvSpPr>
          <p:nvPr>
            <p:ph type="sldNum" idx="60"/>
          </p:nvPr>
        </p:nvSpPr>
        <p:spPr>
          <a:xfrm>
            <a:off x="11098440" y="6451200"/>
            <a:ext cx="20340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3816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38160">
              <a:lnSpc>
                <a:spcPts val="1046"/>
              </a:lnSpc>
              <a:buNone/>
            </a:pPr>
            <a:fld id="{8C6118D4-FFB4-4CBC-86F9-65D680CE479A}" type="slidenum">
              <a:rPr b="0" lang="en-US" sz="1000" spc="-7" strike="noStrike">
                <a:solidFill>
                  <a:srgbClr val="ffffff"/>
                </a:solidFill>
                <a:latin typeface="Calibri"/>
              </a:rPr>
              <a:t>&lt;number&gt;</a:t>
            </a:fld>
            <a:endParaRPr b="0" lang="en-US" sz="10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PlaceHolder 1"/>
          <p:cNvSpPr>
            <a:spLocks noGrp="1"/>
          </p:cNvSpPr>
          <p:nvPr>
            <p:ph type="title"/>
          </p:nvPr>
        </p:nvSpPr>
        <p:spPr>
          <a:xfrm>
            <a:off x="916920" y="684720"/>
            <a:ext cx="5711760" cy="68616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>
              <a:lnSpc>
                <a:spcPct val="100000"/>
              </a:lnSpc>
              <a:spcBef>
                <a:spcPts val="99"/>
              </a:spcBef>
              <a:buNone/>
            </a:pPr>
            <a:r>
              <a:rPr b="0" lang="en-US" sz="3600" spc="-15" strike="noStrike">
                <a:solidFill>
                  <a:srgbClr val="c00000"/>
                </a:solidFill>
                <a:latin typeface="Calibri Light"/>
              </a:rPr>
              <a:t>SIEM </a:t>
            </a:r>
            <a:r>
              <a:rPr b="0" lang="en-US" sz="3600" spc="-41" strike="noStrike">
                <a:solidFill>
                  <a:srgbClr val="c00000"/>
                </a:solidFill>
                <a:latin typeface="Calibri Light"/>
              </a:rPr>
              <a:t>DASHBOARDS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198" name="object 3"/>
          <p:cNvSpPr/>
          <p:nvPr/>
        </p:nvSpPr>
        <p:spPr>
          <a:xfrm>
            <a:off x="880920" y="1459080"/>
            <a:ext cx="10120320" cy="434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04040" bIns="0" anchor="t">
            <a:spAutoFit/>
          </a:bodyPr>
          <a:p>
            <a:pPr marL="241200" indent="-229320">
              <a:lnSpc>
                <a:spcPct val="100000"/>
              </a:lnSpc>
              <a:spcBef>
                <a:spcPts val="819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1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SIEM</a:t>
            </a:r>
            <a:r>
              <a:rPr b="1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dashboards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are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one of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the main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sources</a:t>
            </a:r>
            <a:r>
              <a:rPr b="0" lang="en-US" sz="2400" spc="-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of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automated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alerts.</a:t>
            </a:r>
            <a:endParaRPr b="0" lang="en-US" sz="2400" spc="-1" strike="noStrike">
              <a:latin typeface="Arial"/>
            </a:endParaRPr>
          </a:p>
          <a:p>
            <a:pPr marL="241200" indent="-229320">
              <a:lnSpc>
                <a:spcPts val="2591"/>
              </a:lnSpc>
              <a:spcBef>
                <a:spcPts val="1046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SIEM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dashboard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provides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a</a:t>
            </a:r>
            <a:r>
              <a:rPr b="0" lang="en-US" sz="2400" spc="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console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to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work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from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for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day-to-day</a:t>
            </a:r>
            <a:r>
              <a:rPr b="0" lang="en-US" sz="2400" spc="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incident </a:t>
            </a:r>
            <a:r>
              <a:rPr b="0" lang="en-US" sz="2400" spc="-52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response.</a:t>
            </a:r>
            <a:endParaRPr b="0" lang="en-US" sz="2400" spc="-1" strike="noStrike">
              <a:latin typeface="Arial"/>
            </a:endParaRPr>
          </a:p>
          <a:p>
            <a:pPr marL="241200" indent="-229320">
              <a:lnSpc>
                <a:spcPct val="100000"/>
              </a:lnSpc>
              <a:spcBef>
                <a:spcPts val="675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Separate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dashboards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can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be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created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to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suit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many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different</a:t>
            </a:r>
            <a:r>
              <a:rPr b="0" lang="en-US" sz="2400" spc="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purposes.</a:t>
            </a:r>
            <a:endParaRPr b="0" lang="en-US" sz="2400" spc="-1" strike="noStrike">
              <a:latin typeface="Arial"/>
            </a:endParaRPr>
          </a:p>
          <a:p>
            <a:pPr marL="241200" indent="-229320">
              <a:lnSpc>
                <a:spcPts val="2591"/>
              </a:lnSpc>
              <a:spcBef>
                <a:spcPts val="1035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An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incident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handler's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dashboard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will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contain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uncategorized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events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that 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have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been assigned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to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their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account,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plus visualizations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(graphs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and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tables) showing </a:t>
            </a:r>
            <a:r>
              <a:rPr b="0" lang="en-US" sz="2400" spc="-53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32" strike="noStrike">
                <a:solidFill>
                  <a:srgbClr val="000000"/>
                </a:solidFill>
                <a:latin typeface="Calibri"/>
                <a:ea typeface="DejaVu Sans"/>
              </a:rPr>
              <a:t>key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status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metrics.</a:t>
            </a:r>
            <a:endParaRPr b="0" lang="en-US" sz="2400" spc="-1" strike="noStrike">
              <a:latin typeface="Arial"/>
            </a:endParaRPr>
          </a:p>
          <a:p>
            <a:pPr marL="241200" indent="-229320">
              <a:lnSpc>
                <a:spcPts val="2591"/>
              </a:lnSpc>
              <a:spcBef>
                <a:spcPts val="1020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manager's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dashboard</a:t>
            </a:r>
            <a:r>
              <a:rPr b="0" lang="en-US" sz="2400" spc="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would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show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overall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status indicators,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such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as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number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of </a:t>
            </a:r>
            <a:r>
              <a:rPr b="0" lang="en-US" sz="2400" spc="-52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unclassified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events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for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all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event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handlers.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199" name="object 4"/>
          <p:cNvSpPr/>
          <p:nvPr/>
        </p:nvSpPr>
        <p:spPr>
          <a:xfrm>
            <a:off x="838080" y="6400800"/>
            <a:ext cx="10514520" cy="227520"/>
          </a:xfrm>
          <a:custGeom>
            <a:avLst/>
            <a:gdLst/>
            <a:ahLst/>
            <a:rect l="l" t="t" r="r" b="b"/>
            <a:pathLst>
              <a:path w="10515600" h="228600">
                <a:moveTo>
                  <a:pt x="10515600" y="0"/>
                </a:moveTo>
                <a:lnTo>
                  <a:pt x="0" y="0"/>
                </a:lnTo>
                <a:lnTo>
                  <a:pt x="0" y="228600"/>
                </a:lnTo>
                <a:lnTo>
                  <a:pt x="10515600" y="228600"/>
                </a:lnTo>
                <a:lnTo>
                  <a:pt x="10515600" y="0"/>
                </a:lnTo>
                <a:close/>
              </a:path>
            </a:pathLst>
          </a:custGeom>
          <a:solidFill>
            <a:srgbClr val="c00000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00" name="PlaceHolder 2"/>
          <p:cNvSpPr>
            <a:spLocks noGrp="1"/>
          </p:cNvSpPr>
          <p:nvPr>
            <p:ph type="ftr" idx="61"/>
          </p:nvPr>
        </p:nvSpPr>
        <p:spPr>
          <a:xfrm>
            <a:off x="916920" y="6451560"/>
            <a:ext cx="102240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Security+</a:t>
            </a:r>
            <a:r>
              <a:rPr b="0" lang="en-US" sz="1000" spc="-46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(SY0-601)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201" name="PlaceHolder 3"/>
          <p:cNvSpPr>
            <a:spLocks noGrp="1"/>
          </p:cNvSpPr>
          <p:nvPr>
            <p:ph type="dt" idx="62"/>
          </p:nvPr>
        </p:nvSpPr>
        <p:spPr>
          <a:xfrm>
            <a:off x="5492520" y="6451560"/>
            <a:ext cx="112212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©</a:t>
            </a:r>
            <a:r>
              <a:rPr b="0" lang="en-US" sz="1000" spc="-41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netriders.academy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202" name="PlaceHolder 4"/>
          <p:cNvSpPr>
            <a:spLocks noGrp="1"/>
          </p:cNvSpPr>
          <p:nvPr>
            <p:ph type="sldNum" idx="63"/>
          </p:nvPr>
        </p:nvSpPr>
        <p:spPr>
          <a:xfrm>
            <a:off x="11098440" y="6451200"/>
            <a:ext cx="20340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3816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38160">
              <a:lnSpc>
                <a:spcPts val="1046"/>
              </a:lnSpc>
              <a:buNone/>
            </a:pPr>
            <a:fld id="{079C68D9-27F9-4353-B841-9F96D9008C7E}" type="slidenum">
              <a:rPr b="0" lang="en-US" sz="1000" spc="-7" strike="noStrike">
                <a:solidFill>
                  <a:srgbClr val="ffffff"/>
                </a:solidFill>
                <a:latin typeface="Calibri"/>
              </a:rPr>
              <a:t>&lt;number&gt;</a:t>
            </a:fld>
            <a:endParaRPr b="0" lang="en-US" sz="10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PlaceHolder 1"/>
          <p:cNvSpPr>
            <a:spLocks noGrp="1"/>
          </p:cNvSpPr>
          <p:nvPr>
            <p:ph type="title"/>
          </p:nvPr>
        </p:nvSpPr>
        <p:spPr>
          <a:xfrm>
            <a:off x="916920" y="684720"/>
            <a:ext cx="5254560" cy="115704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>
              <a:lnSpc>
                <a:spcPct val="100000"/>
              </a:lnSpc>
              <a:spcBef>
                <a:spcPts val="99"/>
              </a:spcBef>
              <a:buNone/>
            </a:pPr>
            <a:r>
              <a:rPr b="0" lang="en-US" sz="3600" spc="-97" strike="noStrike">
                <a:solidFill>
                  <a:srgbClr val="c00000"/>
                </a:solidFill>
                <a:latin typeface="Calibri Light"/>
              </a:rPr>
              <a:t>L</a:t>
            </a:r>
            <a:r>
              <a:rPr b="0" lang="en-US" sz="3600" spc="-41" strike="noStrike">
                <a:solidFill>
                  <a:srgbClr val="c00000"/>
                </a:solidFill>
                <a:latin typeface="Calibri Light"/>
              </a:rPr>
              <a:t>OG</a:t>
            </a:r>
            <a:r>
              <a:rPr b="0" lang="en-US" sz="3600" spc="-52" strike="noStrike">
                <a:solidFill>
                  <a:srgbClr val="c00000"/>
                </a:solidFill>
                <a:latin typeface="Calibri Light"/>
              </a:rPr>
              <a:t>G</a:t>
            </a:r>
            <a:r>
              <a:rPr b="0" lang="en-US" sz="3600" spc="-15" strike="noStrike">
                <a:solidFill>
                  <a:srgbClr val="c00000"/>
                </a:solidFill>
                <a:latin typeface="Calibri Light"/>
              </a:rPr>
              <a:t>I</a:t>
            </a:r>
            <a:r>
              <a:rPr b="0" lang="en-US" sz="3600" spc="-55" strike="noStrike">
                <a:solidFill>
                  <a:srgbClr val="c00000"/>
                </a:solidFill>
                <a:latin typeface="Calibri Light"/>
              </a:rPr>
              <a:t>N</a:t>
            </a:r>
            <a:r>
              <a:rPr b="0" lang="en-US" sz="3600" spc="-1" strike="noStrike">
                <a:solidFill>
                  <a:srgbClr val="c00000"/>
                </a:solidFill>
                <a:latin typeface="Calibri Light"/>
              </a:rPr>
              <a:t>G</a:t>
            </a:r>
            <a:r>
              <a:rPr b="0" lang="en-US" sz="3600" spc="-100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15" strike="noStrike">
                <a:solidFill>
                  <a:srgbClr val="c00000"/>
                </a:solidFill>
                <a:latin typeface="Calibri Light"/>
              </a:rPr>
              <a:t>P</a:t>
            </a:r>
            <a:r>
              <a:rPr b="0" lang="en-US" sz="3600" spc="-1" strike="noStrike">
                <a:solidFill>
                  <a:srgbClr val="c00000"/>
                </a:solidFill>
                <a:latin typeface="Calibri Light"/>
              </a:rPr>
              <a:t>L</a:t>
            </a:r>
            <a:r>
              <a:rPr b="0" lang="en-US" sz="3600" spc="-327" strike="noStrike">
                <a:solidFill>
                  <a:srgbClr val="c00000"/>
                </a:solidFill>
                <a:latin typeface="Calibri Light"/>
              </a:rPr>
              <a:t>A</a:t>
            </a:r>
            <a:r>
              <a:rPr b="0" lang="en-US" sz="3600" spc="-41" strike="noStrike">
                <a:solidFill>
                  <a:srgbClr val="c00000"/>
                </a:solidFill>
                <a:latin typeface="Calibri Light"/>
              </a:rPr>
              <a:t>T</a:t>
            </a:r>
            <a:r>
              <a:rPr b="0" lang="en-US" sz="3600" spc="-66" strike="noStrike">
                <a:solidFill>
                  <a:srgbClr val="c00000"/>
                </a:solidFill>
                <a:latin typeface="Calibri Light"/>
              </a:rPr>
              <a:t>F</a:t>
            </a:r>
            <a:r>
              <a:rPr b="0" lang="en-US" sz="3600" spc="-52" strike="noStrike">
                <a:solidFill>
                  <a:srgbClr val="c00000"/>
                </a:solidFill>
                <a:latin typeface="Calibri Light"/>
              </a:rPr>
              <a:t>O</a:t>
            </a:r>
            <a:r>
              <a:rPr b="0" lang="en-US" sz="3600" spc="-32" strike="noStrike">
                <a:solidFill>
                  <a:srgbClr val="c00000"/>
                </a:solidFill>
                <a:latin typeface="Calibri Light"/>
              </a:rPr>
              <a:t>R</a:t>
            </a:r>
            <a:r>
              <a:rPr b="0" lang="en-US" sz="3600" spc="-52" strike="noStrike">
                <a:solidFill>
                  <a:srgbClr val="c00000"/>
                </a:solidFill>
                <a:latin typeface="Calibri Light"/>
              </a:rPr>
              <a:t>M</a:t>
            </a:r>
            <a:r>
              <a:rPr b="0" lang="en-US" sz="3600" spc="-1" strike="noStrike">
                <a:solidFill>
                  <a:srgbClr val="c00000"/>
                </a:solidFill>
                <a:latin typeface="Calibri Light"/>
              </a:rPr>
              <a:t>S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204" name="object 3"/>
          <p:cNvSpPr/>
          <p:nvPr/>
        </p:nvSpPr>
        <p:spPr>
          <a:xfrm>
            <a:off x="916920" y="1478520"/>
            <a:ext cx="10141920" cy="454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54000" bIns="0" anchor="t">
            <a:spAutoFit/>
          </a:bodyPr>
          <a:p>
            <a:pPr marL="241200" indent="-229320">
              <a:lnSpc>
                <a:spcPts val="2591"/>
              </a:lnSpc>
              <a:spcBef>
                <a:spcPts val="425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Log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data from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network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appliances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and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hosts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can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be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aggregated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by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a</a:t>
            </a:r>
            <a:r>
              <a:rPr b="0" lang="en-US" sz="2400" spc="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1" lang="en-US" sz="2400" spc="-1" strike="noStrike">
                <a:solidFill>
                  <a:srgbClr val="ac172b"/>
                </a:solidFill>
                <a:latin typeface="Calibri"/>
                <a:ea typeface="DejaVu Sans"/>
              </a:rPr>
              <a:t>SIEM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either </a:t>
            </a:r>
            <a:r>
              <a:rPr b="0" lang="en-US" sz="2400" spc="-52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by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installing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local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agent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to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collect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and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parse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the log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data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or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by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using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 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forwarding</a:t>
            </a:r>
            <a:r>
              <a:rPr b="0" lang="en-US" sz="2400" spc="-26" strike="noStrike">
                <a:solidFill>
                  <a:srgbClr val="000000"/>
                </a:solidFill>
                <a:latin typeface="Calibri"/>
                <a:ea typeface="DejaVu Sans"/>
              </a:rPr>
              <a:t> system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to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transmit</a:t>
            </a:r>
            <a:r>
              <a:rPr b="0" lang="en-US" sz="2400" spc="-3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logs directly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to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the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SIEM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41" strike="noStrike">
                <a:solidFill>
                  <a:srgbClr val="000000"/>
                </a:solidFill>
                <a:latin typeface="Calibri"/>
                <a:ea typeface="DejaVu Sans"/>
              </a:rPr>
              <a:t>server.</a:t>
            </a:r>
            <a:endParaRPr b="0" lang="en-US" sz="2400" spc="-1" strike="noStrike">
              <a:latin typeface="Arial"/>
            </a:endParaRPr>
          </a:p>
          <a:p>
            <a:pPr marL="241200" indent="-229320">
              <a:lnSpc>
                <a:spcPts val="2591"/>
              </a:lnSpc>
              <a:spcBef>
                <a:spcPts val="1020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Also,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organizations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may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not 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operate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a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SIEM,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but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still</a:t>
            </a:r>
            <a:r>
              <a:rPr b="0" lang="en-US" sz="2400" spc="-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use</a:t>
            </a:r>
            <a:r>
              <a:rPr b="0" lang="en-US" sz="24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logging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platform to </a:t>
            </a:r>
            <a:r>
              <a:rPr b="0" lang="en-US" sz="2400" spc="-52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aggregate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log</a:t>
            </a:r>
            <a:r>
              <a:rPr b="0" lang="en-US" sz="2400" spc="-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data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in a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central</a:t>
            </a:r>
            <a:r>
              <a:rPr b="0" lang="en-US" sz="2400" spc="-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location.</a:t>
            </a:r>
            <a:endParaRPr b="0" lang="en-US" sz="2400" spc="-1" strike="noStrike">
              <a:latin typeface="Arial"/>
            </a:endParaRPr>
          </a:p>
          <a:p>
            <a:pPr marL="241200" indent="-229320">
              <a:lnSpc>
                <a:spcPct val="100000"/>
              </a:lnSpc>
              <a:spcBef>
                <a:spcPts val="669"/>
              </a:spcBef>
              <a:buClr>
                <a:srgbClr val="006fc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15" strike="noStrike">
                <a:solidFill>
                  <a:srgbClr val="006fc0"/>
                </a:solidFill>
                <a:latin typeface="Calibri"/>
                <a:ea typeface="DejaVu Sans"/>
              </a:rPr>
              <a:t>Syslog</a:t>
            </a:r>
            <a:endParaRPr b="0" lang="en-US" sz="2400" spc="-1" strike="noStrike">
              <a:latin typeface="Arial"/>
            </a:endParaRPr>
          </a:p>
          <a:p>
            <a:pPr lvl="1" marL="698400" indent="-229320">
              <a:lnSpc>
                <a:spcPct val="100000"/>
              </a:lnSpc>
              <a:spcBef>
                <a:spcPts val="281"/>
              </a:spcBef>
              <a:buClr>
                <a:srgbClr val="000000"/>
              </a:buClr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Syslog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provides</a:t>
            </a:r>
            <a:r>
              <a:rPr b="0" lang="en-US" sz="2000" spc="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an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open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format,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protocol,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and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server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software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for</a:t>
            </a:r>
            <a:r>
              <a:rPr b="0" lang="en-US" sz="20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logging</a:t>
            </a:r>
            <a:r>
              <a:rPr b="0" lang="en-US" sz="2000" spc="-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event</a:t>
            </a:r>
            <a:r>
              <a:rPr b="0" lang="en-US" sz="2000" spc="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messages.</a:t>
            </a:r>
            <a:endParaRPr b="0" lang="en-US" sz="2000" spc="-1" strike="noStrike">
              <a:latin typeface="Arial"/>
            </a:endParaRPr>
          </a:p>
          <a:p>
            <a:pPr lvl="1" marL="698400" indent="-229320">
              <a:lnSpc>
                <a:spcPct val="100000"/>
              </a:lnSpc>
              <a:spcBef>
                <a:spcPts val="264"/>
              </a:spcBef>
              <a:buClr>
                <a:srgbClr val="000000"/>
              </a:buClr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It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is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used by</a:t>
            </a:r>
            <a:r>
              <a:rPr b="0" lang="en-US" sz="2000" spc="-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very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wide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range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of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host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types.</a:t>
            </a:r>
            <a:endParaRPr b="0" lang="en-US" sz="2000" spc="-1" strike="noStrike">
              <a:latin typeface="Arial"/>
            </a:endParaRPr>
          </a:p>
          <a:p>
            <a:pPr lvl="1" marL="698400" indent="-228600">
              <a:lnSpc>
                <a:spcPts val="2160"/>
              </a:lnSpc>
              <a:spcBef>
                <a:spcPts val="536"/>
              </a:spcBef>
              <a:buClr>
                <a:srgbClr val="000000"/>
              </a:buClr>
              <a:buFont typeface="Wingdings" charset="2"/>
              <a:buChar char=""/>
              <a:tabLst>
                <a:tab algn="l" pos="699120"/>
              </a:tabLst>
            </a:pPr>
            <a:r>
              <a:rPr b="1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For</a:t>
            </a:r>
            <a:r>
              <a:rPr b="1" lang="en-US" sz="20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1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Example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,</a:t>
            </a:r>
            <a:r>
              <a:rPr b="0" lang="en-US" sz="2000" spc="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syslog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messages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can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be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generated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by</a:t>
            </a:r>
            <a:r>
              <a:rPr b="0" lang="en-US" sz="20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Cisco </a:t>
            </a:r>
            <a:r>
              <a:rPr b="0" lang="en-US" sz="2000" spc="-21" strike="noStrike">
                <a:solidFill>
                  <a:srgbClr val="000000"/>
                </a:solidFill>
                <a:latin typeface="Calibri"/>
                <a:ea typeface="DejaVu Sans"/>
              </a:rPr>
              <a:t>routers</a:t>
            </a:r>
            <a:r>
              <a:rPr b="0" lang="en-US" sz="2000" spc="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and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switches,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as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well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as </a:t>
            </a:r>
            <a:r>
              <a:rPr b="0" lang="en-US" sz="2000" spc="-440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servers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and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workstations.</a:t>
            </a:r>
            <a:endParaRPr b="0" lang="en-US" sz="2000" spc="-1" strike="noStrike">
              <a:latin typeface="Arial"/>
            </a:endParaRPr>
          </a:p>
          <a:p>
            <a:pPr lvl="1" marL="698400" indent="-229320">
              <a:lnSpc>
                <a:spcPct val="100000"/>
              </a:lnSpc>
              <a:spcBef>
                <a:spcPts val="224"/>
              </a:spcBef>
              <a:buClr>
                <a:srgbClr val="000000"/>
              </a:buClr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It</a:t>
            </a:r>
            <a:r>
              <a:rPr b="0" lang="en-US" sz="20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usually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uses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UDP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port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514.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205" name="object 4"/>
          <p:cNvSpPr/>
          <p:nvPr/>
        </p:nvSpPr>
        <p:spPr>
          <a:xfrm>
            <a:off x="838080" y="6400800"/>
            <a:ext cx="10514520" cy="227520"/>
          </a:xfrm>
          <a:custGeom>
            <a:avLst/>
            <a:gdLst/>
            <a:ahLst/>
            <a:rect l="l" t="t" r="r" b="b"/>
            <a:pathLst>
              <a:path w="10515600" h="228600">
                <a:moveTo>
                  <a:pt x="10515600" y="0"/>
                </a:moveTo>
                <a:lnTo>
                  <a:pt x="0" y="0"/>
                </a:lnTo>
                <a:lnTo>
                  <a:pt x="0" y="228600"/>
                </a:lnTo>
                <a:lnTo>
                  <a:pt x="10515600" y="228600"/>
                </a:lnTo>
                <a:lnTo>
                  <a:pt x="10515600" y="0"/>
                </a:lnTo>
                <a:close/>
              </a:path>
            </a:pathLst>
          </a:custGeom>
          <a:solidFill>
            <a:srgbClr val="c00000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06" name="PlaceHolder 2"/>
          <p:cNvSpPr>
            <a:spLocks noGrp="1"/>
          </p:cNvSpPr>
          <p:nvPr>
            <p:ph type="ftr" idx="64"/>
          </p:nvPr>
        </p:nvSpPr>
        <p:spPr>
          <a:xfrm>
            <a:off x="916920" y="6451560"/>
            <a:ext cx="102240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Security+</a:t>
            </a:r>
            <a:r>
              <a:rPr b="0" lang="en-US" sz="1000" spc="-46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(SY0-601)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207" name="PlaceHolder 3"/>
          <p:cNvSpPr>
            <a:spLocks noGrp="1"/>
          </p:cNvSpPr>
          <p:nvPr>
            <p:ph type="dt" idx="65"/>
          </p:nvPr>
        </p:nvSpPr>
        <p:spPr>
          <a:xfrm>
            <a:off x="5492520" y="6451560"/>
            <a:ext cx="112212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©</a:t>
            </a:r>
            <a:r>
              <a:rPr b="0" lang="en-US" sz="1000" spc="-41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netriders.academy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208" name="PlaceHolder 4"/>
          <p:cNvSpPr>
            <a:spLocks noGrp="1"/>
          </p:cNvSpPr>
          <p:nvPr>
            <p:ph type="sldNum" idx="66"/>
          </p:nvPr>
        </p:nvSpPr>
        <p:spPr>
          <a:xfrm>
            <a:off x="11098440" y="6451200"/>
            <a:ext cx="20340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3816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38160">
              <a:lnSpc>
                <a:spcPts val="1046"/>
              </a:lnSpc>
              <a:buNone/>
            </a:pPr>
            <a:fld id="{2DFB7924-0820-4D4E-867A-46B0EA4106DC}" type="slidenum">
              <a:rPr b="0" lang="en-US" sz="1000" spc="-7" strike="noStrike">
                <a:solidFill>
                  <a:srgbClr val="ffffff"/>
                </a:solidFill>
                <a:latin typeface="Calibri"/>
              </a:rPr>
              <a:t>&lt;number&gt;</a:t>
            </a:fld>
            <a:endParaRPr b="0" lang="en-US" sz="10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PlaceHolder 1"/>
          <p:cNvSpPr>
            <a:spLocks noGrp="1"/>
          </p:cNvSpPr>
          <p:nvPr>
            <p:ph type="title"/>
          </p:nvPr>
        </p:nvSpPr>
        <p:spPr>
          <a:xfrm>
            <a:off x="916920" y="684720"/>
            <a:ext cx="7769160" cy="91476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>
              <a:lnSpc>
                <a:spcPct val="100000"/>
              </a:lnSpc>
              <a:spcBef>
                <a:spcPts val="99"/>
              </a:spcBef>
              <a:buNone/>
            </a:pPr>
            <a:r>
              <a:rPr b="0" lang="en-US" sz="3600" spc="-46" strike="noStrike">
                <a:solidFill>
                  <a:srgbClr val="c00000"/>
                </a:solidFill>
                <a:latin typeface="Calibri Light"/>
              </a:rPr>
              <a:t>LOGGING</a:t>
            </a:r>
            <a:r>
              <a:rPr b="0" lang="en-US" sz="3600" spc="-137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66" strike="noStrike">
                <a:solidFill>
                  <a:srgbClr val="c00000"/>
                </a:solidFill>
                <a:latin typeface="Calibri Light"/>
              </a:rPr>
              <a:t>PLATFORMS</a:t>
            </a:r>
            <a:r>
              <a:rPr b="0" lang="en-US" sz="3600" spc="-114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32" strike="noStrike">
                <a:solidFill>
                  <a:srgbClr val="c00000"/>
                </a:solidFill>
                <a:latin typeface="Calibri Light"/>
              </a:rPr>
              <a:t>(cont.)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210" name="object 3"/>
          <p:cNvSpPr/>
          <p:nvPr/>
        </p:nvSpPr>
        <p:spPr>
          <a:xfrm>
            <a:off x="916920" y="1758960"/>
            <a:ext cx="10025640" cy="457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56520" bIns="0" anchor="t">
            <a:spAutoFit/>
          </a:bodyPr>
          <a:p>
            <a:pPr marL="241200" indent="-229320">
              <a:lnSpc>
                <a:spcPct val="100000"/>
              </a:lnSpc>
              <a:spcBef>
                <a:spcPts val="445"/>
              </a:spcBef>
              <a:buClr>
                <a:srgbClr val="006fc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7" strike="noStrike">
                <a:solidFill>
                  <a:srgbClr val="006fc0"/>
                </a:solidFill>
                <a:latin typeface="Calibri"/>
                <a:ea typeface="DejaVu Sans"/>
              </a:rPr>
              <a:t>journalctl</a:t>
            </a:r>
            <a:endParaRPr b="0" lang="en-US" sz="2400" spc="-1" strike="noStrike">
              <a:latin typeface="Arial"/>
            </a:endParaRPr>
          </a:p>
          <a:p>
            <a:pPr lvl="1" marL="698400" indent="-229320">
              <a:lnSpc>
                <a:spcPts val="2279"/>
              </a:lnSpc>
              <a:spcBef>
                <a:spcPts val="289"/>
              </a:spcBef>
              <a:buClr>
                <a:srgbClr val="000000"/>
              </a:buClr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In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Linux,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text-based</a:t>
            </a:r>
            <a:r>
              <a:rPr b="0" lang="en-US" sz="2000" spc="2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log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files</a:t>
            </a:r>
            <a:r>
              <a:rPr b="0" lang="en-US" sz="2000" spc="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of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the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sort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managed</a:t>
            </a:r>
            <a:r>
              <a:rPr b="0" lang="en-US" sz="20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by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syslog</a:t>
            </a:r>
            <a:r>
              <a:rPr b="0" lang="en-US" sz="2000" spc="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can</a:t>
            </a:r>
            <a:r>
              <a:rPr b="0" lang="en-US" sz="20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be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viewed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using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commands</a:t>
            </a:r>
            <a:endParaRPr b="0" lang="en-US" sz="2000" spc="-1" strike="noStrike">
              <a:latin typeface="Arial"/>
            </a:endParaRPr>
          </a:p>
          <a:p>
            <a:pPr marL="698400">
              <a:lnSpc>
                <a:spcPts val="2279"/>
              </a:lnSpc>
              <a:buNone/>
              <a:tabLst>
                <a:tab algn="l" pos="699120"/>
              </a:tabLst>
            </a:pP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such as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1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cat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,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1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tail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,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and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1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head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.</a:t>
            </a:r>
            <a:endParaRPr b="0" lang="en-US" sz="2000" spc="-1" strike="noStrike">
              <a:latin typeface="Arial"/>
            </a:endParaRPr>
          </a:p>
          <a:p>
            <a:pPr lvl="1" marL="698400" indent="-228600">
              <a:lnSpc>
                <a:spcPts val="2160"/>
              </a:lnSpc>
              <a:spcBef>
                <a:spcPts val="524"/>
              </a:spcBef>
              <a:buClr>
                <a:srgbClr val="000000"/>
              </a:buClr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Most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modern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Linux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distributions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now use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21" strike="noStrike">
                <a:solidFill>
                  <a:srgbClr val="000000"/>
                </a:solidFill>
                <a:latin typeface="Calibri"/>
                <a:ea typeface="DejaVu Sans"/>
              </a:rPr>
              <a:t>systemd</a:t>
            </a:r>
            <a:r>
              <a:rPr b="0" lang="en-US" sz="2000" spc="18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to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initialize</a:t>
            </a:r>
            <a:r>
              <a:rPr b="0" lang="en-US" sz="2000" spc="38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the </a:t>
            </a:r>
            <a:r>
              <a:rPr b="0" lang="en-US" sz="2000" spc="-21" strike="noStrike">
                <a:solidFill>
                  <a:srgbClr val="000000"/>
                </a:solidFill>
                <a:latin typeface="Calibri"/>
                <a:ea typeface="DejaVu Sans"/>
              </a:rPr>
              <a:t>system</a:t>
            </a:r>
            <a:r>
              <a:rPr b="0" lang="en-US" sz="2000" spc="18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and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to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start</a:t>
            </a:r>
            <a:r>
              <a:rPr b="0" lang="en-US" sz="2000" spc="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and </a:t>
            </a:r>
            <a:r>
              <a:rPr b="0" lang="en-US" sz="2000" spc="-440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manage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background</a:t>
            </a:r>
            <a:r>
              <a:rPr b="0" lang="en-US" sz="2000" spc="-3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services.</a:t>
            </a:r>
            <a:endParaRPr b="0" lang="en-US" sz="2000" spc="-1" strike="noStrike">
              <a:latin typeface="Arial"/>
            </a:endParaRPr>
          </a:p>
          <a:p>
            <a:pPr lvl="1" marL="698400" indent="-228600">
              <a:lnSpc>
                <a:spcPts val="2160"/>
              </a:lnSpc>
              <a:spcBef>
                <a:spcPts val="505"/>
              </a:spcBef>
              <a:buClr>
                <a:srgbClr val="000000"/>
              </a:buClr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Rather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than</a:t>
            </a:r>
            <a:r>
              <a:rPr b="0" lang="en-US" sz="2000" spc="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writing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events</a:t>
            </a:r>
            <a:r>
              <a:rPr b="0" lang="en-US" sz="2000" spc="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to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syslog-format</a:t>
            </a:r>
            <a:r>
              <a:rPr b="0" lang="en-US" sz="2000" spc="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text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files,</a:t>
            </a:r>
            <a:r>
              <a:rPr b="0" lang="en-US" sz="2000" spc="2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logs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from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processes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managed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by </a:t>
            </a:r>
            <a:r>
              <a:rPr b="0" lang="en-US" sz="2000" spc="-440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21" strike="noStrike">
                <a:solidFill>
                  <a:srgbClr val="000000"/>
                </a:solidFill>
                <a:latin typeface="Calibri"/>
                <a:ea typeface="DejaVu Sans"/>
              </a:rPr>
              <a:t>systemd</a:t>
            </a:r>
            <a:r>
              <a:rPr b="0" lang="en-US" sz="2000" spc="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are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written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to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binary-format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file</a:t>
            </a:r>
            <a:r>
              <a:rPr b="0" lang="en-US" sz="2000" spc="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called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1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journald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.</a:t>
            </a:r>
            <a:endParaRPr b="0" lang="en-US" sz="2000" spc="-1" strike="noStrike">
              <a:latin typeface="Arial"/>
            </a:endParaRPr>
          </a:p>
          <a:p>
            <a:pPr lvl="1" marL="698400" indent="-229320">
              <a:lnSpc>
                <a:spcPct val="100000"/>
              </a:lnSpc>
              <a:spcBef>
                <a:spcPts val="235"/>
              </a:spcBef>
              <a:buClr>
                <a:srgbClr val="000000"/>
              </a:buClr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Events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captured by</a:t>
            </a:r>
            <a:r>
              <a:rPr b="0" lang="en-US" sz="20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journald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can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be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forwarded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to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syslog.</a:t>
            </a:r>
            <a:endParaRPr b="0" lang="en-US" sz="2000" spc="-1" strike="noStrike">
              <a:latin typeface="Arial"/>
            </a:endParaRPr>
          </a:p>
          <a:p>
            <a:pPr marL="241200" indent="-229320">
              <a:lnSpc>
                <a:spcPct val="100000"/>
              </a:lnSpc>
              <a:spcBef>
                <a:spcPts val="680"/>
              </a:spcBef>
              <a:buClr>
                <a:srgbClr val="006fc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1" strike="noStrike">
                <a:solidFill>
                  <a:srgbClr val="006fc0"/>
                </a:solidFill>
                <a:latin typeface="Calibri"/>
                <a:ea typeface="DejaVu Sans"/>
              </a:rPr>
              <a:t>NXlog</a:t>
            </a:r>
            <a:endParaRPr b="0" lang="en-US" sz="2400" spc="-1" strike="noStrike">
              <a:latin typeface="Arial"/>
            </a:endParaRPr>
          </a:p>
          <a:p>
            <a:pPr lvl="1" marL="698400" indent="-229320">
              <a:lnSpc>
                <a:spcPct val="100000"/>
              </a:lnSpc>
              <a:spcBef>
                <a:spcPts val="289"/>
              </a:spcBef>
              <a:buClr>
                <a:srgbClr val="000000"/>
              </a:buClr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NXlog</a:t>
            </a:r>
            <a:r>
              <a:rPr b="0" lang="en-US" sz="2000" spc="-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(</a:t>
            </a:r>
            <a:r>
              <a:rPr b="0" lang="en-US" sz="2000" spc="-12" strike="noStrike" u="heavy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ea typeface="DejaVu Sans"/>
                <a:hlinkClick r:id="rId1"/>
              </a:rPr>
              <a:t>nxlog.co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)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is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an</a:t>
            </a:r>
            <a:r>
              <a:rPr b="0" lang="en-US" sz="2000" spc="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open-source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log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normalization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tool.</a:t>
            </a:r>
            <a:endParaRPr b="0" lang="en-US" sz="2000" spc="-1" strike="noStrike">
              <a:latin typeface="Arial"/>
            </a:endParaRPr>
          </a:p>
          <a:p>
            <a:pPr lvl="1" marL="698400" indent="-228600">
              <a:lnSpc>
                <a:spcPts val="2160"/>
              </a:lnSpc>
              <a:spcBef>
                <a:spcPts val="524"/>
              </a:spcBef>
              <a:buClr>
                <a:srgbClr val="000000"/>
              </a:buClr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One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principal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use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for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it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is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to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collect</a:t>
            </a:r>
            <a:r>
              <a:rPr b="0" lang="en-US" sz="2000" spc="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Windows</a:t>
            </a:r>
            <a:r>
              <a:rPr b="0" lang="en-US" sz="20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logs,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which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use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an</a:t>
            </a:r>
            <a:r>
              <a:rPr b="0" lang="en-US" sz="2000" spc="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XML-based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format,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and </a:t>
            </a:r>
            <a:r>
              <a:rPr b="0" lang="en-US" sz="2000" spc="-440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normalize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them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to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syslog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format.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211" name="object 4"/>
          <p:cNvSpPr/>
          <p:nvPr/>
        </p:nvSpPr>
        <p:spPr>
          <a:xfrm>
            <a:off x="838080" y="6400800"/>
            <a:ext cx="10514520" cy="227520"/>
          </a:xfrm>
          <a:custGeom>
            <a:avLst/>
            <a:gdLst/>
            <a:ahLst/>
            <a:rect l="l" t="t" r="r" b="b"/>
            <a:pathLst>
              <a:path w="10515600" h="228600">
                <a:moveTo>
                  <a:pt x="10515600" y="0"/>
                </a:moveTo>
                <a:lnTo>
                  <a:pt x="0" y="0"/>
                </a:lnTo>
                <a:lnTo>
                  <a:pt x="0" y="228600"/>
                </a:lnTo>
                <a:lnTo>
                  <a:pt x="10515600" y="228600"/>
                </a:lnTo>
                <a:lnTo>
                  <a:pt x="10515600" y="0"/>
                </a:lnTo>
                <a:close/>
              </a:path>
            </a:pathLst>
          </a:custGeom>
          <a:solidFill>
            <a:srgbClr val="c00000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12" name="PlaceHolder 2"/>
          <p:cNvSpPr>
            <a:spLocks noGrp="1"/>
          </p:cNvSpPr>
          <p:nvPr>
            <p:ph type="ftr" idx="67"/>
          </p:nvPr>
        </p:nvSpPr>
        <p:spPr>
          <a:xfrm>
            <a:off x="916920" y="6451560"/>
            <a:ext cx="102240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Security+</a:t>
            </a:r>
            <a:r>
              <a:rPr b="0" lang="en-US" sz="1000" spc="-46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(SY0-601)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213" name="PlaceHolder 3"/>
          <p:cNvSpPr>
            <a:spLocks noGrp="1"/>
          </p:cNvSpPr>
          <p:nvPr>
            <p:ph type="dt" idx="68"/>
          </p:nvPr>
        </p:nvSpPr>
        <p:spPr>
          <a:xfrm>
            <a:off x="5492520" y="6451560"/>
            <a:ext cx="112212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©</a:t>
            </a:r>
            <a:r>
              <a:rPr b="0" lang="en-US" sz="1000" spc="-41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netriders.academy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214" name="PlaceHolder 4"/>
          <p:cNvSpPr>
            <a:spLocks noGrp="1"/>
          </p:cNvSpPr>
          <p:nvPr>
            <p:ph type="sldNum" idx="69"/>
          </p:nvPr>
        </p:nvSpPr>
        <p:spPr>
          <a:xfrm>
            <a:off x="11098440" y="6451200"/>
            <a:ext cx="20340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3816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38160">
              <a:lnSpc>
                <a:spcPts val="1046"/>
              </a:lnSpc>
              <a:buNone/>
            </a:pPr>
            <a:fld id="{20DDC7E2-DCA1-46D4-B88F-51187BFF1AA6}" type="slidenum">
              <a:rPr b="0" lang="en-US" sz="1000" spc="-7" strike="noStrike">
                <a:solidFill>
                  <a:srgbClr val="ffffff"/>
                </a:solidFill>
                <a:latin typeface="Calibri"/>
              </a:rPr>
              <a:t>&lt;number&gt;</a:t>
            </a:fld>
            <a:endParaRPr b="0" lang="en-US" sz="10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PlaceHolder 1"/>
          <p:cNvSpPr>
            <a:spLocks noGrp="1"/>
          </p:cNvSpPr>
          <p:nvPr>
            <p:ph type="title"/>
          </p:nvPr>
        </p:nvSpPr>
        <p:spPr>
          <a:xfrm>
            <a:off x="916920" y="684720"/>
            <a:ext cx="9597960" cy="115704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>
              <a:lnSpc>
                <a:spcPct val="100000"/>
              </a:lnSpc>
              <a:spcBef>
                <a:spcPts val="99"/>
              </a:spcBef>
              <a:buNone/>
            </a:pPr>
            <a:r>
              <a:rPr b="0" lang="en-US" sz="3600" spc="-41" strike="noStrike">
                <a:solidFill>
                  <a:srgbClr val="c00000"/>
                </a:solidFill>
                <a:latin typeface="Calibri Light"/>
              </a:rPr>
              <a:t>NETWORK,</a:t>
            </a:r>
            <a:r>
              <a:rPr b="0" lang="en-US" sz="3600" spc="-80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15" strike="noStrike">
                <a:solidFill>
                  <a:srgbClr val="c00000"/>
                </a:solidFill>
                <a:latin typeface="Calibri Light"/>
              </a:rPr>
              <a:t>OS,</a:t>
            </a:r>
            <a:r>
              <a:rPr b="0" lang="en-US" sz="3600" spc="-86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21" strike="noStrike">
                <a:solidFill>
                  <a:srgbClr val="c00000"/>
                </a:solidFill>
                <a:latin typeface="Calibri Light"/>
              </a:rPr>
              <a:t>AND</a:t>
            </a:r>
            <a:r>
              <a:rPr b="0" lang="en-US" sz="3600" spc="-92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32" strike="noStrike">
                <a:solidFill>
                  <a:srgbClr val="c00000"/>
                </a:solidFill>
                <a:latin typeface="Calibri Light"/>
              </a:rPr>
              <a:t>SECURITY</a:t>
            </a:r>
            <a:r>
              <a:rPr b="0" lang="en-US" sz="3600" spc="-97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46" strike="noStrike">
                <a:solidFill>
                  <a:srgbClr val="c00000"/>
                </a:solidFill>
                <a:latin typeface="Calibri Light"/>
              </a:rPr>
              <a:t>LOG</a:t>
            </a:r>
            <a:r>
              <a:rPr b="0" lang="en-US" sz="3600" spc="-97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26" strike="noStrike">
                <a:solidFill>
                  <a:srgbClr val="c00000"/>
                </a:solidFill>
                <a:latin typeface="Calibri Light"/>
              </a:rPr>
              <a:t>FILES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216" name="object 3"/>
          <p:cNvSpPr/>
          <p:nvPr/>
        </p:nvSpPr>
        <p:spPr>
          <a:xfrm>
            <a:off x="916920" y="1758960"/>
            <a:ext cx="10063800" cy="381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56520" bIns="0" anchor="t">
            <a:spAutoFit/>
          </a:bodyPr>
          <a:p>
            <a:pPr marL="241200" indent="-229320">
              <a:lnSpc>
                <a:spcPct val="100000"/>
              </a:lnSpc>
              <a:spcBef>
                <a:spcPts val="445"/>
              </a:spcBef>
              <a:buClr>
                <a:srgbClr val="006fc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21" strike="noStrike">
                <a:solidFill>
                  <a:srgbClr val="006fc0"/>
                </a:solidFill>
                <a:latin typeface="Calibri"/>
                <a:ea typeface="DejaVu Sans"/>
              </a:rPr>
              <a:t>System</a:t>
            </a:r>
            <a:r>
              <a:rPr b="0" lang="en-US" sz="2400" spc="-52" strike="noStrike">
                <a:solidFill>
                  <a:srgbClr val="006fc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6fc0"/>
                </a:solidFill>
                <a:latin typeface="Calibri"/>
                <a:ea typeface="DejaVu Sans"/>
              </a:rPr>
              <a:t>and</a:t>
            </a:r>
            <a:r>
              <a:rPr b="0" lang="en-US" sz="2400" spc="-15" strike="noStrike">
                <a:solidFill>
                  <a:srgbClr val="006fc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6fc0"/>
                </a:solidFill>
                <a:latin typeface="Calibri"/>
                <a:ea typeface="DejaVu Sans"/>
              </a:rPr>
              <a:t>Security</a:t>
            </a:r>
            <a:r>
              <a:rPr b="0" lang="en-US" sz="2400" spc="-35" strike="noStrike">
                <a:solidFill>
                  <a:srgbClr val="006fc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6fc0"/>
                </a:solidFill>
                <a:latin typeface="Calibri"/>
                <a:ea typeface="DejaVu Sans"/>
              </a:rPr>
              <a:t>Logs</a:t>
            </a:r>
            <a:endParaRPr b="0" lang="en-US" sz="2400" spc="-1" strike="noStrike">
              <a:latin typeface="Arial"/>
            </a:endParaRPr>
          </a:p>
          <a:p>
            <a:pPr lvl="1" marL="698400" indent="-229320">
              <a:lnSpc>
                <a:spcPct val="100000"/>
              </a:lnSpc>
              <a:spcBef>
                <a:spcPts val="289"/>
              </a:spcBef>
              <a:buClr>
                <a:srgbClr val="000000"/>
              </a:buClr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One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source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of security</a:t>
            </a:r>
            <a:r>
              <a:rPr b="0" lang="en-US" sz="2000" spc="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information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is the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event</a:t>
            </a:r>
            <a:r>
              <a:rPr b="0" lang="en-US" sz="2000" spc="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log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from</a:t>
            </a:r>
            <a:r>
              <a:rPr b="0" lang="en-US" sz="2000" spc="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each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network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server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or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client.</a:t>
            </a:r>
            <a:endParaRPr b="0" lang="en-US" sz="2000" spc="-1" strike="noStrike">
              <a:latin typeface="Arial"/>
            </a:endParaRPr>
          </a:p>
          <a:p>
            <a:pPr lvl="1" marL="698400" indent="-229320">
              <a:lnSpc>
                <a:spcPts val="2279"/>
              </a:lnSpc>
              <a:spcBef>
                <a:spcPts val="249"/>
              </a:spcBef>
              <a:buClr>
                <a:srgbClr val="000000"/>
              </a:buClr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Systems</a:t>
            </a:r>
            <a:r>
              <a:rPr b="0" lang="en-US" sz="2000" spc="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such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as</a:t>
            </a:r>
            <a:r>
              <a:rPr b="0" lang="en-US" sz="2000" spc="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1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Microsoft</a:t>
            </a:r>
            <a:r>
              <a:rPr b="1" lang="en-US" sz="2000" spc="-3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1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Windows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,</a:t>
            </a:r>
            <a:r>
              <a:rPr b="0" lang="en-US" sz="2000" spc="-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1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Apple</a:t>
            </a:r>
            <a:r>
              <a:rPr b="1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macOS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,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and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1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Linux</a:t>
            </a:r>
            <a:r>
              <a:rPr b="1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keep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a</a:t>
            </a:r>
            <a:r>
              <a:rPr b="0" lang="en-US" sz="2000" spc="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variety</a:t>
            </a:r>
            <a:r>
              <a:rPr b="0" lang="en-US" sz="2000" spc="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of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logs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to</a:t>
            </a:r>
            <a:endParaRPr b="0" lang="en-US" sz="2000" spc="-1" strike="noStrike">
              <a:latin typeface="Arial"/>
            </a:endParaRPr>
          </a:p>
          <a:p>
            <a:pPr marL="698400">
              <a:lnSpc>
                <a:spcPts val="2279"/>
              </a:lnSpc>
              <a:buNone/>
              <a:tabLst>
                <a:tab algn="l" pos="699120"/>
              </a:tabLst>
            </a:pP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record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events</a:t>
            </a:r>
            <a:r>
              <a:rPr b="0" lang="en-US" sz="2000" spc="18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as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users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and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software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interact</a:t>
            </a:r>
            <a:r>
              <a:rPr b="0" lang="en-US" sz="2000" spc="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with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the </a:t>
            </a:r>
            <a:r>
              <a:rPr b="0" lang="en-US" sz="2000" spc="-21" strike="noStrike">
                <a:solidFill>
                  <a:srgbClr val="000000"/>
                </a:solidFill>
                <a:latin typeface="Calibri"/>
                <a:ea typeface="DejaVu Sans"/>
              </a:rPr>
              <a:t>system.</a:t>
            </a:r>
            <a:endParaRPr b="0" lang="en-US" sz="2000" spc="-1" strike="noStrike">
              <a:latin typeface="Arial"/>
            </a:endParaRPr>
          </a:p>
          <a:p>
            <a:pPr lvl="1" marL="698400" indent="-229320">
              <a:lnSpc>
                <a:spcPct val="100000"/>
              </a:lnSpc>
              <a:spcBef>
                <a:spcPts val="264"/>
              </a:spcBef>
              <a:buClr>
                <a:srgbClr val="000000"/>
              </a:buClr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The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format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of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the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logs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varies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depending</a:t>
            </a:r>
            <a:r>
              <a:rPr b="0" lang="en-US" sz="2000" spc="-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on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the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21" strike="noStrike">
                <a:solidFill>
                  <a:srgbClr val="000000"/>
                </a:solidFill>
                <a:latin typeface="Calibri"/>
                <a:ea typeface="DejaVu Sans"/>
              </a:rPr>
              <a:t>system.</a:t>
            </a:r>
            <a:endParaRPr b="0" lang="en-US" sz="2000" spc="-1" strike="noStrike">
              <a:latin typeface="Arial"/>
            </a:endParaRPr>
          </a:p>
          <a:p>
            <a:pPr lvl="1" marL="698400" indent="-228600">
              <a:lnSpc>
                <a:spcPts val="2160"/>
              </a:lnSpc>
              <a:spcBef>
                <a:spcPts val="536"/>
              </a:spcBef>
              <a:buClr>
                <a:srgbClr val="000000"/>
              </a:buClr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Information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contained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within</a:t>
            </a:r>
            <a:r>
              <a:rPr b="0" lang="en-US" sz="2000" spc="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the logs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also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varies</a:t>
            </a:r>
            <a:r>
              <a:rPr b="0" lang="en-US" sz="2000" spc="2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by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21" strike="noStrike">
                <a:solidFill>
                  <a:srgbClr val="000000"/>
                </a:solidFill>
                <a:latin typeface="Calibri"/>
                <a:ea typeface="DejaVu Sans"/>
              </a:rPr>
              <a:t>system,</a:t>
            </a:r>
            <a:r>
              <a:rPr b="0" lang="en-US" sz="2000" spc="18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and in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many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cases,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the type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of </a:t>
            </a:r>
            <a:r>
              <a:rPr b="0" lang="en-US" sz="2000" spc="-440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information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that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is</a:t>
            </a:r>
            <a:r>
              <a:rPr b="0" lang="en-US" sz="2000" spc="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captured</a:t>
            </a:r>
            <a:r>
              <a:rPr b="0" lang="en-US" sz="20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can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be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configured.</a:t>
            </a:r>
            <a:endParaRPr b="0" lang="en-US" sz="2000" spc="-1" strike="noStrike">
              <a:latin typeface="Arial"/>
            </a:endParaRPr>
          </a:p>
          <a:p>
            <a:pPr lvl="1" marL="698400" indent="-229320">
              <a:lnSpc>
                <a:spcPts val="2279"/>
              </a:lnSpc>
              <a:spcBef>
                <a:spcPts val="221"/>
              </a:spcBef>
              <a:buClr>
                <a:srgbClr val="000000"/>
              </a:buClr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When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events</a:t>
            </a:r>
            <a:r>
              <a:rPr b="0" lang="en-US" sz="2000" spc="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are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generated,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they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are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placed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into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log</a:t>
            </a:r>
            <a:r>
              <a:rPr b="0" lang="en-US" sz="20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categories.</a:t>
            </a:r>
            <a:r>
              <a:rPr b="0" lang="en-US" sz="2000" spc="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These</a:t>
            </a:r>
            <a:r>
              <a:rPr b="0" lang="en-US" sz="2000" spc="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categories</a:t>
            </a:r>
            <a:r>
              <a:rPr b="0" lang="en-US" sz="2000" spc="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describe</a:t>
            </a:r>
            <a:endParaRPr b="0" lang="en-US" sz="2000" spc="-1" strike="noStrike">
              <a:latin typeface="Arial"/>
            </a:endParaRPr>
          </a:p>
          <a:p>
            <a:pPr marL="698400">
              <a:lnSpc>
                <a:spcPts val="2279"/>
              </a:lnSpc>
              <a:buNone/>
              <a:tabLst>
                <a:tab algn="l" pos="69912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the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general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nature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of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events</a:t>
            </a:r>
            <a:r>
              <a:rPr b="0" lang="en-US" sz="2000" spc="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or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what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areas</a:t>
            </a:r>
            <a:r>
              <a:rPr b="0" lang="en-US" sz="2000" spc="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of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OS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they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affect.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217" name="object 4"/>
          <p:cNvSpPr/>
          <p:nvPr/>
        </p:nvSpPr>
        <p:spPr>
          <a:xfrm>
            <a:off x="838080" y="6400800"/>
            <a:ext cx="10514520" cy="227520"/>
          </a:xfrm>
          <a:custGeom>
            <a:avLst/>
            <a:gdLst/>
            <a:ahLst/>
            <a:rect l="l" t="t" r="r" b="b"/>
            <a:pathLst>
              <a:path w="10515600" h="228600">
                <a:moveTo>
                  <a:pt x="10515600" y="0"/>
                </a:moveTo>
                <a:lnTo>
                  <a:pt x="0" y="0"/>
                </a:lnTo>
                <a:lnTo>
                  <a:pt x="0" y="228600"/>
                </a:lnTo>
                <a:lnTo>
                  <a:pt x="10515600" y="228600"/>
                </a:lnTo>
                <a:lnTo>
                  <a:pt x="10515600" y="0"/>
                </a:lnTo>
                <a:close/>
              </a:path>
            </a:pathLst>
          </a:custGeom>
          <a:solidFill>
            <a:srgbClr val="c00000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18" name="PlaceHolder 2"/>
          <p:cNvSpPr>
            <a:spLocks noGrp="1"/>
          </p:cNvSpPr>
          <p:nvPr>
            <p:ph type="ftr" idx="70"/>
          </p:nvPr>
        </p:nvSpPr>
        <p:spPr>
          <a:xfrm>
            <a:off x="916920" y="6451560"/>
            <a:ext cx="102240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Security+</a:t>
            </a:r>
            <a:r>
              <a:rPr b="0" lang="en-US" sz="1000" spc="-46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(SY0-601)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219" name="PlaceHolder 3"/>
          <p:cNvSpPr>
            <a:spLocks noGrp="1"/>
          </p:cNvSpPr>
          <p:nvPr>
            <p:ph type="dt" idx="71"/>
          </p:nvPr>
        </p:nvSpPr>
        <p:spPr>
          <a:xfrm>
            <a:off x="5492520" y="6451560"/>
            <a:ext cx="112212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©</a:t>
            </a:r>
            <a:r>
              <a:rPr b="0" lang="en-US" sz="1000" spc="-41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netriders.academy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220" name="PlaceHolder 4"/>
          <p:cNvSpPr>
            <a:spLocks noGrp="1"/>
          </p:cNvSpPr>
          <p:nvPr>
            <p:ph type="sldNum" idx="72"/>
          </p:nvPr>
        </p:nvSpPr>
        <p:spPr>
          <a:xfrm>
            <a:off x="11098440" y="6451200"/>
            <a:ext cx="20340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3816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38160">
              <a:lnSpc>
                <a:spcPts val="1046"/>
              </a:lnSpc>
              <a:buNone/>
            </a:pPr>
            <a:fld id="{256DA519-5786-4B67-AE51-76A42632E5AD}" type="slidenum">
              <a:rPr b="0" lang="en-US" sz="1000" spc="-7" strike="noStrike">
                <a:solidFill>
                  <a:srgbClr val="ffffff"/>
                </a:solidFill>
                <a:latin typeface="Calibri"/>
              </a:rPr>
              <a:t>&lt;number&gt;</a:t>
            </a:fld>
            <a:endParaRPr b="0" lang="en-US" sz="10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PlaceHolder 1"/>
          <p:cNvSpPr>
            <a:spLocks noGrp="1"/>
          </p:cNvSpPr>
          <p:nvPr>
            <p:ph type="title"/>
          </p:nvPr>
        </p:nvSpPr>
        <p:spPr>
          <a:xfrm>
            <a:off x="916920" y="684720"/>
            <a:ext cx="8610840" cy="115704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>
              <a:lnSpc>
                <a:spcPct val="100000"/>
              </a:lnSpc>
              <a:spcBef>
                <a:spcPts val="99"/>
              </a:spcBef>
              <a:buNone/>
            </a:pPr>
            <a:r>
              <a:rPr b="0" lang="en-US" sz="3600" spc="-41" strike="noStrike">
                <a:solidFill>
                  <a:srgbClr val="c00000"/>
                </a:solidFill>
                <a:latin typeface="Calibri Light"/>
              </a:rPr>
              <a:t>NETWORK,</a:t>
            </a:r>
            <a:r>
              <a:rPr b="0" lang="en-US" sz="3600" spc="-75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15" strike="noStrike">
                <a:solidFill>
                  <a:srgbClr val="c00000"/>
                </a:solidFill>
                <a:latin typeface="Calibri Light"/>
              </a:rPr>
              <a:t>OS,</a:t>
            </a:r>
            <a:r>
              <a:rPr b="0" lang="en-US" sz="3600" spc="-80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21" strike="noStrike">
                <a:solidFill>
                  <a:srgbClr val="c00000"/>
                </a:solidFill>
                <a:latin typeface="Calibri Light"/>
              </a:rPr>
              <a:t>AND</a:t>
            </a:r>
            <a:r>
              <a:rPr b="0" lang="en-US" sz="3600" spc="-92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32" strike="noStrike">
                <a:solidFill>
                  <a:srgbClr val="c00000"/>
                </a:solidFill>
                <a:latin typeface="Calibri Light"/>
              </a:rPr>
              <a:t>SECURITY</a:t>
            </a:r>
            <a:r>
              <a:rPr b="0" lang="en-US" sz="3600" spc="-92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46" strike="noStrike">
                <a:solidFill>
                  <a:srgbClr val="c00000"/>
                </a:solidFill>
                <a:latin typeface="Calibri Light"/>
              </a:rPr>
              <a:t>LOG</a:t>
            </a:r>
            <a:r>
              <a:rPr b="0" lang="en-US" sz="3600" spc="-97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26" strike="noStrike">
                <a:solidFill>
                  <a:srgbClr val="c00000"/>
                </a:solidFill>
                <a:latin typeface="Calibri Light"/>
              </a:rPr>
              <a:t>FILES</a:t>
            </a:r>
            <a:r>
              <a:rPr b="0" lang="en-US" sz="3600" spc="-92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32" strike="noStrike">
                <a:solidFill>
                  <a:srgbClr val="c00000"/>
                </a:solidFill>
                <a:latin typeface="Calibri Light"/>
              </a:rPr>
              <a:t>(cont.)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222" name="object 3"/>
          <p:cNvSpPr/>
          <p:nvPr/>
        </p:nvSpPr>
        <p:spPr>
          <a:xfrm>
            <a:off x="916920" y="1767600"/>
            <a:ext cx="10301040" cy="285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47520" bIns="0" anchor="t">
            <a:spAutoFit/>
          </a:bodyPr>
          <a:p>
            <a:pPr marL="241200" indent="-229320">
              <a:lnSpc>
                <a:spcPct val="100000"/>
              </a:lnSpc>
              <a:spcBef>
                <a:spcPts val="374"/>
              </a:spcBef>
              <a:buClr>
                <a:srgbClr val="006fc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21" strike="noStrike">
                <a:solidFill>
                  <a:srgbClr val="006fc0"/>
                </a:solidFill>
                <a:latin typeface="Calibri"/>
                <a:ea typeface="DejaVu Sans"/>
              </a:rPr>
              <a:t>System</a:t>
            </a:r>
            <a:r>
              <a:rPr b="0" lang="en-US" sz="2400" spc="-46" strike="noStrike">
                <a:solidFill>
                  <a:srgbClr val="006fc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6fc0"/>
                </a:solidFill>
                <a:latin typeface="Calibri"/>
                <a:ea typeface="DejaVu Sans"/>
              </a:rPr>
              <a:t>and</a:t>
            </a:r>
            <a:r>
              <a:rPr b="0" lang="en-US" sz="2400" spc="-12" strike="noStrike">
                <a:solidFill>
                  <a:srgbClr val="006fc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6fc0"/>
                </a:solidFill>
                <a:latin typeface="Calibri"/>
                <a:ea typeface="DejaVu Sans"/>
              </a:rPr>
              <a:t>Security</a:t>
            </a:r>
            <a:r>
              <a:rPr b="0" lang="en-US" sz="2400" spc="-32" strike="noStrike">
                <a:solidFill>
                  <a:srgbClr val="006fc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6fc0"/>
                </a:solidFill>
                <a:latin typeface="Calibri"/>
                <a:ea typeface="DejaVu Sans"/>
              </a:rPr>
              <a:t>Logs</a:t>
            </a:r>
            <a:r>
              <a:rPr b="0" lang="en-US" sz="2400" spc="-21" strike="noStrike">
                <a:solidFill>
                  <a:srgbClr val="006fc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6fc0"/>
                </a:solidFill>
                <a:latin typeface="Calibri"/>
                <a:ea typeface="DejaVu Sans"/>
              </a:rPr>
              <a:t>(cont.)</a:t>
            </a:r>
            <a:endParaRPr b="0" lang="en-US" sz="2400" spc="-1" strike="noStrike">
              <a:latin typeface="Arial"/>
            </a:endParaRPr>
          </a:p>
          <a:p>
            <a:pPr lvl="1" marL="698400" indent="-229320">
              <a:lnSpc>
                <a:spcPct val="100000"/>
              </a:lnSpc>
              <a:spcBef>
                <a:spcPts val="244"/>
              </a:spcBef>
              <a:buClr>
                <a:srgbClr val="000000"/>
              </a:buClr>
              <a:buSzPct val="95000"/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200" spc="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5" strike="noStrike">
                <a:solidFill>
                  <a:srgbClr val="000000"/>
                </a:solidFill>
                <a:latin typeface="Calibri"/>
                <a:ea typeface="DejaVu Sans"/>
              </a:rPr>
              <a:t>five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main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5" strike="noStrike">
                <a:solidFill>
                  <a:srgbClr val="000000"/>
                </a:solidFill>
                <a:latin typeface="Calibri"/>
                <a:ea typeface="DejaVu Sans"/>
              </a:rPr>
              <a:t>categories</a:t>
            </a:r>
            <a:r>
              <a:rPr b="0" lang="en-US" sz="2200" spc="18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of</a:t>
            </a:r>
            <a:r>
              <a:rPr b="0" lang="en-US" sz="2200" spc="18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1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Windows</a:t>
            </a:r>
            <a:r>
              <a:rPr b="1" lang="en-US" sz="2200" spc="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1" lang="en-US" sz="2200" spc="-21" strike="noStrike">
                <a:solidFill>
                  <a:srgbClr val="000000"/>
                </a:solidFill>
                <a:latin typeface="Calibri"/>
                <a:ea typeface="DejaVu Sans"/>
              </a:rPr>
              <a:t>event</a:t>
            </a:r>
            <a:r>
              <a:rPr b="1" lang="en-US" sz="2200" spc="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1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logs</a:t>
            </a:r>
            <a:r>
              <a:rPr b="1" lang="en-US" sz="22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are:</a:t>
            </a:r>
            <a:endParaRPr b="0" lang="en-US" sz="2200" spc="-1" strike="noStrike">
              <a:latin typeface="Arial"/>
            </a:endParaRPr>
          </a:p>
          <a:p>
            <a:pPr lvl="2" marL="1155600" indent="-229320">
              <a:lnSpc>
                <a:spcPct val="100000"/>
              </a:lnSpc>
              <a:spcBef>
                <a:spcPts val="320"/>
              </a:spcBef>
              <a:buClr>
                <a:srgbClr val="ac172b"/>
              </a:buClr>
              <a:buFont typeface="Wingdings" charset="2"/>
              <a:buChar char=""/>
              <a:tabLst>
                <a:tab algn="l" pos="1156320"/>
              </a:tabLst>
            </a:pPr>
            <a:r>
              <a:rPr b="0" lang="en-US" sz="1800" spc="-7" strike="noStrike">
                <a:solidFill>
                  <a:srgbClr val="ac172b"/>
                </a:solidFill>
                <a:latin typeface="Calibri"/>
                <a:ea typeface="DejaVu Sans"/>
              </a:rPr>
              <a:t>Application—</a:t>
            </a:r>
            <a:r>
              <a:rPr b="0" lang="en-US" sz="1800" spc="-7" strike="noStrike">
                <a:solidFill>
                  <a:srgbClr val="000000"/>
                </a:solidFill>
                <a:latin typeface="Calibri"/>
                <a:ea typeface="DejaVu Sans"/>
              </a:rPr>
              <a:t>events</a:t>
            </a:r>
            <a:r>
              <a:rPr b="0" lang="en-US" sz="18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1800" spc="-12" strike="noStrike">
                <a:solidFill>
                  <a:srgbClr val="000000"/>
                </a:solidFill>
                <a:latin typeface="Calibri"/>
                <a:ea typeface="DejaVu Sans"/>
              </a:rPr>
              <a:t>generated</a:t>
            </a:r>
            <a:r>
              <a:rPr b="0" lang="en-US" sz="18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1800" spc="-12" strike="noStrike">
                <a:solidFill>
                  <a:srgbClr val="000000"/>
                </a:solidFill>
                <a:latin typeface="Calibri"/>
                <a:ea typeface="DejaVu Sans"/>
              </a:rPr>
              <a:t>by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1800" spc="-7" strike="noStrike">
                <a:solidFill>
                  <a:srgbClr val="000000"/>
                </a:solidFill>
                <a:latin typeface="Calibri"/>
                <a:ea typeface="DejaVu Sans"/>
              </a:rPr>
              <a:t>applications</a:t>
            </a:r>
            <a:r>
              <a:rPr b="0" lang="en-US" sz="1800" spc="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and</a:t>
            </a:r>
            <a:r>
              <a:rPr b="0" lang="en-US" sz="18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1800" spc="-7" strike="noStrike">
                <a:solidFill>
                  <a:srgbClr val="000000"/>
                </a:solidFill>
                <a:latin typeface="Calibri"/>
                <a:ea typeface="DejaVu Sans"/>
              </a:rPr>
              <a:t>services,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1800" spc="-7" strike="noStrike">
                <a:solidFill>
                  <a:srgbClr val="000000"/>
                </a:solidFill>
                <a:latin typeface="Calibri"/>
                <a:ea typeface="DejaVu Sans"/>
              </a:rPr>
              <a:t>such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 as when</a:t>
            </a:r>
            <a:r>
              <a:rPr b="0" lang="en-US" sz="1800" spc="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a </a:t>
            </a:r>
            <a:r>
              <a:rPr b="0" lang="en-US" sz="1800" spc="-7" strike="noStrike">
                <a:solidFill>
                  <a:srgbClr val="000000"/>
                </a:solidFill>
                <a:latin typeface="Calibri"/>
                <a:ea typeface="DejaVu Sans"/>
              </a:rPr>
              <a:t>service</a:t>
            </a:r>
            <a:r>
              <a:rPr b="0" lang="en-US" sz="1800" spc="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1800" spc="-7" strike="noStrike">
                <a:solidFill>
                  <a:srgbClr val="000000"/>
                </a:solidFill>
                <a:latin typeface="Calibri"/>
                <a:ea typeface="DejaVu Sans"/>
              </a:rPr>
              <a:t>cannot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1800" spc="-12" strike="noStrike">
                <a:solidFill>
                  <a:srgbClr val="000000"/>
                </a:solidFill>
                <a:latin typeface="Calibri"/>
                <a:ea typeface="DejaVu Sans"/>
              </a:rPr>
              <a:t>start.</a:t>
            </a:r>
            <a:endParaRPr b="0" lang="en-US" sz="1800" spc="-1" strike="noStrike">
              <a:latin typeface="Arial"/>
            </a:endParaRPr>
          </a:p>
          <a:p>
            <a:pPr lvl="2" marL="1155600" indent="-229320">
              <a:lnSpc>
                <a:spcPct val="100000"/>
              </a:lnSpc>
              <a:spcBef>
                <a:spcPts val="275"/>
              </a:spcBef>
              <a:buClr>
                <a:srgbClr val="ac172b"/>
              </a:buClr>
              <a:buFont typeface="Wingdings" charset="2"/>
              <a:buChar char=""/>
              <a:tabLst>
                <a:tab algn="l" pos="1156320"/>
              </a:tabLst>
            </a:pPr>
            <a:r>
              <a:rPr b="0" lang="en-US" sz="1800" spc="-7" strike="noStrike">
                <a:solidFill>
                  <a:srgbClr val="ac172b"/>
                </a:solidFill>
                <a:latin typeface="Calibri"/>
                <a:ea typeface="DejaVu Sans"/>
              </a:rPr>
              <a:t>Security—</a:t>
            </a:r>
            <a:r>
              <a:rPr b="0" lang="en-US" sz="1800" spc="-7" strike="noStrike">
                <a:solidFill>
                  <a:srgbClr val="000000"/>
                </a:solidFill>
                <a:latin typeface="Calibri"/>
                <a:ea typeface="DejaVu Sans"/>
              </a:rPr>
              <a:t>Audit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1800" spc="-7" strike="noStrike">
                <a:solidFill>
                  <a:srgbClr val="000000"/>
                </a:solidFill>
                <a:latin typeface="Calibri"/>
                <a:ea typeface="DejaVu Sans"/>
              </a:rPr>
              <a:t>events,</a:t>
            </a:r>
            <a:r>
              <a:rPr b="0" lang="en-US" sz="18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1800" spc="-7" strike="noStrike">
                <a:solidFill>
                  <a:srgbClr val="000000"/>
                </a:solidFill>
                <a:latin typeface="Calibri"/>
                <a:ea typeface="DejaVu Sans"/>
              </a:rPr>
              <a:t>such</a:t>
            </a:r>
            <a:r>
              <a:rPr b="0" lang="en-US" sz="1800" spc="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as</a:t>
            </a:r>
            <a:r>
              <a:rPr b="0" lang="en-US" sz="18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a</a:t>
            </a:r>
            <a:r>
              <a:rPr b="0" lang="en-US" sz="1800" spc="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1800" spc="-12" strike="noStrike">
                <a:solidFill>
                  <a:srgbClr val="000000"/>
                </a:solidFill>
                <a:latin typeface="Calibri"/>
                <a:ea typeface="DejaVu Sans"/>
              </a:rPr>
              <a:t>failed</a:t>
            </a:r>
            <a:r>
              <a:rPr b="0" lang="en-US" sz="18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1800" spc="-7" strike="noStrike">
                <a:solidFill>
                  <a:srgbClr val="000000"/>
                </a:solidFill>
                <a:latin typeface="Calibri"/>
                <a:ea typeface="DejaVu Sans"/>
              </a:rPr>
              <a:t>logon</a:t>
            </a:r>
            <a:r>
              <a:rPr b="0" lang="en-US" sz="1800" spc="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1800" spc="-7" strike="noStrike">
                <a:solidFill>
                  <a:srgbClr val="000000"/>
                </a:solidFill>
                <a:latin typeface="Calibri"/>
                <a:ea typeface="DejaVu Sans"/>
              </a:rPr>
              <a:t>or access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1800" spc="-12" strike="noStrike">
                <a:solidFill>
                  <a:srgbClr val="000000"/>
                </a:solidFill>
                <a:latin typeface="Calibri"/>
                <a:ea typeface="DejaVu Sans"/>
              </a:rPr>
              <a:t>to</a:t>
            </a:r>
            <a:r>
              <a:rPr b="0" lang="en-US" sz="18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a</a:t>
            </a:r>
            <a:r>
              <a:rPr b="0" lang="en-US" sz="1800" spc="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1800" spc="-7" strike="noStrike">
                <a:solidFill>
                  <a:srgbClr val="000000"/>
                </a:solidFill>
                <a:latin typeface="Calibri"/>
                <a:ea typeface="DejaVu Sans"/>
              </a:rPr>
              <a:t>file</a:t>
            </a:r>
            <a:r>
              <a:rPr b="0" lang="en-US" sz="18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1800" spc="-7" strike="noStrike">
                <a:solidFill>
                  <a:srgbClr val="000000"/>
                </a:solidFill>
                <a:latin typeface="Calibri"/>
                <a:ea typeface="DejaVu Sans"/>
              </a:rPr>
              <a:t>being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1800" spc="-7" strike="noStrike">
                <a:solidFill>
                  <a:srgbClr val="000000"/>
                </a:solidFill>
                <a:latin typeface="Calibri"/>
                <a:ea typeface="DejaVu Sans"/>
              </a:rPr>
              <a:t>denied.</a:t>
            </a:r>
            <a:endParaRPr b="0" lang="en-US" sz="1800" spc="-1" strike="noStrike">
              <a:latin typeface="Arial"/>
            </a:endParaRPr>
          </a:p>
          <a:p>
            <a:pPr lvl="2" marL="1155600" indent="-228600">
              <a:lnSpc>
                <a:spcPts val="1939"/>
              </a:lnSpc>
              <a:spcBef>
                <a:spcPts val="541"/>
              </a:spcBef>
              <a:buClr>
                <a:srgbClr val="ac172b"/>
              </a:buClr>
              <a:buFont typeface="Wingdings" charset="2"/>
              <a:buChar char=""/>
              <a:tabLst>
                <a:tab algn="l" pos="1156320"/>
              </a:tabLst>
            </a:pPr>
            <a:r>
              <a:rPr b="0" lang="en-US" sz="1800" spc="-12" strike="noStrike">
                <a:solidFill>
                  <a:srgbClr val="ac172b"/>
                </a:solidFill>
                <a:latin typeface="Calibri"/>
                <a:ea typeface="DejaVu Sans"/>
              </a:rPr>
              <a:t>System—</a:t>
            </a:r>
            <a:r>
              <a:rPr b="0" lang="en-US" sz="1800" spc="-12" strike="noStrike">
                <a:solidFill>
                  <a:srgbClr val="000000"/>
                </a:solidFill>
                <a:latin typeface="Calibri"/>
                <a:ea typeface="DejaVu Sans"/>
              </a:rPr>
              <a:t>events</a:t>
            </a:r>
            <a:r>
              <a:rPr b="0" lang="en-US" sz="1800" spc="-3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1800" spc="-12" strike="noStrike">
                <a:solidFill>
                  <a:srgbClr val="000000"/>
                </a:solidFill>
                <a:latin typeface="Calibri"/>
                <a:ea typeface="DejaVu Sans"/>
              </a:rPr>
              <a:t>generated</a:t>
            </a:r>
            <a:r>
              <a:rPr b="0" lang="en-US" sz="18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1800" spc="-7" strike="noStrike">
                <a:solidFill>
                  <a:srgbClr val="000000"/>
                </a:solidFill>
                <a:latin typeface="Calibri"/>
                <a:ea typeface="DejaVu Sans"/>
              </a:rPr>
              <a:t>by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 the</a:t>
            </a:r>
            <a:r>
              <a:rPr b="0" lang="en-US" sz="18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1800" spc="-12" strike="noStrike">
                <a:solidFill>
                  <a:srgbClr val="000000"/>
                </a:solidFill>
                <a:latin typeface="Calibri"/>
                <a:ea typeface="DejaVu Sans"/>
              </a:rPr>
              <a:t>operating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1800" spc="-21" strike="noStrike">
                <a:solidFill>
                  <a:srgbClr val="000000"/>
                </a:solidFill>
                <a:latin typeface="Calibri"/>
                <a:ea typeface="DejaVu Sans"/>
              </a:rPr>
              <a:t>system</a:t>
            </a:r>
            <a:r>
              <a:rPr b="0" lang="en-US" sz="18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and</a:t>
            </a:r>
            <a:r>
              <a:rPr b="0" lang="en-US" sz="1800" spc="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1800" spc="-7" strike="noStrike">
                <a:solidFill>
                  <a:srgbClr val="000000"/>
                </a:solidFill>
                <a:latin typeface="Calibri"/>
                <a:ea typeface="DejaVu Sans"/>
              </a:rPr>
              <a:t>its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 services, </a:t>
            </a:r>
            <a:r>
              <a:rPr b="0" lang="en-US" sz="1800" spc="-7" strike="noStrike">
                <a:solidFill>
                  <a:srgbClr val="000000"/>
                </a:solidFill>
                <a:latin typeface="Calibri"/>
                <a:ea typeface="DejaVu Sans"/>
              </a:rPr>
              <a:t>such 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as </a:t>
            </a:r>
            <a:r>
              <a:rPr b="0" lang="en-US" sz="1800" spc="-15" strike="noStrike">
                <a:solidFill>
                  <a:srgbClr val="000000"/>
                </a:solidFill>
                <a:latin typeface="Calibri"/>
                <a:ea typeface="DejaVu Sans"/>
              </a:rPr>
              <a:t>storage</a:t>
            </a:r>
            <a:r>
              <a:rPr b="0" lang="en-US" sz="1800" spc="-12" strike="noStrike">
                <a:solidFill>
                  <a:srgbClr val="000000"/>
                </a:solidFill>
                <a:latin typeface="Calibri"/>
                <a:ea typeface="DejaVu Sans"/>
              </a:rPr>
              <a:t> volume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1800" spc="-7" strike="noStrike">
                <a:solidFill>
                  <a:srgbClr val="000000"/>
                </a:solidFill>
                <a:latin typeface="Calibri"/>
                <a:ea typeface="DejaVu Sans"/>
              </a:rPr>
              <a:t>health </a:t>
            </a:r>
            <a:r>
              <a:rPr b="0" lang="en-US" sz="1800" spc="-39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1800" spc="-12" strike="noStrike">
                <a:solidFill>
                  <a:srgbClr val="000000"/>
                </a:solidFill>
                <a:latin typeface="Calibri"/>
                <a:ea typeface="DejaVu Sans"/>
              </a:rPr>
              <a:t>checks.</a:t>
            </a:r>
            <a:endParaRPr b="0" lang="en-US" sz="1800" spc="-1" strike="noStrike">
              <a:latin typeface="Arial"/>
            </a:endParaRPr>
          </a:p>
          <a:p>
            <a:pPr lvl="2" marL="1155600" indent="-229320">
              <a:lnSpc>
                <a:spcPct val="100000"/>
              </a:lnSpc>
              <a:spcBef>
                <a:spcPts val="261"/>
              </a:spcBef>
              <a:buClr>
                <a:srgbClr val="ac172b"/>
              </a:buClr>
              <a:buFont typeface="Wingdings" charset="2"/>
              <a:buChar char=""/>
              <a:tabLst>
                <a:tab algn="l" pos="1156320"/>
              </a:tabLst>
            </a:pPr>
            <a:r>
              <a:rPr b="0" lang="en-US" sz="1800" spc="-7" strike="noStrike">
                <a:solidFill>
                  <a:srgbClr val="ac172b"/>
                </a:solidFill>
                <a:latin typeface="Calibri"/>
                <a:ea typeface="DejaVu Sans"/>
              </a:rPr>
              <a:t>Setup—</a:t>
            </a:r>
            <a:r>
              <a:rPr b="0" lang="en-US" sz="1800" spc="-7" strike="noStrike">
                <a:solidFill>
                  <a:srgbClr val="000000"/>
                </a:solidFill>
                <a:latin typeface="Calibri"/>
                <a:ea typeface="DejaVu Sans"/>
              </a:rPr>
              <a:t>events</a:t>
            </a:r>
            <a:r>
              <a:rPr b="0" lang="en-US" sz="18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1800" spc="-12" strike="noStrike">
                <a:solidFill>
                  <a:srgbClr val="000000"/>
                </a:solidFill>
                <a:latin typeface="Calibri"/>
                <a:ea typeface="DejaVu Sans"/>
              </a:rPr>
              <a:t>generated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1800" spc="-7" strike="noStrike">
                <a:solidFill>
                  <a:srgbClr val="000000"/>
                </a:solidFill>
                <a:latin typeface="Calibri"/>
                <a:ea typeface="DejaVu Sans"/>
              </a:rPr>
              <a:t>during</a:t>
            </a:r>
            <a:r>
              <a:rPr b="0" lang="en-US" sz="1800" spc="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the </a:t>
            </a:r>
            <a:r>
              <a:rPr b="0" lang="en-US" sz="1800" spc="-12" strike="noStrike">
                <a:solidFill>
                  <a:srgbClr val="000000"/>
                </a:solidFill>
                <a:latin typeface="Calibri"/>
                <a:ea typeface="DejaVu Sans"/>
              </a:rPr>
              <a:t>installation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1800" spc="-7" strike="noStrike">
                <a:solidFill>
                  <a:srgbClr val="000000"/>
                </a:solidFill>
                <a:latin typeface="Calibri"/>
                <a:ea typeface="DejaVu Sans"/>
              </a:rPr>
              <a:t>of</a:t>
            </a:r>
            <a:r>
              <a:rPr b="0" lang="en-US" sz="1800" spc="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1800" spc="-12" strike="noStrike">
                <a:solidFill>
                  <a:srgbClr val="000000"/>
                </a:solidFill>
                <a:latin typeface="Calibri"/>
                <a:ea typeface="DejaVu Sans"/>
              </a:rPr>
              <a:t>Windows.</a:t>
            </a:r>
            <a:endParaRPr b="0" lang="en-US" sz="1800" spc="-1" strike="noStrike">
              <a:latin typeface="Arial"/>
            </a:endParaRPr>
          </a:p>
          <a:p>
            <a:pPr lvl="2" marL="1155600" indent="-229320">
              <a:lnSpc>
                <a:spcPct val="100000"/>
              </a:lnSpc>
              <a:spcBef>
                <a:spcPts val="281"/>
              </a:spcBef>
              <a:buClr>
                <a:srgbClr val="ac172b"/>
              </a:buClr>
              <a:buFont typeface="Wingdings" charset="2"/>
              <a:buChar char=""/>
              <a:tabLst>
                <a:tab algn="l" pos="1156320"/>
              </a:tabLst>
            </a:pPr>
            <a:r>
              <a:rPr b="0" lang="en-US" sz="1800" spc="-12" strike="noStrike">
                <a:solidFill>
                  <a:srgbClr val="ac172b"/>
                </a:solidFill>
                <a:latin typeface="Calibri"/>
                <a:ea typeface="DejaVu Sans"/>
              </a:rPr>
              <a:t>Forwarded</a:t>
            </a:r>
            <a:r>
              <a:rPr b="0" lang="en-US" sz="1800" spc="4" strike="noStrike">
                <a:solidFill>
                  <a:srgbClr val="ac172b"/>
                </a:solidFill>
                <a:latin typeface="Calibri"/>
                <a:ea typeface="DejaVu Sans"/>
              </a:rPr>
              <a:t> </a:t>
            </a:r>
            <a:r>
              <a:rPr b="0" lang="en-US" sz="1800" spc="-12" strike="noStrike">
                <a:solidFill>
                  <a:srgbClr val="ac172b"/>
                </a:solidFill>
                <a:latin typeface="Calibri"/>
                <a:ea typeface="DejaVu Sans"/>
              </a:rPr>
              <a:t>Events—</a:t>
            </a:r>
            <a:r>
              <a:rPr b="0" lang="en-US" sz="1800" spc="-12" strike="noStrike">
                <a:solidFill>
                  <a:srgbClr val="000000"/>
                </a:solidFill>
                <a:latin typeface="Calibri"/>
                <a:ea typeface="DejaVu Sans"/>
              </a:rPr>
              <a:t>events</a:t>
            </a:r>
            <a:r>
              <a:rPr b="0" lang="en-US" sz="1800" spc="-5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1800" spc="-7" strike="noStrike">
                <a:solidFill>
                  <a:srgbClr val="000000"/>
                </a:solidFill>
                <a:latin typeface="Calibri"/>
                <a:ea typeface="DejaVu Sans"/>
              </a:rPr>
              <a:t>that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1800" spc="-15" strike="noStrike">
                <a:solidFill>
                  <a:srgbClr val="000000"/>
                </a:solidFill>
                <a:latin typeface="Calibri"/>
                <a:ea typeface="DejaVu Sans"/>
              </a:rPr>
              <a:t>are</a:t>
            </a:r>
            <a:r>
              <a:rPr b="0" lang="en-US" sz="1800" spc="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1800" spc="-7" strike="noStrike">
                <a:solidFill>
                  <a:srgbClr val="000000"/>
                </a:solidFill>
                <a:latin typeface="Calibri"/>
                <a:ea typeface="DejaVu Sans"/>
              </a:rPr>
              <a:t>sent</a:t>
            </a:r>
            <a:r>
              <a:rPr b="0" lang="en-US" sz="18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1800" spc="-12" strike="noStrike">
                <a:solidFill>
                  <a:srgbClr val="000000"/>
                </a:solidFill>
                <a:latin typeface="Calibri"/>
                <a:ea typeface="DejaVu Sans"/>
              </a:rPr>
              <a:t>to</a:t>
            </a:r>
            <a:r>
              <a:rPr b="0" lang="en-US" sz="18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1800" spc="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1800" spc="-12" strike="noStrike">
                <a:solidFill>
                  <a:srgbClr val="000000"/>
                </a:solidFill>
                <a:latin typeface="Calibri"/>
                <a:ea typeface="DejaVu Sans"/>
              </a:rPr>
              <a:t>local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1800" spc="-7" strike="noStrike">
                <a:solidFill>
                  <a:srgbClr val="000000"/>
                </a:solidFill>
                <a:latin typeface="Calibri"/>
                <a:ea typeface="DejaVu Sans"/>
              </a:rPr>
              <a:t>log</a:t>
            </a:r>
            <a:r>
              <a:rPr b="0" lang="en-US" sz="1800" spc="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1800" spc="-12" strike="noStrike">
                <a:solidFill>
                  <a:srgbClr val="000000"/>
                </a:solidFill>
                <a:latin typeface="Calibri"/>
                <a:ea typeface="DejaVu Sans"/>
              </a:rPr>
              <a:t>from</a:t>
            </a:r>
            <a:r>
              <a:rPr b="0" lang="en-US" sz="1800" spc="-7" strike="noStrike">
                <a:solidFill>
                  <a:srgbClr val="000000"/>
                </a:solidFill>
                <a:latin typeface="Calibri"/>
                <a:ea typeface="DejaVu Sans"/>
              </a:rPr>
              <a:t> other</a:t>
            </a:r>
            <a:r>
              <a:rPr b="0" lang="en-US" sz="1800" spc="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1800" spc="-7" strike="noStrike">
                <a:solidFill>
                  <a:srgbClr val="000000"/>
                </a:solidFill>
                <a:latin typeface="Calibri"/>
                <a:ea typeface="DejaVu Sans"/>
              </a:rPr>
              <a:t>hosts.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223" name="object 4"/>
          <p:cNvSpPr/>
          <p:nvPr/>
        </p:nvSpPr>
        <p:spPr>
          <a:xfrm>
            <a:off x="838080" y="6400800"/>
            <a:ext cx="10514520" cy="227520"/>
          </a:xfrm>
          <a:custGeom>
            <a:avLst/>
            <a:gdLst/>
            <a:ahLst/>
            <a:rect l="l" t="t" r="r" b="b"/>
            <a:pathLst>
              <a:path w="10515600" h="228600">
                <a:moveTo>
                  <a:pt x="10515600" y="0"/>
                </a:moveTo>
                <a:lnTo>
                  <a:pt x="0" y="0"/>
                </a:lnTo>
                <a:lnTo>
                  <a:pt x="0" y="228600"/>
                </a:lnTo>
                <a:lnTo>
                  <a:pt x="10515600" y="228600"/>
                </a:lnTo>
                <a:lnTo>
                  <a:pt x="10515600" y="0"/>
                </a:lnTo>
                <a:close/>
              </a:path>
            </a:pathLst>
          </a:custGeom>
          <a:solidFill>
            <a:srgbClr val="c00000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24" name="PlaceHolder 2"/>
          <p:cNvSpPr>
            <a:spLocks noGrp="1"/>
          </p:cNvSpPr>
          <p:nvPr>
            <p:ph type="ftr" idx="73"/>
          </p:nvPr>
        </p:nvSpPr>
        <p:spPr>
          <a:xfrm>
            <a:off x="916920" y="6451560"/>
            <a:ext cx="102240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Security+</a:t>
            </a:r>
            <a:r>
              <a:rPr b="0" lang="en-US" sz="1000" spc="-46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(SY0-601)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225" name="PlaceHolder 3"/>
          <p:cNvSpPr>
            <a:spLocks noGrp="1"/>
          </p:cNvSpPr>
          <p:nvPr>
            <p:ph type="dt" idx="74"/>
          </p:nvPr>
        </p:nvSpPr>
        <p:spPr>
          <a:xfrm>
            <a:off x="5492520" y="6451560"/>
            <a:ext cx="112212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©</a:t>
            </a:r>
            <a:r>
              <a:rPr b="0" lang="en-US" sz="1000" spc="-41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netriders.academy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226" name="PlaceHolder 4"/>
          <p:cNvSpPr>
            <a:spLocks noGrp="1"/>
          </p:cNvSpPr>
          <p:nvPr>
            <p:ph type="sldNum" idx="75"/>
          </p:nvPr>
        </p:nvSpPr>
        <p:spPr>
          <a:xfrm>
            <a:off x="11098440" y="6451200"/>
            <a:ext cx="20340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3816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38160">
              <a:lnSpc>
                <a:spcPts val="1046"/>
              </a:lnSpc>
              <a:buNone/>
            </a:pPr>
            <a:fld id="{83C269F4-C989-4EAC-95BA-3448007CEFBD}" type="slidenum">
              <a:rPr b="0" lang="en-US" sz="1000" spc="-7" strike="noStrike">
                <a:solidFill>
                  <a:srgbClr val="ffffff"/>
                </a:solidFill>
                <a:latin typeface="Calibri"/>
              </a:rPr>
              <a:t>&lt;number&gt;</a:t>
            </a:fld>
            <a:endParaRPr b="0" lang="en-US" sz="10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PlaceHolder 1"/>
          <p:cNvSpPr>
            <a:spLocks noGrp="1"/>
          </p:cNvSpPr>
          <p:nvPr>
            <p:ph type="title"/>
          </p:nvPr>
        </p:nvSpPr>
        <p:spPr>
          <a:xfrm>
            <a:off x="457200" y="684720"/>
            <a:ext cx="11429280" cy="115704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>
              <a:lnSpc>
                <a:spcPct val="100000"/>
              </a:lnSpc>
              <a:spcBef>
                <a:spcPts val="99"/>
              </a:spcBef>
              <a:buNone/>
            </a:pPr>
            <a:r>
              <a:rPr b="0" lang="en-US" sz="3600" spc="-41" strike="noStrike">
                <a:solidFill>
                  <a:srgbClr val="c00000"/>
                </a:solidFill>
                <a:latin typeface="Calibri Light"/>
              </a:rPr>
              <a:t>NETWORK,</a:t>
            </a:r>
            <a:r>
              <a:rPr b="0" lang="en-US" sz="3600" spc="-75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15" strike="noStrike">
                <a:solidFill>
                  <a:srgbClr val="c00000"/>
                </a:solidFill>
                <a:latin typeface="Calibri Light"/>
              </a:rPr>
              <a:t>OS,</a:t>
            </a:r>
            <a:r>
              <a:rPr b="0" lang="en-US" sz="3600" spc="-80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21" strike="noStrike">
                <a:solidFill>
                  <a:srgbClr val="c00000"/>
                </a:solidFill>
                <a:latin typeface="Calibri Light"/>
              </a:rPr>
              <a:t>AND</a:t>
            </a:r>
            <a:r>
              <a:rPr b="0" lang="en-US" sz="3600" spc="-92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32" strike="noStrike">
                <a:solidFill>
                  <a:srgbClr val="c00000"/>
                </a:solidFill>
                <a:latin typeface="Calibri Light"/>
              </a:rPr>
              <a:t>SECURITY</a:t>
            </a:r>
            <a:r>
              <a:rPr b="0" lang="en-US" sz="3600" spc="-92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46" strike="noStrike">
                <a:solidFill>
                  <a:srgbClr val="c00000"/>
                </a:solidFill>
                <a:latin typeface="Calibri Light"/>
              </a:rPr>
              <a:t>LOG</a:t>
            </a:r>
            <a:r>
              <a:rPr b="0" lang="en-US" sz="3600" spc="-97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26" strike="noStrike">
                <a:solidFill>
                  <a:srgbClr val="c00000"/>
                </a:solidFill>
                <a:latin typeface="Calibri Light"/>
              </a:rPr>
              <a:t>FILES</a:t>
            </a:r>
            <a:r>
              <a:rPr b="0" lang="en-US" sz="3600" spc="-92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32" strike="noStrike">
                <a:solidFill>
                  <a:srgbClr val="c00000"/>
                </a:solidFill>
                <a:latin typeface="Calibri Light"/>
              </a:rPr>
              <a:t>(cont.)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228" name="object 3"/>
          <p:cNvSpPr/>
          <p:nvPr/>
        </p:nvSpPr>
        <p:spPr>
          <a:xfrm>
            <a:off x="484920" y="1470960"/>
            <a:ext cx="11172960" cy="399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56520" bIns="0" anchor="t">
            <a:spAutoFit/>
          </a:bodyPr>
          <a:p>
            <a:pPr marL="241200" indent="-229320">
              <a:lnSpc>
                <a:spcPct val="100000"/>
              </a:lnSpc>
              <a:spcBef>
                <a:spcPts val="445"/>
              </a:spcBef>
              <a:buClr>
                <a:srgbClr val="006fc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12" strike="noStrike">
                <a:solidFill>
                  <a:srgbClr val="006fc0"/>
                </a:solidFill>
                <a:latin typeface="Calibri"/>
                <a:ea typeface="DejaVu Sans"/>
              </a:rPr>
              <a:t>Network</a:t>
            </a:r>
            <a:r>
              <a:rPr b="0" lang="en-US" sz="2400" spc="-52" strike="noStrike">
                <a:solidFill>
                  <a:srgbClr val="006fc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6fc0"/>
                </a:solidFill>
                <a:latin typeface="Calibri"/>
                <a:ea typeface="DejaVu Sans"/>
              </a:rPr>
              <a:t>Logs</a:t>
            </a:r>
            <a:endParaRPr b="0" lang="en-US" sz="2400" spc="-1" strike="noStrike">
              <a:latin typeface="Arial"/>
            </a:endParaRPr>
          </a:p>
          <a:p>
            <a:pPr lvl="1" marL="698400" indent="-229320">
              <a:lnSpc>
                <a:spcPts val="2279"/>
              </a:lnSpc>
              <a:spcBef>
                <a:spcPts val="289"/>
              </a:spcBef>
              <a:buClr>
                <a:srgbClr val="000000"/>
              </a:buClr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Network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logs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are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generated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by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appliances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such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as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1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routers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,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1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firewalls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,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1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switches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,</a:t>
            </a:r>
            <a:r>
              <a:rPr b="0" lang="en-US" sz="2000" spc="-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and </a:t>
            </a:r>
            <a:r>
              <a:rPr b="1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access </a:t>
            </a:r>
            <a:r>
              <a:rPr b="1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points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.</a:t>
            </a:r>
            <a:endParaRPr b="0" lang="en-US" sz="2000" spc="-1" strike="noStrike">
              <a:latin typeface="Arial"/>
            </a:endParaRPr>
          </a:p>
          <a:p>
            <a:pPr lvl="1" marL="698400" indent="-228600">
              <a:lnSpc>
                <a:spcPts val="2160"/>
              </a:lnSpc>
              <a:spcBef>
                <a:spcPts val="524"/>
              </a:spcBef>
              <a:buClr>
                <a:srgbClr val="000000"/>
              </a:buClr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Log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files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will</a:t>
            </a:r>
            <a:r>
              <a:rPr b="0" lang="en-US" sz="2000" spc="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record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the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operation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and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status</a:t>
            </a:r>
            <a:r>
              <a:rPr b="0" lang="en-US" sz="2000" spc="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of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appliance itself—the</a:t>
            </a:r>
            <a:r>
              <a:rPr b="0" lang="en-US" sz="2000" spc="2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21" strike="noStrike">
                <a:solidFill>
                  <a:srgbClr val="000000"/>
                </a:solidFill>
                <a:latin typeface="Calibri"/>
                <a:ea typeface="DejaVu Sans"/>
              </a:rPr>
              <a:t>system</a:t>
            </a:r>
            <a:r>
              <a:rPr b="0" lang="en-US" sz="2000" spc="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log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for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the </a:t>
            </a:r>
            <a:r>
              <a:rPr b="0" lang="en-US" sz="2000" spc="-440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appliance—plus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traffic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and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access</a:t>
            </a:r>
            <a:r>
              <a:rPr b="0" lang="en-US" sz="2000" spc="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logs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recording</a:t>
            </a:r>
            <a:r>
              <a:rPr b="0" lang="en-US" sz="2000" spc="-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network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26" strike="noStrike">
                <a:solidFill>
                  <a:srgbClr val="000000"/>
                </a:solidFill>
                <a:latin typeface="Calibri"/>
                <a:ea typeface="DejaVu Sans"/>
              </a:rPr>
              <a:t>behavior,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such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as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host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trying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to </a:t>
            </a:r>
            <a:r>
              <a:rPr b="0" lang="en-US" sz="2000" spc="-43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use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 port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that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is</a:t>
            </a:r>
            <a:r>
              <a:rPr b="0" lang="en-US" sz="2000" spc="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blocked</a:t>
            </a:r>
            <a:r>
              <a:rPr b="0" lang="en-US" sz="20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by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the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firewall,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or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an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endpoint</a:t>
            </a:r>
            <a:r>
              <a:rPr b="0" lang="en-US" sz="20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trying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to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use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multiple</a:t>
            </a:r>
            <a:r>
              <a:rPr b="0" lang="en-US" sz="2000" spc="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MAC 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addresses</a:t>
            </a:r>
            <a:r>
              <a:rPr b="0" lang="en-US" sz="2000" spc="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when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connected</a:t>
            </a:r>
            <a:r>
              <a:rPr b="0" lang="en-US" sz="20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to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switch.</a:t>
            </a:r>
            <a:endParaRPr b="0" lang="en-US" sz="2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699120"/>
              </a:tabLst>
            </a:pPr>
            <a:endParaRPr b="0" lang="en-US" sz="2000" spc="-1" strike="noStrike">
              <a:latin typeface="Arial"/>
            </a:endParaRPr>
          </a:p>
          <a:p>
            <a:pPr marL="241200" indent="-229320">
              <a:lnSpc>
                <a:spcPct val="100000"/>
              </a:lnSpc>
              <a:spcBef>
                <a:spcPts val="1321"/>
              </a:spcBef>
              <a:buClr>
                <a:srgbClr val="006fc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7" strike="noStrike">
                <a:solidFill>
                  <a:srgbClr val="006fc0"/>
                </a:solidFill>
                <a:latin typeface="Calibri"/>
                <a:ea typeface="DejaVu Sans"/>
              </a:rPr>
              <a:t>Authentication</a:t>
            </a:r>
            <a:r>
              <a:rPr b="0" lang="en-US" sz="2400" spc="-60" strike="noStrike">
                <a:solidFill>
                  <a:srgbClr val="006fc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6fc0"/>
                </a:solidFill>
                <a:latin typeface="Calibri"/>
                <a:ea typeface="DejaVu Sans"/>
              </a:rPr>
              <a:t>Logs</a:t>
            </a:r>
            <a:endParaRPr b="0" lang="en-US" sz="2400" spc="-1" strike="noStrike">
              <a:latin typeface="Arial"/>
            </a:endParaRPr>
          </a:p>
          <a:p>
            <a:pPr lvl="1" marL="698400" indent="-229320">
              <a:lnSpc>
                <a:spcPct val="100000"/>
              </a:lnSpc>
              <a:spcBef>
                <a:spcPts val="281"/>
              </a:spcBef>
              <a:buClr>
                <a:srgbClr val="000000"/>
              </a:buClr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Authentication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attempts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for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each</a:t>
            </a:r>
            <a:r>
              <a:rPr b="0" lang="en-US" sz="2000" spc="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host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are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likely</a:t>
            </a:r>
            <a:r>
              <a:rPr b="0" lang="en-US" sz="2000" spc="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to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be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written</a:t>
            </a:r>
            <a:r>
              <a:rPr b="0" lang="en-US" sz="2000" spc="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to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the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security</a:t>
            </a:r>
            <a:r>
              <a:rPr b="0" lang="en-US" sz="2000" spc="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log.</a:t>
            </a:r>
            <a:endParaRPr b="0" lang="en-US" sz="2000" spc="-1" strike="noStrike">
              <a:latin typeface="Arial"/>
            </a:endParaRPr>
          </a:p>
          <a:p>
            <a:pPr lvl="1" marL="698400" indent="-229320">
              <a:lnSpc>
                <a:spcPts val="2279"/>
              </a:lnSpc>
              <a:spcBef>
                <a:spcPts val="264"/>
              </a:spcBef>
              <a:buClr>
                <a:srgbClr val="000000"/>
              </a:buClr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000" spc="-52" strike="noStrike">
                <a:solidFill>
                  <a:srgbClr val="000000"/>
                </a:solidFill>
                <a:latin typeface="Calibri"/>
                <a:ea typeface="DejaVu Sans"/>
              </a:rPr>
              <a:t>You</a:t>
            </a:r>
            <a:r>
              <a:rPr b="0" lang="en-US" sz="20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might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also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need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to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inspect logs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from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servers</a:t>
            </a:r>
            <a:r>
              <a:rPr b="0" lang="en-US" sz="2000" spc="2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authorizing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logons,</a:t>
            </a:r>
            <a:r>
              <a:rPr b="0" lang="en-US" sz="20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such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as</a:t>
            </a:r>
            <a:r>
              <a:rPr b="0" lang="en-US" sz="2000" spc="18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1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RADIUS</a:t>
            </a:r>
            <a:r>
              <a:rPr b="1" lang="en-US" sz="20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and </a:t>
            </a:r>
            <a:r>
              <a:rPr b="1" lang="en-US" sz="2000" spc="-35" strike="noStrike">
                <a:solidFill>
                  <a:srgbClr val="000000"/>
                </a:solidFill>
                <a:latin typeface="Calibri"/>
                <a:ea typeface="DejaVu Sans"/>
              </a:rPr>
              <a:t>TACACS+</a:t>
            </a:r>
            <a:r>
              <a:rPr b="1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servers</a:t>
            </a:r>
            <a:r>
              <a:rPr b="0" lang="en-US" sz="2000" spc="2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or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1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Windows</a:t>
            </a:r>
            <a:r>
              <a:rPr b="1" lang="en-US" sz="2000" spc="-3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1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Active </a:t>
            </a:r>
            <a:r>
              <a:rPr b="1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Directory</a:t>
            </a:r>
            <a:r>
              <a:rPr b="1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(AD)</a:t>
            </a:r>
            <a:r>
              <a:rPr b="1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servers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.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229" name="object 4"/>
          <p:cNvSpPr/>
          <p:nvPr/>
        </p:nvSpPr>
        <p:spPr>
          <a:xfrm>
            <a:off x="838080" y="6400800"/>
            <a:ext cx="10514520" cy="227520"/>
          </a:xfrm>
          <a:custGeom>
            <a:avLst/>
            <a:gdLst/>
            <a:ahLst/>
            <a:rect l="l" t="t" r="r" b="b"/>
            <a:pathLst>
              <a:path w="10515600" h="228600">
                <a:moveTo>
                  <a:pt x="10515600" y="0"/>
                </a:moveTo>
                <a:lnTo>
                  <a:pt x="0" y="0"/>
                </a:lnTo>
                <a:lnTo>
                  <a:pt x="0" y="228600"/>
                </a:lnTo>
                <a:lnTo>
                  <a:pt x="10515600" y="228600"/>
                </a:lnTo>
                <a:lnTo>
                  <a:pt x="10515600" y="0"/>
                </a:lnTo>
                <a:close/>
              </a:path>
            </a:pathLst>
          </a:custGeom>
          <a:solidFill>
            <a:srgbClr val="c00000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30" name="PlaceHolder 2"/>
          <p:cNvSpPr>
            <a:spLocks noGrp="1"/>
          </p:cNvSpPr>
          <p:nvPr>
            <p:ph type="ftr" idx="76"/>
          </p:nvPr>
        </p:nvSpPr>
        <p:spPr>
          <a:xfrm>
            <a:off x="916920" y="6451560"/>
            <a:ext cx="102240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Security+</a:t>
            </a:r>
            <a:r>
              <a:rPr b="0" lang="en-US" sz="1000" spc="-46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(SY0-601)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231" name="PlaceHolder 3"/>
          <p:cNvSpPr>
            <a:spLocks noGrp="1"/>
          </p:cNvSpPr>
          <p:nvPr>
            <p:ph type="dt" idx="77"/>
          </p:nvPr>
        </p:nvSpPr>
        <p:spPr>
          <a:xfrm>
            <a:off x="5492520" y="6451560"/>
            <a:ext cx="112212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©</a:t>
            </a:r>
            <a:r>
              <a:rPr b="0" lang="en-US" sz="1000" spc="-41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netriders.academy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232" name="PlaceHolder 4"/>
          <p:cNvSpPr>
            <a:spLocks noGrp="1"/>
          </p:cNvSpPr>
          <p:nvPr>
            <p:ph type="sldNum" idx="78"/>
          </p:nvPr>
        </p:nvSpPr>
        <p:spPr>
          <a:xfrm>
            <a:off x="11098440" y="6451200"/>
            <a:ext cx="20340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3816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38160">
              <a:lnSpc>
                <a:spcPts val="1046"/>
              </a:lnSpc>
              <a:buNone/>
            </a:pPr>
            <a:fld id="{AF2F8CBE-CBF1-4F09-99A5-AEA82F21508E}" type="slidenum">
              <a:rPr b="0" lang="en-US" sz="1000" spc="-7" strike="noStrike">
                <a:solidFill>
                  <a:srgbClr val="ffffff"/>
                </a:solidFill>
                <a:latin typeface="Calibri"/>
              </a:rPr>
              <a:t>&lt;number&gt;</a:t>
            </a:fld>
            <a:endParaRPr b="0" lang="en-US" sz="10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PlaceHolder 1"/>
          <p:cNvSpPr>
            <a:spLocks noGrp="1"/>
          </p:cNvSpPr>
          <p:nvPr>
            <p:ph type="title"/>
          </p:nvPr>
        </p:nvSpPr>
        <p:spPr>
          <a:xfrm>
            <a:off x="916920" y="684720"/>
            <a:ext cx="8610840" cy="115704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>
              <a:lnSpc>
                <a:spcPct val="100000"/>
              </a:lnSpc>
              <a:spcBef>
                <a:spcPts val="99"/>
              </a:spcBef>
              <a:buNone/>
            </a:pPr>
            <a:r>
              <a:rPr b="0" lang="en-US" sz="3600" spc="-41" strike="noStrike">
                <a:solidFill>
                  <a:srgbClr val="c00000"/>
                </a:solidFill>
                <a:latin typeface="Calibri Light"/>
              </a:rPr>
              <a:t>NETWORK,</a:t>
            </a:r>
            <a:r>
              <a:rPr b="0" lang="en-US" sz="3600" spc="-75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15" strike="noStrike">
                <a:solidFill>
                  <a:srgbClr val="c00000"/>
                </a:solidFill>
                <a:latin typeface="Calibri Light"/>
              </a:rPr>
              <a:t>OS,</a:t>
            </a:r>
            <a:r>
              <a:rPr b="0" lang="en-US" sz="3600" spc="-80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21" strike="noStrike">
                <a:solidFill>
                  <a:srgbClr val="c00000"/>
                </a:solidFill>
                <a:latin typeface="Calibri Light"/>
              </a:rPr>
              <a:t>AND</a:t>
            </a:r>
            <a:r>
              <a:rPr b="0" lang="en-US" sz="3600" spc="-92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32" strike="noStrike">
                <a:solidFill>
                  <a:srgbClr val="c00000"/>
                </a:solidFill>
                <a:latin typeface="Calibri Light"/>
              </a:rPr>
              <a:t>SECURITY</a:t>
            </a:r>
            <a:r>
              <a:rPr b="0" lang="en-US" sz="3600" spc="-92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46" strike="noStrike">
                <a:solidFill>
                  <a:srgbClr val="c00000"/>
                </a:solidFill>
                <a:latin typeface="Calibri Light"/>
              </a:rPr>
              <a:t>LOG</a:t>
            </a:r>
            <a:r>
              <a:rPr b="0" lang="en-US" sz="3600" spc="-97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26" strike="noStrike">
                <a:solidFill>
                  <a:srgbClr val="c00000"/>
                </a:solidFill>
                <a:latin typeface="Calibri Light"/>
              </a:rPr>
              <a:t>FILES</a:t>
            </a:r>
            <a:r>
              <a:rPr b="0" lang="en-US" sz="3600" spc="-92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32" strike="noStrike">
                <a:solidFill>
                  <a:srgbClr val="c00000"/>
                </a:solidFill>
                <a:latin typeface="Calibri Light"/>
              </a:rPr>
              <a:t>(cont.)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234" name="object 3"/>
          <p:cNvSpPr/>
          <p:nvPr/>
        </p:nvSpPr>
        <p:spPr>
          <a:xfrm>
            <a:off x="916920" y="2010960"/>
            <a:ext cx="10741320" cy="261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56520" bIns="0" anchor="t">
            <a:spAutoFit/>
          </a:bodyPr>
          <a:p>
            <a:pPr marL="241200" indent="-229320">
              <a:lnSpc>
                <a:spcPct val="100000"/>
              </a:lnSpc>
              <a:spcBef>
                <a:spcPts val="445"/>
              </a:spcBef>
              <a:buClr>
                <a:srgbClr val="006fc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15" strike="noStrike">
                <a:solidFill>
                  <a:srgbClr val="006fc0"/>
                </a:solidFill>
                <a:latin typeface="Calibri"/>
                <a:ea typeface="DejaVu Sans"/>
              </a:rPr>
              <a:t>Vulnerability</a:t>
            </a:r>
            <a:r>
              <a:rPr b="0" lang="en-US" sz="2400" spc="-21" strike="noStrike">
                <a:solidFill>
                  <a:srgbClr val="006fc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6fc0"/>
                </a:solidFill>
                <a:latin typeface="Calibri"/>
                <a:ea typeface="DejaVu Sans"/>
              </a:rPr>
              <a:t>Scan</a:t>
            </a:r>
            <a:r>
              <a:rPr b="0" lang="en-US" sz="2400" spc="-21" strike="noStrike">
                <a:solidFill>
                  <a:srgbClr val="006fc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6fc0"/>
                </a:solidFill>
                <a:latin typeface="Calibri"/>
                <a:ea typeface="DejaVu Sans"/>
              </a:rPr>
              <a:t>Output</a:t>
            </a:r>
            <a:endParaRPr b="0" lang="en-US" sz="2400" spc="-1" strike="noStrike">
              <a:latin typeface="Arial"/>
            </a:endParaRPr>
          </a:p>
          <a:p>
            <a:pPr lvl="1" marL="698400" indent="-229320">
              <a:lnSpc>
                <a:spcPts val="2279"/>
              </a:lnSpc>
              <a:spcBef>
                <a:spcPts val="289"/>
              </a:spcBef>
              <a:buClr>
                <a:srgbClr val="000000"/>
              </a:buClr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vulnerability</a:t>
            </a:r>
            <a:r>
              <a:rPr b="0" lang="en-US" sz="2000" spc="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scan</a:t>
            </a:r>
            <a:r>
              <a:rPr b="0" lang="en-US" sz="2000" spc="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report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is</a:t>
            </a:r>
            <a:r>
              <a:rPr b="0" lang="en-US" sz="2000" spc="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another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important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source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when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determining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how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an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attack</a:t>
            </a:r>
            <a:endParaRPr b="0" lang="en-US" sz="2000" spc="-1" strike="noStrike">
              <a:latin typeface="Arial"/>
            </a:endParaRPr>
          </a:p>
          <a:p>
            <a:pPr marL="698400">
              <a:lnSpc>
                <a:spcPts val="2279"/>
              </a:lnSpc>
              <a:buNone/>
              <a:tabLst>
                <a:tab algn="l" pos="699120"/>
              </a:tabLst>
            </a:pP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might</a:t>
            </a:r>
            <a:r>
              <a:rPr b="0" lang="en-US" sz="20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have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been</a:t>
            </a:r>
            <a:r>
              <a:rPr b="0" lang="en-US" sz="2000" spc="-3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made.</a:t>
            </a:r>
            <a:endParaRPr b="0" lang="en-US" sz="2000" spc="-1" strike="noStrike">
              <a:latin typeface="Arial"/>
            </a:endParaRPr>
          </a:p>
          <a:p>
            <a:pPr lvl="1" marL="698400" indent="-229320">
              <a:lnSpc>
                <a:spcPct val="100000"/>
              </a:lnSpc>
              <a:spcBef>
                <a:spcPts val="255"/>
              </a:spcBef>
              <a:buClr>
                <a:srgbClr val="000000"/>
              </a:buClr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The scan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engine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might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log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or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alert</a:t>
            </a:r>
            <a:r>
              <a:rPr b="0" lang="en-US" sz="2000" spc="18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when</a:t>
            </a:r>
            <a:r>
              <a:rPr b="0" lang="en-US" sz="20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scan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report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contains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vulnerabilities.</a:t>
            </a:r>
            <a:endParaRPr b="0" lang="en-US" sz="2000" spc="-1" strike="noStrike">
              <a:latin typeface="Arial"/>
            </a:endParaRPr>
          </a:p>
          <a:p>
            <a:pPr lvl="1" marL="698400" indent="-228600">
              <a:lnSpc>
                <a:spcPts val="2160"/>
              </a:lnSpc>
              <a:spcBef>
                <a:spcPts val="536"/>
              </a:spcBef>
              <a:buClr>
                <a:srgbClr val="000000"/>
              </a:buClr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report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can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be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analyzed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to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identify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vulnerabilities</a:t>
            </a:r>
            <a:r>
              <a:rPr b="0" lang="en-US" sz="2000" spc="2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that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have</a:t>
            </a:r>
            <a:r>
              <a:rPr b="0" lang="en-US" sz="2000" spc="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not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been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patched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or </a:t>
            </a:r>
            <a:r>
              <a:rPr b="0" lang="en-US" sz="2000" spc="-440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configuration</a:t>
            </a:r>
            <a:r>
              <a:rPr b="0" lang="en-US" sz="2000" spc="-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weaknesses</a:t>
            </a:r>
            <a:r>
              <a:rPr b="0" lang="en-US" sz="2000" spc="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that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have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not been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remediated.</a:t>
            </a:r>
            <a:endParaRPr b="0" lang="en-US" sz="2000" spc="-1" strike="noStrike">
              <a:latin typeface="Arial"/>
            </a:endParaRPr>
          </a:p>
          <a:p>
            <a:pPr lvl="1" marL="698400" indent="-229320">
              <a:lnSpc>
                <a:spcPct val="100000"/>
              </a:lnSpc>
              <a:spcBef>
                <a:spcPts val="235"/>
              </a:spcBef>
              <a:buClr>
                <a:srgbClr val="000000"/>
              </a:buClr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These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can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be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correlated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to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recently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developed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exploits.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235" name="object 4"/>
          <p:cNvSpPr/>
          <p:nvPr/>
        </p:nvSpPr>
        <p:spPr>
          <a:xfrm>
            <a:off x="838080" y="6400800"/>
            <a:ext cx="10514520" cy="227520"/>
          </a:xfrm>
          <a:custGeom>
            <a:avLst/>
            <a:gdLst/>
            <a:ahLst/>
            <a:rect l="l" t="t" r="r" b="b"/>
            <a:pathLst>
              <a:path w="10515600" h="228600">
                <a:moveTo>
                  <a:pt x="10515600" y="0"/>
                </a:moveTo>
                <a:lnTo>
                  <a:pt x="0" y="0"/>
                </a:lnTo>
                <a:lnTo>
                  <a:pt x="0" y="228600"/>
                </a:lnTo>
                <a:lnTo>
                  <a:pt x="10515600" y="228600"/>
                </a:lnTo>
                <a:lnTo>
                  <a:pt x="10515600" y="0"/>
                </a:lnTo>
                <a:close/>
              </a:path>
            </a:pathLst>
          </a:custGeom>
          <a:solidFill>
            <a:srgbClr val="c00000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36" name="PlaceHolder 2"/>
          <p:cNvSpPr>
            <a:spLocks noGrp="1"/>
          </p:cNvSpPr>
          <p:nvPr>
            <p:ph type="ftr" idx="79"/>
          </p:nvPr>
        </p:nvSpPr>
        <p:spPr>
          <a:xfrm>
            <a:off x="916920" y="6451560"/>
            <a:ext cx="102240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Security+</a:t>
            </a:r>
            <a:r>
              <a:rPr b="0" lang="en-US" sz="1000" spc="-46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(SY0-601)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237" name="PlaceHolder 3"/>
          <p:cNvSpPr>
            <a:spLocks noGrp="1"/>
          </p:cNvSpPr>
          <p:nvPr>
            <p:ph type="dt" idx="80"/>
          </p:nvPr>
        </p:nvSpPr>
        <p:spPr>
          <a:xfrm>
            <a:off x="5492520" y="6451560"/>
            <a:ext cx="112212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©</a:t>
            </a:r>
            <a:r>
              <a:rPr b="0" lang="en-US" sz="1000" spc="-41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netriders.academy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238" name="PlaceHolder 4"/>
          <p:cNvSpPr>
            <a:spLocks noGrp="1"/>
          </p:cNvSpPr>
          <p:nvPr>
            <p:ph type="sldNum" idx="81"/>
          </p:nvPr>
        </p:nvSpPr>
        <p:spPr>
          <a:xfrm>
            <a:off x="11098440" y="6451200"/>
            <a:ext cx="20340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3816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38160">
              <a:lnSpc>
                <a:spcPts val="1046"/>
              </a:lnSpc>
              <a:buNone/>
            </a:pPr>
            <a:fld id="{ECEBE2D2-D2E3-428B-824A-2D73AADFD132}" type="slidenum">
              <a:rPr b="0" lang="en-US" sz="1000" spc="-7" strike="noStrike">
                <a:solidFill>
                  <a:srgbClr val="ffffff"/>
                </a:solidFill>
                <a:latin typeface="Calibri"/>
              </a:rPr>
              <a:t>&lt;number&gt;</a:t>
            </a:fld>
            <a:endParaRPr b="0" lang="en-US" sz="10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PlaceHolder 1"/>
          <p:cNvSpPr>
            <a:spLocks noGrp="1"/>
          </p:cNvSpPr>
          <p:nvPr>
            <p:ph type="title"/>
          </p:nvPr>
        </p:nvSpPr>
        <p:spPr>
          <a:xfrm>
            <a:off x="916920" y="684720"/>
            <a:ext cx="6397560" cy="115704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>
              <a:lnSpc>
                <a:spcPct val="100000"/>
              </a:lnSpc>
              <a:spcBef>
                <a:spcPts val="99"/>
              </a:spcBef>
              <a:buNone/>
            </a:pPr>
            <a:r>
              <a:rPr b="0" lang="en-US" sz="3600" spc="-55" strike="noStrike">
                <a:solidFill>
                  <a:srgbClr val="c00000"/>
                </a:solidFill>
                <a:latin typeface="Calibri Light"/>
              </a:rPr>
              <a:t>APPLICATION</a:t>
            </a:r>
            <a:r>
              <a:rPr b="0" lang="en-US" sz="3600" spc="-137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46" strike="noStrike">
                <a:solidFill>
                  <a:srgbClr val="c00000"/>
                </a:solidFill>
                <a:latin typeface="Calibri Light"/>
              </a:rPr>
              <a:t>LOG</a:t>
            </a:r>
            <a:r>
              <a:rPr b="0" lang="en-US" sz="3600" spc="-114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26" strike="noStrike">
                <a:solidFill>
                  <a:srgbClr val="c00000"/>
                </a:solidFill>
                <a:latin typeface="Calibri Light"/>
              </a:rPr>
              <a:t>FILES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240" name="object 3"/>
          <p:cNvSpPr/>
          <p:nvPr/>
        </p:nvSpPr>
        <p:spPr>
          <a:xfrm>
            <a:off x="916920" y="1758960"/>
            <a:ext cx="10244160" cy="307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56520" bIns="0" anchor="t">
            <a:spAutoFit/>
          </a:bodyPr>
          <a:p>
            <a:pPr marL="241200" indent="-229320">
              <a:lnSpc>
                <a:spcPct val="100000"/>
              </a:lnSpc>
              <a:spcBef>
                <a:spcPts val="445"/>
              </a:spcBef>
              <a:buClr>
                <a:srgbClr val="006fc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7" strike="noStrike">
                <a:solidFill>
                  <a:srgbClr val="006fc0"/>
                </a:solidFill>
                <a:latin typeface="Calibri"/>
                <a:ea typeface="DejaVu Sans"/>
              </a:rPr>
              <a:t>DNS</a:t>
            </a:r>
            <a:r>
              <a:rPr b="0" lang="en-US" sz="2400" spc="-26" strike="noStrike">
                <a:solidFill>
                  <a:srgbClr val="006fc0"/>
                </a:solidFill>
                <a:latin typeface="Calibri"/>
                <a:ea typeface="DejaVu Sans"/>
              </a:rPr>
              <a:t> Event</a:t>
            </a:r>
            <a:r>
              <a:rPr b="0" lang="en-US" sz="2400" spc="-21" strike="noStrike">
                <a:solidFill>
                  <a:srgbClr val="006fc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6fc0"/>
                </a:solidFill>
                <a:latin typeface="Calibri"/>
                <a:ea typeface="DejaVu Sans"/>
              </a:rPr>
              <a:t>Logs</a:t>
            </a:r>
            <a:endParaRPr b="0" lang="en-US" sz="2400" spc="-1" strike="noStrike">
              <a:latin typeface="Arial"/>
            </a:endParaRPr>
          </a:p>
          <a:p>
            <a:pPr lvl="1" marL="698400" indent="-229320" algn="just">
              <a:lnSpc>
                <a:spcPts val="2279"/>
              </a:lnSpc>
              <a:spcBef>
                <a:spcPts val="289"/>
              </a:spcBef>
              <a:buClr>
                <a:srgbClr val="000000"/>
              </a:buClr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DNS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server</a:t>
            </a:r>
            <a:r>
              <a:rPr b="0" lang="en-US" sz="2000" spc="18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may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log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an</a:t>
            </a:r>
            <a:r>
              <a:rPr b="0" lang="en-US" sz="2000" spc="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event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each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time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it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handles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request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to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convert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between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domain name</a:t>
            </a:r>
            <a:r>
              <a:rPr b="0" lang="en-US" sz="20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and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an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IP</a:t>
            </a:r>
            <a:r>
              <a:rPr b="0" lang="en-US" sz="2000" spc="-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address.</a:t>
            </a:r>
            <a:endParaRPr b="0" lang="en-US" sz="2000" spc="-1" strike="noStrike">
              <a:latin typeface="Arial"/>
            </a:endParaRPr>
          </a:p>
          <a:p>
            <a:pPr lvl="1" marL="698400" indent="-228600" algn="just">
              <a:lnSpc>
                <a:spcPts val="2160"/>
              </a:lnSpc>
              <a:spcBef>
                <a:spcPts val="524"/>
              </a:spcBef>
              <a:buClr>
                <a:srgbClr val="000000"/>
              </a:buClr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DNS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event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logs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can hold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variety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of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information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that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may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supply useful security intelligence, </a:t>
            </a:r>
            <a:r>
              <a:rPr b="0" lang="en-US" sz="2000" spc="-440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such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as:</a:t>
            </a:r>
            <a:endParaRPr b="0" lang="en-US" sz="2000" spc="-1" strike="noStrike">
              <a:latin typeface="Arial"/>
            </a:endParaRPr>
          </a:p>
          <a:p>
            <a:pPr lvl="2" marL="1155600" indent="-229320" algn="just">
              <a:lnSpc>
                <a:spcPct val="100000"/>
              </a:lnSpc>
              <a:spcBef>
                <a:spcPts val="264"/>
              </a:spcBef>
              <a:buClr>
                <a:srgbClr val="ac172b"/>
              </a:buClr>
              <a:buFont typeface="Wingdings" charset="2"/>
              <a:buChar char=""/>
              <a:tabLst>
                <a:tab algn="l" pos="1156320"/>
              </a:tabLst>
            </a:pPr>
            <a:r>
              <a:rPr b="0" lang="en-US" sz="1800" spc="-7" strike="noStrike">
                <a:solidFill>
                  <a:srgbClr val="000000"/>
                </a:solidFill>
                <a:latin typeface="Calibri"/>
                <a:ea typeface="DejaVu Sans"/>
              </a:rPr>
              <a:t>The 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types</a:t>
            </a:r>
            <a:r>
              <a:rPr b="0" lang="en-US" sz="1800" spc="-7" strike="noStrike">
                <a:solidFill>
                  <a:srgbClr val="000000"/>
                </a:solidFill>
                <a:latin typeface="Calibri"/>
                <a:ea typeface="DejaVu Sans"/>
              </a:rPr>
              <a:t> of</a:t>
            </a:r>
            <a:r>
              <a:rPr b="0" lang="en-US" sz="18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1800" spc="-7" strike="noStrike">
                <a:solidFill>
                  <a:srgbClr val="000000"/>
                </a:solidFill>
                <a:latin typeface="Calibri"/>
                <a:ea typeface="DejaVu Sans"/>
              </a:rPr>
              <a:t>queries</a:t>
            </a:r>
            <a:r>
              <a:rPr b="0" lang="en-US" sz="1800" spc="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a</a:t>
            </a:r>
            <a:r>
              <a:rPr b="0" lang="en-US" sz="1800" spc="-12" strike="noStrike">
                <a:solidFill>
                  <a:srgbClr val="000000"/>
                </a:solidFill>
                <a:latin typeface="Calibri"/>
                <a:ea typeface="DejaVu Sans"/>
              </a:rPr>
              <a:t> host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1800" spc="-7" strike="noStrike">
                <a:solidFill>
                  <a:srgbClr val="000000"/>
                </a:solidFill>
                <a:latin typeface="Calibri"/>
                <a:ea typeface="DejaVu Sans"/>
              </a:rPr>
              <a:t>has</a:t>
            </a:r>
            <a:r>
              <a:rPr b="0" lang="en-US" sz="18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made</a:t>
            </a:r>
            <a:r>
              <a:rPr b="0" lang="en-US" sz="1800" spc="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1800" spc="-12" strike="noStrike">
                <a:solidFill>
                  <a:srgbClr val="000000"/>
                </a:solidFill>
                <a:latin typeface="Calibri"/>
                <a:ea typeface="DejaVu Sans"/>
              </a:rPr>
              <a:t>to </a:t>
            </a:r>
            <a:r>
              <a:rPr b="0" lang="en-US" sz="1800" spc="-7" strike="noStrike">
                <a:solidFill>
                  <a:srgbClr val="000000"/>
                </a:solidFill>
                <a:latin typeface="Calibri"/>
                <a:ea typeface="DejaVu Sans"/>
              </a:rPr>
              <a:t>DNS.</a:t>
            </a:r>
            <a:endParaRPr b="0" lang="en-US" sz="1800" spc="-1" strike="noStrike">
              <a:latin typeface="Arial"/>
            </a:endParaRPr>
          </a:p>
          <a:p>
            <a:pPr lvl="2" marL="1155600" indent="-229320" algn="just">
              <a:lnSpc>
                <a:spcPct val="100000"/>
              </a:lnSpc>
              <a:spcBef>
                <a:spcPts val="289"/>
              </a:spcBef>
              <a:buClr>
                <a:srgbClr val="ac172b"/>
              </a:buClr>
              <a:buFont typeface="Wingdings" charset="2"/>
              <a:buChar char=""/>
              <a:tabLst>
                <a:tab algn="l" pos="1156320"/>
              </a:tabLst>
            </a:pPr>
            <a:r>
              <a:rPr b="0" lang="en-US" sz="1800" spc="-12" strike="noStrike">
                <a:solidFill>
                  <a:srgbClr val="000000"/>
                </a:solidFill>
                <a:latin typeface="Calibri"/>
                <a:ea typeface="DejaVu Sans"/>
              </a:rPr>
              <a:t>Hosts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1800" spc="-7" strike="noStrike">
                <a:solidFill>
                  <a:srgbClr val="000000"/>
                </a:solidFill>
                <a:latin typeface="Calibri"/>
                <a:ea typeface="DejaVu Sans"/>
              </a:rPr>
              <a:t>that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1800" spc="-12" strike="noStrike">
                <a:solidFill>
                  <a:srgbClr val="000000"/>
                </a:solidFill>
                <a:latin typeface="Calibri"/>
                <a:ea typeface="DejaVu Sans"/>
              </a:rPr>
              <a:t>are</a:t>
            </a:r>
            <a:r>
              <a:rPr b="0" lang="en-US" sz="18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1800" spc="-7" strike="noStrike">
                <a:solidFill>
                  <a:srgbClr val="000000"/>
                </a:solidFill>
                <a:latin typeface="Calibri"/>
                <a:ea typeface="DejaVu Sans"/>
              </a:rPr>
              <a:t>in</a:t>
            </a:r>
            <a:r>
              <a:rPr b="0" lang="en-US" sz="18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1800" spc="-12" strike="noStrike">
                <a:solidFill>
                  <a:srgbClr val="000000"/>
                </a:solidFill>
                <a:latin typeface="Calibri"/>
                <a:ea typeface="DejaVu Sans"/>
              </a:rPr>
              <a:t>communication</a:t>
            </a:r>
            <a:r>
              <a:rPr b="0" lang="en-US" sz="18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1800" spc="-7" strike="noStrike">
                <a:solidFill>
                  <a:srgbClr val="000000"/>
                </a:solidFill>
                <a:latin typeface="Calibri"/>
                <a:ea typeface="DejaVu Sans"/>
              </a:rPr>
              <a:t>with</a:t>
            </a:r>
            <a:r>
              <a:rPr b="0" lang="en-US" sz="1800" spc="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1800" spc="-7" strike="noStrike">
                <a:solidFill>
                  <a:srgbClr val="000000"/>
                </a:solidFill>
                <a:latin typeface="Calibri"/>
                <a:ea typeface="DejaVu Sans"/>
              </a:rPr>
              <a:t>suspicious</a:t>
            </a:r>
            <a:r>
              <a:rPr b="0" lang="en-US" sz="1800" spc="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IP </a:t>
            </a:r>
            <a:r>
              <a:rPr b="0" lang="en-US" sz="1800" spc="-7" strike="noStrike">
                <a:solidFill>
                  <a:srgbClr val="000000"/>
                </a:solidFill>
                <a:latin typeface="Calibri"/>
                <a:ea typeface="DejaVu Sans"/>
              </a:rPr>
              <a:t>address</a:t>
            </a:r>
            <a:r>
              <a:rPr b="0" lang="en-US" sz="1800" spc="-12" strike="noStrike">
                <a:solidFill>
                  <a:srgbClr val="000000"/>
                </a:solidFill>
                <a:latin typeface="Calibri"/>
                <a:ea typeface="DejaVu Sans"/>
              </a:rPr>
              <a:t> ranges</a:t>
            </a:r>
            <a:r>
              <a:rPr b="0" lang="en-US" sz="1800" spc="-7" strike="noStrike">
                <a:solidFill>
                  <a:srgbClr val="000000"/>
                </a:solidFill>
                <a:latin typeface="Calibri"/>
                <a:ea typeface="DejaVu Sans"/>
              </a:rPr>
              <a:t> or</a:t>
            </a:r>
            <a:r>
              <a:rPr b="0" lang="en-US" sz="1800" spc="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1800" spc="-7" strike="noStrike">
                <a:solidFill>
                  <a:srgbClr val="000000"/>
                </a:solidFill>
                <a:latin typeface="Calibri"/>
                <a:ea typeface="DejaVu Sans"/>
              </a:rPr>
              <a:t>domains.</a:t>
            </a:r>
            <a:endParaRPr b="0" lang="en-US" sz="1800" spc="-1" strike="noStrike">
              <a:latin typeface="Arial"/>
            </a:endParaRPr>
          </a:p>
          <a:p>
            <a:pPr lvl="2" marL="1155600" indent="-228600" algn="just">
              <a:lnSpc>
                <a:spcPts val="1939"/>
              </a:lnSpc>
              <a:spcBef>
                <a:spcPts val="536"/>
              </a:spcBef>
              <a:buClr>
                <a:srgbClr val="ac172b"/>
              </a:buClr>
              <a:buFont typeface="Wingdings" charset="2"/>
              <a:buChar char=""/>
              <a:tabLst>
                <a:tab algn="l" pos="1156320"/>
              </a:tabLst>
            </a:pPr>
            <a:r>
              <a:rPr b="0" lang="en-US" sz="1800" spc="-15" strike="noStrike">
                <a:solidFill>
                  <a:srgbClr val="000000"/>
                </a:solidFill>
                <a:latin typeface="Calibri"/>
                <a:ea typeface="DejaVu Sans"/>
              </a:rPr>
              <a:t>Statistical </a:t>
            </a:r>
            <a:r>
              <a:rPr b="0" lang="en-US" sz="1800" spc="-7" strike="noStrike">
                <a:solidFill>
                  <a:srgbClr val="000000"/>
                </a:solidFill>
                <a:latin typeface="Calibri"/>
                <a:ea typeface="DejaVu Sans"/>
              </a:rPr>
              <a:t>anomalies such 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as </a:t>
            </a:r>
            <a:r>
              <a:rPr b="0" lang="en-US" sz="1800" spc="-15" strike="noStrike">
                <a:solidFill>
                  <a:srgbClr val="000000"/>
                </a:solidFill>
                <a:latin typeface="Calibri"/>
                <a:ea typeface="DejaVu Sans"/>
              </a:rPr>
              <a:t>spikes </a:t>
            </a:r>
            <a:r>
              <a:rPr b="0" lang="en-US" sz="1800" spc="-7" strike="noStrike">
                <a:solidFill>
                  <a:srgbClr val="000000"/>
                </a:solidFill>
                <a:latin typeface="Calibri"/>
                <a:ea typeface="DejaVu Sans"/>
              </a:rPr>
              <a:t>or </a:t>
            </a:r>
            <a:r>
              <a:rPr b="0" lang="en-US" sz="1800" spc="-12" strike="noStrike">
                <a:solidFill>
                  <a:srgbClr val="000000"/>
                </a:solidFill>
                <a:latin typeface="Calibri"/>
                <a:ea typeface="DejaVu Sans"/>
              </a:rPr>
              <a:t>consistently large numbers </a:t>
            </a:r>
            <a:r>
              <a:rPr b="0" lang="en-US" sz="1800" spc="-7" strike="noStrike">
                <a:solidFill>
                  <a:srgbClr val="000000"/>
                </a:solidFill>
                <a:latin typeface="Calibri"/>
                <a:ea typeface="DejaVu Sans"/>
              </a:rPr>
              <a:t>of DNS </a:t>
            </a:r>
            <a:r>
              <a:rPr b="0" lang="en-US" sz="1800" spc="-12" strike="noStrike">
                <a:solidFill>
                  <a:srgbClr val="000000"/>
                </a:solidFill>
                <a:latin typeface="Calibri"/>
                <a:ea typeface="DejaVu Sans"/>
              </a:rPr>
              <a:t>lookup failures, </a:t>
            </a:r>
            <a:r>
              <a:rPr b="0" lang="en-US" sz="1800" spc="-7" strike="noStrike">
                <a:solidFill>
                  <a:srgbClr val="000000"/>
                </a:solidFill>
                <a:latin typeface="Calibri"/>
                <a:ea typeface="DejaVu Sans"/>
              </a:rPr>
              <a:t>which 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1800" spc="-15" strike="noStrike">
                <a:solidFill>
                  <a:srgbClr val="000000"/>
                </a:solidFill>
                <a:latin typeface="Calibri"/>
                <a:ea typeface="DejaVu Sans"/>
              </a:rPr>
              <a:t>may </a:t>
            </a:r>
            <a:r>
              <a:rPr b="0" lang="en-US" sz="1800" spc="-12" strike="noStrike">
                <a:solidFill>
                  <a:srgbClr val="000000"/>
                </a:solidFill>
                <a:latin typeface="Calibri"/>
                <a:ea typeface="DejaVu Sans"/>
              </a:rPr>
              <a:t>point to </a:t>
            </a:r>
            <a:r>
              <a:rPr b="0" lang="en-US" sz="1800" spc="-15" strike="noStrike">
                <a:solidFill>
                  <a:srgbClr val="000000"/>
                </a:solidFill>
                <a:latin typeface="Calibri"/>
                <a:ea typeface="DejaVu Sans"/>
              </a:rPr>
              <a:t>computers </a:t>
            </a:r>
            <a:r>
              <a:rPr b="0" lang="en-US" sz="1800" spc="-7" strike="noStrike">
                <a:solidFill>
                  <a:srgbClr val="000000"/>
                </a:solidFill>
                <a:latin typeface="Calibri"/>
                <a:ea typeface="DejaVu Sans"/>
              </a:rPr>
              <a:t>that </a:t>
            </a:r>
            <a:r>
              <a:rPr b="0" lang="en-US" sz="1800" spc="-12" strike="noStrike">
                <a:solidFill>
                  <a:srgbClr val="000000"/>
                </a:solidFill>
                <a:latin typeface="Calibri"/>
                <a:ea typeface="DejaVu Sans"/>
              </a:rPr>
              <a:t>are </a:t>
            </a:r>
            <a:r>
              <a:rPr b="0" lang="en-US" sz="1800" spc="-15" strike="noStrike">
                <a:solidFill>
                  <a:srgbClr val="000000"/>
                </a:solidFill>
                <a:latin typeface="Calibri"/>
                <a:ea typeface="DejaVu Sans"/>
              </a:rPr>
              <a:t>infected </a:t>
            </a:r>
            <a:r>
              <a:rPr b="0" lang="en-US" sz="1800" spc="-7" strike="noStrike">
                <a:solidFill>
                  <a:srgbClr val="000000"/>
                </a:solidFill>
                <a:latin typeface="Calibri"/>
                <a:ea typeface="DejaVu Sans"/>
              </a:rPr>
              <a:t>with </a:t>
            </a:r>
            <a:r>
              <a:rPr b="0" lang="en-US" sz="1800" spc="-12" strike="noStrike">
                <a:solidFill>
                  <a:srgbClr val="000000"/>
                </a:solidFill>
                <a:latin typeface="Calibri"/>
                <a:ea typeface="DejaVu Sans"/>
              </a:rPr>
              <a:t>malware, misconfigured, </a:t>
            </a:r>
            <a:r>
              <a:rPr b="0" lang="en-US" sz="1800" spc="-7" strike="noStrike">
                <a:solidFill>
                  <a:srgbClr val="000000"/>
                </a:solidFill>
                <a:latin typeface="Calibri"/>
                <a:ea typeface="DejaVu Sans"/>
              </a:rPr>
              <a:t>or 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running </a:t>
            </a:r>
            <a:r>
              <a:rPr b="0" lang="en-US" sz="1800" spc="-12" strike="noStrike">
                <a:solidFill>
                  <a:srgbClr val="000000"/>
                </a:solidFill>
                <a:latin typeface="Calibri"/>
                <a:ea typeface="DejaVu Sans"/>
              </a:rPr>
              <a:t>obsolete </a:t>
            </a:r>
            <a:r>
              <a:rPr b="0" lang="en-US" sz="1800" spc="-7" strike="noStrike">
                <a:solidFill>
                  <a:srgbClr val="000000"/>
                </a:solidFill>
                <a:latin typeface="Calibri"/>
                <a:ea typeface="DejaVu Sans"/>
              </a:rPr>
              <a:t>or 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1800" spc="-12" strike="noStrike">
                <a:solidFill>
                  <a:srgbClr val="000000"/>
                </a:solidFill>
                <a:latin typeface="Calibri"/>
                <a:ea typeface="DejaVu Sans"/>
              </a:rPr>
              <a:t>faulty </a:t>
            </a:r>
            <a:r>
              <a:rPr b="0" lang="en-US" sz="1800" spc="-7" strike="noStrike">
                <a:solidFill>
                  <a:srgbClr val="000000"/>
                </a:solidFill>
                <a:latin typeface="Calibri"/>
                <a:ea typeface="DejaVu Sans"/>
              </a:rPr>
              <a:t>applications.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241" name="object 4"/>
          <p:cNvSpPr/>
          <p:nvPr/>
        </p:nvSpPr>
        <p:spPr>
          <a:xfrm>
            <a:off x="838080" y="6400800"/>
            <a:ext cx="10514520" cy="227520"/>
          </a:xfrm>
          <a:custGeom>
            <a:avLst/>
            <a:gdLst/>
            <a:ahLst/>
            <a:rect l="l" t="t" r="r" b="b"/>
            <a:pathLst>
              <a:path w="10515600" h="228600">
                <a:moveTo>
                  <a:pt x="10515600" y="0"/>
                </a:moveTo>
                <a:lnTo>
                  <a:pt x="0" y="0"/>
                </a:lnTo>
                <a:lnTo>
                  <a:pt x="0" y="228600"/>
                </a:lnTo>
                <a:lnTo>
                  <a:pt x="10515600" y="228600"/>
                </a:lnTo>
                <a:lnTo>
                  <a:pt x="10515600" y="0"/>
                </a:lnTo>
                <a:close/>
              </a:path>
            </a:pathLst>
          </a:custGeom>
          <a:solidFill>
            <a:srgbClr val="c00000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42" name="PlaceHolder 2"/>
          <p:cNvSpPr>
            <a:spLocks noGrp="1"/>
          </p:cNvSpPr>
          <p:nvPr>
            <p:ph type="ftr" idx="82"/>
          </p:nvPr>
        </p:nvSpPr>
        <p:spPr>
          <a:xfrm>
            <a:off x="916920" y="6451560"/>
            <a:ext cx="102240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Security+</a:t>
            </a:r>
            <a:r>
              <a:rPr b="0" lang="en-US" sz="1000" spc="-46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(SY0-601)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243" name="PlaceHolder 3"/>
          <p:cNvSpPr>
            <a:spLocks noGrp="1"/>
          </p:cNvSpPr>
          <p:nvPr>
            <p:ph type="dt" idx="83"/>
          </p:nvPr>
        </p:nvSpPr>
        <p:spPr>
          <a:xfrm>
            <a:off x="5492520" y="6451560"/>
            <a:ext cx="112212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©</a:t>
            </a:r>
            <a:r>
              <a:rPr b="0" lang="en-US" sz="1000" spc="-41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netriders.academy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244" name="PlaceHolder 4"/>
          <p:cNvSpPr>
            <a:spLocks noGrp="1"/>
          </p:cNvSpPr>
          <p:nvPr>
            <p:ph type="sldNum" idx="84"/>
          </p:nvPr>
        </p:nvSpPr>
        <p:spPr>
          <a:xfrm>
            <a:off x="11098440" y="6451200"/>
            <a:ext cx="20340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3816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38160">
              <a:lnSpc>
                <a:spcPts val="1046"/>
              </a:lnSpc>
              <a:buNone/>
            </a:pPr>
            <a:fld id="{95D3CD9F-C85B-486E-9FED-4C6AA6069B6F}" type="slidenum">
              <a:rPr b="0" lang="en-US" sz="1000" spc="-7" strike="noStrike">
                <a:solidFill>
                  <a:srgbClr val="ffffff"/>
                </a:solidFill>
                <a:latin typeface="Calibri"/>
              </a:rPr>
              <a:t>&lt;number&gt;</a:t>
            </a:fld>
            <a:endParaRPr b="0" lang="en-US" sz="10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PlaceHolder 1"/>
          <p:cNvSpPr>
            <a:spLocks noGrp="1"/>
          </p:cNvSpPr>
          <p:nvPr>
            <p:ph type="title"/>
          </p:nvPr>
        </p:nvSpPr>
        <p:spPr>
          <a:xfrm>
            <a:off x="916920" y="684720"/>
            <a:ext cx="7769160" cy="68616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>
              <a:lnSpc>
                <a:spcPct val="100000"/>
              </a:lnSpc>
              <a:spcBef>
                <a:spcPts val="99"/>
              </a:spcBef>
              <a:buNone/>
            </a:pPr>
            <a:r>
              <a:rPr b="0" lang="en-US" sz="3600" spc="-55" strike="noStrike">
                <a:solidFill>
                  <a:srgbClr val="c00000"/>
                </a:solidFill>
                <a:latin typeface="Calibri Light"/>
              </a:rPr>
              <a:t>APPLICATION</a:t>
            </a:r>
            <a:r>
              <a:rPr b="0" lang="en-US" sz="3600" spc="-126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46" strike="noStrike">
                <a:solidFill>
                  <a:srgbClr val="c00000"/>
                </a:solidFill>
                <a:latin typeface="Calibri Light"/>
              </a:rPr>
              <a:t>LOG</a:t>
            </a:r>
            <a:r>
              <a:rPr b="0" lang="en-US" sz="3600" spc="-106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26" strike="noStrike">
                <a:solidFill>
                  <a:srgbClr val="c00000"/>
                </a:solidFill>
                <a:latin typeface="Calibri Light"/>
              </a:rPr>
              <a:t>FILES</a:t>
            </a:r>
            <a:r>
              <a:rPr b="0" lang="en-US" sz="3600" spc="-106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32" strike="noStrike">
                <a:solidFill>
                  <a:srgbClr val="c00000"/>
                </a:solidFill>
                <a:latin typeface="Calibri Light"/>
              </a:rPr>
              <a:t>(cont.)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246" name="object 3"/>
          <p:cNvSpPr/>
          <p:nvPr/>
        </p:nvSpPr>
        <p:spPr>
          <a:xfrm>
            <a:off x="916920" y="1758960"/>
            <a:ext cx="10205280" cy="405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56520" bIns="0" anchor="t">
            <a:spAutoFit/>
          </a:bodyPr>
          <a:p>
            <a:pPr marL="241200" indent="-229320">
              <a:lnSpc>
                <a:spcPct val="100000"/>
              </a:lnSpc>
              <a:spcBef>
                <a:spcPts val="445"/>
              </a:spcBef>
              <a:buClr>
                <a:srgbClr val="006fc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12" strike="noStrike">
                <a:solidFill>
                  <a:srgbClr val="006fc0"/>
                </a:solidFill>
                <a:latin typeface="Calibri"/>
                <a:ea typeface="DejaVu Sans"/>
              </a:rPr>
              <a:t>Web/HTTP</a:t>
            </a:r>
            <a:r>
              <a:rPr b="0" lang="en-US" sz="2400" spc="-21" strike="noStrike">
                <a:solidFill>
                  <a:srgbClr val="006fc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6fc0"/>
                </a:solidFill>
                <a:latin typeface="Calibri"/>
                <a:ea typeface="DejaVu Sans"/>
              </a:rPr>
              <a:t>Access</a:t>
            </a:r>
            <a:r>
              <a:rPr b="0" lang="en-US" sz="2400" spc="-52" strike="noStrike">
                <a:solidFill>
                  <a:srgbClr val="006fc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6fc0"/>
                </a:solidFill>
                <a:latin typeface="Calibri"/>
                <a:ea typeface="DejaVu Sans"/>
              </a:rPr>
              <a:t>Logs</a:t>
            </a:r>
            <a:endParaRPr b="0" lang="en-US" sz="2400" spc="-1" strike="noStrike">
              <a:latin typeface="Arial"/>
            </a:endParaRPr>
          </a:p>
          <a:p>
            <a:pPr lvl="1" marL="698400" indent="-229320">
              <a:lnSpc>
                <a:spcPts val="2279"/>
              </a:lnSpc>
              <a:spcBef>
                <a:spcPts val="289"/>
              </a:spcBef>
              <a:buClr>
                <a:srgbClr val="000000"/>
              </a:buClr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000" spc="-26" strike="noStrike">
                <a:solidFill>
                  <a:srgbClr val="000000"/>
                </a:solidFill>
                <a:latin typeface="Calibri"/>
                <a:ea typeface="DejaVu Sans"/>
              </a:rPr>
              <a:t>Web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servers</a:t>
            </a:r>
            <a:r>
              <a:rPr b="0" lang="en-US" sz="2000" spc="2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are</a:t>
            </a:r>
            <a:r>
              <a:rPr b="0" lang="en-US" sz="2000" spc="18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typically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configured</a:t>
            </a:r>
            <a:r>
              <a:rPr b="0" lang="en-US" sz="20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to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log HTTP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traffic</a:t>
            </a:r>
            <a:r>
              <a:rPr b="0" lang="en-US" sz="2000" spc="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that</a:t>
            </a:r>
            <a:r>
              <a:rPr b="0" lang="en-US" sz="2000" spc="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encounters</a:t>
            </a:r>
            <a:r>
              <a:rPr b="0" lang="en-US" sz="2000" spc="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an</a:t>
            </a:r>
            <a:r>
              <a:rPr b="0" lang="en-US" sz="2000" spc="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error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or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traffic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that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matches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some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predefined</a:t>
            </a:r>
            <a:r>
              <a:rPr b="0" lang="en-US" sz="2000" spc="-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rule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set.</a:t>
            </a:r>
            <a:endParaRPr b="0" lang="en-US" sz="2000" spc="-1" strike="noStrike">
              <a:latin typeface="Arial"/>
            </a:endParaRPr>
          </a:p>
          <a:p>
            <a:pPr lvl="1" marL="698400" indent="-228600">
              <a:lnSpc>
                <a:spcPts val="2160"/>
              </a:lnSpc>
              <a:spcBef>
                <a:spcPts val="524"/>
              </a:spcBef>
              <a:buClr>
                <a:srgbClr val="000000"/>
              </a:buClr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status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code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of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</a:t>
            </a:r>
            <a:r>
              <a:rPr b="0" lang="en-US" sz="2000" spc="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response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can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reveal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quite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a</a:t>
            </a:r>
            <a:r>
              <a:rPr b="0" lang="en-US" sz="2000" spc="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bit about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both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the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request</a:t>
            </a:r>
            <a:r>
              <a:rPr b="0" lang="en-US" sz="2000" spc="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and the</a:t>
            </a:r>
            <a:r>
              <a:rPr b="0" lang="en-US" sz="2000" spc="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server's </a:t>
            </a:r>
            <a:r>
              <a:rPr b="0" lang="en-US" sz="2000" spc="-440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32" strike="noStrike">
                <a:solidFill>
                  <a:srgbClr val="000000"/>
                </a:solidFill>
                <a:latin typeface="Calibri"/>
                <a:ea typeface="DejaVu Sans"/>
              </a:rPr>
              <a:t>behavior.</a:t>
            </a:r>
            <a:endParaRPr b="0" lang="en-US" sz="2000" spc="-1" strike="noStrike">
              <a:latin typeface="Arial"/>
            </a:endParaRPr>
          </a:p>
          <a:p>
            <a:pPr lvl="1" marL="698400" indent="-228600">
              <a:lnSpc>
                <a:spcPts val="2160"/>
              </a:lnSpc>
              <a:spcBef>
                <a:spcPts val="505"/>
              </a:spcBef>
              <a:buClr>
                <a:srgbClr val="000000"/>
              </a:buClr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Codes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in the </a:t>
            </a:r>
            <a:r>
              <a:rPr b="1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400</a:t>
            </a:r>
            <a:r>
              <a:rPr b="1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range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indicate</a:t>
            </a:r>
            <a:r>
              <a:rPr b="0" lang="en-US" sz="20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 u="heavy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  <a:ea typeface="DejaVu Sans"/>
              </a:rPr>
              <a:t>client-based</a:t>
            </a:r>
            <a:r>
              <a:rPr b="0" lang="en-US" sz="2000" spc="24" strike="noStrike" u="heavy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  <a:ea typeface="DejaVu Sans"/>
              </a:rPr>
              <a:t> </a:t>
            </a:r>
            <a:r>
              <a:rPr b="0" lang="en-US" sz="2000" spc="-15" strike="noStrike" u="heavy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  <a:ea typeface="DejaVu Sans"/>
              </a:rPr>
              <a:t>errors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,</a:t>
            </a:r>
            <a:r>
              <a:rPr b="0" lang="en-US" sz="2000" spc="18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while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codes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in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1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500</a:t>
            </a:r>
            <a:r>
              <a:rPr b="1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range</a:t>
            </a:r>
            <a:r>
              <a:rPr b="0" lang="en-US" sz="2000" spc="-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indicate </a:t>
            </a:r>
            <a:r>
              <a:rPr b="0" lang="en-US" sz="2000" spc="-43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 u="heavy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  <a:ea typeface="DejaVu Sans"/>
              </a:rPr>
              <a:t>server-based</a:t>
            </a:r>
            <a:r>
              <a:rPr b="0" lang="en-US" sz="2000" spc="12" strike="noStrike" u="heavy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  <a:ea typeface="DejaVu Sans"/>
              </a:rPr>
              <a:t> </a:t>
            </a:r>
            <a:r>
              <a:rPr b="0" lang="en-US" sz="2000" spc="-15" strike="noStrike" u="heavy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  <a:ea typeface="DejaVu Sans"/>
              </a:rPr>
              <a:t>errors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.</a:t>
            </a:r>
            <a:endParaRPr b="0" lang="en-US" sz="2000" spc="-1" strike="noStrike">
              <a:latin typeface="Arial"/>
            </a:endParaRPr>
          </a:p>
          <a:p>
            <a:pPr lvl="1" marL="698400" indent="-229320">
              <a:lnSpc>
                <a:spcPts val="2279"/>
              </a:lnSpc>
              <a:spcBef>
                <a:spcPts val="235"/>
              </a:spcBef>
              <a:buClr>
                <a:srgbClr val="000000"/>
              </a:buClr>
              <a:buFont typeface="Wingdings" charset="2"/>
              <a:buChar char=""/>
              <a:tabLst>
                <a:tab algn="l" pos="699120"/>
              </a:tabLst>
            </a:pPr>
            <a:r>
              <a:rPr b="1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For</a:t>
            </a:r>
            <a:r>
              <a:rPr b="1" lang="en-US" sz="20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1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Example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,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repeated</a:t>
            </a:r>
            <a:r>
              <a:rPr b="0" lang="en-US" sz="2000" spc="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c00000"/>
                </a:solidFill>
                <a:latin typeface="Calibri"/>
                <a:ea typeface="DejaVu Sans"/>
              </a:rPr>
              <a:t>403</a:t>
            </a:r>
            <a:r>
              <a:rPr b="0" lang="en-US" sz="2000" spc="-15" strike="noStrike">
                <a:solidFill>
                  <a:srgbClr val="c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("Forbidden")</a:t>
            </a:r>
            <a:r>
              <a:rPr b="0" lang="en-US" sz="20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responses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may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indicate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that</a:t>
            </a:r>
            <a:r>
              <a:rPr b="0" lang="en-US" sz="2000" spc="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server</a:t>
            </a:r>
            <a:r>
              <a:rPr b="0" lang="en-US" sz="2000" spc="18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is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rejecting</a:t>
            </a:r>
            <a:endParaRPr b="0" lang="en-US" sz="2000" spc="-1" strike="noStrike">
              <a:latin typeface="Arial"/>
            </a:endParaRPr>
          </a:p>
          <a:p>
            <a:pPr marL="698400">
              <a:lnSpc>
                <a:spcPts val="2279"/>
              </a:lnSpc>
              <a:buNone/>
              <a:tabLst>
                <a:tab algn="l" pos="69912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client's</a:t>
            </a:r>
            <a:r>
              <a:rPr b="0" lang="en-US" sz="2000" spc="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attempts</a:t>
            </a:r>
            <a:r>
              <a:rPr b="0" lang="en-US" sz="2000" spc="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to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access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resources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they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are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not authorized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to.</a:t>
            </a:r>
            <a:endParaRPr b="0" lang="en-US" sz="2000" spc="-1" strike="noStrike">
              <a:latin typeface="Arial"/>
            </a:endParaRPr>
          </a:p>
          <a:p>
            <a:pPr lvl="1" marL="698400" indent="-228600">
              <a:lnSpc>
                <a:spcPts val="2160"/>
              </a:lnSpc>
              <a:spcBef>
                <a:spcPts val="519"/>
              </a:spcBef>
              <a:buClr>
                <a:srgbClr val="000000"/>
              </a:buClr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 </a:t>
            </a:r>
            <a:r>
              <a:rPr b="0" lang="en-US" sz="2000" spc="-1" strike="noStrike">
                <a:solidFill>
                  <a:srgbClr val="c00000"/>
                </a:solidFill>
                <a:latin typeface="Calibri"/>
                <a:ea typeface="DejaVu Sans"/>
              </a:rPr>
              <a:t>502</a:t>
            </a:r>
            <a:r>
              <a:rPr b="0" lang="en-US" sz="2000" spc="-12" strike="noStrike">
                <a:solidFill>
                  <a:srgbClr val="c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("Bad</a:t>
            </a:r>
            <a:r>
              <a:rPr b="0" lang="en-US" sz="2000" spc="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Gateway")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response</a:t>
            </a:r>
            <a:r>
              <a:rPr b="0" lang="en-US" sz="2000" spc="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could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indicate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that</a:t>
            </a:r>
            <a:r>
              <a:rPr b="0" lang="en-US" sz="2000" spc="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communications</a:t>
            </a:r>
            <a:r>
              <a:rPr b="0" lang="en-US" sz="2000" spc="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between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the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target </a:t>
            </a:r>
            <a:r>
              <a:rPr b="0" lang="en-US" sz="2000" spc="-440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server</a:t>
            </a:r>
            <a:r>
              <a:rPr b="0" lang="en-US" sz="2000" spc="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and its</a:t>
            </a:r>
            <a:r>
              <a:rPr b="0" lang="en-US" sz="2000" spc="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upstream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server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are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being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blocked,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or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that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the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upstream</a:t>
            </a:r>
            <a:r>
              <a:rPr b="0" lang="en-US" sz="2000" spc="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server</a:t>
            </a:r>
            <a:r>
              <a:rPr b="0" lang="en-US" sz="2000" spc="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is</a:t>
            </a:r>
            <a:r>
              <a:rPr b="0" lang="en-US" sz="2000" spc="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down.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247" name="object 4"/>
          <p:cNvSpPr/>
          <p:nvPr/>
        </p:nvSpPr>
        <p:spPr>
          <a:xfrm>
            <a:off x="838080" y="6400800"/>
            <a:ext cx="10514520" cy="227520"/>
          </a:xfrm>
          <a:custGeom>
            <a:avLst/>
            <a:gdLst/>
            <a:ahLst/>
            <a:rect l="l" t="t" r="r" b="b"/>
            <a:pathLst>
              <a:path w="10515600" h="228600">
                <a:moveTo>
                  <a:pt x="10515600" y="0"/>
                </a:moveTo>
                <a:lnTo>
                  <a:pt x="0" y="0"/>
                </a:lnTo>
                <a:lnTo>
                  <a:pt x="0" y="228600"/>
                </a:lnTo>
                <a:lnTo>
                  <a:pt x="10515600" y="228600"/>
                </a:lnTo>
                <a:lnTo>
                  <a:pt x="10515600" y="0"/>
                </a:lnTo>
                <a:close/>
              </a:path>
            </a:pathLst>
          </a:custGeom>
          <a:solidFill>
            <a:srgbClr val="c00000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48" name="PlaceHolder 2"/>
          <p:cNvSpPr>
            <a:spLocks noGrp="1"/>
          </p:cNvSpPr>
          <p:nvPr>
            <p:ph type="ftr" idx="85"/>
          </p:nvPr>
        </p:nvSpPr>
        <p:spPr>
          <a:xfrm>
            <a:off x="916920" y="6451560"/>
            <a:ext cx="102240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Security+</a:t>
            </a:r>
            <a:r>
              <a:rPr b="0" lang="en-US" sz="1000" spc="-46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(SY0-601)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249" name="PlaceHolder 3"/>
          <p:cNvSpPr>
            <a:spLocks noGrp="1"/>
          </p:cNvSpPr>
          <p:nvPr>
            <p:ph type="dt" idx="86"/>
          </p:nvPr>
        </p:nvSpPr>
        <p:spPr>
          <a:xfrm>
            <a:off x="5492520" y="6451560"/>
            <a:ext cx="112212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©</a:t>
            </a:r>
            <a:r>
              <a:rPr b="0" lang="en-US" sz="1000" spc="-41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netriders.academy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250" name="PlaceHolder 4"/>
          <p:cNvSpPr>
            <a:spLocks noGrp="1"/>
          </p:cNvSpPr>
          <p:nvPr>
            <p:ph type="sldNum" idx="87"/>
          </p:nvPr>
        </p:nvSpPr>
        <p:spPr>
          <a:xfrm>
            <a:off x="11098440" y="6451200"/>
            <a:ext cx="20340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3816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38160">
              <a:lnSpc>
                <a:spcPts val="1046"/>
              </a:lnSpc>
              <a:buNone/>
            </a:pPr>
            <a:fld id="{5FB03BA6-6F62-4ADD-9586-41EFA204883D}" type="slidenum">
              <a:rPr b="0" lang="en-US" sz="1000" spc="-7" strike="noStrike">
                <a:solidFill>
                  <a:srgbClr val="ffffff"/>
                </a:solidFill>
                <a:latin typeface="Calibri"/>
              </a:rPr>
              <a:t>&lt;number&gt;</a:t>
            </a:fld>
            <a:endParaRPr b="0" lang="en-US" sz="10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PlaceHolder 1"/>
          <p:cNvSpPr>
            <a:spLocks noGrp="1"/>
          </p:cNvSpPr>
          <p:nvPr>
            <p:ph type="title"/>
          </p:nvPr>
        </p:nvSpPr>
        <p:spPr>
          <a:xfrm>
            <a:off x="916920" y="684720"/>
            <a:ext cx="6626160" cy="91476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>
              <a:lnSpc>
                <a:spcPct val="100000"/>
              </a:lnSpc>
              <a:spcBef>
                <a:spcPts val="99"/>
              </a:spcBef>
              <a:buNone/>
            </a:pPr>
            <a:r>
              <a:rPr b="0" lang="en-US" sz="3600" spc="-32" strike="noStrike">
                <a:solidFill>
                  <a:srgbClr val="c00000"/>
                </a:solidFill>
                <a:latin typeface="Calibri Light"/>
              </a:rPr>
              <a:t>INCIDENT</a:t>
            </a:r>
            <a:r>
              <a:rPr b="0" lang="en-US" sz="3600" spc="-126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66" strike="noStrike">
                <a:solidFill>
                  <a:srgbClr val="c00000"/>
                </a:solidFill>
                <a:latin typeface="Calibri Light"/>
              </a:rPr>
              <a:t>CONTAINMENT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252" name="object 3"/>
          <p:cNvSpPr/>
          <p:nvPr/>
        </p:nvSpPr>
        <p:spPr>
          <a:xfrm>
            <a:off x="916920" y="1802520"/>
            <a:ext cx="10350000" cy="403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54000" bIns="0" anchor="t">
            <a:spAutoFit/>
          </a:bodyPr>
          <a:p>
            <a:pPr marL="241200" indent="-229320">
              <a:lnSpc>
                <a:spcPts val="2591"/>
              </a:lnSpc>
              <a:spcBef>
                <a:spcPts val="425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Containment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techniques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can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be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classed as either </a:t>
            </a:r>
            <a:r>
              <a:rPr b="0" lang="en-US" sz="2400" spc="-7" strike="noStrike">
                <a:solidFill>
                  <a:srgbClr val="006fc0"/>
                </a:solidFill>
                <a:latin typeface="Calibri"/>
                <a:ea typeface="DejaVu Sans"/>
              </a:rPr>
              <a:t>isolation-based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or </a:t>
            </a:r>
            <a:r>
              <a:rPr b="0" lang="en-US" sz="2400" spc="-53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6fc0"/>
                </a:solidFill>
                <a:latin typeface="Calibri"/>
                <a:ea typeface="DejaVu Sans"/>
              </a:rPr>
              <a:t>segmentation-based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.</a:t>
            </a:r>
            <a:endParaRPr b="0" lang="en-US" sz="2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241920"/>
              </a:tabLst>
            </a:pPr>
            <a:endParaRPr b="0" lang="en-US" sz="2400" spc="-1" strike="noStrike">
              <a:latin typeface="Arial"/>
            </a:endParaRPr>
          </a:p>
          <a:p>
            <a:pPr marL="355680" indent="-343440">
              <a:lnSpc>
                <a:spcPct val="100000"/>
              </a:lnSpc>
              <a:spcBef>
                <a:spcPts val="1565"/>
              </a:spcBef>
              <a:buClr>
                <a:srgbClr val="006fc0"/>
              </a:buClr>
              <a:buFont typeface="Arial MT"/>
              <a:buAutoNum type="arabicPeriod"/>
              <a:tabLst>
                <a:tab algn="l" pos="356400"/>
              </a:tabLst>
            </a:pPr>
            <a:r>
              <a:rPr b="0" lang="en-US" sz="2400" spc="-7" strike="noStrike">
                <a:solidFill>
                  <a:srgbClr val="006fc0"/>
                </a:solidFill>
                <a:latin typeface="Calibri"/>
                <a:ea typeface="DejaVu Sans"/>
              </a:rPr>
              <a:t>Isolation-Based</a:t>
            </a:r>
            <a:r>
              <a:rPr b="0" lang="en-US" sz="2400" spc="-26" strike="noStrike">
                <a:solidFill>
                  <a:srgbClr val="006fc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6fc0"/>
                </a:solidFill>
                <a:latin typeface="Calibri"/>
                <a:ea typeface="DejaVu Sans"/>
              </a:rPr>
              <a:t>Containment</a:t>
            </a:r>
            <a:endParaRPr b="0" lang="en-US" sz="2400" spc="-1" strike="noStrike">
              <a:latin typeface="Arial"/>
            </a:endParaRPr>
          </a:p>
          <a:p>
            <a:pPr lvl="1" marL="698400" indent="-228600">
              <a:lnSpc>
                <a:spcPts val="2160"/>
              </a:lnSpc>
              <a:spcBef>
                <a:spcPts val="550"/>
              </a:spcBef>
              <a:buClr>
                <a:srgbClr val="000000"/>
              </a:buClr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Isolation</a:t>
            </a:r>
            <a:r>
              <a:rPr b="0" lang="en-US" sz="2000" spc="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involves</a:t>
            </a:r>
            <a:r>
              <a:rPr b="0" lang="en-US" sz="2000" spc="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removing</a:t>
            </a:r>
            <a:r>
              <a:rPr b="0" lang="en-US" sz="2000" spc="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an</a:t>
            </a:r>
            <a:r>
              <a:rPr b="0" lang="en-US" sz="2000" spc="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affected</a:t>
            </a:r>
            <a:r>
              <a:rPr b="0" lang="en-US" sz="2000" spc="2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component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from</a:t>
            </a:r>
            <a:r>
              <a:rPr b="0" lang="en-US" sz="2000" spc="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whatever</a:t>
            </a:r>
            <a:r>
              <a:rPr b="0" lang="en-US" sz="2000" spc="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larger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environment</a:t>
            </a:r>
            <a:r>
              <a:rPr b="0" lang="en-US" sz="2000" spc="18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it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is</a:t>
            </a:r>
            <a:r>
              <a:rPr b="0" lang="en-US" sz="2000" spc="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 </a:t>
            </a:r>
            <a:r>
              <a:rPr b="0" lang="en-US" sz="2000" spc="-43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part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46" strike="noStrike">
                <a:solidFill>
                  <a:srgbClr val="000000"/>
                </a:solidFill>
                <a:latin typeface="Calibri"/>
                <a:ea typeface="DejaVu Sans"/>
              </a:rPr>
              <a:t>of.</a:t>
            </a:r>
            <a:endParaRPr b="0" lang="en-US" sz="2000" spc="-1" strike="noStrike">
              <a:latin typeface="Arial"/>
            </a:endParaRPr>
          </a:p>
          <a:p>
            <a:pPr lvl="1" marL="698400" indent="-228600">
              <a:lnSpc>
                <a:spcPts val="2160"/>
              </a:lnSpc>
              <a:spcBef>
                <a:spcPts val="505"/>
              </a:spcBef>
              <a:buClr>
                <a:srgbClr val="000000"/>
              </a:buClr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This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can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be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everything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from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removing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</a:t>
            </a:r>
            <a:r>
              <a:rPr b="0" lang="en-US" sz="2000" spc="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server</a:t>
            </a:r>
            <a:r>
              <a:rPr b="0" lang="en-US" sz="2000" spc="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from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the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network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after</a:t>
            </a:r>
            <a:r>
              <a:rPr b="0" lang="en-US" sz="2000" spc="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it</a:t>
            </a:r>
            <a:r>
              <a:rPr b="0" lang="en-US" sz="2000" spc="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has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been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the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target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of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 DoS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attack,</a:t>
            </a:r>
            <a:r>
              <a:rPr b="0" lang="en-US" sz="2000" spc="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to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placing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an</a:t>
            </a:r>
            <a:r>
              <a:rPr b="0" lang="en-US" sz="2000" spc="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application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in a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sandbox</a:t>
            </a:r>
            <a:r>
              <a:rPr b="0" lang="en-US" sz="20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VM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outside of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the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host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environments</a:t>
            </a:r>
            <a:r>
              <a:rPr b="0" lang="en-US" sz="2000" spc="18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it </a:t>
            </a:r>
            <a:r>
              <a:rPr b="0" lang="en-US" sz="2000" spc="-440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usually</a:t>
            </a:r>
            <a:r>
              <a:rPr b="0" lang="en-US" sz="20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runs on.</a:t>
            </a:r>
            <a:endParaRPr b="0" lang="en-US" sz="2000" spc="-1" strike="noStrike">
              <a:latin typeface="Arial"/>
            </a:endParaRPr>
          </a:p>
          <a:p>
            <a:pPr lvl="1" marL="698400" indent="-228600">
              <a:lnSpc>
                <a:spcPts val="2160"/>
              </a:lnSpc>
              <a:spcBef>
                <a:spcPts val="505"/>
              </a:spcBef>
              <a:buClr>
                <a:srgbClr val="000000"/>
              </a:buClr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Whatever</a:t>
            </a:r>
            <a:r>
              <a:rPr b="0" lang="en-US" sz="2000" spc="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circumstances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may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be,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you'll</a:t>
            </a:r>
            <a:r>
              <a:rPr b="0" lang="en-US" sz="2000" spc="-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want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to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make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sure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that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there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is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no</a:t>
            </a:r>
            <a:r>
              <a:rPr b="0" lang="en-US" sz="20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longer</a:t>
            </a:r>
            <a:r>
              <a:rPr b="0" lang="en-US" sz="20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an 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interface</a:t>
            </a:r>
            <a:r>
              <a:rPr b="0" lang="en-US" sz="2000" spc="18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between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the</a:t>
            </a:r>
            <a:r>
              <a:rPr b="0" lang="en-US" sz="2000" spc="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affected</a:t>
            </a:r>
            <a:r>
              <a:rPr b="0" lang="en-US" sz="2000" spc="18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component</a:t>
            </a:r>
            <a:r>
              <a:rPr b="0" lang="en-US" sz="2000" spc="-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and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your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production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network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or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the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Internet.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253" name="object 4"/>
          <p:cNvSpPr/>
          <p:nvPr/>
        </p:nvSpPr>
        <p:spPr>
          <a:xfrm>
            <a:off x="838080" y="6400800"/>
            <a:ext cx="10514520" cy="227520"/>
          </a:xfrm>
          <a:custGeom>
            <a:avLst/>
            <a:gdLst/>
            <a:ahLst/>
            <a:rect l="l" t="t" r="r" b="b"/>
            <a:pathLst>
              <a:path w="10515600" h="228600">
                <a:moveTo>
                  <a:pt x="10515600" y="0"/>
                </a:moveTo>
                <a:lnTo>
                  <a:pt x="0" y="0"/>
                </a:lnTo>
                <a:lnTo>
                  <a:pt x="0" y="228600"/>
                </a:lnTo>
                <a:lnTo>
                  <a:pt x="10515600" y="228600"/>
                </a:lnTo>
                <a:lnTo>
                  <a:pt x="10515600" y="0"/>
                </a:lnTo>
                <a:close/>
              </a:path>
            </a:pathLst>
          </a:custGeom>
          <a:solidFill>
            <a:srgbClr val="c00000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54" name="PlaceHolder 2"/>
          <p:cNvSpPr>
            <a:spLocks noGrp="1"/>
          </p:cNvSpPr>
          <p:nvPr>
            <p:ph type="ftr" idx="88"/>
          </p:nvPr>
        </p:nvSpPr>
        <p:spPr>
          <a:xfrm>
            <a:off x="916920" y="6451560"/>
            <a:ext cx="102240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Security+</a:t>
            </a:r>
            <a:r>
              <a:rPr b="0" lang="en-US" sz="1000" spc="-46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(SY0-601)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255" name="PlaceHolder 3"/>
          <p:cNvSpPr>
            <a:spLocks noGrp="1"/>
          </p:cNvSpPr>
          <p:nvPr>
            <p:ph type="dt" idx="89"/>
          </p:nvPr>
        </p:nvSpPr>
        <p:spPr>
          <a:xfrm>
            <a:off x="5492520" y="6451560"/>
            <a:ext cx="112212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©</a:t>
            </a:r>
            <a:r>
              <a:rPr b="0" lang="en-US" sz="1000" spc="-41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netriders.academy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256" name="PlaceHolder 4"/>
          <p:cNvSpPr>
            <a:spLocks noGrp="1"/>
          </p:cNvSpPr>
          <p:nvPr>
            <p:ph type="sldNum" idx="90"/>
          </p:nvPr>
        </p:nvSpPr>
        <p:spPr>
          <a:xfrm>
            <a:off x="11098440" y="6451200"/>
            <a:ext cx="20340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3816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38160">
              <a:lnSpc>
                <a:spcPts val="1046"/>
              </a:lnSpc>
              <a:buNone/>
            </a:pPr>
            <a:fld id="{26AAC0CA-1B8C-4CBC-AE9D-DD531D7ECBB3}" type="slidenum">
              <a:rPr b="0" lang="en-US" sz="1000" spc="-7" strike="noStrike">
                <a:solidFill>
                  <a:srgbClr val="ffffff"/>
                </a:solidFill>
                <a:latin typeface="Calibri"/>
              </a:rPr>
              <a:t>&lt;number&gt;</a:t>
            </a:fld>
            <a:endParaRPr b="0" lang="en-US" sz="10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PlaceHolder 1"/>
          <p:cNvSpPr>
            <a:spLocks noGrp="1"/>
          </p:cNvSpPr>
          <p:nvPr>
            <p:ph type="title"/>
          </p:nvPr>
        </p:nvSpPr>
        <p:spPr>
          <a:xfrm>
            <a:off x="916920" y="684720"/>
            <a:ext cx="5898600" cy="115704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>
              <a:lnSpc>
                <a:spcPct val="100000"/>
              </a:lnSpc>
              <a:spcBef>
                <a:spcPts val="99"/>
              </a:spcBef>
              <a:buNone/>
            </a:pPr>
            <a:r>
              <a:rPr b="0" lang="en-US" sz="3600" spc="-32" strike="noStrike">
                <a:solidFill>
                  <a:srgbClr val="c00000"/>
                </a:solidFill>
                <a:latin typeface="Calibri Light"/>
              </a:rPr>
              <a:t>INCIDENT</a:t>
            </a:r>
            <a:r>
              <a:rPr b="0" lang="en-US" sz="3600" spc="-106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66" strike="noStrike">
                <a:solidFill>
                  <a:srgbClr val="c00000"/>
                </a:solidFill>
                <a:latin typeface="Calibri Light"/>
              </a:rPr>
              <a:t>CONTAINMENT</a:t>
            </a:r>
            <a:r>
              <a:rPr b="0" lang="en-US" sz="3600" spc="-100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32" strike="noStrike">
                <a:solidFill>
                  <a:srgbClr val="c00000"/>
                </a:solidFill>
                <a:latin typeface="Calibri Light"/>
              </a:rPr>
              <a:t>(cont.)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258" name="object 3"/>
          <p:cNvSpPr/>
          <p:nvPr/>
        </p:nvSpPr>
        <p:spPr>
          <a:xfrm>
            <a:off x="916920" y="1758960"/>
            <a:ext cx="10166400" cy="344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56520" bIns="0" anchor="t">
            <a:spAutoFit/>
          </a:bodyPr>
          <a:p>
            <a:pPr marL="355680" indent="-343440">
              <a:lnSpc>
                <a:spcPct val="100000"/>
              </a:lnSpc>
              <a:spcBef>
                <a:spcPts val="445"/>
              </a:spcBef>
              <a:buClr>
                <a:srgbClr val="006fc0"/>
              </a:buClr>
              <a:buFont typeface="StarSymbol"/>
              <a:buAutoNum type="arabicPeriod"/>
              <a:tabLst>
                <a:tab algn="l" pos="356400"/>
              </a:tabLst>
            </a:pPr>
            <a:r>
              <a:rPr b="0" lang="en-US" sz="2400" spc="-7" strike="noStrike">
                <a:solidFill>
                  <a:srgbClr val="006fc0"/>
                </a:solidFill>
                <a:latin typeface="Calibri"/>
                <a:ea typeface="DejaVu Sans"/>
              </a:rPr>
              <a:t>Isolation-Based</a:t>
            </a:r>
            <a:r>
              <a:rPr b="0" lang="en-US" sz="2400" spc="-15" strike="noStrike">
                <a:solidFill>
                  <a:srgbClr val="006fc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6fc0"/>
                </a:solidFill>
                <a:latin typeface="Calibri"/>
                <a:ea typeface="DejaVu Sans"/>
              </a:rPr>
              <a:t>Containment</a:t>
            </a:r>
            <a:r>
              <a:rPr b="0" lang="en-US" sz="2400" spc="-46" strike="noStrike">
                <a:solidFill>
                  <a:srgbClr val="006fc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6fc0"/>
                </a:solidFill>
                <a:latin typeface="Calibri"/>
                <a:ea typeface="DejaVu Sans"/>
              </a:rPr>
              <a:t>(cont.)</a:t>
            </a:r>
            <a:endParaRPr b="0" lang="en-US" sz="2400" spc="-1" strike="noStrike">
              <a:latin typeface="Arial"/>
            </a:endParaRPr>
          </a:p>
          <a:p>
            <a:pPr lvl="1" marL="698400" indent="-229320">
              <a:lnSpc>
                <a:spcPts val="2279"/>
              </a:lnSpc>
              <a:spcBef>
                <a:spcPts val="289"/>
              </a:spcBef>
              <a:buClr>
                <a:srgbClr val="000000"/>
              </a:buClr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simple</a:t>
            </a:r>
            <a:r>
              <a:rPr b="0" lang="en-US" sz="2000" spc="18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option</a:t>
            </a:r>
            <a:r>
              <a:rPr b="0" lang="en-US" sz="20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is</a:t>
            </a:r>
            <a:r>
              <a:rPr b="0" lang="en-US" sz="2000" spc="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to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disconnect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the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host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from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the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network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21" strike="noStrike">
                <a:solidFill>
                  <a:srgbClr val="000000"/>
                </a:solidFill>
                <a:latin typeface="Calibri"/>
                <a:ea typeface="DejaVu Sans"/>
              </a:rPr>
              <a:t>completely,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either</a:t>
            </a:r>
            <a:r>
              <a:rPr b="0" lang="en-US" sz="2000" spc="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by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pulling the</a:t>
            </a:r>
            <a:endParaRPr b="0" lang="en-US" sz="2000" spc="-1" strike="noStrike">
              <a:latin typeface="Arial"/>
            </a:endParaRPr>
          </a:p>
          <a:p>
            <a:pPr marL="698400">
              <a:lnSpc>
                <a:spcPts val="2279"/>
              </a:lnSpc>
              <a:buNone/>
              <a:tabLst>
                <a:tab algn="l" pos="699120"/>
              </a:tabLst>
            </a:pP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network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plug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(creating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an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air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gap)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or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disabling</a:t>
            </a:r>
            <a:r>
              <a:rPr b="0" lang="en-US" sz="2000" spc="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its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switch</a:t>
            </a:r>
            <a:r>
              <a:rPr b="0" lang="en-US" sz="2000" spc="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port.</a:t>
            </a:r>
            <a:endParaRPr b="0" lang="en-US" sz="2000" spc="-1" strike="noStrike">
              <a:latin typeface="Arial"/>
            </a:endParaRPr>
          </a:p>
          <a:p>
            <a:pPr lvl="1" marL="698400" indent="-228600">
              <a:lnSpc>
                <a:spcPts val="2160"/>
              </a:lnSpc>
              <a:spcBef>
                <a:spcPts val="524"/>
              </a:spcBef>
              <a:buClr>
                <a:srgbClr val="000000"/>
              </a:buClr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This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is</a:t>
            </a:r>
            <a:r>
              <a:rPr b="0" lang="en-US" sz="2000" spc="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the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least</a:t>
            </a:r>
            <a:r>
              <a:rPr b="0" lang="en-US" sz="2000" spc="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stealthy</a:t>
            </a:r>
            <a:r>
              <a:rPr b="0" lang="en-US" sz="2000" spc="18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option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and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will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reduce opportunities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to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analyze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the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attack</a:t>
            </a:r>
            <a:r>
              <a:rPr b="0" lang="en-US" sz="2000" spc="18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or </a:t>
            </a:r>
            <a:r>
              <a:rPr b="0" lang="en-US" sz="2000" spc="-43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malware.</a:t>
            </a:r>
            <a:endParaRPr b="0" lang="en-US" sz="2000" spc="-1" strike="noStrike">
              <a:latin typeface="Arial"/>
            </a:endParaRPr>
          </a:p>
          <a:p>
            <a:pPr lvl="1" marL="698400" indent="-228600">
              <a:lnSpc>
                <a:spcPts val="2160"/>
              </a:lnSpc>
              <a:spcBef>
                <a:spcPts val="505"/>
              </a:spcBef>
              <a:buClr>
                <a:srgbClr val="000000"/>
              </a:buClr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If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</a:t>
            </a:r>
            <a:r>
              <a:rPr b="0" lang="en-US" sz="2000" spc="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group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of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hosts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is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affected,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you</a:t>
            </a:r>
            <a:r>
              <a:rPr b="0" lang="en-US" sz="2000" spc="-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could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use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routing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infrastructure</a:t>
            </a:r>
            <a:r>
              <a:rPr b="0" lang="en-US" sz="2000" spc="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to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isolate</a:t>
            </a:r>
            <a:r>
              <a:rPr b="0" lang="en-US" sz="2000" spc="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one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or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more </a:t>
            </a:r>
            <a:r>
              <a:rPr b="0" lang="en-US" sz="2000" spc="-440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infected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virtual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LANs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(VLANs)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in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black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hole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that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is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not reachable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from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rest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of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the 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network.</a:t>
            </a:r>
            <a:endParaRPr b="0" lang="en-US" sz="2000" spc="-1" strike="noStrike">
              <a:latin typeface="Arial"/>
            </a:endParaRPr>
          </a:p>
          <a:p>
            <a:pPr lvl="1" marL="698400" indent="-228600">
              <a:lnSpc>
                <a:spcPts val="2160"/>
              </a:lnSpc>
              <a:spcBef>
                <a:spcPts val="505"/>
              </a:spcBef>
              <a:buClr>
                <a:srgbClr val="000000"/>
              </a:buClr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Another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possibility</a:t>
            </a:r>
            <a:r>
              <a:rPr b="0" lang="en-US" sz="2000" spc="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is</a:t>
            </a:r>
            <a:r>
              <a:rPr b="0" lang="en-US" sz="2000" spc="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to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use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firewalls</a:t>
            </a:r>
            <a:r>
              <a:rPr b="0" lang="en-US" sz="2000" spc="18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or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other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security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filters</a:t>
            </a:r>
            <a:r>
              <a:rPr b="0" lang="en-US" sz="2000" spc="18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to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prevent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infected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hosts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from </a:t>
            </a:r>
            <a:r>
              <a:rPr b="0" lang="en-US" sz="2000" spc="-43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communicating.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259" name="object 4"/>
          <p:cNvSpPr/>
          <p:nvPr/>
        </p:nvSpPr>
        <p:spPr>
          <a:xfrm>
            <a:off x="838080" y="6400800"/>
            <a:ext cx="10514520" cy="227520"/>
          </a:xfrm>
          <a:custGeom>
            <a:avLst/>
            <a:gdLst/>
            <a:ahLst/>
            <a:rect l="l" t="t" r="r" b="b"/>
            <a:pathLst>
              <a:path w="10515600" h="228600">
                <a:moveTo>
                  <a:pt x="10515600" y="0"/>
                </a:moveTo>
                <a:lnTo>
                  <a:pt x="0" y="0"/>
                </a:lnTo>
                <a:lnTo>
                  <a:pt x="0" y="228600"/>
                </a:lnTo>
                <a:lnTo>
                  <a:pt x="10515600" y="228600"/>
                </a:lnTo>
                <a:lnTo>
                  <a:pt x="10515600" y="0"/>
                </a:lnTo>
                <a:close/>
              </a:path>
            </a:pathLst>
          </a:custGeom>
          <a:solidFill>
            <a:srgbClr val="c00000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60" name="PlaceHolder 2"/>
          <p:cNvSpPr>
            <a:spLocks noGrp="1"/>
          </p:cNvSpPr>
          <p:nvPr>
            <p:ph type="ftr" idx="91"/>
          </p:nvPr>
        </p:nvSpPr>
        <p:spPr>
          <a:xfrm>
            <a:off x="916920" y="6451560"/>
            <a:ext cx="102240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Security+</a:t>
            </a:r>
            <a:r>
              <a:rPr b="0" lang="en-US" sz="1000" spc="-46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(SY0-601)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261" name="PlaceHolder 3"/>
          <p:cNvSpPr>
            <a:spLocks noGrp="1"/>
          </p:cNvSpPr>
          <p:nvPr>
            <p:ph type="dt" idx="92"/>
          </p:nvPr>
        </p:nvSpPr>
        <p:spPr>
          <a:xfrm>
            <a:off x="5492520" y="6451560"/>
            <a:ext cx="112212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©</a:t>
            </a:r>
            <a:r>
              <a:rPr b="0" lang="en-US" sz="1000" spc="-41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netriders.academy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262" name="PlaceHolder 4"/>
          <p:cNvSpPr>
            <a:spLocks noGrp="1"/>
          </p:cNvSpPr>
          <p:nvPr>
            <p:ph type="sldNum" idx="93"/>
          </p:nvPr>
        </p:nvSpPr>
        <p:spPr>
          <a:xfrm>
            <a:off x="11098440" y="6451200"/>
            <a:ext cx="20340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3816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38160">
              <a:lnSpc>
                <a:spcPts val="1046"/>
              </a:lnSpc>
              <a:buNone/>
            </a:pPr>
            <a:fld id="{A9AA5AA6-3F80-4282-8AA8-B231EB03631B}" type="slidenum">
              <a:rPr b="0" lang="en-US" sz="1000" spc="-7" strike="noStrike">
                <a:solidFill>
                  <a:srgbClr val="ffffff"/>
                </a:solidFill>
                <a:latin typeface="Calibri"/>
              </a:rPr>
              <a:t>&lt;number&gt;</a:t>
            </a:fld>
            <a:endParaRPr b="0" lang="en-US" sz="10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PlaceHolder 1"/>
          <p:cNvSpPr>
            <a:spLocks noGrp="1"/>
          </p:cNvSpPr>
          <p:nvPr>
            <p:ph type="title"/>
          </p:nvPr>
        </p:nvSpPr>
        <p:spPr>
          <a:xfrm>
            <a:off x="916920" y="684720"/>
            <a:ext cx="5898600" cy="115704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>
              <a:lnSpc>
                <a:spcPct val="100000"/>
              </a:lnSpc>
              <a:spcBef>
                <a:spcPts val="99"/>
              </a:spcBef>
              <a:buNone/>
            </a:pPr>
            <a:r>
              <a:rPr b="0" lang="en-US" sz="3600" spc="-32" strike="noStrike">
                <a:solidFill>
                  <a:srgbClr val="c00000"/>
                </a:solidFill>
                <a:latin typeface="Calibri Light"/>
              </a:rPr>
              <a:t>INCIDENT</a:t>
            </a:r>
            <a:r>
              <a:rPr b="0" lang="en-US" sz="3600" spc="-106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66" strike="noStrike">
                <a:solidFill>
                  <a:srgbClr val="c00000"/>
                </a:solidFill>
                <a:latin typeface="Calibri Light"/>
              </a:rPr>
              <a:t>CONTAINMENT</a:t>
            </a:r>
            <a:r>
              <a:rPr b="0" lang="en-US" sz="3600" spc="-100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32" strike="noStrike">
                <a:solidFill>
                  <a:srgbClr val="c00000"/>
                </a:solidFill>
                <a:latin typeface="Calibri Light"/>
              </a:rPr>
              <a:t>(cont.)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264" name="object 3"/>
          <p:cNvSpPr/>
          <p:nvPr/>
        </p:nvSpPr>
        <p:spPr>
          <a:xfrm>
            <a:off x="916920" y="1758960"/>
            <a:ext cx="10349280" cy="348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56520" bIns="0" anchor="t">
            <a:spAutoFit/>
          </a:bodyPr>
          <a:p>
            <a:pPr marL="355680" indent="-343440">
              <a:lnSpc>
                <a:spcPct val="100000"/>
              </a:lnSpc>
              <a:spcBef>
                <a:spcPts val="445"/>
              </a:spcBef>
              <a:buClr>
                <a:srgbClr val="006fc0"/>
              </a:buClr>
              <a:buFont typeface="StarSymbol"/>
              <a:buAutoNum type="arabicPeriod"/>
              <a:tabLst>
                <a:tab algn="l" pos="356400"/>
              </a:tabLst>
            </a:pPr>
            <a:r>
              <a:rPr b="0" lang="en-US" sz="2400" spc="-7" strike="noStrike">
                <a:solidFill>
                  <a:srgbClr val="006fc0"/>
                </a:solidFill>
                <a:latin typeface="Calibri"/>
                <a:ea typeface="DejaVu Sans"/>
              </a:rPr>
              <a:t>Isolation-Based</a:t>
            </a:r>
            <a:r>
              <a:rPr b="0" lang="en-US" sz="2400" spc="-15" strike="noStrike">
                <a:solidFill>
                  <a:srgbClr val="006fc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6fc0"/>
                </a:solidFill>
                <a:latin typeface="Calibri"/>
                <a:ea typeface="DejaVu Sans"/>
              </a:rPr>
              <a:t>Containment</a:t>
            </a:r>
            <a:r>
              <a:rPr b="0" lang="en-US" sz="2400" spc="-46" strike="noStrike">
                <a:solidFill>
                  <a:srgbClr val="006fc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6fc0"/>
                </a:solidFill>
                <a:latin typeface="Calibri"/>
                <a:ea typeface="DejaVu Sans"/>
              </a:rPr>
              <a:t>(cont.)</a:t>
            </a:r>
            <a:endParaRPr b="0" lang="en-US" sz="2400" spc="-1" strike="noStrike">
              <a:latin typeface="Arial"/>
            </a:endParaRPr>
          </a:p>
          <a:p>
            <a:pPr lvl="1" marL="698400" indent="-229320">
              <a:lnSpc>
                <a:spcPct val="100000"/>
              </a:lnSpc>
              <a:spcBef>
                <a:spcPts val="289"/>
              </a:spcBef>
              <a:buClr>
                <a:srgbClr val="000000"/>
              </a:buClr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000" spc="-26" strike="noStrike">
                <a:solidFill>
                  <a:srgbClr val="000000"/>
                </a:solidFill>
                <a:latin typeface="Calibri"/>
                <a:ea typeface="DejaVu Sans"/>
              </a:rPr>
              <a:t>Finally,</a:t>
            </a:r>
            <a:r>
              <a:rPr b="0" lang="en-US" sz="2000" spc="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isolation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could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also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21" strike="noStrike">
                <a:solidFill>
                  <a:srgbClr val="000000"/>
                </a:solidFill>
                <a:latin typeface="Calibri"/>
                <a:ea typeface="DejaVu Sans"/>
              </a:rPr>
              <a:t>refer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to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disabling</a:t>
            </a:r>
            <a:r>
              <a:rPr b="0" lang="en-US" sz="2000" spc="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user</a:t>
            </a:r>
            <a:r>
              <a:rPr b="0" lang="en-US" sz="2000" spc="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account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or application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service.</a:t>
            </a:r>
            <a:endParaRPr b="0" lang="en-US" sz="2000" spc="-1" strike="noStrike">
              <a:latin typeface="Arial"/>
            </a:endParaRPr>
          </a:p>
          <a:p>
            <a:pPr lvl="1" marL="698400" indent="-229320">
              <a:lnSpc>
                <a:spcPts val="2279"/>
              </a:lnSpc>
              <a:spcBef>
                <a:spcPts val="249"/>
              </a:spcBef>
              <a:buClr>
                <a:srgbClr val="000000"/>
              </a:buClr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000" spc="-26" strike="noStrike">
                <a:solidFill>
                  <a:srgbClr val="000000"/>
                </a:solidFill>
                <a:latin typeface="Calibri"/>
                <a:ea typeface="DejaVu Sans"/>
              </a:rPr>
              <a:t>Temporarily</a:t>
            </a:r>
            <a:r>
              <a:rPr b="0" lang="en-US" sz="2000" spc="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disabling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users'</a:t>
            </a:r>
            <a:r>
              <a:rPr b="0" lang="en-US" sz="2000" spc="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network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accounts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may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prove</a:t>
            </a:r>
            <a:r>
              <a:rPr b="0" lang="en-US" sz="2000" spc="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helpful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in</a:t>
            </a:r>
            <a:r>
              <a:rPr b="0" lang="en-US" sz="2000" spc="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containing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damage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if</a:t>
            </a:r>
            <a:r>
              <a:rPr b="0" lang="en-US" sz="2000" spc="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an</a:t>
            </a:r>
            <a:endParaRPr b="0" lang="en-US" sz="2000" spc="-1" strike="noStrike">
              <a:latin typeface="Arial"/>
            </a:endParaRPr>
          </a:p>
          <a:p>
            <a:pPr marL="698400">
              <a:lnSpc>
                <a:spcPts val="2279"/>
              </a:lnSpc>
              <a:buNone/>
              <a:tabLst>
                <a:tab algn="l" pos="699120"/>
              </a:tabLst>
            </a:pP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intruder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is</a:t>
            </a:r>
            <a:r>
              <a:rPr b="0" lang="en-US" sz="2000" spc="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detected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within the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network.</a:t>
            </a:r>
            <a:endParaRPr b="0" lang="en-US" sz="2000" spc="-1" strike="noStrike">
              <a:latin typeface="Arial"/>
            </a:endParaRPr>
          </a:p>
          <a:p>
            <a:pPr lvl="1" marL="698400" indent="-228600">
              <a:lnSpc>
                <a:spcPts val="2160"/>
              </a:lnSpc>
              <a:spcBef>
                <a:spcPts val="541"/>
              </a:spcBef>
              <a:buClr>
                <a:srgbClr val="000000"/>
              </a:buClr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Without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privileges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to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access</a:t>
            </a:r>
            <a:r>
              <a:rPr b="0" lang="en-US" sz="2000" spc="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resources,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an</a:t>
            </a:r>
            <a:r>
              <a:rPr b="0" lang="en-US" sz="2000" spc="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intruder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will</a:t>
            </a:r>
            <a:r>
              <a:rPr b="0" lang="en-US" sz="2000" spc="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not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be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able</a:t>
            </a:r>
            <a:r>
              <a:rPr b="0" lang="en-US" sz="2000" spc="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to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further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damage or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steal </a:t>
            </a:r>
            <a:r>
              <a:rPr b="0" lang="en-US" sz="2000" spc="-440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information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from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organization.</a:t>
            </a:r>
            <a:endParaRPr b="0" lang="en-US" sz="2000" spc="-1" strike="noStrike">
              <a:latin typeface="Arial"/>
            </a:endParaRPr>
          </a:p>
          <a:p>
            <a:pPr lvl="1" marL="698400" indent="-229320">
              <a:lnSpc>
                <a:spcPts val="2279"/>
              </a:lnSpc>
              <a:spcBef>
                <a:spcPts val="230"/>
              </a:spcBef>
              <a:buClr>
                <a:srgbClr val="000000"/>
              </a:buClr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Applications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that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you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suspect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may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be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the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vector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of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an</a:t>
            </a:r>
            <a:r>
              <a:rPr b="0" lang="en-US" sz="2000" spc="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attack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can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be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much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less</a:t>
            </a:r>
            <a:r>
              <a:rPr b="0" lang="en-US" sz="2000" spc="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effective</a:t>
            </a:r>
            <a:r>
              <a:rPr b="0" lang="en-US" sz="2000" spc="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to</a:t>
            </a:r>
            <a:endParaRPr b="0" lang="en-US" sz="2000" spc="-1" strike="noStrike">
              <a:latin typeface="Arial"/>
            </a:endParaRPr>
          </a:p>
          <a:p>
            <a:pPr marL="698400">
              <a:lnSpc>
                <a:spcPts val="2279"/>
              </a:lnSpc>
              <a:buNone/>
              <a:tabLst>
                <a:tab algn="l" pos="69912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the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attacker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if the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application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is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prevented</a:t>
            </a:r>
            <a:r>
              <a:rPr b="0" lang="en-US" sz="2000" spc="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from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executing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on</a:t>
            </a:r>
            <a:r>
              <a:rPr b="0" lang="en-US" sz="20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most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hosts.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265" name="object 4"/>
          <p:cNvSpPr/>
          <p:nvPr/>
        </p:nvSpPr>
        <p:spPr>
          <a:xfrm>
            <a:off x="838080" y="6400800"/>
            <a:ext cx="10514520" cy="227520"/>
          </a:xfrm>
          <a:custGeom>
            <a:avLst/>
            <a:gdLst/>
            <a:ahLst/>
            <a:rect l="l" t="t" r="r" b="b"/>
            <a:pathLst>
              <a:path w="10515600" h="228600">
                <a:moveTo>
                  <a:pt x="10515600" y="0"/>
                </a:moveTo>
                <a:lnTo>
                  <a:pt x="0" y="0"/>
                </a:lnTo>
                <a:lnTo>
                  <a:pt x="0" y="228600"/>
                </a:lnTo>
                <a:lnTo>
                  <a:pt x="10515600" y="228600"/>
                </a:lnTo>
                <a:lnTo>
                  <a:pt x="10515600" y="0"/>
                </a:lnTo>
                <a:close/>
              </a:path>
            </a:pathLst>
          </a:custGeom>
          <a:solidFill>
            <a:srgbClr val="c00000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66" name="PlaceHolder 2"/>
          <p:cNvSpPr>
            <a:spLocks noGrp="1"/>
          </p:cNvSpPr>
          <p:nvPr>
            <p:ph type="ftr" idx="94"/>
          </p:nvPr>
        </p:nvSpPr>
        <p:spPr>
          <a:xfrm>
            <a:off x="916920" y="6451560"/>
            <a:ext cx="102240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Security+</a:t>
            </a:r>
            <a:r>
              <a:rPr b="0" lang="en-US" sz="1000" spc="-46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(SY0-601)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267" name="PlaceHolder 3"/>
          <p:cNvSpPr>
            <a:spLocks noGrp="1"/>
          </p:cNvSpPr>
          <p:nvPr>
            <p:ph type="dt" idx="95"/>
          </p:nvPr>
        </p:nvSpPr>
        <p:spPr>
          <a:xfrm>
            <a:off x="5492520" y="6451560"/>
            <a:ext cx="112212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©</a:t>
            </a:r>
            <a:r>
              <a:rPr b="0" lang="en-US" sz="1000" spc="-41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netriders.academy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268" name="PlaceHolder 4"/>
          <p:cNvSpPr>
            <a:spLocks noGrp="1"/>
          </p:cNvSpPr>
          <p:nvPr>
            <p:ph type="sldNum" idx="96"/>
          </p:nvPr>
        </p:nvSpPr>
        <p:spPr>
          <a:xfrm>
            <a:off x="11098440" y="6451200"/>
            <a:ext cx="20340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3816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38160">
              <a:lnSpc>
                <a:spcPts val="1046"/>
              </a:lnSpc>
              <a:buNone/>
            </a:pPr>
            <a:fld id="{9CB48021-0BF6-4710-8AA0-D70692FD0EBF}" type="slidenum">
              <a:rPr b="0" lang="en-US" sz="1000" spc="-7" strike="noStrike">
                <a:solidFill>
                  <a:srgbClr val="ffffff"/>
                </a:solidFill>
                <a:latin typeface="Calibri"/>
              </a:rPr>
              <a:t>&lt;number&gt;</a:t>
            </a:fld>
            <a:endParaRPr b="0" lang="en-US" sz="10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PlaceHolder 1"/>
          <p:cNvSpPr>
            <a:spLocks noGrp="1"/>
          </p:cNvSpPr>
          <p:nvPr>
            <p:ph type="title"/>
          </p:nvPr>
        </p:nvSpPr>
        <p:spPr>
          <a:xfrm>
            <a:off x="916920" y="684720"/>
            <a:ext cx="5898600" cy="115704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>
              <a:lnSpc>
                <a:spcPct val="100000"/>
              </a:lnSpc>
              <a:spcBef>
                <a:spcPts val="99"/>
              </a:spcBef>
              <a:buNone/>
            </a:pPr>
            <a:r>
              <a:rPr b="0" lang="en-US" sz="3600" spc="-32" strike="noStrike">
                <a:solidFill>
                  <a:srgbClr val="c00000"/>
                </a:solidFill>
                <a:latin typeface="Calibri Light"/>
              </a:rPr>
              <a:t>INCIDENT</a:t>
            </a:r>
            <a:r>
              <a:rPr b="0" lang="en-US" sz="3600" spc="-106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66" strike="noStrike">
                <a:solidFill>
                  <a:srgbClr val="c00000"/>
                </a:solidFill>
                <a:latin typeface="Calibri Light"/>
              </a:rPr>
              <a:t>CONTAINMENT</a:t>
            </a:r>
            <a:r>
              <a:rPr b="0" lang="en-US" sz="3600" spc="-100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32" strike="noStrike">
                <a:solidFill>
                  <a:srgbClr val="c00000"/>
                </a:solidFill>
                <a:latin typeface="Calibri Light"/>
              </a:rPr>
              <a:t>(cont.)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270" name="object 3"/>
          <p:cNvSpPr/>
          <p:nvPr/>
        </p:nvSpPr>
        <p:spPr>
          <a:xfrm>
            <a:off x="916920" y="1758960"/>
            <a:ext cx="10200240" cy="397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56520" bIns="0" anchor="t">
            <a:spAutoFit/>
          </a:bodyPr>
          <a:p>
            <a:pPr marL="469800" indent="-457920">
              <a:lnSpc>
                <a:spcPct val="100000"/>
              </a:lnSpc>
              <a:spcBef>
                <a:spcPts val="445"/>
              </a:spcBef>
              <a:buClr>
                <a:srgbClr val="006fc0"/>
              </a:buClr>
              <a:buFont typeface="StarSymbol"/>
              <a:buAutoNum type="arabicPeriod" startAt="2"/>
              <a:tabLst>
                <a:tab algn="l" pos="469800"/>
                <a:tab algn="l" pos="470520"/>
              </a:tabLst>
            </a:pPr>
            <a:r>
              <a:rPr b="0" lang="en-US" sz="2400" spc="-7" strike="noStrike">
                <a:solidFill>
                  <a:srgbClr val="006fc0"/>
                </a:solidFill>
                <a:latin typeface="Calibri"/>
                <a:ea typeface="DejaVu Sans"/>
              </a:rPr>
              <a:t>Segmentation-Based</a:t>
            </a:r>
            <a:r>
              <a:rPr b="0" lang="en-US" sz="2400" spc="-55" strike="noStrike">
                <a:solidFill>
                  <a:srgbClr val="006fc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6fc0"/>
                </a:solidFill>
                <a:latin typeface="Calibri"/>
                <a:ea typeface="DejaVu Sans"/>
              </a:rPr>
              <a:t>Containment</a:t>
            </a:r>
            <a:endParaRPr b="0" lang="en-US" sz="2400" spc="-1" strike="noStrike">
              <a:latin typeface="Arial"/>
            </a:endParaRPr>
          </a:p>
          <a:p>
            <a:pPr lvl="1" marL="698400" indent="-229320">
              <a:lnSpc>
                <a:spcPts val="2279"/>
              </a:lnSpc>
              <a:spcBef>
                <a:spcPts val="289"/>
              </a:spcBef>
              <a:buClr>
                <a:srgbClr val="000000"/>
              </a:buClr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Segmentation-based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containment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is</a:t>
            </a:r>
            <a:r>
              <a:rPr b="0" lang="en-US" sz="2000" spc="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 means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of achieving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the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isolation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of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host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or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group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of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hosts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using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network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technologies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and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architecture.</a:t>
            </a:r>
            <a:endParaRPr b="0" lang="en-US" sz="2000" spc="-1" strike="noStrike">
              <a:latin typeface="Arial"/>
            </a:endParaRPr>
          </a:p>
          <a:p>
            <a:pPr lvl="1" marL="698400" indent="-228600">
              <a:lnSpc>
                <a:spcPts val="2160"/>
              </a:lnSpc>
              <a:spcBef>
                <a:spcPts val="524"/>
              </a:spcBef>
              <a:buClr>
                <a:srgbClr val="000000"/>
              </a:buClr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Segmentation</a:t>
            </a:r>
            <a:r>
              <a:rPr b="0" lang="en-US" sz="2000" spc="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uses</a:t>
            </a:r>
            <a:r>
              <a:rPr b="0" lang="en-US" sz="2000" spc="2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1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VLANs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,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1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routing/subnets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,</a:t>
            </a:r>
            <a:r>
              <a:rPr b="0" lang="en-US" sz="2000" spc="-3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and</a:t>
            </a:r>
            <a:r>
              <a:rPr b="0" lang="en-US" sz="2000" spc="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1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firewall</a:t>
            </a:r>
            <a:r>
              <a:rPr b="1" lang="en-US" sz="2000" spc="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1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ACLs</a:t>
            </a:r>
            <a:r>
              <a:rPr b="1" lang="en-US" sz="2000" spc="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to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prevent</a:t>
            </a:r>
            <a:r>
              <a:rPr b="0" lang="en-US" sz="2000" spc="18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host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or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group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of </a:t>
            </a:r>
            <a:r>
              <a:rPr b="0" lang="en-US" sz="2000" spc="-440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hosts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from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communicating</a:t>
            </a:r>
            <a:r>
              <a:rPr b="0" lang="en-US" sz="20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outside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the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protected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segment.</a:t>
            </a:r>
            <a:endParaRPr b="0" lang="en-US" sz="2000" spc="-1" strike="noStrike">
              <a:latin typeface="Arial"/>
            </a:endParaRPr>
          </a:p>
          <a:p>
            <a:pPr lvl="1" marL="698400" indent="-228600">
              <a:lnSpc>
                <a:spcPct val="90000"/>
              </a:lnSpc>
              <a:spcBef>
                <a:spcPts val="476"/>
              </a:spcBef>
              <a:buClr>
                <a:srgbClr val="000000"/>
              </a:buClr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As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opposed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to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completely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isolating</a:t>
            </a:r>
            <a:r>
              <a:rPr b="0" lang="en-US" sz="2000" spc="18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the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hosts,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you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might</a:t>
            </a:r>
            <a:r>
              <a:rPr b="0" lang="en-US" sz="2000" spc="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configure</a:t>
            </a:r>
            <a:r>
              <a:rPr b="0" lang="en-US" sz="2000" spc="-3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the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protected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segment</a:t>
            </a:r>
            <a:r>
              <a:rPr b="0" lang="en-US" sz="2000" spc="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as </a:t>
            </a:r>
            <a:r>
              <a:rPr b="0" lang="en-US" sz="2000" spc="-440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sinkhole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or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honeynet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and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allow</a:t>
            </a:r>
            <a:r>
              <a:rPr b="0" lang="en-US" sz="2000" spc="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the </a:t>
            </a:r>
            <a:r>
              <a:rPr b="0" lang="en-US" sz="2000" spc="-21" strike="noStrike">
                <a:solidFill>
                  <a:srgbClr val="000000"/>
                </a:solidFill>
                <a:latin typeface="Calibri"/>
                <a:ea typeface="DejaVu Sans"/>
              </a:rPr>
              <a:t>attacker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to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continue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to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receive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filtered</a:t>
            </a:r>
            <a:r>
              <a:rPr b="0" lang="en-US" sz="2000" spc="18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(and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possibly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modified) output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over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the C&amp;C channel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to deceive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him or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her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into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thinking the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attack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is 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progressing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successfully.</a:t>
            </a:r>
            <a:endParaRPr b="0" lang="en-US" sz="2000" spc="-1" strike="noStrike">
              <a:latin typeface="Arial"/>
            </a:endParaRPr>
          </a:p>
          <a:p>
            <a:pPr lvl="1" marL="698400" indent="-228600">
              <a:lnSpc>
                <a:spcPts val="2160"/>
              </a:lnSpc>
              <a:spcBef>
                <a:spcPts val="536"/>
              </a:spcBef>
              <a:buClr>
                <a:srgbClr val="000000"/>
              </a:buClr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Analysis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of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000" spc="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malware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code</a:t>
            </a:r>
            <a:r>
              <a:rPr b="0" lang="en-US" sz="20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by </a:t>
            </a:r>
            <a:r>
              <a:rPr b="0" lang="en-US" sz="2000" spc="-21" strike="noStrike">
                <a:solidFill>
                  <a:srgbClr val="000000"/>
                </a:solidFill>
                <a:latin typeface="Calibri"/>
                <a:ea typeface="DejaVu Sans"/>
              </a:rPr>
              <a:t>reverse</a:t>
            </a:r>
            <a:r>
              <a:rPr b="0" lang="en-US" sz="2000" spc="18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engineering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it</a:t>
            </a:r>
            <a:r>
              <a:rPr b="0" lang="en-US" sz="2000" spc="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could</a:t>
            </a:r>
            <a:r>
              <a:rPr b="0" lang="en-US" sz="20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provide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powerful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deception </a:t>
            </a:r>
            <a:r>
              <a:rPr b="0" lang="en-US" sz="2000" spc="-440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capabilities.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271" name="object 4"/>
          <p:cNvSpPr/>
          <p:nvPr/>
        </p:nvSpPr>
        <p:spPr>
          <a:xfrm>
            <a:off x="838080" y="6400800"/>
            <a:ext cx="10514520" cy="227520"/>
          </a:xfrm>
          <a:custGeom>
            <a:avLst/>
            <a:gdLst/>
            <a:ahLst/>
            <a:rect l="l" t="t" r="r" b="b"/>
            <a:pathLst>
              <a:path w="10515600" h="228600">
                <a:moveTo>
                  <a:pt x="10515600" y="0"/>
                </a:moveTo>
                <a:lnTo>
                  <a:pt x="0" y="0"/>
                </a:lnTo>
                <a:lnTo>
                  <a:pt x="0" y="228600"/>
                </a:lnTo>
                <a:lnTo>
                  <a:pt x="10515600" y="228600"/>
                </a:lnTo>
                <a:lnTo>
                  <a:pt x="10515600" y="0"/>
                </a:lnTo>
                <a:close/>
              </a:path>
            </a:pathLst>
          </a:custGeom>
          <a:solidFill>
            <a:srgbClr val="c00000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72" name="PlaceHolder 2"/>
          <p:cNvSpPr>
            <a:spLocks noGrp="1"/>
          </p:cNvSpPr>
          <p:nvPr>
            <p:ph type="ftr" idx="97"/>
          </p:nvPr>
        </p:nvSpPr>
        <p:spPr>
          <a:xfrm>
            <a:off x="916920" y="6451560"/>
            <a:ext cx="102240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Security+</a:t>
            </a:r>
            <a:r>
              <a:rPr b="0" lang="en-US" sz="1000" spc="-46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(SY0-601)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273" name="PlaceHolder 3"/>
          <p:cNvSpPr>
            <a:spLocks noGrp="1"/>
          </p:cNvSpPr>
          <p:nvPr>
            <p:ph type="dt" idx="98"/>
          </p:nvPr>
        </p:nvSpPr>
        <p:spPr>
          <a:xfrm>
            <a:off x="5492520" y="6451560"/>
            <a:ext cx="112212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©</a:t>
            </a:r>
            <a:r>
              <a:rPr b="0" lang="en-US" sz="1000" spc="-41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netriders.academy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274" name="PlaceHolder 4"/>
          <p:cNvSpPr>
            <a:spLocks noGrp="1"/>
          </p:cNvSpPr>
          <p:nvPr>
            <p:ph type="sldNum" idx="99"/>
          </p:nvPr>
        </p:nvSpPr>
        <p:spPr>
          <a:xfrm>
            <a:off x="11098440" y="6451200"/>
            <a:ext cx="20340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3816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38160">
              <a:lnSpc>
                <a:spcPts val="1046"/>
              </a:lnSpc>
              <a:buNone/>
            </a:pPr>
            <a:fld id="{6B247513-8905-4135-B770-C12369455A78}" type="slidenum">
              <a:rPr b="0" lang="en-US" sz="1000" spc="-7" strike="noStrike">
                <a:solidFill>
                  <a:srgbClr val="ffffff"/>
                </a:solidFill>
                <a:latin typeface="Calibri"/>
              </a:rPr>
              <a:t>&lt;number&gt;</a:t>
            </a:fld>
            <a:endParaRPr b="0" lang="en-US" sz="10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PlaceHolder 1"/>
          <p:cNvSpPr>
            <a:spLocks noGrp="1"/>
          </p:cNvSpPr>
          <p:nvPr>
            <p:ph type="title"/>
          </p:nvPr>
        </p:nvSpPr>
        <p:spPr>
          <a:xfrm>
            <a:off x="916920" y="684720"/>
            <a:ext cx="9140760" cy="68616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>
              <a:lnSpc>
                <a:spcPct val="100000"/>
              </a:lnSpc>
              <a:spcBef>
                <a:spcPts val="99"/>
              </a:spcBef>
              <a:buNone/>
            </a:pPr>
            <a:r>
              <a:rPr b="0" lang="en-US" sz="3600" spc="-32" strike="noStrike">
                <a:solidFill>
                  <a:srgbClr val="c00000"/>
                </a:solidFill>
                <a:latin typeface="Calibri Light"/>
              </a:rPr>
              <a:t>INCIDENT</a:t>
            </a:r>
            <a:r>
              <a:rPr b="0" lang="en-US" sz="3600" spc="-100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55" strike="noStrike">
                <a:solidFill>
                  <a:srgbClr val="c00000"/>
                </a:solidFill>
                <a:latin typeface="Calibri Light"/>
              </a:rPr>
              <a:t>ERADICATION</a:t>
            </a:r>
            <a:r>
              <a:rPr b="0" lang="en-US" sz="3600" spc="-111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21" strike="noStrike">
                <a:solidFill>
                  <a:srgbClr val="c00000"/>
                </a:solidFill>
                <a:latin typeface="Calibri Light"/>
              </a:rPr>
              <a:t>AND</a:t>
            </a:r>
            <a:r>
              <a:rPr b="0" lang="en-US" sz="3600" spc="-100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52" strike="noStrike">
                <a:solidFill>
                  <a:srgbClr val="c00000"/>
                </a:solidFill>
                <a:latin typeface="Calibri Light"/>
              </a:rPr>
              <a:t>RECOVERY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276" name="object 3"/>
          <p:cNvSpPr/>
          <p:nvPr/>
        </p:nvSpPr>
        <p:spPr>
          <a:xfrm>
            <a:off x="736920" y="1305720"/>
            <a:ext cx="10293480" cy="439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85680" bIns="0" anchor="t">
            <a:spAutoFit/>
          </a:bodyPr>
          <a:p>
            <a:pPr marL="241200" indent="-229320">
              <a:lnSpc>
                <a:spcPct val="80000"/>
              </a:lnSpc>
              <a:spcBef>
                <a:spcPts val="675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After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an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incident has been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contained, you can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apply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mitigation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techniques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and 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controls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to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eradicate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intrusion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tools</a:t>
            </a:r>
            <a:r>
              <a:rPr b="0" lang="en-US" sz="2400" spc="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and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unauthorized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configuration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changes </a:t>
            </a:r>
            <a:r>
              <a:rPr b="0" lang="en-US" sz="2400" spc="-52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from</a:t>
            </a:r>
            <a:r>
              <a:rPr b="0" lang="en-US" sz="2400" spc="-3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your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systems.</a:t>
            </a:r>
            <a:endParaRPr b="0" lang="en-US" sz="2400" spc="-1" strike="noStrike">
              <a:latin typeface="Arial"/>
            </a:endParaRPr>
          </a:p>
          <a:p>
            <a:pPr marL="241200" indent="-229320">
              <a:lnSpc>
                <a:spcPts val="2299"/>
              </a:lnSpc>
              <a:spcBef>
                <a:spcPts val="981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Eradicating malware,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backdoors,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and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compromised accounts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from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individual </a:t>
            </a:r>
            <a:r>
              <a:rPr b="0" lang="en-US" sz="2400" spc="-53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hosts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is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not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the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last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step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in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incident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response.</a:t>
            </a:r>
            <a:endParaRPr b="0" lang="en-US" sz="2400" spc="-1" strike="noStrike">
              <a:latin typeface="Arial"/>
            </a:endParaRPr>
          </a:p>
          <a:p>
            <a:pPr marL="241200" indent="-229320">
              <a:lnSpc>
                <a:spcPts val="2299"/>
              </a:lnSpc>
              <a:spcBef>
                <a:spcPts val="1018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66" strike="noStrike">
                <a:solidFill>
                  <a:srgbClr val="000000"/>
                </a:solidFill>
                <a:latin typeface="Calibri"/>
                <a:ea typeface="DejaVu Sans"/>
              </a:rPr>
              <a:t>You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should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also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consider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recovery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phase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where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the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goal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is 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restoration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of </a:t>
            </a:r>
            <a:r>
              <a:rPr b="0" lang="en-US" sz="2400" spc="-52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capabilities</a:t>
            </a:r>
            <a:r>
              <a:rPr b="0" lang="en-US" sz="2400" spc="-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and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services.</a:t>
            </a:r>
            <a:endParaRPr b="0" lang="en-US" sz="2400" spc="-1" strike="noStrike">
              <a:latin typeface="Arial"/>
            </a:endParaRPr>
          </a:p>
          <a:p>
            <a:pPr marL="241200" indent="-229320">
              <a:lnSpc>
                <a:spcPct val="80000"/>
              </a:lnSpc>
              <a:spcBef>
                <a:spcPts val="1018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This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means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that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hosts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are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fully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reconfigured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to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operate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the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business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workflow </a:t>
            </a:r>
            <a:r>
              <a:rPr b="0" lang="en-US" sz="2400" spc="-52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they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were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performing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26" strike="noStrike">
                <a:solidFill>
                  <a:srgbClr val="000000"/>
                </a:solidFill>
                <a:latin typeface="Calibri"/>
                <a:ea typeface="DejaVu Sans"/>
              </a:rPr>
              <a:t>before</a:t>
            </a:r>
            <a:r>
              <a:rPr b="0" lang="en-US" sz="2400" spc="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the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incident.</a:t>
            </a:r>
            <a:endParaRPr b="0" lang="en-US" sz="2400" spc="-1" strike="noStrike">
              <a:latin typeface="Arial"/>
            </a:endParaRPr>
          </a:p>
          <a:p>
            <a:pPr marL="241200" indent="-229320">
              <a:lnSpc>
                <a:spcPts val="2299"/>
              </a:lnSpc>
              <a:spcBef>
                <a:spcPts val="981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An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essential part of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recovery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is the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process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of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ensuring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that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the </a:t>
            </a:r>
            <a:r>
              <a:rPr b="0" lang="en-US" sz="2400" spc="-26" strike="noStrike">
                <a:solidFill>
                  <a:srgbClr val="000000"/>
                </a:solidFill>
                <a:latin typeface="Calibri"/>
                <a:ea typeface="DejaVu Sans"/>
              </a:rPr>
              <a:t>system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cannot be </a:t>
            </a:r>
            <a:r>
              <a:rPr b="0" lang="en-US" sz="2400" spc="-53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compromised through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the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same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attack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vector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(or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failing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that,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that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the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vector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is  closely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monitored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to</a:t>
            </a:r>
            <a:r>
              <a:rPr b="0" lang="en-US" sz="2400" spc="-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provide</a:t>
            </a:r>
            <a:r>
              <a:rPr b="0" lang="en-US" sz="24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advance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warning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of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another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attack).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277" name="object 4"/>
          <p:cNvSpPr/>
          <p:nvPr/>
        </p:nvSpPr>
        <p:spPr>
          <a:xfrm>
            <a:off x="838080" y="6400800"/>
            <a:ext cx="10514520" cy="227520"/>
          </a:xfrm>
          <a:custGeom>
            <a:avLst/>
            <a:gdLst/>
            <a:ahLst/>
            <a:rect l="l" t="t" r="r" b="b"/>
            <a:pathLst>
              <a:path w="10515600" h="228600">
                <a:moveTo>
                  <a:pt x="10515600" y="0"/>
                </a:moveTo>
                <a:lnTo>
                  <a:pt x="0" y="0"/>
                </a:lnTo>
                <a:lnTo>
                  <a:pt x="0" y="228600"/>
                </a:lnTo>
                <a:lnTo>
                  <a:pt x="10515600" y="228600"/>
                </a:lnTo>
                <a:lnTo>
                  <a:pt x="10515600" y="0"/>
                </a:lnTo>
                <a:close/>
              </a:path>
            </a:pathLst>
          </a:custGeom>
          <a:solidFill>
            <a:srgbClr val="c00000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78" name="PlaceHolder 2"/>
          <p:cNvSpPr>
            <a:spLocks noGrp="1"/>
          </p:cNvSpPr>
          <p:nvPr>
            <p:ph type="ftr" idx="100"/>
          </p:nvPr>
        </p:nvSpPr>
        <p:spPr>
          <a:xfrm>
            <a:off x="916920" y="6451560"/>
            <a:ext cx="102240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Security+</a:t>
            </a:r>
            <a:r>
              <a:rPr b="0" lang="en-US" sz="1000" spc="-46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(SY0-601)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279" name="PlaceHolder 3"/>
          <p:cNvSpPr>
            <a:spLocks noGrp="1"/>
          </p:cNvSpPr>
          <p:nvPr>
            <p:ph type="dt" idx="101"/>
          </p:nvPr>
        </p:nvSpPr>
        <p:spPr>
          <a:xfrm>
            <a:off x="5492520" y="6451560"/>
            <a:ext cx="112212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©</a:t>
            </a:r>
            <a:r>
              <a:rPr b="0" lang="en-US" sz="1000" spc="-41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netriders.academy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280" name="PlaceHolder 4"/>
          <p:cNvSpPr>
            <a:spLocks noGrp="1"/>
          </p:cNvSpPr>
          <p:nvPr>
            <p:ph type="sldNum" idx="102"/>
          </p:nvPr>
        </p:nvSpPr>
        <p:spPr>
          <a:xfrm>
            <a:off x="11098440" y="6451200"/>
            <a:ext cx="20340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3816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38160">
              <a:lnSpc>
                <a:spcPts val="1046"/>
              </a:lnSpc>
              <a:buNone/>
            </a:pPr>
            <a:fld id="{AA5A8B43-5572-49A2-9DE8-73ACD386A71E}" type="slidenum">
              <a:rPr b="0" lang="en-US" sz="1000" spc="-7" strike="noStrike">
                <a:solidFill>
                  <a:srgbClr val="ffffff"/>
                </a:solidFill>
                <a:latin typeface="Calibri"/>
              </a:rPr>
              <a:t>&lt;number&gt;</a:t>
            </a:fld>
            <a:endParaRPr b="0" lang="en-US" sz="10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PlaceHolder 1"/>
          <p:cNvSpPr>
            <a:spLocks noGrp="1"/>
          </p:cNvSpPr>
          <p:nvPr>
            <p:ph type="title"/>
          </p:nvPr>
        </p:nvSpPr>
        <p:spPr>
          <a:xfrm>
            <a:off x="916920" y="684720"/>
            <a:ext cx="8512920" cy="115704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>
              <a:lnSpc>
                <a:spcPct val="100000"/>
              </a:lnSpc>
              <a:spcBef>
                <a:spcPts val="99"/>
              </a:spcBef>
              <a:buNone/>
            </a:pPr>
            <a:r>
              <a:rPr b="0" lang="en-US" sz="3600" spc="-32" strike="noStrike">
                <a:solidFill>
                  <a:srgbClr val="c00000"/>
                </a:solidFill>
                <a:latin typeface="Calibri Light"/>
              </a:rPr>
              <a:t>INCIDENT</a:t>
            </a:r>
            <a:r>
              <a:rPr b="0" lang="en-US" sz="3600" spc="-97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55" strike="noStrike">
                <a:solidFill>
                  <a:srgbClr val="c00000"/>
                </a:solidFill>
                <a:latin typeface="Calibri Light"/>
              </a:rPr>
              <a:t>ERADICATION</a:t>
            </a:r>
            <a:r>
              <a:rPr b="0" lang="en-US" sz="3600" spc="-106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21" strike="noStrike">
                <a:solidFill>
                  <a:srgbClr val="c00000"/>
                </a:solidFill>
                <a:latin typeface="Calibri Light"/>
              </a:rPr>
              <a:t>AND</a:t>
            </a:r>
            <a:r>
              <a:rPr b="0" lang="en-US" sz="3600" spc="-97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52" strike="noStrike">
                <a:solidFill>
                  <a:srgbClr val="c00000"/>
                </a:solidFill>
                <a:latin typeface="Calibri Light"/>
              </a:rPr>
              <a:t>RECOVERY</a:t>
            </a:r>
            <a:r>
              <a:rPr b="0" lang="en-US" sz="3600" spc="-92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32" strike="noStrike">
                <a:solidFill>
                  <a:srgbClr val="c00000"/>
                </a:solidFill>
                <a:latin typeface="Calibri Light"/>
              </a:rPr>
              <a:t>(cont.)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282" name="object 3"/>
          <p:cNvSpPr/>
          <p:nvPr/>
        </p:nvSpPr>
        <p:spPr>
          <a:xfrm>
            <a:off x="916920" y="1802520"/>
            <a:ext cx="10298160" cy="420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54000" bIns="0" anchor="t">
            <a:spAutoFit/>
          </a:bodyPr>
          <a:p>
            <a:pPr marL="241200" indent="-229320">
              <a:lnSpc>
                <a:spcPts val="2591"/>
              </a:lnSpc>
              <a:spcBef>
                <a:spcPts val="425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Eradication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of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malware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or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other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intrusion mechanisms</a:t>
            </a:r>
            <a:r>
              <a:rPr b="0" lang="en-US" sz="2400" spc="-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and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recovery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from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the </a:t>
            </a:r>
            <a:r>
              <a:rPr b="0" lang="en-US" sz="2400" spc="-52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attack</a:t>
            </a:r>
            <a:r>
              <a:rPr b="0" lang="en-US" sz="2400" spc="-3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will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involve</a:t>
            </a:r>
            <a:r>
              <a:rPr b="0" lang="en-US" sz="2400" spc="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several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steps:</a:t>
            </a:r>
            <a:endParaRPr b="0" lang="en-US" sz="2400" spc="-1" strike="noStrike">
              <a:latin typeface="Arial"/>
            </a:endParaRPr>
          </a:p>
          <a:p>
            <a:pPr lvl="1" marL="698400" indent="-229320">
              <a:lnSpc>
                <a:spcPts val="2279"/>
              </a:lnSpc>
              <a:spcBef>
                <a:spcPts val="255"/>
              </a:spcBef>
              <a:buClr>
                <a:srgbClr val="ac172b"/>
              </a:buClr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000" spc="-7" strike="noStrike">
                <a:solidFill>
                  <a:srgbClr val="ac172b"/>
                </a:solidFill>
                <a:latin typeface="Calibri"/>
                <a:ea typeface="DejaVu Sans"/>
              </a:rPr>
              <a:t>Reconstitution </a:t>
            </a:r>
            <a:r>
              <a:rPr b="0" lang="en-US" sz="2000" spc="-1" strike="noStrike">
                <a:solidFill>
                  <a:srgbClr val="ac172b"/>
                </a:solidFill>
                <a:latin typeface="Calibri"/>
                <a:ea typeface="DejaVu Sans"/>
              </a:rPr>
              <a:t>of</a:t>
            </a:r>
            <a:r>
              <a:rPr b="0" lang="en-US" sz="2000" spc="-7" strike="noStrike">
                <a:solidFill>
                  <a:srgbClr val="ac172b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ac172b"/>
                </a:solidFill>
                <a:latin typeface="Calibri"/>
                <a:ea typeface="DejaVu Sans"/>
              </a:rPr>
              <a:t>affected</a:t>
            </a:r>
            <a:r>
              <a:rPr b="0" lang="en-US" sz="2000" spc="12" strike="noStrike">
                <a:solidFill>
                  <a:srgbClr val="ac172b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ac172b"/>
                </a:solidFill>
                <a:latin typeface="Calibri"/>
                <a:ea typeface="DejaVu Sans"/>
              </a:rPr>
              <a:t>systems—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either</a:t>
            </a:r>
            <a:r>
              <a:rPr b="0" lang="en-US" sz="2000" spc="3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remove</a:t>
            </a:r>
            <a:r>
              <a:rPr b="0" lang="en-US" sz="2000" spc="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the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malicious</a:t>
            </a:r>
            <a:r>
              <a:rPr b="0" lang="en-US" sz="2000" spc="18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files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or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tools</a:t>
            </a:r>
            <a:r>
              <a:rPr b="0" lang="en-US" sz="2000" spc="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from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affected </a:t>
            </a:r>
            <a:r>
              <a:rPr b="0" lang="en-US" sz="2000" spc="-21" strike="noStrike">
                <a:solidFill>
                  <a:srgbClr val="000000"/>
                </a:solidFill>
                <a:latin typeface="Calibri"/>
                <a:ea typeface="DejaVu Sans"/>
              </a:rPr>
              <a:t>systems</a:t>
            </a:r>
            <a:r>
              <a:rPr b="0" lang="en-US" sz="2000" spc="18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or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21" strike="noStrike">
                <a:solidFill>
                  <a:srgbClr val="000000"/>
                </a:solidFill>
                <a:latin typeface="Calibri"/>
                <a:ea typeface="DejaVu Sans"/>
              </a:rPr>
              <a:t>restore</a:t>
            </a:r>
            <a:r>
              <a:rPr b="0" lang="en-US" sz="2000" spc="2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21" strike="noStrike">
                <a:solidFill>
                  <a:srgbClr val="000000"/>
                </a:solidFill>
                <a:latin typeface="Calibri"/>
                <a:ea typeface="DejaVu Sans"/>
              </a:rPr>
              <a:t>systems</a:t>
            </a:r>
            <a:r>
              <a:rPr b="0" lang="en-US" sz="2000" spc="18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from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secure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backups/images.</a:t>
            </a:r>
            <a:endParaRPr b="0" lang="en-US" sz="2000" spc="-1" strike="noStrike">
              <a:latin typeface="Arial"/>
            </a:endParaRPr>
          </a:p>
          <a:p>
            <a:pPr lvl="1" marL="698400" indent="-228600">
              <a:lnSpc>
                <a:spcPts val="2160"/>
              </a:lnSpc>
              <a:spcBef>
                <a:spcPts val="524"/>
              </a:spcBef>
              <a:buClr>
                <a:srgbClr val="ac172b"/>
              </a:buClr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000" spc="-7" strike="noStrike">
                <a:solidFill>
                  <a:srgbClr val="ac172b"/>
                </a:solidFill>
                <a:latin typeface="Calibri"/>
                <a:ea typeface="DejaVu Sans"/>
              </a:rPr>
              <a:t>Reaudit</a:t>
            </a:r>
            <a:r>
              <a:rPr b="0" lang="en-US" sz="2000" spc="-1" strike="noStrike">
                <a:solidFill>
                  <a:srgbClr val="ac172b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ac172b"/>
                </a:solidFill>
                <a:latin typeface="Calibri"/>
                <a:ea typeface="DejaVu Sans"/>
              </a:rPr>
              <a:t>security</a:t>
            </a:r>
            <a:r>
              <a:rPr b="0" lang="en-US" sz="2000" spc="-1" strike="noStrike">
                <a:solidFill>
                  <a:srgbClr val="ac172b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ac172b"/>
                </a:solidFill>
                <a:latin typeface="Calibri"/>
                <a:ea typeface="DejaVu Sans"/>
              </a:rPr>
              <a:t>controls—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ensure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they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are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not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vulnerable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to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another</a:t>
            </a:r>
            <a:r>
              <a:rPr b="0" lang="en-US" sz="2000" spc="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attack,</a:t>
            </a:r>
            <a:r>
              <a:rPr b="0" lang="en-US" sz="2000" spc="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This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could</a:t>
            </a:r>
            <a:r>
              <a:rPr b="0" lang="en-US" sz="20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be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the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same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attack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or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from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some</a:t>
            </a:r>
            <a:r>
              <a:rPr b="0" lang="en-US" sz="2000" spc="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new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attack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that</a:t>
            </a:r>
            <a:r>
              <a:rPr b="0" lang="en-US" sz="2000" spc="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the </a:t>
            </a:r>
            <a:r>
              <a:rPr b="0" lang="en-US" sz="2000" spc="-21" strike="noStrike">
                <a:solidFill>
                  <a:srgbClr val="000000"/>
                </a:solidFill>
                <a:latin typeface="Calibri"/>
                <a:ea typeface="DejaVu Sans"/>
              </a:rPr>
              <a:t>attacker</a:t>
            </a:r>
            <a:r>
              <a:rPr b="0" lang="en-US" sz="2000" spc="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could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launch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through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information </a:t>
            </a:r>
            <a:r>
              <a:rPr b="0" lang="en-US" sz="2000" spc="-440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they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21" strike="noStrike">
                <a:solidFill>
                  <a:srgbClr val="000000"/>
                </a:solidFill>
                <a:latin typeface="Calibri"/>
                <a:ea typeface="DejaVu Sans"/>
              </a:rPr>
              <a:t>have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gained</a:t>
            </a:r>
            <a:r>
              <a:rPr b="0" lang="en-US" sz="2000" spc="-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about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your</a:t>
            </a:r>
            <a:r>
              <a:rPr b="0" lang="en-US" sz="2000" spc="-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network.</a:t>
            </a:r>
            <a:endParaRPr b="0" lang="en-US" sz="2000" spc="-1" strike="noStrike">
              <a:latin typeface="Arial"/>
            </a:endParaRPr>
          </a:p>
          <a:p>
            <a:pPr lvl="1" marL="698400" indent="-228600">
              <a:lnSpc>
                <a:spcPct val="90000"/>
              </a:lnSpc>
              <a:spcBef>
                <a:spcPts val="476"/>
              </a:spcBef>
              <a:buClr>
                <a:srgbClr val="000000"/>
              </a:buClr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Ensure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that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affected</a:t>
            </a:r>
            <a:r>
              <a:rPr b="0" lang="en-US" sz="2000" spc="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parties</a:t>
            </a:r>
            <a:r>
              <a:rPr b="0" lang="en-US" sz="2000" spc="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are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notified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and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provided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with the means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to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remediate</a:t>
            </a:r>
            <a:r>
              <a:rPr b="0" lang="en-US" sz="2000" spc="2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their 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own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21" strike="noStrike">
                <a:solidFill>
                  <a:srgbClr val="000000"/>
                </a:solidFill>
                <a:latin typeface="Calibri"/>
                <a:ea typeface="DejaVu Sans"/>
              </a:rPr>
              <a:t>systems,</a:t>
            </a:r>
            <a:r>
              <a:rPr b="0" lang="en-US" sz="2000" spc="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1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For Example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,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if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customers'</a:t>
            </a:r>
            <a:r>
              <a:rPr b="0" lang="en-US" sz="2000" spc="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passwords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are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stolen,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they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should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be advised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to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change</a:t>
            </a:r>
            <a:r>
              <a:rPr b="0" lang="en-US" sz="2000" spc="-3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credentials</a:t>
            </a:r>
            <a:r>
              <a:rPr b="0" lang="en-US" sz="2000" spc="18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for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any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other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accounts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where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that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password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might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have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been used </a:t>
            </a:r>
            <a:r>
              <a:rPr b="0" lang="en-US" sz="2000" spc="-43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(not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good</a:t>
            </a:r>
            <a:r>
              <a:rPr b="0" lang="en-US" sz="2000" spc="-3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practice,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but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most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people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do</a:t>
            </a:r>
            <a:r>
              <a:rPr b="0" lang="en-US" sz="2000" spc="-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it).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283" name="object 4"/>
          <p:cNvSpPr/>
          <p:nvPr/>
        </p:nvSpPr>
        <p:spPr>
          <a:xfrm>
            <a:off x="838080" y="6400800"/>
            <a:ext cx="10514520" cy="227520"/>
          </a:xfrm>
          <a:custGeom>
            <a:avLst/>
            <a:gdLst/>
            <a:ahLst/>
            <a:rect l="l" t="t" r="r" b="b"/>
            <a:pathLst>
              <a:path w="10515600" h="228600">
                <a:moveTo>
                  <a:pt x="10515600" y="0"/>
                </a:moveTo>
                <a:lnTo>
                  <a:pt x="0" y="0"/>
                </a:lnTo>
                <a:lnTo>
                  <a:pt x="0" y="228600"/>
                </a:lnTo>
                <a:lnTo>
                  <a:pt x="10515600" y="228600"/>
                </a:lnTo>
                <a:lnTo>
                  <a:pt x="10515600" y="0"/>
                </a:lnTo>
                <a:close/>
              </a:path>
            </a:pathLst>
          </a:custGeom>
          <a:solidFill>
            <a:srgbClr val="c00000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84" name="PlaceHolder 2"/>
          <p:cNvSpPr>
            <a:spLocks noGrp="1"/>
          </p:cNvSpPr>
          <p:nvPr>
            <p:ph type="ftr" idx="103"/>
          </p:nvPr>
        </p:nvSpPr>
        <p:spPr>
          <a:xfrm>
            <a:off x="916920" y="6451560"/>
            <a:ext cx="102240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Security+</a:t>
            </a:r>
            <a:r>
              <a:rPr b="0" lang="en-US" sz="1000" spc="-46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(SY0-601)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285" name="PlaceHolder 3"/>
          <p:cNvSpPr>
            <a:spLocks noGrp="1"/>
          </p:cNvSpPr>
          <p:nvPr>
            <p:ph type="dt" idx="104"/>
          </p:nvPr>
        </p:nvSpPr>
        <p:spPr>
          <a:xfrm>
            <a:off x="5492520" y="6451560"/>
            <a:ext cx="112212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©</a:t>
            </a:r>
            <a:r>
              <a:rPr b="0" lang="en-US" sz="1000" spc="-41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netriders.academy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286" name="PlaceHolder 4"/>
          <p:cNvSpPr>
            <a:spLocks noGrp="1"/>
          </p:cNvSpPr>
          <p:nvPr>
            <p:ph type="sldNum" idx="105"/>
          </p:nvPr>
        </p:nvSpPr>
        <p:spPr>
          <a:xfrm>
            <a:off x="11098440" y="6451200"/>
            <a:ext cx="20340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3816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38160">
              <a:lnSpc>
                <a:spcPts val="1046"/>
              </a:lnSpc>
              <a:buNone/>
            </a:pPr>
            <a:fld id="{A00297F2-98D7-43EC-9391-93AD5279F2DC}" type="slidenum">
              <a:rPr b="0" lang="en-US" sz="1000" spc="-7" strike="noStrike">
                <a:solidFill>
                  <a:srgbClr val="ffffff"/>
                </a:solidFill>
                <a:latin typeface="Calibri"/>
              </a:rPr>
              <a:t>&lt;number&gt;</a:t>
            </a:fld>
            <a:endParaRPr b="0" lang="en-US" sz="10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PlaceHolder 1"/>
          <p:cNvSpPr>
            <a:spLocks noGrp="1"/>
          </p:cNvSpPr>
          <p:nvPr>
            <p:ph type="title"/>
          </p:nvPr>
        </p:nvSpPr>
        <p:spPr>
          <a:xfrm>
            <a:off x="459720" y="228600"/>
            <a:ext cx="9140760" cy="68616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>
              <a:lnSpc>
                <a:spcPct val="100000"/>
              </a:lnSpc>
              <a:spcBef>
                <a:spcPts val="99"/>
              </a:spcBef>
              <a:buNone/>
            </a:pPr>
            <a:r>
              <a:rPr b="0" lang="en-US" sz="3600" spc="-52" strike="noStrike">
                <a:solidFill>
                  <a:srgbClr val="c00000"/>
                </a:solidFill>
                <a:latin typeface="Calibri Light"/>
              </a:rPr>
              <a:t>FIREWALL</a:t>
            </a:r>
            <a:r>
              <a:rPr b="0" lang="en-US" sz="3600" spc="-106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60" strike="noStrike">
                <a:solidFill>
                  <a:srgbClr val="c00000"/>
                </a:solidFill>
                <a:latin typeface="Calibri Light"/>
              </a:rPr>
              <a:t>CONFIGURATION</a:t>
            </a:r>
            <a:r>
              <a:rPr b="0" lang="en-US" sz="3600" spc="-120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35" strike="noStrike">
                <a:solidFill>
                  <a:srgbClr val="c00000"/>
                </a:solidFill>
                <a:latin typeface="Calibri Light"/>
              </a:rPr>
              <a:t>CHANGES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288" name="object 3"/>
          <p:cNvSpPr/>
          <p:nvPr/>
        </p:nvSpPr>
        <p:spPr>
          <a:xfrm>
            <a:off x="520920" y="1063080"/>
            <a:ext cx="10679760" cy="464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04040" bIns="0" anchor="t">
            <a:spAutoFit/>
          </a:bodyPr>
          <a:p>
            <a:pPr marL="241200" indent="-229320">
              <a:lnSpc>
                <a:spcPct val="100000"/>
              </a:lnSpc>
              <a:spcBef>
                <a:spcPts val="819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Analysis</a:t>
            </a:r>
            <a:r>
              <a:rPr b="0" lang="en-US" sz="2400" spc="-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of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an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attack</a:t>
            </a:r>
            <a:r>
              <a:rPr b="0" lang="en-US" sz="2400" spc="-3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should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identify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vector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exploited by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the </a:t>
            </a:r>
            <a:r>
              <a:rPr b="0" lang="en-US" sz="2400" spc="-46" strike="noStrike">
                <a:solidFill>
                  <a:srgbClr val="000000"/>
                </a:solidFill>
                <a:latin typeface="Calibri"/>
                <a:ea typeface="DejaVu Sans"/>
              </a:rPr>
              <a:t>attacker.</a:t>
            </a:r>
            <a:endParaRPr b="0" lang="en-US" sz="2400" spc="-1" strike="noStrike">
              <a:latin typeface="Arial"/>
            </a:endParaRPr>
          </a:p>
          <a:p>
            <a:pPr marL="241200" indent="-229320">
              <a:lnSpc>
                <a:spcPts val="2591"/>
              </a:lnSpc>
              <a:spcBef>
                <a:spcPts val="1046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This analysis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is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used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to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identify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configuration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changes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that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block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that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attack </a:t>
            </a:r>
            <a:r>
              <a:rPr b="0" lang="en-US" sz="2400" spc="-52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46" strike="noStrike">
                <a:solidFill>
                  <a:srgbClr val="000000"/>
                </a:solidFill>
                <a:latin typeface="Calibri"/>
                <a:ea typeface="DejaVu Sans"/>
              </a:rPr>
              <a:t>vector.</a:t>
            </a:r>
            <a:endParaRPr b="0" lang="en-US" sz="2400" spc="-1" strike="noStrike">
              <a:latin typeface="Arial"/>
            </a:endParaRPr>
          </a:p>
          <a:p>
            <a:pPr marL="241200" indent="-229320">
              <a:lnSpc>
                <a:spcPts val="2591"/>
              </a:lnSpc>
              <a:spcBef>
                <a:spcPts val="1006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configuration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change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may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mean the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deployment of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new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type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of security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control,</a:t>
            </a:r>
            <a:r>
              <a:rPr b="0" lang="en-US" sz="2400" spc="-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or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altering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settings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of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an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existing</a:t>
            </a:r>
            <a:r>
              <a:rPr b="0" lang="en-US" sz="2400" spc="-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control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to</a:t>
            </a:r>
            <a:r>
              <a:rPr b="0" lang="en-US" sz="2400" spc="-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make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it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more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effective.</a:t>
            </a:r>
            <a:endParaRPr b="0" lang="en-US" sz="2400" spc="-1" strike="noStrike">
              <a:latin typeface="Arial"/>
            </a:endParaRPr>
          </a:p>
          <a:p>
            <a:pPr marL="241200" indent="-229320">
              <a:lnSpc>
                <a:spcPts val="2591"/>
              </a:lnSpc>
              <a:spcBef>
                <a:spcPts val="1001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26" strike="noStrike">
                <a:solidFill>
                  <a:srgbClr val="000000"/>
                </a:solidFill>
                <a:latin typeface="Calibri"/>
                <a:ea typeface="DejaVu Sans"/>
              </a:rPr>
              <a:t>Historically,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many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organizations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focused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on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ingress</a:t>
            </a:r>
            <a:r>
              <a:rPr b="0" lang="en-US" sz="2400" spc="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filtering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rules,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designed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to </a:t>
            </a:r>
            <a:r>
              <a:rPr b="0" lang="en-US" sz="2400" spc="-53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prevent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local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network</a:t>
            </a:r>
            <a:r>
              <a:rPr b="0" lang="en-US" sz="2400" spc="-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penetration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from</a:t>
            </a:r>
            <a:r>
              <a:rPr b="0" lang="en-US" sz="2400" spc="-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the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Internet.</a:t>
            </a:r>
            <a:endParaRPr b="0" lang="en-US" sz="2400" spc="-1" strike="noStrike">
              <a:latin typeface="Arial"/>
            </a:endParaRPr>
          </a:p>
          <a:p>
            <a:pPr marL="241200" indent="-229320">
              <a:lnSpc>
                <a:spcPts val="2591"/>
              </a:lnSpc>
              <a:spcBef>
                <a:spcPts val="1015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In the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current threat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landscape,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it is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imperative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to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also apply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strict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egress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filtering </a:t>
            </a:r>
            <a:r>
              <a:rPr b="0" lang="en-US" sz="2400" spc="-53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rules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to</a:t>
            </a:r>
            <a:r>
              <a:rPr b="0" lang="en-US" sz="2400" spc="-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prevent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malware that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has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infected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internal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hosts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by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other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means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from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communicating</a:t>
            </a:r>
            <a:r>
              <a:rPr b="0" lang="en-US" sz="2400" spc="-3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out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to</a:t>
            </a:r>
            <a:r>
              <a:rPr b="0" lang="en-US" sz="2400" spc="-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C&amp;C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servers.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289" name="object 4"/>
          <p:cNvSpPr/>
          <p:nvPr/>
        </p:nvSpPr>
        <p:spPr>
          <a:xfrm>
            <a:off x="838080" y="6400800"/>
            <a:ext cx="10514520" cy="227520"/>
          </a:xfrm>
          <a:custGeom>
            <a:avLst/>
            <a:gdLst/>
            <a:ahLst/>
            <a:rect l="l" t="t" r="r" b="b"/>
            <a:pathLst>
              <a:path w="10515600" h="228600">
                <a:moveTo>
                  <a:pt x="10515600" y="0"/>
                </a:moveTo>
                <a:lnTo>
                  <a:pt x="0" y="0"/>
                </a:lnTo>
                <a:lnTo>
                  <a:pt x="0" y="228600"/>
                </a:lnTo>
                <a:lnTo>
                  <a:pt x="10515600" y="228600"/>
                </a:lnTo>
                <a:lnTo>
                  <a:pt x="10515600" y="0"/>
                </a:lnTo>
                <a:close/>
              </a:path>
            </a:pathLst>
          </a:custGeom>
          <a:solidFill>
            <a:srgbClr val="c00000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90" name="PlaceHolder 2"/>
          <p:cNvSpPr>
            <a:spLocks noGrp="1"/>
          </p:cNvSpPr>
          <p:nvPr>
            <p:ph type="ftr" idx="106"/>
          </p:nvPr>
        </p:nvSpPr>
        <p:spPr>
          <a:xfrm>
            <a:off x="916920" y="6451560"/>
            <a:ext cx="102240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Security+</a:t>
            </a:r>
            <a:r>
              <a:rPr b="0" lang="en-US" sz="1000" spc="-46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(SY0-601)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291" name="PlaceHolder 3"/>
          <p:cNvSpPr>
            <a:spLocks noGrp="1"/>
          </p:cNvSpPr>
          <p:nvPr>
            <p:ph type="dt" idx="107"/>
          </p:nvPr>
        </p:nvSpPr>
        <p:spPr>
          <a:xfrm>
            <a:off x="5492520" y="6451560"/>
            <a:ext cx="112212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©</a:t>
            </a:r>
            <a:r>
              <a:rPr b="0" lang="en-US" sz="1000" spc="-41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netriders.academy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292" name="PlaceHolder 4"/>
          <p:cNvSpPr>
            <a:spLocks noGrp="1"/>
          </p:cNvSpPr>
          <p:nvPr>
            <p:ph type="sldNum" idx="108"/>
          </p:nvPr>
        </p:nvSpPr>
        <p:spPr>
          <a:xfrm>
            <a:off x="11098440" y="6451200"/>
            <a:ext cx="20340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3816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38160">
              <a:lnSpc>
                <a:spcPts val="1046"/>
              </a:lnSpc>
              <a:buNone/>
            </a:pPr>
            <a:fld id="{15C70E7D-DE50-4F06-B9EE-6BC589E596E3}" type="slidenum">
              <a:rPr b="0" lang="en-US" sz="1000" spc="-7" strike="noStrike">
                <a:solidFill>
                  <a:srgbClr val="ffffff"/>
                </a:solidFill>
                <a:latin typeface="Calibri"/>
              </a:rPr>
              <a:t>&lt;number&gt;</a:t>
            </a:fld>
            <a:endParaRPr b="0" lang="en-US" sz="10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PlaceHolder 1"/>
          <p:cNvSpPr>
            <a:spLocks noGrp="1"/>
          </p:cNvSpPr>
          <p:nvPr>
            <p:ph type="title"/>
          </p:nvPr>
        </p:nvSpPr>
        <p:spPr>
          <a:xfrm>
            <a:off x="916920" y="684720"/>
            <a:ext cx="10512360" cy="68616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>
              <a:lnSpc>
                <a:spcPct val="100000"/>
              </a:lnSpc>
              <a:spcBef>
                <a:spcPts val="99"/>
              </a:spcBef>
              <a:buNone/>
            </a:pPr>
            <a:r>
              <a:rPr b="0" lang="en-US" sz="3600" spc="-52" strike="noStrike">
                <a:solidFill>
                  <a:srgbClr val="c00000"/>
                </a:solidFill>
                <a:latin typeface="Calibri Light"/>
              </a:rPr>
              <a:t>FIREWALL</a:t>
            </a:r>
            <a:r>
              <a:rPr b="0" lang="en-US" sz="3600" spc="-97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60" strike="noStrike">
                <a:solidFill>
                  <a:srgbClr val="c00000"/>
                </a:solidFill>
                <a:latin typeface="Calibri Light"/>
              </a:rPr>
              <a:t>CONFIGURATION</a:t>
            </a:r>
            <a:r>
              <a:rPr b="0" lang="en-US" sz="3600" spc="-111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35" strike="noStrike">
                <a:solidFill>
                  <a:srgbClr val="c00000"/>
                </a:solidFill>
                <a:latin typeface="Calibri Light"/>
              </a:rPr>
              <a:t>CHANGES</a:t>
            </a:r>
            <a:r>
              <a:rPr b="0" lang="en-US" sz="3600" spc="-92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32" strike="noStrike">
                <a:solidFill>
                  <a:srgbClr val="c00000"/>
                </a:solidFill>
                <a:latin typeface="Calibri Light"/>
              </a:rPr>
              <a:t>(cont.)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294" name="object 3"/>
          <p:cNvSpPr/>
          <p:nvPr/>
        </p:nvSpPr>
        <p:spPr>
          <a:xfrm>
            <a:off x="916920" y="1758960"/>
            <a:ext cx="10225440" cy="380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56520" bIns="0" anchor="t">
            <a:spAutoFit/>
          </a:bodyPr>
          <a:p>
            <a:pPr marL="241200" indent="-229320">
              <a:lnSpc>
                <a:spcPct val="100000"/>
              </a:lnSpc>
              <a:spcBef>
                <a:spcPts val="445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Some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general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guidelines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for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configuring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egress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filtering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are:</a:t>
            </a:r>
            <a:endParaRPr b="0" lang="en-US" sz="2400" spc="-1" strike="noStrike">
              <a:latin typeface="Arial"/>
            </a:endParaRPr>
          </a:p>
          <a:p>
            <a:pPr lvl="1" marL="698400" indent="-229320">
              <a:lnSpc>
                <a:spcPts val="2279"/>
              </a:lnSpc>
              <a:spcBef>
                <a:spcPts val="289"/>
              </a:spcBef>
              <a:buClr>
                <a:srgbClr val="c00000"/>
              </a:buClr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Allow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only</a:t>
            </a:r>
            <a:r>
              <a:rPr b="0" lang="en-US" sz="20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authorized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application</a:t>
            </a:r>
            <a:r>
              <a:rPr b="0" lang="en-US" sz="2000" spc="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ports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and,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if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possible,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restrict</a:t>
            </a:r>
            <a:r>
              <a:rPr b="0" lang="en-US" sz="2000" spc="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the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destination</a:t>
            </a:r>
            <a:r>
              <a:rPr b="0" lang="en-US" sz="2000" spc="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addresses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to</a:t>
            </a:r>
            <a:endParaRPr b="0" lang="en-US" sz="2000" spc="-1" strike="noStrike">
              <a:latin typeface="Arial"/>
            </a:endParaRPr>
          </a:p>
          <a:p>
            <a:pPr marL="698400">
              <a:lnSpc>
                <a:spcPts val="2279"/>
              </a:lnSpc>
              <a:buNone/>
              <a:tabLst>
                <a:tab algn="l" pos="699120"/>
              </a:tabLst>
            </a:pP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authorized</a:t>
            </a:r>
            <a:r>
              <a:rPr b="0" lang="en-US" sz="2000" spc="-3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Internet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hosts.</a:t>
            </a:r>
            <a:endParaRPr b="0" lang="en-US" sz="2000" spc="-1" strike="noStrike">
              <a:latin typeface="Arial"/>
            </a:endParaRPr>
          </a:p>
          <a:p>
            <a:pPr lvl="1" marL="698400" indent="-228600">
              <a:lnSpc>
                <a:spcPts val="2160"/>
              </a:lnSpc>
              <a:spcBef>
                <a:spcPts val="524"/>
              </a:spcBef>
              <a:buClr>
                <a:srgbClr val="c00000"/>
              </a:buClr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Restrict</a:t>
            </a:r>
            <a:r>
              <a:rPr b="0" lang="en-US" sz="2000" spc="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DNS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lookups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to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your</a:t>
            </a:r>
            <a:r>
              <a:rPr b="0" lang="en-US" sz="20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own</a:t>
            </a:r>
            <a:r>
              <a:rPr b="0" lang="en-US" sz="20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or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your</a:t>
            </a:r>
            <a:r>
              <a:rPr b="0" lang="en-US" sz="20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ISP's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DNS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services</a:t>
            </a:r>
            <a:r>
              <a:rPr b="0" lang="en-US" sz="2000" spc="2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or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authorized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public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resolvers, </a:t>
            </a:r>
            <a:r>
              <a:rPr b="0" lang="en-US" sz="2000" spc="-440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such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as Google's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or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Quad9's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DNS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services.</a:t>
            </a:r>
            <a:endParaRPr b="0" lang="en-US" sz="2000" spc="-1" strike="noStrike">
              <a:latin typeface="Arial"/>
            </a:endParaRPr>
          </a:p>
          <a:p>
            <a:pPr lvl="1" marL="698400" indent="-229320">
              <a:lnSpc>
                <a:spcPct val="100000"/>
              </a:lnSpc>
              <a:spcBef>
                <a:spcPts val="235"/>
              </a:spcBef>
              <a:buClr>
                <a:srgbClr val="c00000"/>
              </a:buClr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Block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access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to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"known</a:t>
            </a:r>
            <a:r>
              <a:rPr b="0" lang="en-US" sz="2000" spc="-3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bad"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IP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address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ranges.</a:t>
            </a:r>
            <a:endParaRPr b="0" lang="en-US" sz="2000" spc="-1" strike="noStrike">
              <a:latin typeface="Arial"/>
            </a:endParaRPr>
          </a:p>
          <a:p>
            <a:pPr lvl="1" marL="698400" indent="-229320">
              <a:lnSpc>
                <a:spcPct val="100000"/>
              </a:lnSpc>
              <a:spcBef>
                <a:spcPts val="264"/>
              </a:spcBef>
              <a:buClr>
                <a:srgbClr val="c00000"/>
              </a:buClr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Block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access</a:t>
            </a:r>
            <a:r>
              <a:rPr b="0" lang="en-US" sz="2000" spc="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from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any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IP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address space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that</a:t>
            </a:r>
            <a:r>
              <a:rPr b="0" lang="en-US" sz="2000" spc="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is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not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authorized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for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use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on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your</a:t>
            </a:r>
            <a:r>
              <a:rPr b="0" lang="en-US" sz="20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local</a:t>
            </a:r>
            <a:r>
              <a:rPr b="0" lang="en-US" sz="2000" spc="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network.</a:t>
            </a:r>
            <a:endParaRPr b="0" lang="en-US" sz="2000" spc="-1" strike="noStrike">
              <a:latin typeface="Arial"/>
            </a:endParaRPr>
          </a:p>
          <a:p>
            <a:pPr lvl="1" marL="698400" indent="-228600">
              <a:lnSpc>
                <a:spcPct val="90000"/>
              </a:lnSpc>
              <a:spcBef>
                <a:spcPts val="490"/>
              </a:spcBef>
              <a:buClr>
                <a:srgbClr val="c00000"/>
              </a:buClr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Block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all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Internet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access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from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host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subnets</a:t>
            </a:r>
            <a:r>
              <a:rPr b="0" lang="en-US" sz="2000" spc="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that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do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not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need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to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connect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to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the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Internet,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such </a:t>
            </a:r>
            <a:r>
              <a:rPr b="0" lang="en-US" sz="2000" spc="-43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as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most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types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of internal</a:t>
            </a:r>
            <a:r>
              <a:rPr b="0" lang="en-US" sz="2000" spc="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32" strike="noStrike">
                <a:solidFill>
                  <a:srgbClr val="000000"/>
                </a:solidFill>
                <a:latin typeface="Calibri"/>
                <a:ea typeface="DejaVu Sans"/>
              </a:rPr>
              <a:t>server,</a:t>
            </a:r>
            <a:r>
              <a:rPr b="0" lang="en-US" sz="2000" spc="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workstations</a:t>
            </a:r>
            <a:r>
              <a:rPr b="0" lang="en-US" sz="2000" spc="18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used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to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manage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industrial</a:t>
            </a:r>
            <a:r>
              <a:rPr b="0" lang="en-US" sz="2000" spc="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control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21" strike="noStrike">
                <a:solidFill>
                  <a:srgbClr val="000000"/>
                </a:solidFill>
                <a:latin typeface="Calibri"/>
                <a:ea typeface="DejaVu Sans"/>
              </a:rPr>
              <a:t>systems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(ICSs),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and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so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on.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295" name="object 4"/>
          <p:cNvSpPr/>
          <p:nvPr/>
        </p:nvSpPr>
        <p:spPr>
          <a:xfrm>
            <a:off x="838080" y="6400800"/>
            <a:ext cx="10514520" cy="227520"/>
          </a:xfrm>
          <a:custGeom>
            <a:avLst/>
            <a:gdLst/>
            <a:ahLst/>
            <a:rect l="l" t="t" r="r" b="b"/>
            <a:pathLst>
              <a:path w="10515600" h="228600">
                <a:moveTo>
                  <a:pt x="10515600" y="0"/>
                </a:moveTo>
                <a:lnTo>
                  <a:pt x="0" y="0"/>
                </a:lnTo>
                <a:lnTo>
                  <a:pt x="0" y="228600"/>
                </a:lnTo>
                <a:lnTo>
                  <a:pt x="10515600" y="228600"/>
                </a:lnTo>
                <a:lnTo>
                  <a:pt x="10515600" y="0"/>
                </a:lnTo>
                <a:close/>
              </a:path>
            </a:pathLst>
          </a:custGeom>
          <a:solidFill>
            <a:srgbClr val="c00000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96" name="PlaceHolder 2"/>
          <p:cNvSpPr>
            <a:spLocks noGrp="1"/>
          </p:cNvSpPr>
          <p:nvPr>
            <p:ph type="ftr" idx="109"/>
          </p:nvPr>
        </p:nvSpPr>
        <p:spPr>
          <a:xfrm>
            <a:off x="916920" y="6451560"/>
            <a:ext cx="102240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Security+</a:t>
            </a:r>
            <a:r>
              <a:rPr b="0" lang="en-US" sz="1000" spc="-46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(SY0-601)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297" name="PlaceHolder 3"/>
          <p:cNvSpPr>
            <a:spLocks noGrp="1"/>
          </p:cNvSpPr>
          <p:nvPr>
            <p:ph type="dt" idx="110"/>
          </p:nvPr>
        </p:nvSpPr>
        <p:spPr>
          <a:xfrm>
            <a:off x="5492520" y="6451560"/>
            <a:ext cx="112212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©</a:t>
            </a:r>
            <a:r>
              <a:rPr b="0" lang="en-US" sz="1000" spc="-41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netriders.academy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298" name="PlaceHolder 4"/>
          <p:cNvSpPr>
            <a:spLocks noGrp="1"/>
          </p:cNvSpPr>
          <p:nvPr>
            <p:ph type="sldNum" idx="111"/>
          </p:nvPr>
        </p:nvSpPr>
        <p:spPr>
          <a:xfrm>
            <a:off x="11098440" y="6451200"/>
            <a:ext cx="20340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3816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38160">
              <a:lnSpc>
                <a:spcPts val="1046"/>
              </a:lnSpc>
              <a:buNone/>
            </a:pPr>
            <a:fld id="{65D5E60A-1F88-4379-B70D-A46E1A6756BC}" type="slidenum">
              <a:rPr b="0" lang="en-US" sz="1000" spc="-7" strike="noStrike">
                <a:solidFill>
                  <a:srgbClr val="ffffff"/>
                </a:solidFill>
                <a:latin typeface="Calibri"/>
              </a:rPr>
              <a:t>&lt;number&gt;</a:t>
            </a:fld>
            <a:endParaRPr b="0" lang="en-US" sz="10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462c1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462c1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32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2023-09-03T12:32:43Z</dcterms:created>
  <dc:creator>Ahmed Sultan</dc:creator>
  <dc:description/>
  <dc:language>en-US</dc:language>
  <cp:lastModifiedBy/>
  <dcterms:modified xsi:type="dcterms:W3CDTF">2023-09-07T19:29:38Z</dcterms:modified>
  <cp:revision>4</cp:revision>
  <dc:subject/>
  <dc:title>PowerPoint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2021-12-03T00:00:00Z</vt:filetime>
  </property>
  <property fmtid="{D5CDD505-2E9C-101B-9397-08002B2CF9AE}" pid="3" name="Creator">
    <vt:lpwstr>Microsoft® PowerPoint® for Microsoft 365</vt:lpwstr>
  </property>
  <property fmtid="{D5CDD505-2E9C-101B-9397-08002B2CF9AE}" pid="4" name="LastSaved">
    <vt:filetime>2023-09-03T00:00:00Z</vt:filetime>
  </property>
  <property fmtid="{D5CDD505-2E9C-101B-9397-08002B2CF9AE}" pid="5" name="PresentationFormat">
    <vt:lpwstr>On-screen Show (4:3)</vt:lpwstr>
  </property>
</Properties>
</file>