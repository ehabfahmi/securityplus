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DBD929-02B2-4065-A5E1-7825BCC9BF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26A05C-0012-41EF-94DB-12EB34F756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C2702E-E80E-4F9B-9A01-D462AECF1A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9A57A2-3B72-4D6D-B6BD-D05CC1117F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0FB96E-971A-47EE-9AC8-6B2019A9F9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B45E0D-6B59-4D82-97EB-7099E9B43D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611F3A-2A15-4406-AE3A-77DDCE47F0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7EB5B7-2F8E-4B95-BA45-7F9DFCFBF9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8548AB-2960-4063-AB22-0CFB811145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2568CA-D026-4472-AA7A-A650FFC472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634C46-04D3-4D20-B380-7C53FE312B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5C38B3-679B-44F5-9C8A-D06A57E3C9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513F8E9-4A63-463C-BAAA-D63F507C28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AC3B81-7065-44D7-B3D3-4A49F6362F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EF11D4-85CF-409A-A791-8DF38C5E11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E778B5-95B7-4B2F-A636-804B384FBA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D3CFE7-D82B-45E7-8C65-BEE7962862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A4262E-5E1D-4BDB-83C1-ACFD445B2F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7544E1-C54C-4AA5-A009-6002EB4A26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140A22-FBF8-46D9-8334-6AA819E4E6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F2A90B-709A-416E-B959-78CA3F6306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C3CE45-10D2-4035-BC6F-CBEFFA2B7D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8BC3A0E-1798-4BC4-929B-A07695B9CD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A45721-AF0B-4FC2-B818-1F48F14DD72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E694D45-A2EF-448D-B8D0-34183DFD8A4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FD07A68-FD11-480D-9659-E49B6181CF3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603160" y="3080160"/>
            <a:ext cx="7035480" cy="848160"/>
            <a:chOff x="2603160" y="3080160"/>
            <a:chExt cx="703548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682360" y="3159000"/>
              <a:ext cx="687708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603160" y="3080160"/>
              <a:ext cx="703548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698920" y="3166920"/>
            <a:ext cx="679392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4364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19-</a:t>
            </a:r>
            <a:r>
              <a:rPr b="0" lang="en-US" sz="2800" spc="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Summarizing</a:t>
            </a:r>
            <a:r>
              <a:rPr b="0" lang="en-US" sz="2800" spc="2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Risk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Management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Concepts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object 2"/>
          <p:cNvSpPr/>
          <p:nvPr/>
        </p:nvSpPr>
        <p:spPr>
          <a:xfrm>
            <a:off x="916920" y="684720"/>
            <a:ext cx="153468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  <a:ea typeface="DejaVu Sans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8" name="object 3"/>
          <p:cNvSpPr/>
          <p:nvPr/>
        </p:nvSpPr>
        <p:spPr>
          <a:xfrm>
            <a:off x="916920" y="1715040"/>
            <a:ext cx="6351840" cy="12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19.1-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2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Concepts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19.2-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Impact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(BIA)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PlaceHolder 1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8D99C10-37F7-4ED5-9DB3-5C8F280B245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14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PROCESSES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4" name="object 3"/>
          <p:cNvSpPr/>
          <p:nvPr/>
        </p:nvSpPr>
        <p:spPr>
          <a:xfrm>
            <a:off x="916920" y="1802520"/>
            <a:ext cx="10160640" cy="39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Risk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management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identifying, assessing, 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vulnerabilities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essential functions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customers.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think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five</a:t>
            </a:r>
            <a:r>
              <a:rPr b="1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phases:</a:t>
            </a:r>
            <a:endParaRPr b="0" lang="en-US" sz="2400" spc="-1" strike="noStrike">
              <a:latin typeface="Arial"/>
            </a:endParaRPr>
          </a:p>
          <a:p>
            <a:pPr lvl="1" marL="927000" indent="-457200">
              <a:lnSpc>
                <a:spcPts val="2160"/>
              </a:lnSpc>
              <a:spcBef>
                <a:spcPts val="556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927000"/>
                <a:tab algn="l" pos="9277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Identify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mission</a:t>
            </a:r>
            <a:r>
              <a:rPr b="0" lang="en-US" sz="2000" spc="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essential</a:t>
            </a:r>
            <a:r>
              <a:rPr b="0" lang="en-US" sz="2000" spc="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functions—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mitigating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involve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large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amount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expenditure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focus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efforts,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focus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mission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essential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cause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whole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fail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performed.</a:t>
            </a:r>
            <a:endParaRPr b="0" lang="en-US" sz="2000" spc="-1" strike="noStrike">
              <a:latin typeface="Arial"/>
            </a:endParaRPr>
          </a:p>
          <a:p>
            <a:pPr lvl="1" marL="927000" indent="-457200">
              <a:lnSpc>
                <a:spcPts val="2160"/>
              </a:lnSpc>
              <a:spcBef>
                <a:spcPts val="505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927000"/>
                <a:tab algn="l" pos="9277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Identify</a:t>
            </a:r>
            <a:r>
              <a:rPr b="0" lang="en-US" sz="20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vulnerabilities—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workflow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(starting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critical),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list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vulnerabilities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weaknesses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susceptible.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92FA196-E531-496E-B599-C0FA3C35B4A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05040" y="457200"/>
            <a:ext cx="70959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PROCESSES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928800" y="1811880"/>
            <a:ext cx="10333800" cy="3934440"/>
          </a:xfrm>
          <a:prstGeom prst="rect">
            <a:avLst/>
          </a:prstGeom>
          <a:noFill/>
          <a:ln w="0">
            <a:noFill/>
          </a:ln>
        </p:spPr>
        <p:txBody>
          <a:bodyPr lIns="0" rIns="0" tIns="47520" bIns="0" anchor="t">
            <a:noAutofit/>
          </a:bodyPr>
          <a:p>
            <a:pPr marL="915120" indent="-457200">
              <a:lnSpc>
                <a:spcPts val="2160"/>
              </a:lnSpc>
              <a:spcBef>
                <a:spcPts val="374"/>
              </a:spcBef>
              <a:buClr>
                <a:srgbClr val="ac172b"/>
              </a:buClr>
              <a:buFont typeface="StarSymbol"/>
              <a:buAutoNum type="arabicPeriod" startAt="3"/>
              <a:tabLst>
                <a:tab algn="l" pos="915120"/>
                <a:tab algn="l" pos="91584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</a:rPr>
              <a:t>Identify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</a:rPr>
              <a:t>threats—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each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function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</a:rPr>
              <a:t>workflow,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identify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threat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sources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actors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</a:rPr>
              <a:t>take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advantage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exploit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accidentally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trigger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vulnerabilities.</a:t>
            </a:r>
            <a:endParaRPr b="0" lang="en-US" sz="2000" spc="-1" strike="noStrike">
              <a:latin typeface="Arial"/>
            </a:endParaRPr>
          </a:p>
          <a:p>
            <a:pPr marL="915120" indent="-457200">
              <a:lnSpc>
                <a:spcPct val="90000"/>
              </a:lnSpc>
              <a:spcBef>
                <a:spcPts val="471"/>
              </a:spcBef>
              <a:buClr>
                <a:srgbClr val="ac172b"/>
              </a:buClr>
              <a:buFont typeface="StarSymbol"/>
              <a:buAutoNum type="arabicPeriod" startAt="3"/>
              <a:tabLst>
                <a:tab algn="l" pos="915120"/>
                <a:tab algn="l" pos="91584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</a:rPr>
              <a:t>Analyze</a:t>
            </a:r>
            <a:r>
              <a:rPr b="0" lang="en-US" sz="2000" spc="-26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</a:rPr>
              <a:t>business</a:t>
            </a:r>
            <a:r>
              <a:rPr b="0" lang="en-US" sz="2000" spc="7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</a:rPr>
              <a:t>impacts—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likelihood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vulnerability being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activated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security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incident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threat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impact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incident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critical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</a:rPr>
              <a:t>systems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factors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used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assess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risk.</a:t>
            </a:r>
            <a:endParaRPr b="0" lang="en-US" sz="2000" spc="-1" strike="noStrike">
              <a:latin typeface="Arial"/>
            </a:endParaRPr>
          </a:p>
          <a:p>
            <a:pPr marL="915120" indent="-457200">
              <a:lnSpc>
                <a:spcPts val="2160"/>
              </a:lnSpc>
              <a:spcBef>
                <a:spcPts val="524"/>
              </a:spcBef>
              <a:buClr>
                <a:srgbClr val="ac172b"/>
              </a:buClr>
              <a:buFont typeface="StarSymbol"/>
              <a:buAutoNum type="arabicPeriod" startAt="3"/>
              <a:tabLst>
                <a:tab algn="l" pos="915120"/>
                <a:tab algn="l" pos="91584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</a:rPr>
              <a:t>Identify</a:t>
            </a:r>
            <a:r>
              <a:rPr b="0" lang="en-US" sz="2000" spc="7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</a:rPr>
              <a:t>risk</a:t>
            </a:r>
            <a:r>
              <a:rPr b="0" lang="en-US" sz="2000" spc="26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</a:rPr>
              <a:t>response—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each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risk,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identify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possible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countermeasures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assess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cost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 deploying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additional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security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controls,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Most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risks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require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some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sort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mitigation,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but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other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types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response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might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more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appropriate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certain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types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level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risks.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PlaceHolder 3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1A8458A-D4DA-40E9-9D3C-2D33A6634B7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6920" y="228600"/>
            <a:ext cx="3883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16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6" name="object 3"/>
          <p:cNvSpPr/>
          <p:nvPr/>
        </p:nvSpPr>
        <p:spPr>
          <a:xfrm>
            <a:off x="867600" y="1143000"/>
            <a:ext cx="10333800" cy="46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External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External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actors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highly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visible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consider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wider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those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cyberattack.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Natural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disasters,</a:t>
            </a:r>
            <a:r>
              <a:rPr b="0" lang="en-US" sz="20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COVID-19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pandemic,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illustrate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workflows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resilient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widespread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dislocation.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impact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lead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loss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life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critical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injury.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obvious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risks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life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safety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natural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disasters,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person-made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disasters,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accidents,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699120"/>
              </a:tabLst>
            </a:pPr>
            <a:endParaRPr b="0" lang="en-US" sz="27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Internal</a:t>
            </a:r>
            <a:endParaRPr b="0" lang="en-US" sz="2400" spc="-1" strike="noStrike">
              <a:latin typeface="Arial"/>
            </a:endParaRPr>
          </a:p>
          <a:p>
            <a:pPr marL="698400" indent="-228600">
              <a:lnSpc>
                <a:spcPts val="2160"/>
              </a:lnSpc>
              <a:spcBef>
                <a:spcPts val="550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Internal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risks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workflows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managed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organization.</a:t>
            </a:r>
            <a:endParaRPr b="0" lang="en-US" sz="2000" spc="-1" strike="noStrike">
              <a:latin typeface="Arial"/>
            </a:endParaRPr>
          </a:p>
          <a:p>
            <a:pPr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Internal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contractors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granted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temporary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E89D409-076D-424A-B72F-740A2294901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2644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2" name="object 3"/>
          <p:cNvSpPr/>
          <p:nvPr/>
        </p:nvSpPr>
        <p:spPr>
          <a:xfrm>
            <a:off x="916920" y="1758960"/>
            <a:ext cx="10205640" cy="38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Multiparty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Multiparty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adverse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impacts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Multiparty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arises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supplier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relationships.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3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1480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Intellectual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Property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(IP)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Theft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Intellectual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(IP)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commercial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mean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copyrighted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material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retail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(software,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video,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music)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product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designs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patents.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exfiltrated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much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commercial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2774D9E-E320-4B56-AC77-74E499C8851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2644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8" name="object 3"/>
          <p:cNvSpPr/>
          <p:nvPr/>
        </p:nvSpPr>
        <p:spPr>
          <a:xfrm>
            <a:off x="916920" y="1758960"/>
            <a:ext cx="10114920" cy="31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Software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Compliance/Licensing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Breaking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terms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end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user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licensing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agreement</a:t>
            </a:r>
            <a:r>
              <a:rPr b="1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(EULA)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imposes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conditions on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installation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expose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substantial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fines.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11"/>
              </a:spcBef>
              <a:buNone/>
              <a:tabLst>
                <a:tab algn="l" pos="699120"/>
              </a:tabLst>
            </a:pPr>
            <a:endParaRPr b="0" lang="en-US" sz="15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Legacy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Systems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Legacy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longer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receive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updates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expertise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maintain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troubleshoot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scarce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69ACDF6-B411-485F-9547-A4C6037A614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6920" y="914400"/>
            <a:ext cx="799848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QUANTITATIVE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ASSESSMENT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4" name="object 3"/>
          <p:cNvSpPr/>
          <p:nvPr/>
        </p:nvSpPr>
        <p:spPr>
          <a:xfrm>
            <a:off x="916920" y="1802520"/>
            <a:ext cx="10239120" cy="42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quantitative</a:t>
            </a:r>
            <a:r>
              <a:rPr b="1" lang="en-US" sz="2400" spc="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qualitative</a:t>
            </a:r>
            <a:r>
              <a:rPr b="1" lang="en-US" sz="2400" spc="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methods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evaluate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likelihood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impact.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Quantitative</a:t>
            </a:r>
            <a:r>
              <a:rPr b="1" lang="en-US" sz="2400" spc="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assessment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aims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assign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concrete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values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factor.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Single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Loss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Expectancy</a:t>
            </a:r>
            <a:r>
              <a:rPr b="0" lang="en-US" sz="2000" spc="-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(SLE)—</a:t>
            </a: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amount 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lost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single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occurrence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factor,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multiplying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Exposure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Factor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(EF),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EF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percentage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lost.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Annualized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Rate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Occurrence</a:t>
            </a: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(ARO)—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many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times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occurrence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year.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5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Annualized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Loss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Expectancy</a:t>
            </a:r>
            <a:r>
              <a:rPr b="0" lang="en-US" sz="2000" spc="-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(ALE)—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amount that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lost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course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year.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multiplying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SLE</a:t>
            </a:r>
            <a:r>
              <a:rPr b="1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ARO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C52B9E1-F37B-4B5D-BF50-31C1325D86A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6920" y="901080"/>
            <a:ext cx="9370080" cy="6991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Q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AL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ASS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EN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802520"/>
            <a:ext cx="10188360" cy="38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Qualitative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assessment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avoids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complexity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quantitative approach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focused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on identifying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significant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factors.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qualitative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approach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seeks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people's opinions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factors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significant.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risks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placed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simple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categories.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example,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Assets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could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be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categorized</a:t>
            </a:r>
            <a:r>
              <a:rPr b="0" lang="en-US" sz="2400" spc="-21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as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Irreplaceable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,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High</a:t>
            </a:r>
            <a:r>
              <a:rPr b="1" lang="en-US" sz="2400" spc="-12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26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Value</a:t>
            </a:r>
            <a:r>
              <a:rPr b="0" lang="en-US" sz="2400" spc="-26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,</a:t>
            </a:r>
            <a:r>
              <a:rPr b="0" lang="en-US" sz="2400" spc="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Medium </a:t>
            </a:r>
            <a:r>
              <a:rPr b="1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Value</a:t>
            </a:r>
            <a:r>
              <a:rPr b="0" lang="en-US" sz="24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,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and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Low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Value</a:t>
            </a:r>
            <a:r>
              <a:rPr b="0" lang="en-US" sz="24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ac172b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Risks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could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be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categorized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as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one-off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or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recurring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and as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Critical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,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High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,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Medium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and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Low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probability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5749738-BFC1-4D6F-8790-65A38AB1F39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0632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AVOIDANCE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6" name="object 3"/>
          <p:cNvSpPr/>
          <p:nvPr/>
        </p:nvSpPr>
        <p:spPr>
          <a:xfrm>
            <a:off x="916920" y="1758960"/>
            <a:ext cx="10335960" cy="351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Avoidance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doing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activity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risk-bearing.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Example:</a:t>
            </a:r>
            <a:r>
              <a:rPr b="1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develop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in-house application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inventory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try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sell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while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selling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numerous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generate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complaints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legal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action,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decision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cost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maintaining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worth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revenue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withdraw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Obviously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generate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considerable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feeling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among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existing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customers.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Avoidance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often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credible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FB9744F-C9ED-43E0-AC1D-AC549ED2A98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513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TRANSFERENCE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RISK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ACCEPTANCE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2" name="object 3"/>
          <p:cNvSpPr/>
          <p:nvPr/>
        </p:nvSpPr>
        <p:spPr>
          <a:xfrm>
            <a:off x="796320" y="1371600"/>
            <a:ext cx="10176480" cy="49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Transference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(or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sharing)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 assigning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party,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insurance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contract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supplier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defines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liabilities.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For Example: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company could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stop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in-house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maintenance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e-commerce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contract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party,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liable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any fraud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theft.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699120"/>
              </a:tabLst>
            </a:pPr>
            <a:endParaRPr b="0" lang="en-US" sz="145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Risk</a:t>
            </a:r>
            <a:r>
              <a:rPr b="0" lang="en-US" sz="2400" spc="-5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Acceptance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acceptance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tolerance)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countermeasures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place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either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level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risk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justify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unavoidable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delay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before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countermeasures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deployed.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case,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continue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monitor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opposed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ignoring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C1855AE-CEC8-476E-98B9-2464F51447A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0425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BUSINESS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IMPACT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ANALYSIS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8" name="object 3"/>
          <p:cNvSpPr/>
          <p:nvPr/>
        </p:nvSpPr>
        <p:spPr>
          <a:xfrm>
            <a:off x="916920" y="1758960"/>
            <a:ext cx="9923040" cy="37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Business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impact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analysis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(BIA)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assessing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what losses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occur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scenarios.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DDoS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suspends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e-commerce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five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hours,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business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impact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quantify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losses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orders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made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customers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moving permanently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suppliers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historic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likelihood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attack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assessed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annualized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determine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annualized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impact,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terms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costs.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required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assess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load balancing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DDoS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mitigation,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investment.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8FEEA0B-B57B-49BE-A607-04F5C47C676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916920" y="914400"/>
            <a:ext cx="845568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MISSION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ESSENTIAL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FUNCTIONS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4" name="object 3"/>
          <p:cNvSpPr/>
          <p:nvPr/>
        </p:nvSpPr>
        <p:spPr>
          <a:xfrm>
            <a:off x="916920" y="1758960"/>
            <a:ext cx="10241280" cy="39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Maximum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tolerable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downtime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(MTD)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longest period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time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function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outage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occur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causing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irrecoverable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failure.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MTD,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minutes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hours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critical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functions,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24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hours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urgent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seven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days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normal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functions,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MTDs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vary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event.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Example: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specializing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medical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equipment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exist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without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incoming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manufacturing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supplies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months because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stockpiled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sizable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inventory,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After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months,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sufficient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supplies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manufacture additional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products,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therefore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leading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failure,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case,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MTD</a:t>
            </a:r>
            <a:r>
              <a:rPr b="1" lang="en-US" sz="20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is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three </a:t>
            </a:r>
            <a:r>
              <a:rPr b="1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months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53F9068-047B-4C71-A602-7957C5BB69E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1208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MISSION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ESSENTIAL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FUNCTIONS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0" name="object 3"/>
          <p:cNvSpPr/>
          <p:nvPr/>
        </p:nvSpPr>
        <p:spPr>
          <a:xfrm>
            <a:off x="916920" y="1758960"/>
            <a:ext cx="10031040" cy="43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Recovery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time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objective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(RTO)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period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disaster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 individual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remain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offline.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represents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amount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takes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recovery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(restore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switch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alternative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instance).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11"/>
              </a:spcBef>
              <a:buNone/>
              <a:tabLst>
                <a:tab algn="l" pos="699120"/>
              </a:tabLst>
            </a:pPr>
            <a:endParaRPr b="0" lang="en-US" sz="15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Work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Recovery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Time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(WRT)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recovery,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additional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reintegrate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systems,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functionality,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brief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working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practices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again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fully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supported.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F535EE1-D864-4CCE-AF3F-51ACE36779D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9269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SINGLE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POINTS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FAILURE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6" name="object 3"/>
          <p:cNvSpPr/>
          <p:nvPr/>
        </p:nvSpPr>
        <p:spPr>
          <a:xfrm>
            <a:off x="916920" y="1802520"/>
            <a:ext cx="102646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supported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arrays,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switches,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routers,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Reducing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dependencies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means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design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easily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eliminate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weakness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comes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these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becoming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single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failure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SPoF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SPoF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causes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entire workflow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fail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damaged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SPoFs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mitigated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redundant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components.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1935115-9583-450B-9118-B647C600332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914400" y="442800"/>
            <a:ext cx="10287000" cy="7002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SINGLE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POINTS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FAILURE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2" name="object 3"/>
          <p:cNvSpPr/>
          <p:nvPr/>
        </p:nvSpPr>
        <p:spPr>
          <a:xfrm>
            <a:off x="736920" y="1082520"/>
            <a:ext cx="10256400" cy="50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Mean time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to failure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(MTTF)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Mean time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between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failures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(MTBF)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represent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expected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lifetime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MTTF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non-repairable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Example: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hard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drive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may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be described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with an </a:t>
            </a: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MTTF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while a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server (which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could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be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repaired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by</a:t>
            </a:r>
            <a:r>
              <a:rPr b="0" lang="en-US" sz="24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replacing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the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hard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drive) would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be described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with</a:t>
            </a:r>
            <a:r>
              <a:rPr b="0" lang="en-US" sz="2400" spc="-2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an</a:t>
            </a:r>
            <a:r>
              <a:rPr b="0" lang="en-US" sz="2400" spc="29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MTBF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calculation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MTBF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total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time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divided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the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number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of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failures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Example: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10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50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hours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two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fail,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MTBF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is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250</a:t>
            </a:r>
            <a:r>
              <a:rPr b="1" lang="en-US" sz="2400" spc="-12" strike="noStrike" u="heavy">
                <a:solidFill>
                  <a:srgbClr val="00000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hours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 (10*50)/2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calculation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MTTF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the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total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time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divided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number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of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devices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(10*50)/10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result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being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50</a:t>
            </a:r>
            <a:r>
              <a:rPr b="1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hours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B84ABD5-59C7-43D0-AFA6-A934041A328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202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SINGLE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POINTS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FAILURE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8" name="object 3"/>
          <p:cNvSpPr/>
          <p:nvPr/>
        </p:nvSpPr>
        <p:spPr>
          <a:xfrm>
            <a:off x="916920" y="1758960"/>
            <a:ext cx="9372600" cy="20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Mean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time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repair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(MTTR)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measure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taken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correct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fault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restored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full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"replace" 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"recover".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metric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determining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recovery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objective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(RTO).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578A79D-EE44-4A2B-BEBD-1C572B22B30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5694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DISASTERS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4" name="object 3"/>
          <p:cNvSpPr/>
          <p:nvPr/>
        </p:nvSpPr>
        <p:spPr>
          <a:xfrm>
            <a:off x="916920" y="1711080"/>
            <a:ext cx="10070280" cy="42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disaster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threaten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mission essential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privacy breach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 incident, but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probably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direct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earthquake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destroys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center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disaster-level event.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Disaster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same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principles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larger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scale.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1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Internal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External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Person-Made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Environmental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PlaceHolder 2"/>
          <p:cNvSpPr>
            <a:spLocks noGrp="1"/>
          </p:cNvSpPr>
          <p:nvPr>
            <p:ph type="ftr" idx="5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5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sldNum" idx="5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25A4613-9EAD-4B40-9EB6-430018A93CF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312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DISASTER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RECOVERY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PLANS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0" name="object 3"/>
          <p:cNvSpPr/>
          <p:nvPr/>
        </p:nvSpPr>
        <p:spPr>
          <a:xfrm>
            <a:off x="916920" y="1802520"/>
            <a:ext cx="10193400" cy="34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Disaster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recovery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plans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(DRPs)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procedures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follow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working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state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disaster-level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DRP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accomplish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following:</a:t>
            </a:r>
            <a:endParaRPr b="0" lang="en-US" sz="2400" spc="-1" strike="noStrike">
              <a:latin typeface="Arial"/>
            </a:endParaRPr>
          </a:p>
          <a:p>
            <a:pPr lvl="1" marL="927000" indent="-45792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927000"/>
                <a:tab algn="l" pos="9277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scenarios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natural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non-natural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disaster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options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protecting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systems.</a:t>
            </a:r>
            <a:endParaRPr b="0" lang="en-US" sz="2000" spc="-1" strike="noStrike">
              <a:latin typeface="Arial"/>
            </a:endParaRPr>
          </a:p>
          <a:p>
            <a:pPr lvl="1" marL="927000" indent="-4579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927000"/>
                <a:tab algn="l" pos="9277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tasks,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resources,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responsibilities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responding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disaster.</a:t>
            </a:r>
            <a:endParaRPr b="0" lang="en-US" sz="2000" spc="-1" strike="noStrike">
              <a:latin typeface="Arial"/>
            </a:endParaRPr>
          </a:p>
          <a:p>
            <a:pPr lvl="1" marL="927000" indent="-4579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927000"/>
                <a:tab algn="l" pos="927720"/>
              </a:tabLst>
            </a:pP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Train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staff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disaster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planning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procedures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how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react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well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PlaceHolder 2"/>
          <p:cNvSpPr>
            <a:spLocks noGrp="1"/>
          </p:cNvSpPr>
          <p:nvPr>
            <p:ph type="ftr" idx="5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dt" idx="5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6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E312A82-B234-420A-9F76-68DD1B2C4B6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2023-09-03T12:33:35Z</dcterms:created>
  <dc:creator>Ahmed Sultan</dc:creator>
  <dc:description/>
  <dc:language>en-US</dc:language>
  <cp:lastModifiedBy/>
  <dcterms:modified xsi:type="dcterms:W3CDTF">2023-09-07T21:08:18Z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