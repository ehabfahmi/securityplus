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B58BD3-6E9D-4F22-895D-033EDA8AAE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85A31B-05B9-4D8C-89CC-02B7009629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B795DA-51C5-4FB8-843D-829E4FAB04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9C73C6-4440-40C2-85FB-22374E3E9B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DA9253-6572-4F09-B196-783070A37B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7E8B14-65ED-420E-B370-0B15434B87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6DAFB5-0994-4D10-96C8-0E8EE18968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395FC4-7BD6-4B4E-9F7D-49EF9DA534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871F49-9195-4446-AFB9-F855E347D3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9BF013-D6DD-4650-B146-D3FE4DF44E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D22038-7778-4657-B657-B15F769F8E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D147F9-21EE-4D9B-81D3-1D0E86B269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FB3284-D21A-4604-BFD5-1388ABC468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5CA6F8-2DA2-46D8-BD88-2FFBBFE742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CF3D96-CEDD-49F3-ADA2-2DE4AA64EB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854A0F-2191-47E2-A5A8-7D27C968B6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00EBC4-5582-406A-A934-92EB4C3E7E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DD0DC7-261E-4CC8-BF5A-27813380A5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B98380-21DC-44C6-8871-3C94A19800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30E422-2319-42CA-A7CA-28C7B031A2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F6612E-4747-4E7D-853E-4C244B21D5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95E682-1E79-4515-AD42-1D78A1B3B3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4FDD07-0BC1-4C60-B738-F8E74AD931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789204-88CE-4B74-8105-6E17DD937C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52BFE64-B9C1-4138-9733-092D51649A4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6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h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B553E67-AD23-4D93-819E-7EE2A4C1A02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788920" y="3080160"/>
            <a:ext cx="6662160" cy="848160"/>
            <a:chOff x="2788920" y="3080160"/>
            <a:chExt cx="666216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913840" y="3159000"/>
              <a:ext cx="641376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788920" y="3080160"/>
              <a:ext cx="666216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930760" y="3166920"/>
            <a:ext cx="633024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9828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20-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Cybersecurity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Resilience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534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8" name="object 3"/>
          <p:cNvSpPr/>
          <p:nvPr/>
        </p:nvSpPr>
        <p:spPr>
          <a:xfrm>
            <a:off x="916920" y="1715040"/>
            <a:ext cx="4549680" cy="12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20.1-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Redundancy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Strategies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20.2-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Strategies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object 5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EEBA0F8-495A-4D0A-81DD-772F6D7D06D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838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HIGH</a:t>
            </a:r>
            <a:r>
              <a:rPr b="0" lang="en-US" sz="3600" spc="-18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AVAILABILITY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4" name="object 3"/>
          <p:cNvSpPr/>
          <p:nvPr/>
        </p:nvSpPr>
        <p:spPr>
          <a:xfrm>
            <a:off x="916920" y="1711080"/>
            <a:ext cx="10321920" cy="31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properties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resilient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availability.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Availability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is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the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percentage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of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time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that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the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system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is</a:t>
            </a:r>
            <a:r>
              <a:rPr b="0" lang="en-US" sz="2400" spc="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online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measured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period,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year.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High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loosely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24x7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(24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hours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per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day,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days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per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week)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24x365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(24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hours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day,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365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days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per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year).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two-nines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(99%)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five-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six-nines (99.9999%).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0A78A73-6080-451B-BB23-85D9D14DE4D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699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HIGH</a:t>
            </a:r>
            <a:r>
              <a:rPr b="0" lang="en-US" sz="3600" spc="-14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AVAILABILITY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0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1" name="object 4" descr=""/>
          <p:cNvPicPr/>
          <p:nvPr/>
        </p:nvPicPr>
        <p:blipFill>
          <a:blip r:embed="rId1"/>
          <a:stretch/>
        </p:blipFill>
        <p:spPr>
          <a:xfrm>
            <a:off x="2839320" y="1739160"/>
            <a:ext cx="6512400" cy="336744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DFB9716-69A7-48F7-8F51-19E745F3FD0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POWER</a:t>
            </a:r>
            <a:r>
              <a:rPr b="0" lang="en-US" sz="3600" spc="-14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REDUNDANCY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object 3"/>
          <p:cNvSpPr/>
          <p:nvPr/>
        </p:nvSpPr>
        <p:spPr>
          <a:xfrm>
            <a:off x="628920" y="1207080"/>
            <a:ext cx="10176480" cy="49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require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stable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power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supply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operate.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Electrical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voltage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spikes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surges,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crash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computers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appliances,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loss 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power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blackouts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cause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equipment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Power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deploying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ensure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equipment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network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either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continue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uninterrupted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quickly.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enterprise-class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appliance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enclosure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likely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feature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power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supply units (PSUs)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redundancy.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hot plug PSU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replaced (in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failure)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powering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down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C55159E-FC75-4661-91B1-EF1A1F19748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084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REDUNDANCY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2" name="object 3"/>
          <p:cNvSpPr/>
          <p:nvPr/>
        </p:nvSpPr>
        <p:spPr>
          <a:xfrm>
            <a:off x="772920" y="1326960"/>
            <a:ext cx="10216440" cy="48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Interface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Card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(NIC)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Teaming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(NIC)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teaming,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adapter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teaming,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multiple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NICs,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NICs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cabling.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During normal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high-bandwidth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four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gives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bandwidth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4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Gb.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cable, 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NIC,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continue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though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just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Gb.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Load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Balancers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balancing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distributes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workloads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balancing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cluster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redundant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share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session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maintain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consistent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failover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server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another.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93F6E9B-E5CE-48CF-B476-D8B8FC2032C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DISK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REDUNDANCY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8" name="object 3"/>
          <p:cNvSpPr/>
          <p:nvPr/>
        </p:nvSpPr>
        <p:spPr>
          <a:xfrm>
            <a:off x="844920" y="1351080"/>
            <a:ext cx="10237320" cy="46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critically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dependent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redundancy.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integrity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disk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restore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installing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new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unit,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restoring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testing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redundancy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continue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possibly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Redundant</a:t>
            </a:r>
            <a:r>
              <a:rPr b="0" lang="en-US" sz="24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Array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of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Independent</a:t>
            </a:r>
            <a:r>
              <a:rPr b="0" lang="en-US" sz="24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Disks </a:t>
            </a:r>
            <a:r>
              <a:rPr b="0" lang="en-US" sz="2400" spc="-52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(RAID)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disks 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 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increase reliability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fault tolerance.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disk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fails,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lost,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keep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functioning.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717CFC8-E154-41BD-BB31-F4585CBA823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2968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4" name="object 3"/>
          <p:cNvSpPr/>
          <p:nvPr/>
        </p:nvSpPr>
        <p:spPr>
          <a:xfrm>
            <a:off x="916920" y="1802520"/>
            <a:ext cx="10320480" cy="37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continuity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disaster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makes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another.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execution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frequency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carefully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planned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guided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Backups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kept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back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to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certain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points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in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time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backups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lot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space,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limitless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 capacity,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introduces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storage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routines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reduce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amount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occupying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giving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adequate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coverage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window.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23F03BA-84C4-467F-B1EA-3B2AE5F094B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69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BACKUP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802520"/>
            <a:ext cx="997524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made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original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copy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usually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types:</a:t>
            </a:r>
            <a:r>
              <a:rPr b="0" lang="en-US" sz="24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full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incremental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differential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2" name="object 5" descr=""/>
          <p:cNvPicPr/>
          <p:nvPr/>
        </p:nvPicPr>
        <p:blipFill>
          <a:blip r:embed="rId1"/>
          <a:stretch/>
        </p:blipFill>
        <p:spPr>
          <a:xfrm>
            <a:off x="6506640" y="2971800"/>
            <a:ext cx="4923360" cy="334404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952DFEA-119A-4F9A-9EC3-72F1883DEFD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946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BACKUP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916920" y="1802520"/>
            <a:ext cx="1032300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Assuming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working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day,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incremental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backup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includes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files changed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during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day,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differential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backup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changed since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Incremental backups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save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time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time-consuming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restored.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restored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incremental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subsequently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occurred.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C6D7CC4-E7B6-4808-A767-6F6A0C9BEC0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2023-09-03T12:33:57Z</dcterms:created>
  <dc:creator>Ahmed Sultan</dc:creator>
  <dc:description/>
  <dc:language>en-US</dc:language>
  <cp:lastModifiedBy/>
  <dcterms:modified xsi:type="dcterms:W3CDTF">2023-09-07T21:21:27Z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