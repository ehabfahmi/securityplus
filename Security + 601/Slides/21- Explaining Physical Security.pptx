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D996D2-D85B-43F1-AF21-D4BEC9756B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0F0733-BA09-4A40-A366-41B80072DC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0A603A-5C0C-491D-817D-1D7AE3D333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678A6D-E352-43D5-80EC-67CB53D045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6ADB3B-72C5-48C6-81EE-218BD24A46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504A5B-63DF-4369-A073-A4983412E6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EB4A37-94D0-43E6-A00D-0315F6F101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4CC052-8B54-4C41-8914-646384A03C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383CE5-D2E6-4C3D-9820-E3A8440497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4545F2-405D-4F23-97D6-5E416C6E3D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A9EB03-F30E-419E-BE8B-7942FDDF3D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D9F53A-C1F2-46FE-9C99-54846BF42D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20860D-CDA7-4726-AEA5-C67AC3EFF8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8DE494-7DB2-442C-91A2-A74613D372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9999CA-16B0-422D-B53E-462B91FE84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D05B84-4323-43AC-8B51-43FEF3A43C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077D85-43E0-47AC-8D6C-49DD953806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644C20-7F91-4548-89EA-31EF30F481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BA310C-D64B-4CA6-9627-40F53A416B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F1B32D-308A-4540-9BA7-8BAFC0AD13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838F0C-E0C7-424A-B61C-E2C6AA501A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9D7347-1B8F-48B1-A3E4-E9371D3F41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683795-65C5-4420-952B-9DDD3C8322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009734-EA82-46D7-B080-34E4E013FD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7AE590-4543-4D76-A579-1464FA6C49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BEE2D0E-AE16-4EFA-8C68-99EABB690A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951676-7748-40C3-8C2E-4380F6C3F9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F8CD0A8-BB57-4DCB-A546-35D65D563F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5AE1940-727F-4A11-84C7-FB861D5322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FC946D-85EA-429C-AE0B-435E15E842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2DD282-D97B-4211-8750-0C3DD1E73B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D83C9A-9C92-49B1-BD1F-8C0FED25C4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8B17D4-3F62-448C-B38D-B00E8C3B50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938E55-9D82-4CFC-BF7F-A40787D636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590D4A2-8B67-482A-A872-9593CDDAEE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CA7D1B3-530E-47F5-8172-48C3A44D6B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7F7E9BC-FB4D-4E26-864D-DB147D077F8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19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8912FAF-A3BB-48AC-BFE8-DC7292072CE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81D2C12-AF25-48CF-916D-16954B65110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object 3"/>
          <p:cNvGrpSpPr/>
          <p:nvPr/>
        </p:nvGrpSpPr>
        <p:grpSpPr>
          <a:xfrm>
            <a:off x="2913840" y="3080160"/>
            <a:ext cx="6413760" cy="848160"/>
            <a:chOff x="2913840" y="3080160"/>
            <a:chExt cx="6413760" cy="848160"/>
          </a:xfrm>
        </p:grpSpPr>
        <p:pic>
          <p:nvPicPr>
            <p:cNvPr id="124" name="object 4" descr=""/>
            <p:cNvPicPr/>
            <p:nvPr/>
          </p:nvPicPr>
          <p:blipFill>
            <a:blip r:embed="rId1"/>
            <a:stretch/>
          </p:blipFill>
          <p:spPr>
            <a:xfrm>
              <a:off x="2913840" y="3159000"/>
              <a:ext cx="641376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5" name="object 5" descr=""/>
            <p:cNvPicPr/>
            <p:nvPr/>
          </p:nvPicPr>
          <p:blipFill>
            <a:blip r:embed="rId2"/>
            <a:stretch/>
          </p:blipFill>
          <p:spPr>
            <a:xfrm>
              <a:off x="3613320" y="3080160"/>
              <a:ext cx="501156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930760" y="3166920"/>
            <a:ext cx="633024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algn="ctr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21-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Explaining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Physical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Security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27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2"/>
          <p:cNvSpPr/>
          <p:nvPr/>
        </p:nvSpPr>
        <p:spPr>
          <a:xfrm>
            <a:off x="916920" y="684720"/>
            <a:ext cx="1534680" cy="11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  <a:ea typeface="DejaVu Sans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9" name="object 3"/>
          <p:cNvSpPr/>
          <p:nvPr/>
        </p:nvSpPr>
        <p:spPr>
          <a:xfrm>
            <a:off x="916920" y="1715040"/>
            <a:ext cx="7120800" cy="12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21.1-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Importance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21.2-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Importance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PlaceHolder 1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39CFDD0-5B68-4A5C-8BC9-E141BB63D6F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617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PHYSICAL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5" name="object 3"/>
          <p:cNvSpPr/>
          <p:nvPr/>
        </p:nvSpPr>
        <p:spPr>
          <a:xfrm>
            <a:off x="916920" y="1802520"/>
            <a:ext cx="10294560" cy="39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measures that restrict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monitor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areas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assets.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building,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equipment,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 areas,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rooms,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finance 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legal areas,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centers, 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cable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sensitivity.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cost–benefit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analysis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regulations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compliance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requirements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safeguarded.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8D7C7DE-4074-46FD-8351-4D1FA862EBB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889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PHYSICAL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1" name="object 3"/>
          <p:cNvSpPr/>
          <p:nvPr/>
        </p:nvSpPr>
        <p:spPr>
          <a:xfrm>
            <a:off x="916920" y="1802520"/>
            <a:ext cx="10284480" cy="348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fundamentals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6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Authentication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—create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lists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identification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approved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persons through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barriers.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184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Authorization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—create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barriers around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controlled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 defined entry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exit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points.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Accounting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—keep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entry/exit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breaches.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B21AA0A-D9F7-4FFC-9137-BC5E2A53710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9555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8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409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NC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7" name="object 3"/>
          <p:cNvSpPr/>
          <p:nvPr/>
        </p:nvSpPr>
        <p:spPr>
          <a:xfrm>
            <a:off x="916920" y="1767600"/>
            <a:ext cx="10158120" cy="37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374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Barricades</a:t>
            </a:r>
            <a:r>
              <a:rPr b="0" lang="en-US" sz="2400" spc="-3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Entry/Exit</a:t>
            </a:r>
            <a:r>
              <a:rPr b="0" lang="en-US" sz="24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ac172b"/>
                </a:solidFill>
                <a:latin typeface="Calibri"/>
                <a:ea typeface="DejaVu Sans"/>
              </a:rPr>
              <a:t>Points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barricade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1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barricade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completely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effective;</a:t>
            </a:r>
            <a:r>
              <a:rPr b="0" lang="en-US" sz="22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wall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8400"/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climbed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picked,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purpose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barricades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channel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people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 defined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entry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exit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points.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79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entry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point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mechanism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authorized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persons 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allowed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9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2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surveillance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2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penetrate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barricade by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detected.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D26A9AF-2C4B-46B9-9C03-CD9137DD1ED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7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8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409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NC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3" name="object 3"/>
          <p:cNvSpPr/>
          <p:nvPr/>
        </p:nvSpPr>
        <p:spPr>
          <a:xfrm>
            <a:off x="916920" y="1767600"/>
            <a:ext cx="10190880" cy="27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374"/>
              </a:spcBef>
              <a:buClr>
                <a:srgbClr val="ac172b"/>
              </a:buClr>
              <a:buFont typeface="StarSymbol"/>
              <a:buAutoNum type="arabicPeriod" startAt="2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Fencing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exterior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building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fencing.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05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fencing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needs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transparent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(so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guards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attempt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penetrate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it),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robust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(so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 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difficult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cut),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climbing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(which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generally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achieved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tall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possibly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razor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wire).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Fencing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generally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effective,</a:t>
            </a:r>
            <a:r>
              <a:rPr b="0" lang="en-US" sz="2200" spc="4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drawback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gives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building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intimidating appearance.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1E8A78F-35C0-4ED1-91D7-32177635E5A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9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8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409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NC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,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9" name="object 3"/>
          <p:cNvSpPr/>
          <p:nvPr/>
        </p:nvSpPr>
        <p:spPr>
          <a:xfrm>
            <a:off x="916920" y="1767600"/>
            <a:ext cx="10321920" cy="37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374"/>
              </a:spcBef>
              <a:buClr>
                <a:srgbClr val="ac172b"/>
              </a:buClr>
              <a:buFont typeface="StarSymbol"/>
              <a:buAutoNum type="arabicPeriod" startAt="3"/>
              <a:tabLst>
                <a:tab algn="l" pos="469800"/>
                <a:tab algn="l" pos="470520"/>
              </a:tabLst>
            </a:pP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Lighting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lighting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contributing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perception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building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safe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8400"/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night.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Well-designed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lighting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helps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people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feel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safe,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especially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areas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enclosed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spaces,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parking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garages.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6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lighting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deterrent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surveillance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(whether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camera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guard)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easier.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490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lighting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design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needs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light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levels,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lighting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surfaces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(allowing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cameras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facial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recognition,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instance),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avoiding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areas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shadow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glare.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256682B-3378-4A4D-A379-15C7A7F2C83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084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29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5" name="object 3"/>
          <p:cNvSpPr/>
          <p:nvPr/>
        </p:nvSpPr>
        <p:spPr>
          <a:xfrm>
            <a:off x="916920" y="1711080"/>
            <a:ext cx="10315440" cy="45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gateway,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fitted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lock.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normally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self-closing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self-locking,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close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categorized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follows: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4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Physical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—a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conventional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door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handle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66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expensive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offer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greater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resistance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picking.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65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Electronic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—rather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66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entering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PIN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on 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electronic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keypad,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lock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cipher,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combination,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keyless.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smart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 opened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magnetic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swipe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feature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proximity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reader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token,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 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wireless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fob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smart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card.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9ECA8AF-5A17-409D-A101-B65AB9FE37C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018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29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L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1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object 4" descr=""/>
          <p:cNvPicPr/>
          <p:nvPr/>
        </p:nvPicPr>
        <p:blipFill>
          <a:blip r:embed="rId1"/>
          <a:stretch/>
        </p:blipFill>
        <p:spPr>
          <a:xfrm>
            <a:off x="3650040" y="2389680"/>
            <a:ext cx="4909320" cy="2068560"/>
          </a:xfrm>
          <a:prstGeom prst="rect">
            <a:avLst/>
          </a:prstGeom>
          <a:ln w="0">
            <a:noFill/>
          </a:ln>
        </p:spPr>
      </p:pic>
      <p:sp>
        <p:nvSpPr>
          <p:cNvPr id="173" name="object 5"/>
          <p:cNvSpPr/>
          <p:nvPr/>
        </p:nvSpPr>
        <p:spPr>
          <a:xfrm>
            <a:off x="2136240" y="5001480"/>
            <a:ext cx="783828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left </a:t>
            </a:r>
            <a:r>
              <a:rPr b="0" i="1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i="1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right,</a:t>
            </a:r>
            <a:r>
              <a:rPr b="0" i="1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i="1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lock,</a:t>
            </a:r>
            <a:r>
              <a:rPr b="0" i="1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deadbolt</a:t>
            </a:r>
            <a:r>
              <a:rPr b="0" i="1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lock,</a:t>
            </a:r>
            <a:r>
              <a:rPr b="0" i="1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i="1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 electronic</a:t>
            </a:r>
            <a:r>
              <a:rPr b="0" i="1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keypad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BD1B5B3-4832-4EC9-9264-6026EB82312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04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29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8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9" name="object 4" descr=""/>
          <p:cNvPicPr/>
          <p:nvPr/>
        </p:nvPicPr>
        <p:blipFill>
          <a:blip r:embed="rId1"/>
          <a:stretch/>
        </p:blipFill>
        <p:spPr>
          <a:xfrm>
            <a:off x="4102920" y="2399040"/>
            <a:ext cx="4136040" cy="2059560"/>
          </a:xfrm>
          <a:prstGeom prst="rect">
            <a:avLst/>
          </a:prstGeom>
          <a:ln w="0">
            <a:noFill/>
          </a:ln>
        </p:spPr>
      </p:pic>
      <p:sp>
        <p:nvSpPr>
          <p:cNvPr id="180" name="object 5"/>
          <p:cNvSpPr/>
          <p:nvPr/>
        </p:nvSpPr>
        <p:spPr>
          <a:xfrm>
            <a:off x="2966040" y="5001480"/>
            <a:ext cx="6207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thumbprint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scanner</a:t>
            </a:r>
            <a:r>
              <a:rPr b="0" i="1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token-based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i="1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590F8A8-5B47-4E12-A0B1-C52F9BC0796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018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29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5" name="object 3"/>
          <p:cNvSpPr/>
          <p:nvPr/>
        </p:nvSpPr>
        <p:spPr>
          <a:xfrm>
            <a:off x="916920" y="1767600"/>
            <a:ext cx="10306440" cy="50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Mantraps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Apart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vulnerable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picking,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problem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door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gate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entry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accurately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who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entered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left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area.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people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pass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time;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hold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door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open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next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person;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"tailgate"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behind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user.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19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risk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mitigated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turnstile</a:t>
            </a:r>
            <a:r>
              <a:rPr b="1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(a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allows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through at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time).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option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add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surveillance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mantrap.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mantrap</a:t>
            </a:r>
            <a:r>
              <a:rPr b="1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leads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enclosed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space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barrier.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CBAF05C-A18E-4BEE-AC28-A1F80B1B16B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04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29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1" name="object 3"/>
          <p:cNvSpPr/>
          <p:nvPr/>
        </p:nvSpPr>
        <p:spPr>
          <a:xfrm>
            <a:off x="916920" y="1802520"/>
            <a:ext cx="231876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99"/>
              </a:spcBef>
              <a:buClr>
                <a:srgbClr val="ac172b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Mantraps</a:t>
            </a:r>
            <a:r>
              <a:rPr b="0" lang="en-US" sz="2400" spc="-6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3" name="object 5" descr=""/>
          <p:cNvPicPr/>
          <p:nvPr/>
        </p:nvPicPr>
        <p:blipFill>
          <a:blip r:embed="rId1"/>
          <a:stretch/>
        </p:blipFill>
        <p:spPr>
          <a:xfrm>
            <a:off x="4515480" y="2357640"/>
            <a:ext cx="3199680" cy="3362760"/>
          </a:xfrm>
          <a:prstGeom prst="rect">
            <a:avLst/>
          </a:prstGeom>
          <a:ln w="0">
            <a:noFill/>
          </a:ln>
        </p:spPr>
      </p:pic>
      <p:sp>
        <p:nvSpPr>
          <p:cNvPr id="194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E8DB6E4-EC92-4567-B5C9-F47B034C010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1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ALARM</a:t>
            </a:r>
            <a:r>
              <a:rPr b="0" lang="en-US" sz="3600" spc="-15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SYSTEMS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8" name="object 3"/>
          <p:cNvSpPr/>
          <p:nvPr/>
        </p:nvSpPr>
        <p:spPr>
          <a:xfrm>
            <a:off x="880920" y="1514520"/>
            <a:ext cx="10287000" cy="42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designing premises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security,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of entry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misused,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emergency exits, windows, hatches,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grilles,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fitted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bars,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locks,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alarms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intrusion.</a:t>
            </a:r>
            <a:endParaRPr b="0" lang="en-US" sz="2400" spc="-1" strike="noStrike">
              <a:latin typeface="Arial"/>
            </a:endParaRPr>
          </a:p>
          <a:p>
            <a:pPr lvl="1" marL="698400" indent="-229320" algn="just">
              <a:lnSpc>
                <a:spcPct val="100000"/>
              </a:lnSpc>
              <a:spcBef>
                <a:spcPts val="249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Circuit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 alarm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—a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circuit-based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alarm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sounds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circuit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opened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closed.</a:t>
            </a:r>
            <a:endParaRPr b="0" lang="en-US" sz="2200" spc="-1" strike="noStrike">
              <a:latin typeface="Arial"/>
            </a:endParaRPr>
          </a:p>
          <a:p>
            <a:pPr lvl="1" marL="698400" indent="-229320" algn="just">
              <a:lnSpc>
                <a:spcPts val="2509"/>
              </a:lnSpc>
              <a:spcBef>
                <a:spcPts val="224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Motion</a:t>
            </a:r>
            <a:r>
              <a:rPr b="0" lang="en-US" sz="22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detection</a:t>
            </a:r>
            <a:r>
              <a:rPr b="0" lang="en-US" sz="2200" spc="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alarm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—a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motion-based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alarm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linked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detector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triggered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endParaRPr b="0" lang="en-US" sz="2200" spc="-1" strike="noStrike">
              <a:latin typeface="Arial"/>
            </a:endParaRPr>
          </a:p>
          <a:p>
            <a:pPr marL="698400" algn="just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movement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area.</a:t>
            </a:r>
            <a:endParaRPr b="0" lang="en-US" sz="2200" spc="-1" strike="noStrike">
              <a:latin typeface="Arial"/>
            </a:endParaRPr>
          </a:p>
          <a:p>
            <a:pPr lvl="1" marL="698400" indent="-229320" algn="just">
              <a:lnSpc>
                <a:spcPct val="100000"/>
              </a:lnSpc>
              <a:spcBef>
                <a:spcPts val="244"/>
              </a:spcBef>
              <a:buClr>
                <a:srgbClr val="ac172b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Noise</a:t>
            </a:r>
            <a:r>
              <a:rPr b="0" lang="en-US" sz="22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detection</a:t>
            </a:r>
            <a:r>
              <a:rPr b="0" lang="en-US" sz="2200" spc="3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alarm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—an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alarm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triggered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sounds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picked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up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microphone.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A77C3CF-F35B-4A3C-8F84-AAFCF970982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7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GUARDS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CAMERAS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4" name="object 3"/>
          <p:cNvSpPr/>
          <p:nvPr/>
        </p:nvSpPr>
        <p:spPr>
          <a:xfrm>
            <a:off x="916920" y="1802520"/>
            <a:ext cx="10278720" cy="34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Human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guards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armed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unarmed,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front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around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location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protect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checkpoints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verify</a:t>
            </a:r>
            <a:r>
              <a:rPr b="0" lang="en-US" sz="24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identification,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disallow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entry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visual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deterrent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apply their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own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knowledge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intuition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breaches.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visible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guards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very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deterrence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correspondingly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expensive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9FDF1D3-7AF3-4582-AEAB-A7F3C0C0609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08920" y="936720"/>
            <a:ext cx="10055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GUARDS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CAMERAS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0" name="object 3"/>
          <p:cNvSpPr/>
          <p:nvPr/>
        </p:nvSpPr>
        <p:spPr>
          <a:xfrm>
            <a:off x="916920" y="1802520"/>
            <a:ext cx="10283040" cy="29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CCTV (closed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circuit television)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cheaper means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surveillance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maintaining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guards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each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zone.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advantage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movement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recorded.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drawback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guards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times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longer,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enough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staff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monitor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camera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feeds.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45CB3FA-A5E3-4313-A2AD-15957B33204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026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SECURE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AREAS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6" name="object 3"/>
          <p:cNvSpPr/>
          <p:nvPr/>
        </p:nvSpPr>
        <p:spPr>
          <a:xfrm>
            <a:off x="844920" y="1334520"/>
            <a:ext cx="10203840" cy="47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area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 assets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higher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level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access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office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areas.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air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gapped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air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gap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area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demilitarized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zone.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surrounding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high-value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closely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Portable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media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(backup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tapes or USB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storing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keys,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instance)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safe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vault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room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hardened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unauthorized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entry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drilling 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explosives.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9730150-EA0B-479E-9409-CDCEE658665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5412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2" name="object 3"/>
          <p:cNvSpPr/>
          <p:nvPr/>
        </p:nvSpPr>
        <p:spPr>
          <a:xfrm>
            <a:off x="916920" y="1802520"/>
            <a:ext cx="10145160" cy="22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disposal phase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cycle.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sanitization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remnant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removal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erasing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flash drives/SSDs,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tape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DVD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ROMs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before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disposed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Paper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documents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disposed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securely.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F1F3DFF-902A-4E24-9722-1E6781FC0A5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952920" y="180720"/>
            <a:ext cx="7541280" cy="4582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Z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8" name="object 3"/>
          <p:cNvSpPr/>
          <p:nvPr/>
        </p:nvSpPr>
        <p:spPr>
          <a:xfrm>
            <a:off x="916920" y="923040"/>
            <a:ext cx="10297080" cy="51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548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31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deleted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magnetic-type</a:t>
            </a:r>
            <a:r>
              <a:rPr b="0" lang="en-US" sz="22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hard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erased.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509"/>
              </a:lnSpc>
              <a:spcBef>
                <a:spcPts val="734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Rather,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sectors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marked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writing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removed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files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added.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29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Similarly,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format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references</a:t>
            </a:r>
            <a:r>
              <a:rPr b="0" lang="en-US" sz="22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files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mark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sectors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usable.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sanitizing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HDD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overwriting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31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drive's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firmware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tools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utility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29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basic type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overwriting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zero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filling,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just sets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each bit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zero.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pass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zero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filling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leave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patterns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read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specialist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tools.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509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overwrite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content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pass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zeros,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pass 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ones,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pass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pseudorandom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pattern.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4A417D5-960C-483B-9F68-47DBE13F2E4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18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Z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4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5" name="object 4" descr=""/>
          <p:cNvPicPr/>
          <p:nvPr/>
        </p:nvPicPr>
        <p:blipFill>
          <a:blip r:embed="rId1"/>
          <a:stretch/>
        </p:blipFill>
        <p:spPr>
          <a:xfrm>
            <a:off x="3880080" y="1690200"/>
            <a:ext cx="4431240" cy="4391280"/>
          </a:xfrm>
          <a:prstGeom prst="rect">
            <a:avLst/>
          </a:prstGeom>
          <a:ln w="0">
            <a:noFill/>
          </a:ln>
        </p:spPr>
      </p:pic>
      <p:sp>
        <p:nvSpPr>
          <p:cNvPr id="236" name="PlaceHolder 2"/>
          <p:cNvSpPr>
            <a:spLocks noGrp="1"/>
          </p:cNvSpPr>
          <p:nvPr>
            <p:ph type="ftr" idx="6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dt" idx="6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sldNum" idx="6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E143B95-1581-4D0A-979A-410133DEB70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2023-09-03T12:34:38Z</dcterms:created>
  <dc:creator>Ahmed Sultan</dc:creator>
  <dc:description/>
  <dc:language>en-US</dc:language>
  <cp:lastModifiedBy/>
  <dcterms:modified xsi:type="dcterms:W3CDTF">2023-09-07T21:39:58Z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